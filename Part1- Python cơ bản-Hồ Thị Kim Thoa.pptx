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7"/>
  </p:notesMasterIdLst>
  <p:handoutMasterIdLst>
    <p:handoutMasterId r:id="rId108"/>
  </p:handoutMasterIdLst>
  <p:sldIdLst>
    <p:sldId id="256" r:id="rId2"/>
    <p:sldId id="257" r:id="rId3"/>
    <p:sldId id="269" r:id="rId4"/>
    <p:sldId id="259" r:id="rId5"/>
    <p:sldId id="260" r:id="rId6"/>
    <p:sldId id="262" r:id="rId7"/>
    <p:sldId id="263" r:id="rId8"/>
    <p:sldId id="264" r:id="rId9"/>
    <p:sldId id="265" r:id="rId10"/>
    <p:sldId id="266" r:id="rId11"/>
    <p:sldId id="271" r:id="rId12"/>
    <p:sldId id="268" r:id="rId13"/>
    <p:sldId id="267" r:id="rId14"/>
    <p:sldId id="258" r:id="rId15"/>
    <p:sldId id="275" r:id="rId16"/>
    <p:sldId id="276" r:id="rId17"/>
    <p:sldId id="277" r:id="rId18"/>
    <p:sldId id="270" r:id="rId19"/>
    <p:sldId id="272" r:id="rId20"/>
    <p:sldId id="278" r:id="rId21"/>
    <p:sldId id="298" r:id="rId22"/>
    <p:sldId id="279" r:id="rId23"/>
    <p:sldId id="281" r:id="rId24"/>
    <p:sldId id="280" r:id="rId25"/>
    <p:sldId id="381" r:id="rId26"/>
    <p:sldId id="284" r:id="rId27"/>
    <p:sldId id="382" r:id="rId28"/>
    <p:sldId id="285" r:id="rId29"/>
    <p:sldId id="286" r:id="rId30"/>
    <p:sldId id="282" r:id="rId31"/>
    <p:sldId id="283" r:id="rId32"/>
    <p:sldId id="287" r:id="rId33"/>
    <p:sldId id="288" r:id="rId34"/>
    <p:sldId id="289" r:id="rId35"/>
    <p:sldId id="290" r:id="rId36"/>
    <p:sldId id="291" r:id="rId37"/>
    <p:sldId id="292" r:id="rId38"/>
    <p:sldId id="354" r:id="rId39"/>
    <p:sldId id="355" r:id="rId40"/>
    <p:sldId id="299" r:id="rId41"/>
    <p:sldId id="293" r:id="rId42"/>
    <p:sldId id="294" r:id="rId43"/>
    <p:sldId id="295" r:id="rId44"/>
    <p:sldId id="296" r:id="rId45"/>
    <p:sldId id="306" r:id="rId46"/>
    <p:sldId id="307" r:id="rId47"/>
    <p:sldId id="378" r:id="rId48"/>
    <p:sldId id="297" r:id="rId49"/>
    <p:sldId id="300" r:id="rId50"/>
    <p:sldId id="301" r:id="rId51"/>
    <p:sldId id="302" r:id="rId52"/>
    <p:sldId id="303" r:id="rId53"/>
    <p:sldId id="304" r:id="rId54"/>
    <p:sldId id="305" r:id="rId55"/>
    <p:sldId id="308" r:id="rId56"/>
    <p:sldId id="309" r:id="rId57"/>
    <p:sldId id="310" r:id="rId58"/>
    <p:sldId id="311" r:id="rId59"/>
    <p:sldId id="312" r:id="rId60"/>
    <p:sldId id="313" r:id="rId61"/>
    <p:sldId id="314" r:id="rId62"/>
    <p:sldId id="369" r:id="rId63"/>
    <p:sldId id="317" r:id="rId64"/>
    <p:sldId id="319" r:id="rId65"/>
    <p:sldId id="320" r:id="rId66"/>
    <p:sldId id="321" r:id="rId67"/>
    <p:sldId id="318" r:id="rId68"/>
    <p:sldId id="322" r:id="rId69"/>
    <p:sldId id="323" r:id="rId70"/>
    <p:sldId id="324" r:id="rId71"/>
    <p:sldId id="325" r:id="rId72"/>
    <p:sldId id="327" r:id="rId73"/>
    <p:sldId id="340" r:id="rId74"/>
    <p:sldId id="341" r:id="rId75"/>
    <p:sldId id="350" r:id="rId76"/>
    <p:sldId id="351" r:id="rId77"/>
    <p:sldId id="352" r:id="rId78"/>
    <p:sldId id="353" r:id="rId79"/>
    <p:sldId id="347" r:id="rId80"/>
    <p:sldId id="356" r:id="rId81"/>
    <p:sldId id="357" r:id="rId82"/>
    <p:sldId id="358" r:id="rId83"/>
    <p:sldId id="359" r:id="rId84"/>
    <p:sldId id="342" r:id="rId85"/>
    <p:sldId id="343" r:id="rId86"/>
    <p:sldId id="344" r:id="rId87"/>
    <p:sldId id="349" r:id="rId88"/>
    <p:sldId id="346" r:id="rId89"/>
    <p:sldId id="370" r:id="rId90"/>
    <p:sldId id="371" r:id="rId91"/>
    <p:sldId id="373" r:id="rId92"/>
    <p:sldId id="372" r:id="rId93"/>
    <p:sldId id="374" r:id="rId94"/>
    <p:sldId id="375" r:id="rId95"/>
    <p:sldId id="376" r:id="rId96"/>
    <p:sldId id="377" r:id="rId97"/>
    <p:sldId id="360" r:id="rId98"/>
    <p:sldId id="361" r:id="rId99"/>
    <p:sldId id="362" r:id="rId100"/>
    <p:sldId id="363" r:id="rId101"/>
    <p:sldId id="364" r:id="rId102"/>
    <p:sldId id="365" r:id="rId103"/>
    <p:sldId id="366" r:id="rId104"/>
    <p:sldId id="367" r:id="rId105"/>
    <p:sldId id="368" r:id="rId106"/>
  </p:sldIdLst>
  <p:sldSz cx="9144000" cy="6858000" type="screen4x3"/>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75" d="100"/>
          <a:sy n="75" d="100"/>
        </p:scale>
        <p:origin x="1056" y="66"/>
      </p:cViewPr>
      <p:guideLst/>
    </p:cSldViewPr>
  </p:slideViewPr>
  <p:notesTextViewPr>
    <p:cViewPr>
      <p:scale>
        <a:sx n="3" d="2"/>
        <a:sy n="3" d="2"/>
      </p:scale>
      <p:origin x="0" y="0"/>
    </p:cViewPr>
  </p:notesTextViewPr>
  <p:notesViewPr>
    <p:cSldViewPr snapToGrid="0">
      <p:cViewPr varScale="1">
        <p:scale>
          <a:sx n="57" d="100"/>
          <a:sy n="57" d="100"/>
        </p:scale>
        <p:origin x="2263" y="2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9"/>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4023993" y="0"/>
            <a:ext cx="3078427" cy="513509"/>
          </a:xfrm>
          <a:prstGeom prst="rect">
            <a:avLst/>
          </a:prstGeom>
        </p:spPr>
        <p:txBody>
          <a:bodyPr vert="horz" lIns="91440" tIns="45720" rIns="91440" bIns="45720" rtlCol="0"/>
          <a:lstStyle>
            <a:lvl1pPr algn="r">
              <a:defRPr sz="1200"/>
            </a:lvl1pPr>
          </a:lstStyle>
          <a:p>
            <a:fld id="{3CA91EC8-C42B-40E7-80E3-198789275025}" type="datetimeFigureOut">
              <a:rPr lang="en-US" smtClean="0"/>
              <a:t>5/19/2026</a:t>
            </a:fld>
            <a:endParaRPr lang="en-US"/>
          </a:p>
        </p:txBody>
      </p:sp>
      <p:sp>
        <p:nvSpPr>
          <p:cNvPr id="4" name="Footer Placeholder 3"/>
          <p:cNvSpPr>
            <a:spLocks noGrp="1"/>
          </p:cNvSpPr>
          <p:nvPr>
            <p:ph type="ftr" sz="quarter" idx="2"/>
          </p:nvPr>
        </p:nvSpPr>
        <p:spPr>
          <a:xfrm>
            <a:off x="0" y="9721108"/>
            <a:ext cx="3078427" cy="51350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993" y="9721108"/>
            <a:ext cx="3078427" cy="513508"/>
          </a:xfrm>
          <a:prstGeom prst="rect">
            <a:avLst/>
          </a:prstGeom>
        </p:spPr>
        <p:txBody>
          <a:bodyPr vert="horz" lIns="91440" tIns="45720" rIns="91440" bIns="45720" rtlCol="0" anchor="b"/>
          <a:lstStyle>
            <a:lvl1pPr algn="r">
              <a:defRPr sz="1200"/>
            </a:lvl1pPr>
          </a:lstStyle>
          <a:p>
            <a:fld id="{34BDCE7C-6C2F-4981-B035-7F0C28A26094}" type="slidenum">
              <a:rPr lang="en-US" smtClean="0"/>
              <a:t>‹#›</a:t>
            </a:fld>
            <a:endParaRPr lang="en-US"/>
          </a:p>
        </p:txBody>
      </p:sp>
    </p:spTree>
    <p:extLst>
      <p:ext uri="{BB962C8B-B14F-4D97-AF65-F5344CB8AC3E}">
        <p14:creationId xmlns:p14="http://schemas.microsoft.com/office/powerpoint/2010/main" val="888366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993" y="0"/>
            <a:ext cx="3078427" cy="513509"/>
          </a:xfrm>
          <a:prstGeom prst="rect">
            <a:avLst/>
          </a:prstGeom>
        </p:spPr>
        <p:txBody>
          <a:bodyPr vert="horz" lIns="91440" tIns="45720" rIns="91440" bIns="45720" rtlCol="0"/>
          <a:lstStyle>
            <a:lvl1pPr algn="r">
              <a:defRPr sz="1200"/>
            </a:lvl1pPr>
          </a:lstStyle>
          <a:p>
            <a:fld id="{2D3942FF-6C3D-44E1-B15C-5477E313286F}" type="datetimeFigureOut">
              <a:rPr lang="en-US" smtClean="0"/>
              <a:t>5/19/2026</a:t>
            </a:fld>
            <a:endParaRPr lang="en-US"/>
          </a:p>
        </p:txBody>
      </p:sp>
      <p:sp>
        <p:nvSpPr>
          <p:cNvPr id="4" name="Slide Image Placeholder 3"/>
          <p:cNvSpPr>
            <a:spLocks noGrp="1" noRot="1" noChangeAspect="1"/>
          </p:cNvSpPr>
          <p:nvPr>
            <p:ph type="sldImg" idx="2"/>
          </p:nvPr>
        </p:nvSpPr>
        <p:spPr>
          <a:xfrm>
            <a:off x="1249363" y="1279525"/>
            <a:ext cx="4605337"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8"/>
            <a:ext cx="3078427" cy="51350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993" y="9721108"/>
            <a:ext cx="3078427" cy="513508"/>
          </a:xfrm>
          <a:prstGeom prst="rect">
            <a:avLst/>
          </a:prstGeom>
        </p:spPr>
        <p:txBody>
          <a:bodyPr vert="horz" lIns="91440" tIns="45720" rIns="91440" bIns="45720" rtlCol="0" anchor="b"/>
          <a:lstStyle>
            <a:lvl1pPr algn="r">
              <a:defRPr sz="1200"/>
            </a:lvl1pPr>
          </a:lstStyle>
          <a:p>
            <a:fld id="{B92D10EE-D6AB-4A8E-9C72-36DD75473A19}" type="slidenum">
              <a:rPr lang="en-US" smtClean="0"/>
              <a:t>‹#›</a:t>
            </a:fld>
            <a:endParaRPr lang="en-US"/>
          </a:p>
        </p:txBody>
      </p:sp>
    </p:spTree>
    <p:extLst>
      <p:ext uri="{BB962C8B-B14F-4D97-AF65-F5344CB8AC3E}">
        <p14:creationId xmlns:p14="http://schemas.microsoft.com/office/powerpoint/2010/main" val="3364997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B92D10EE-D6AB-4A8E-9C72-36DD75473A19}" type="slidenum">
              <a:rPr lang="en-US" smtClean="0"/>
              <a:t>33</a:t>
            </a:fld>
            <a:endParaRPr lang="en-US"/>
          </a:p>
        </p:txBody>
      </p:sp>
    </p:spTree>
    <p:extLst>
      <p:ext uri="{BB962C8B-B14F-4D97-AF65-F5344CB8AC3E}">
        <p14:creationId xmlns:p14="http://schemas.microsoft.com/office/powerpoint/2010/main" val="224473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
            </a:r>
            <a:r>
              <a:rPr lang="en-US" dirty="0" err="1"/>
              <a:t>random.randint</a:t>
            </a:r>
            <a:r>
              <a:rPr lang="en-US" dirty="0"/>
              <a:t>(1,100) for </a:t>
            </a:r>
            <a:r>
              <a:rPr lang="en-US" dirty="0" err="1"/>
              <a:t>i</a:t>
            </a:r>
            <a:r>
              <a:rPr lang="en-US" dirty="0"/>
              <a:t> in range(50)]</a:t>
            </a:r>
          </a:p>
        </p:txBody>
      </p:sp>
      <p:sp>
        <p:nvSpPr>
          <p:cNvPr id="4" name="Slide Number Placeholder 3"/>
          <p:cNvSpPr>
            <a:spLocks noGrp="1"/>
          </p:cNvSpPr>
          <p:nvPr>
            <p:ph type="sldNum" sz="quarter" idx="10"/>
          </p:nvPr>
        </p:nvSpPr>
        <p:spPr/>
        <p:txBody>
          <a:bodyPr/>
          <a:lstStyle/>
          <a:p>
            <a:fld id="{B92D10EE-D6AB-4A8E-9C72-36DD75473A19}" type="slidenum">
              <a:rPr lang="en-US" smtClean="0"/>
              <a:t>64</a:t>
            </a:fld>
            <a:endParaRPr lang="en-US"/>
          </a:p>
        </p:txBody>
      </p:sp>
    </p:spTree>
    <p:extLst>
      <p:ext uri="{BB962C8B-B14F-4D97-AF65-F5344CB8AC3E}">
        <p14:creationId xmlns:p14="http://schemas.microsoft.com/office/powerpoint/2010/main" val="3213887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n-NO" dirty="0"/>
              <a:t>L=[i*i for i in L]</a:t>
            </a:r>
            <a:endParaRPr lang="en-US" dirty="0"/>
          </a:p>
        </p:txBody>
      </p:sp>
      <p:sp>
        <p:nvSpPr>
          <p:cNvPr id="4" name="Slide Number Placeholder 3"/>
          <p:cNvSpPr>
            <a:spLocks noGrp="1"/>
          </p:cNvSpPr>
          <p:nvPr>
            <p:ph type="sldNum" sz="quarter" idx="10"/>
          </p:nvPr>
        </p:nvSpPr>
        <p:spPr/>
        <p:txBody>
          <a:bodyPr/>
          <a:lstStyle/>
          <a:p>
            <a:fld id="{B92D10EE-D6AB-4A8E-9C72-36DD75473A19}" type="slidenum">
              <a:rPr lang="en-US" smtClean="0"/>
              <a:t>65</a:t>
            </a:fld>
            <a:endParaRPr lang="en-US"/>
          </a:p>
        </p:txBody>
      </p:sp>
    </p:spTree>
    <p:extLst>
      <p:ext uri="{BB962C8B-B14F-4D97-AF65-F5344CB8AC3E}">
        <p14:creationId xmlns:p14="http://schemas.microsoft.com/office/powerpoint/2010/main" val="140823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len</a:t>
            </a:r>
            <a:r>
              <a:rPr lang="en-US" dirty="0"/>
              <a:t>([</a:t>
            </a:r>
            <a:r>
              <a:rPr lang="en-US" dirty="0" err="1"/>
              <a:t>i</a:t>
            </a:r>
            <a:r>
              <a:rPr lang="en-US" dirty="0"/>
              <a:t> for </a:t>
            </a:r>
            <a:r>
              <a:rPr lang="en-US" dirty="0" err="1"/>
              <a:t>i</a:t>
            </a:r>
            <a:r>
              <a:rPr lang="en-US" dirty="0"/>
              <a:t> in L if </a:t>
            </a:r>
            <a:r>
              <a:rPr lang="en-US" dirty="0" err="1"/>
              <a:t>i</a:t>
            </a:r>
            <a:r>
              <a:rPr lang="en-US" dirty="0"/>
              <a:t>&gt;50])</a:t>
            </a:r>
          </a:p>
          <a:p>
            <a:r>
              <a:rPr lang="nn-NO" dirty="0"/>
              <a:t>sum(i&gt;50 for i in L)</a:t>
            </a:r>
            <a:endParaRPr lang="en-US" dirty="0"/>
          </a:p>
        </p:txBody>
      </p:sp>
      <p:sp>
        <p:nvSpPr>
          <p:cNvPr id="4" name="Slide Number Placeholder 3"/>
          <p:cNvSpPr>
            <a:spLocks noGrp="1"/>
          </p:cNvSpPr>
          <p:nvPr>
            <p:ph type="sldNum" sz="quarter" idx="10"/>
          </p:nvPr>
        </p:nvSpPr>
        <p:spPr/>
        <p:txBody>
          <a:bodyPr/>
          <a:lstStyle/>
          <a:p>
            <a:fld id="{B92D10EE-D6AB-4A8E-9C72-36DD75473A19}" type="slidenum">
              <a:rPr lang="en-US" smtClean="0"/>
              <a:t>66</a:t>
            </a:fld>
            <a:endParaRPr lang="en-US"/>
          </a:p>
        </p:txBody>
      </p:sp>
    </p:spTree>
    <p:extLst>
      <p:ext uri="{BB962C8B-B14F-4D97-AF65-F5344CB8AC3E}">
        <p14:creationId xmlns:p14="http://schemas.microsoft.com/office/powerpoint/2010/main" val="810776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
            </a:r>
            <a:r>
              <a:rPr lang="en-US" dirty="0" err="1"/>
              <a:t>random.randint</a:t>
            </a:r>
            <a:r>
              <a:rPr lang="en-US" dirty="0"/>
              <a:t>(1,100) for </a:t>
            </a:r>
            <a:r>
              <a:rPr lang="en-US" dirty="0" err="1"/>
              <a:t>i</a:t>
            </a:r>
            <a:r>
              <a:rPr lang="en-US" dirty="0"/>
              <a:t> in range(5)] for j in range(3)]</a:t>
            </a:r>
          </a:p>
        </p:txBody>
      </p:sp>
      <p:sp>
        <p:nvSpPr>
          <p:cNvPr id="4" name="Slide Number Placeholder 3"/>
          <p:cNvSpPr>
            <a:spLocks noGrp="1"/>
          </p:cNvSpPr>
          <p:nvPr>
            <p:ph type="sldNum" sz="quarter" idx="10"/>
          </p:nvPr>
        </p:nvSpPr>
        <p:spPr/>
        <p:txBody>
          <a:bodyPr/>
          <a:lstStyle/>
          <a:p>
            <a:fld id="{B92D10EE-D6AB-4A8E-9C72-36DD75473A19}" type="slidenum">
              <a:rPr lang="en-US" smtClean="0"/>
              <a:t>67</a:t>
            </a:fld>
            <a:endParaRPr lang="en-US"/>
          </a:p>
        </p:txBody>
      </p:sp>
    </p:spTree>
    <p:extLst>
      <p:ext uri="{BB962C8B-B14F-4D97-AF65-F5344CB8AC3E}">
        <p14:creationId xmlns:p14="http://schemas.microsoft.com/office/powerpoint/2010/main" val="3818795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Sumproduct</a:t>
            </a:r>
            <a:r>
              <a:rPr lang="en-US" dirty="0"/>
              <a:t>: </a:t>
            </a:r>
            <a:r>
              <a:rPr lang="nn-NO" dirty="0"/>
              <a:t>sum(l1[i]*l2[i] for i in range(len(l1)))</a:t>
            </a:r>
            <a:endParaRPr lang="en-US" dirty="0"/>
          </a:p>
        </p:txBody>
      </p:sp>
      <p:sp>
        <p:nvSpPr>
          <p:cNvPr id="4" name="Slide Number Placeholder 3"/>
          <p:cNvSpPr>
            <a:spLocks noGrp="1"/>
          </p:cNvSpPr>
          <p:nvPr>
            <p:ph type="sldNum" sz="quarter" idx="10"/>
          </p:nvPr>
        </p:nvSpPr>
        <p:spPr/>
        <p:txBody>
          <a:bodyPr/>
          <a:lstStyle/>
          <a:p>
            <a:fld id="{B92D10EE-D6AB-4A8E-9C72-36DD75473A19}" type="slidenum">
              <a:rPr lang="en-US" smtClean="0"/>
              <a:t>72</a:t>
            </a:fld>
            <a:endParaRPr lang="en-US"/>
          </a:p>
        </p:txBody>
      </p:sp>
    </p:spTree>
    <p:extLst>
      <p:ext uri="{BB962C8B-B14F-4D97-AF65-F5344CB8AC3E}">
        <p14:creationId xmlns:p14="http://schemas.microsoft.com/office/powerpoint/2010/main" val="2446513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433005-5559-475A-BA8E-FAC3EC7612D1}"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căn bản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57686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80022B-F0AD-43C1-9807-493F56077134}"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căn bản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7236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1D13661-FF2D-42B2-8324-E4D06068193F}"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căn bản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643228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FAA48C-6FDB-4B62-B20D-77425EDF3998}"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căn bản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75985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78574A-6082-4A2E-8A6A-FCC09F55DA46}" type="datetime1">
              <a:rPr lang="en-US" smtClean="0"/>
              <a:t>5/19/2026</a:t>
            </a:fld>
            <a:endParaRPr lang="en-US"/>
          </a:p>
        </p:txBody>
      </p:sp>
      <p:sp>
        <p:nvSpPr>
          <p:cNvPr id="8" name="Footer Placeholder 7"/>
          <p:cNvSpPr>
            <a:spLocks noGrp="1"/>
          </p:cNvSpPr>
          <p:nvPr>
            <p:ph type="ftr" sz="quarter" idx="11"/>
          </p:nvPr>
        </p:nvSpPr>
        <p:spPr/>
        <p:txBody>
          <a:bodyPr/>
          <a:lstStyle/>
          <a:p>
            <a:r>
              <a:rPr lang="en-US"/>
              <a:t>Lập trình căn bản với  Python</a:t>
            </a:r>
          </a:p>
        </p:txBody>
      </p:sp>
      <p:sp>
        <p:nvSpPr>
          <p:cNvPr id="9" name="Slide Number Placeholder 8"/>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401288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AFD724-4187-4671-91D2-22F08414BFF1}" type="datetime1">
              <a:rPr lang="en-US" smtClean="0"/>
              <a:t>5/19/2026</a:t>
            </a:fld>
            <a:endParaRPr lang="en-US"/>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74898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D36FC7-AF80-4418-97FA-50C90FC84E17}" type="datetime1">
              <a:rPr lang="en-US" smtClean="0"/>
              <a:t>5/19/2026</a:t>
            </a:fld>
            <a:endParaRPr lang="en-US"/>
          </a:p>
        </p:txBody>
      </p:sp>
      <p:sp>
        <p:nvSpPr>
          <p:cNvPr id="3" name="Footer Placeholder 2"/>
          <p:cNvSpPr>
            <a:spLocks noGrp="1"/>
          </p:cNvSpPr>
          <p:nvPr>
            <p:ph type="ftr" sz="quarter" idx="11"/>
          </p:nvPr>
        </p:nvSpPr>
        <p:spPr/>
        <p:txBody>
          <a:bodyPr/>
          <a:lstStyle/>
          <a:p>
            <a:r>
              <a:rPr lang="en-US"/>
              <a:t>Lập trình căn bản với  Python</a:t>
            </a:r>
          </a:p>
        </p:txBody>
      </p:sp>
      <p:sp>
        <p:nvSpPr>
          <p:cNvPr id="4" name="Slide Number Placeholder 3"/>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375720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53525C-241E-4EA5-8369-9360135953FF}"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căn bản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00685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FB4AB22-A7C3-447B-B0D1-A2D55EB503D2}" type="datetime1">
              <a:rPr lang="en-US" smtClean="0"/>
              <a:t>5/19/2026</a:t>
            </a:fld>
            <a:endParaRPr lang="en-US"/>
          </a:p>
        </p:txBody>
      </p:sp>
      <p:sp>
        <p:nvSpPr>
          <p:cNvPr id="6" name="Footer Placeholder 5"/>
          <p:cNvSpPr>
            <a:spLocks noGrp="1"/>
          </p:cNvSpPr>
          <p:nvPr>
            <p:ph type="ftr" sz="quarter" idx="11"/>
          </p:nvPr>
        </p:nvSpPr>
        <p:spPr/>
        <p:txBody>
          <a:bodyPr/>
          <a:lstStyle/>
          <a:p>
            <a:r>
              <a:rPr lang="en-US"/>
              <a:t>Lập trình căn bản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1844085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7628EF-474C-446D-A757-87FBD02502E8}"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căn bản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248365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D9A7B-2021-4578-A875-1732A643BC22}" type="datetime1">
              <a:rPr lang="en-US" smtClean="0"/>
              <a:t>5/19/2026</a:t>
            </a:fld>
            <a:endParaRPr lang="en-US"/>
          </a:p>
        </p:txBody>
      </p:sp>
      <p:sp>
        <p:nvSpPr>
          <p:cNvPr id="5" name="Footer Placeholder 4"/>
          <p:cNvSpPr>
            <a:spLocks noGrp="1"/>
          </p:cNvSpPr>
          <p:nvPr>
            <p:ph type="ftr" sz="quarter" idx="11"/>
          </p:nvPr>
        </p:nvSpPr>
        <p:spPr/>
        <p:txBody>
          <a:bodyPr/>
          <a:lstStyle/>
          <a:p>
            <a:r>
              <a:rPr lang="en-US"/>
              <a:t>Lập trình căn bản với  Python</a:t>
            </a:r>
          </a:p>
        </p:txBody>
      </p:sp>
      <p:sp>
        <p:nvSpPr>
          <p:cNvPr id="6" name="Slide Number Placeholder 5"/>
          <p:cNvSpPr>
            <a:spLocks noGrp="1"/>
          </p:cNvSpPr>
          <p:nvPr>
            <p:ph type="sldNum" sz="quarter" idx="12"/>
          </p:nvPr>
        </p:nvSpPr>
        <p:spPr/>
        <p:txBody>
          <a:bodyPr/>
          <a:lstStyle/>
          <a:p>
            <a:fld id="{ADD32889-1A4F-4FED-AEC4-AD6BC7117F25}" type="slidenum">
              <a:rPr lang="en-US" smtClean="0"/>
              <a:t>‹#›</a:t>
            </a:fld>
            <a:endParaRPr lang="en-US"/>
          </a:p>
        </p:txBody>
      </p:sp>
    </p:spTree>
    <p:extLst>
      <p:ext uri="{BB962C8B-B14F-4D97-AF65-F5344CB8AC3E}">
        <p14:creationId xmlns:p14="http://schemas.microsoft.com/office/powerpoint/2010/main" val="2331454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3DE45F-5FAF-456D-8DB7-2D32441999DF}" type="datetime1">
              <a:rPr lang="en-US" smtClean="0"/>
              <a:t>5/19/2026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Lập trình căn bản với  Python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32889-1A4F-4FED-AEC4-AD6BC7117F25}" type="slidenum">
              <a:rPr lang="en-US" smtClean="0"/>
              <a:t>‹#›</a:t>
            </a:fld>
            <a:endParaRPr lang="en-US"/>
          </a:p>
        </p:txBody>
      </p:sp>
    </p:spTree>
    <p:extLst>
      <p:ext uri="{BB962C8B-B14F-4D97-AF65-F5344CB8AC3E}">
        <p14:creationId xmlns:p14="http://schemas.microsoft.com/office/powerpoint/2010/main" val="315374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mailto:Ten.ho_hodem@husc.edu.vn" TargetMode="External"/><Relationship Id="rId2" Type="http://schemas.openxmlformats.org/officeDocument/2006/relationships/hyperlink" Target="mailto:ten.ho_hodem@husc.edu.vn"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Lập</a:t>
            </a:r>
            <a:r>
              <a:rPr lang="en-US" dirty="0"/>
              <a:t> </a:t>
            </a:r>
            <a:r>
              <a:rPr lang="en-US" err="1"/>
              <a:t>trình</a:t>
            </a:r>
            <a:r>
              <a:rPr lang="en-US"/>
              <a:t> Python cơ bản</a:t>
            </a:r>
            <a:endParaRPr lang="en-US" dirty="0"/>
          </a:p>
        </p:txBody>
      </p:sp>
      <p:sp>
        <p:nvSpPr>
          <p:cNvPr id="3" name="Subtitle 2"/>
          <p:cNvSpPr>
            <a:spLocks noGrp="1"/>
          </p:cNvSpPr>
          <p:nvPr>
            <p:ph type="subTitle" idx="1"/>
          </p:nvPr>
        </p:nvSpPr>
        <p:spPr/>
        <p:txBody>
          <a:bodyPr/>
          <a:lstStyle/>
          <a:p>
            <a:r>
              <a:rPr lang="en-US"/>
              <a:t>TS. Hồ Thị Kim Thoa– </a:t>
            </a:r>
            <a:r>
              <a:rPr lang="en-US" dirty="0"/>
              <a:t>ĐHSP </a:t>
            </a:r>
            <a:r>
              <a:rPr lang="en-US" dirty="0" err="1"/>
              <a:t>Huế</a:t>
            </a:r>
            <a:endParaRPr lang="en-US" dirty="0"/>
          </a:p>
          <a:p>
            <a:endParaRPr lang="en-US" dirty="0"/>
          </a:p>
        </p:txBody>
      </p:sp>
    </p:spTree>
    <p:extLst>
      <p:ext uri="{BB962C8B-B14F-4D97-AF65-F5344CB8AC3E}">
        <p14:creationId xmlns:p14="http://schemas.microsoft.com/office/powerpoint/2010/main" val="823613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Mở</a:t>
            </a:r>
            <a:r>
              <a:rPr lang="en-US" b="1" dirty="0"/>
              <a:t> </a:t>
            </a:r>
            <a:r>
              <a:rPr lang="en-US" b="1" dirty="0" err="1"/>
              <a:t>đầu</a:t>
            </a:r>
            <a:endParaRPr lang="en-US" b="1" dirty="0"/>
          </a:p>
        </p:txBody>
      </p:sp>
      <p:sp>
        <p:nvSpPr>
          <p:cNvPr id="3" name="Content Placeholder 2"/>
          <p:cNvSpPr>
            <a:spLocks noGrp="1"/>
          </p:cNvSpPr>
          <p:nvPr>
            <p:ph idx="1"/>
          </p:nvPr>
        </p:nvSpPr>
        <p:spPr/>
        <p:txBody>
          <a:bodyPr/>
          <a:lstStyle/>
          <a:p>
            <a:r>
              <a:rPr lang="en-US" dirty="0" err="1"/>
              <a:t>Giới</a:t>
            </a:r>
            <a:r>
              <a:rPr lang="en-US" dirty="0"/>
              <a:t> </a:t>
            </a:r>
            <a:r>
              <a:rPr lang="en-US" dirty="0" err="1"/>
              <a:t>thiệu</a:t>
            </a:r>
            <a:r>
              <a:rPr lang="en-US" dirty="0"/>
              <a:t> python</a:t>
            </a:r>
          </a:p>
          <a:p>
            <a:r>
              <a:rPr lang="en-US" dirty="0" err="1"/>
              <a:t>Cài</a:t>
            </a:r>
            <a:r>
              <a:rPr lang="en-US" dirty="0"/>
              <a:t> python</a:t>
            </a:r>
          </a:p>
          <a:p>
            <a:r>
              <a:rPr lang="en-US" dirty="0" err="1"/>
              <a:t>Nhập</a:t>
            </a:r>
            <a:r>
              <a:rPr lang="en-US" dirty="0"/>
              <a:t>, </a:t>
            </a:r>
            <a:r>
              <a:rPr lang="en-US" dirty="0" err="1"/>
              <a:t>xuất</a:t>
            </a:r>
            <a:r>
              <a:rPr lang="en-US" dirty="0"/>
              <a:t> </a:t>
            </a:r>
            <a:r>
              <a:rPr lang="en-US" dirty="0" err="1"/>
              <a:t>đơn</a:t>
            </a:r>
            <a:r>
              <a:rPr lang="en-US" dirty="0"/>
              <a:t> </a:t>
            </a:r>
            <a:r>
              <a:rPr lang="en-US" dirty="0" err="1"/>
              <a:t>giản</a:t>
            </a:r>
            <a:endParaRPr lang="en-US" dirty="0"/>
          </a:p>
          <a:p>
            <a:r>
              <a:rPr lang="en-US" dirty="0" err="1"/>
              <a:t>Làm</a:t>
            </a:r>
            <a:r>
              <a:rPr lang="en-US" dirty="0"/>
              <a:t> </a:t>
            </a:r>
            <a:r>
              <a:rPr lang="en-US" dirty="0" err="1"/>
              <a:t>việc</a:t>
            </a:r>
            <a:r>
              <a:rPr lang="en-US" dirty="0"/>
              <a:t> </a:t>
            </a:r>
            <a:r>
              <a:rPr lang="en-US" dirty="0" err="1"/>
              <a:t>với</a:t>
            </a:r>
            <a:r>
              <a:rPr lang="en-US" dirty="0"/>
              <a:t> </a:t>
            </a:r>
            <a:r>
              <a:rPr lang="en-US" dirty="0" err="1"/>
              <a:t>kiểu</a:t>
            </a:r>
            <a:r>
              <a:rPr lang="en-US" dirty="0"/>
              <a:t> </a:t>
            </a:r>
            <a:r>
              <a:rPr lang="en-US" dirty="0" err="1"/>
              <a:t>số</a:t>
            </a:r>
            <a:endParaRPr lang="en-US" dirty="0"/>
          </a:p>
          <a:p>
            <a:r>
              <a:rPr lang="en-US" dirty="0" err="1"/>
              <a:t>Chú</a:t>
            </a:r>
            <a:r>
              <a:rPr lang="en-US" dirty="0"/>
              <a:t> </a:t>
            </a:r>
            <a:r>
              <a:rPr lang="en-US" dirty="0" err="1"/>
              <a:t>thích</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a:t>
            </a:fld>
            <a:endParaRPr lang="en-US"/>
          </a:p>
        </p:txBody>
      </p:sp>
    </p:spTree>
    <p:extLst>
      <p:ext uri="{BB962C8B-B14F-4D97-AF65-F5344CB8AC3E}">
        <p14:creationId xmlns:p14="http://schemas.microsoft.com/office/powerpoint/2010/main" val="351064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Giới</a:t>
            </a:r>
            <a:r>
              <a:rPr lang="en-US" dirty="0"/>
              <a:t> </a:t>
            </a:r>
            <a:r>
              <a:rPr lang="en-US" dirty="0" err="1"/>
              <a:t>thiệu</a:t>
            </a:r>
            <a:r>
              <a:rPr lang="en-US" dirty="0"/>
              <a:t> Python</a:t>
            </a:r>
          </a:p>
        </p:txBody>
      </p:sp>
      <p:sp>
        <p:nvSpPr>
          <p:cNvPr id="3" name="Content Placeholder 2"/>
          <p:cNvSpPr>
            <a:spLocks noGrp="1"/>
          </p:cNvSpPr>
          <p:nvPr>
            <p:ph idx="1"/>
          </p:nvPr>
        </p:nvSpPr>
        <p:spPr>
          <a:xfrm>
            <a:off x="628650" y="1412240"/>
            <a:ext cx="7886700" cy="4764723"/>
          </a:xfrm>
        </p:spPr>
        <p:txBody>
          <a:bodyPr>
            <a:normAutofit lnSpcReduction="10000"/>
          </a:bodyPr>
          <a:lstStyle/>
          <a:p>
            <a:r>
              <a:rPr lang="en-US" dirty="0"/>
              <a:t>N</a:t>
            </a:r>
            <a:r>
              <a:rPr lang="vi-VN" dirty="0"/>
              <a:t>gôn ngữ lập trình</a:t>
            </a:r>
            <a:r>
              <a:rPr lang="en-US" dirty="0"/>
              <a:t> </a:t>
            </a:r>
            <a:r>
              <a:rPr lang="en-US" dirty="0" err="1"/>
              <a:t>bậc</a:t>
            </a:r>
            <a:r>
              <a:rPr lang="en-US" dirty="0"/>
              <a:t> </a:t>
            </a:r>
            <a:r>
              <a:rPr lang="en-US" dirty="0" err="1"/>
              <a:t>cao</a:t>
            </a:r>
            <a:endParaRPr lang="en-US" dirty="0"/>
          </a:p>
          <a:p>
            <a:r>
              <a:rPr lang="en-US" dirty="0"/>
              <a:t>T</a:t>
            </a:r>
            <a:r>
              <a:rPr lang="vi-VN" dirty="0"/>
              <a:t>hông dịch</a:t>
            </a:r>
            <a:endParaRPr lang="en-US" dirty="0"/>
          </a:p>
          <a:p>
            <a:r>
              <a:rPr lang="vi-VN" dirty="0"/>
              <a:t>Ngữ pháp đơn giản, dễ đọc.</a:t>
            </a:r>
          </a:p>
          <a:p>
            <a:r>
              <a:rPr lang="vi-VN" dirty="0"/>
              <a:t>Vừa hướng thủ tục (procedural-oriented), vừa hướng đối tượng (object-oriented)</a:t>
            </a:r>
          </a:p>
          <a:p>
            <a:r>
              <a:rPr lang="vi-VN" dirty="0"/>
              <a:t>Hỗ trợ module và hỗ trợ gói (package)</a:t>
            </a:r>
          </a:p>
          <a:p>
            <a:r>
              <a:rPr lang="vi-VN" dirty="0"/>
              <a:t>Xử lý lỗi bằng ngoại lệ (Exception)</a:t>
            </a:r>
          </a:p>
          <a:p>
            <a:r>
              <a:rPr lang="vi-VN" dirty="0"/>
              <a:t>Kiểu dữ liệu động ở mức cao.</a:t>
            </a:r>
          </a:p>
          <a:p>
            <a:r>
              <a:rPr lang="vi-VN" dirty="0"/>
              <a:t>Có các bộ thư viện chuẩn và các module ngoài, đáp ứng tất cả các nhu cầu lập trình.</a:t>
            </a:r>
          </a:p>
          <a:p>
            <a:pPr marL="0" indent="0">
              <a:buNone/>
            </a:pPr>
            <a:endParaRPr lang="vi-VN" dirty="0"/>
          </a:p>
          <a:p>
            <a:endParaRPr lang="vi-VN"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a:t>
            </a:fld>
            <a:endParaRPr lang="en-US"/>
          </a:p>
        </p:txBody>
      </p:sp>
    </p:spTree>
    <p:extLst>
      <p:ext uri="{BB962C8B-B14F-4D97-AF65-F5344CB8AC3E}">
        <p14:creationId xmlns:p14="http://schemas.microsoft.com/office/powerpoint/2010/main" val="1086837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Cài</a:t>
            </a:r>
            <a:r>
              <a:rPr lang="en-US" dirty="0"/>
              <a:t> python</a:t>
            </a:r>
          </a:p>
        </p:txBody>
      </p:sp>
      <p:sp>
        <p:nvSpPr>
          <p:cNvPr id="3" name="Content Placeholder 2"/>
          <p:cNvSpPr>
            <a:spLocks noGrp="1"/>
          </p:cNvSpPr>
          <p:nvPr>
            <p:ph idx="1"/>
          </p:nvPr>
        </p:nvSpPr>
        <p:spPr/>
        <p:txBody>
          <a:bodyPr/>
          <a:lstStyle/>
          <a:p>
            <a:r>
              <a:rPr lang="en-US" dirty="0" err="1"/>
              <a:t>Vào</a:t>
            </a:r>
            <a:r>
              <a:rPr lang="en-US" dirty="0"/>
              <a:t> </a:t>
            </a:r>
            <a:r>
              <a:rPr lang="en-US" dirty="0" err="1"/>
              <a:t>trang</a:t>
            </a:r>
            <a:r>
              <a:rPr lang="en-US" dirty="0"/>
              <a:t> </a:t>
            </a:r>
            <a:r>
              <a:rPr lang="en-US" dirty="0">
                <a:hlinkClick r:id="rId2"/>
              </a:rPr>
              <a:t>https://www.python.org/downloads/</a:t>
            </a:r>
            <a:endParaRPr lang="en-US" dirty="0"/>
          </a:p>
          <a:p>
            <a:r>
              <a:rPr lang="en-US" dirty="0" err="1"/>
              <a:t>Lựa</a:t>
            </a:r>
            <a:r>
              <a:rPr lang="en-US" dirty="0"/>
              <a:t> </a:t>
            </a:r>
            <a:r>
              <a:rPr lang="en-US" dirty="0" err="1"/>
              <a:t>chọn</a:t>
            </a:r>
            <a:r>
              <a:rPr lang="en-US" dirty="0"/>
              <a:t> </a:t>
            </a:r>
            <a:r>
              <a:rPr lang="en-US" dirty="0" err="1"/>
              <a:t>phiên</a:t>
            </a:r>
            <a:r>
              <a:rPr lang="en-US" dirty="0"/>
              <a:t> </a:t>
            </a:r>
            <a:r>
              <a:rPr lang="en-US" dirty="0" err="1"/>
              <a:t>bản</a:t>
            </a:r>
            <a:r>
              <a:rPr lang="en-US" dirty="0"/>
              <a:t> Python </a:t>
            </a:r>
            <a:r>
              <a:rPr lang="en-US" dirty="0" err="1"/>
              <a:t>muốn</a:t>
            </a:r>
            <a:r>
              <a:rPr lang="en-US" dirty="0"/>
              <a:t> </a:t>
            </a:r>
            <a:r>
              <a:rPr lang="en-US" dirty="0" err="1"/>
              <a:t>cài</a:t>
            </a:r>
            <a:r>
              <a:rPr lang="en-US" dirty="0"/>
              <a:t> </a:t>
            </a:r>
            <a:r>
              <a:rPr lang="en-US" dirty="0" err="1"/>
              <a:t>để</a:t>
            </a:r>
            <a:r>
              <a:rPr lang="en-US" dirty="0"/>
              <a:t> </a:t>
            </a:r>
            <a:r>
              <a:rPr lang="en-US" dirty="0" err="1"/>
              <a:t>tải</a:t>
            </a:r>
            <a:r>
              <a:rPr lang="en-US" dirty="0"/>
              <a:t> </a:t>
            </a:r>
            <a:r>
              <a:rPr lang="en-US" dirty="0" err="1"/>
              <a:t>về</a:t>
            </a:r>
            <a:endParaRPr lang="en-US" dirty="0"/>
          </a:p>
          <a:p>
            <a:r>
              <a:rPr lang="en-US" dirty="0" err="1"/>
              <a:t>Mở</a:t>
            </a:r>
            <a:r>
              <a:rPr lang="en-US" dirty="0"/>
              <a:t> </a:t>
            </a:r>
            <a:r>
              <a:rPr lang="en-US" dirty="0" err="1"/>
              <a:t>chương</a:t>
            </a:r>
            <a:r>
              <a:rPr lang="en-US" dirty="0"/>
              <a:t> </a:t>
            </a:r>
            <a:r>
              <a:rPr lang="en-US" dirty="0" err="1"/>
              <a:t>trình</a:t>
            </a:r>
            <a:r>
              <a:rPr lang="en-US" dirty="0"/>
              <a:t> setup </a:t>
            </a:r>
            <a:r>
              <a:rPr lang="en-US" dirty="0" err="1"/>
              <a:t>tải</a:t>
            </a:r>
            <a:r>
              <a:rPr lang="en-US" dirty="0"/>
              <a:t> </a:t>
            </a:r>
            <a:r>
              <a:rPr lang="en-US" dirty="0" err="1"/>
              <a:t>về</a:t>
            </a:r>
            <a:endParaRPr lang="en-US" dirty="0"/>
          </a:p>
          <a:p>
            <a:r>
              <a:rPr lang="en-US" dirty="0"/>
              <a:t>  </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a:t>
            </a:fld>
            <a:endParaRPr lang="en-US"/>
          </a:p>
        </p:txBody>
      </p:sp>
    </p:spTree>
    <p:extLst>
      <p:ext uri="{BB962C8B-B14F-4D97-AF65-F5344CB8AC3E}">
        <p14:creationId xmlns:p14="http://schemas.microsoft.com/office/powerpoint/2010/main" val="1295739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Cài</a:t>
            </a:r>
            <a:r>
              <a:rPr lang="en-US" dirty="0"/>
              <a:t> python</a:t>
            </a:r>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401321" y="1274827"/>
            <a:ext cx="8435376" cy="5151374"/>
          </a:xfrm>
          <a:prstGeom prst="rect">
            <a:avLst/>
          </a:prstGeom>
        </p:spPr>
      </p:pic>
      <p:sp>
        <p:nvSpPr>
          <p:cNvPr id="6" name="Footer Placeholder 5"/>
          <p:cNvSpPr>
            <a:spLocks noGrp="1"/>
          </p:cNvSpPr>
          <p:nvPr>
            <p:ph type="ftr" sz="quarter" idx="11"/>
          </p:nvPr>
        </p:nvSpPr>
        <p:spPr/>
        <p:txBody>
          <a:bodyPr/>
          <a:lstStyle/>
          <a:p>
            <a:r>
              <a:rPr lang="en-US"/>
              <a:t>Lập trình căn bản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5</a:t>
            </a:fld>
            <a:endParaRPr lang="en-US"/>
          </a:p>
        </p:txBody>
      </p:sp>
    </p:spTree>
    <p:extLst>
      <p:ext uri="{BB962C8B-B14F-4D97-AF65-F5344CB8AC3E}">
        <p14:creationId xmlns:p14="http://schemas.microsoft.com/office/powerpoint/2010/main" val="272723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Giao</a:t>
            </a:r>
            <a:r>
              <a:rPr lang="en-US" dirty="0"/>
              <a:t> </a:t>
            </a:r>
            <a:r>
              <a:rPr lang="en-US" dirty="0" err="1"/>
              <a:t>diện</a:t>
            </a:r>
            <a:r>
              <a:rPr lang="en-US" dirty="0"/>
              <a:t> </a:t>
            </a:r>
            <a:r>
              <a:rPr lang="en-US" dirty="0" err="1"/>
              <a:t>lập</a:t>
            </a:r>
            <a:r>
              <a:rPr lang="en-US" dirty="0"/>
              <a:t> </a:t>
            </a:r>
            <a:r>
              <a:rPr lang="en-US" dirty="0" err="1"/>
              <a:t>trình</a:t>
            </a:r>
            <a:endParaRPr lang="en-US" dirty="0"/>
          </a:p>
        </p:txBody>
      </p:sp>
      <p:sp>
        <p:nvSpPr>
          <p:cNvPr id="3" name="Content Placeholder 2"/>
          <p:cNvSpPr>
            <a:spLocks noGrp="1"/>
          </p:cNvSpPr>
          <p:nvPr>
            <p:ph idx="1"/>
          </p:nvPr>
        </p:nvSpPr>
        <p:spPr/>
        <p:txBody>
          <a:bodyPr/>
          <a:lstStyle/>
          <a:p>
            <a:r>
              <a:rPr lang="en-US" dirty="0" err="1"/>
              <a:t>Chạy</a:t>
            </a:r>
            <a:r>
              <a:rPr lang="en-US" dirty="0"/>
              <a:t> IDLE</a:t>
            </a:r>
            <a:r>
              <a:rPr lang="en-US" dirty="0">
                <a:sym typeface="Wingdings" panose="05000000000000000000" pitchFamily="2" charset="2"/>
              </a:rPr>
              <a:t> </a:t>
            </a:r>
            <a:r>
              <a:rPr lang="en-US" dirty="0" err="1">
                <a:sym typeface="Wingdings" panose="05000000000000000000" pitchFamily="2" charset="2"/>
              </a:rPr>
              <a:t>cửa</a:t>
            </a:r>
            <a:r>
              <a:rPr lang="en-US" dirty="0">
                <a:sym typeface="Wingdings" panose="05000000000000000000" pitchFamily="2" charset="2"/>
              </a:rPr>
              <a:t> </a:t>
            </a:r>
            <a:r>
              <a:rPr lang="en-US" dirty="0" err="1">
                <a:sym typeface="Wingdings" panose="05000000000000000000" pitchFamily="2" charset="2"/>
              </a:rPr>
              <a:t>sổ</a:t>
            </a:r>
            <a:r>
              <a:rPr lang="en-US" dirty="0">
                <a:sym typeface="Wingdings" panose="05000000000000000000" pitchFamily="2" charset="2"/>
              </a:rPr>
              <a:t> </a:t>
            </a:r>
            <a:r>
              <a:rPr lang="en-US" dirty="0" err="1">
                <a:sym typeface="Wingdings" panose="05000000000000000000" pitchFamily="2" charset="2"/>
              </a:rPr>
              <a:t>lệnh</a:t>
            </a:r>
            <a:endParaRPr lang="en-US" dirty="0">
              <a:sym typeface="Wingdings" panose="05000000000000000000" pitchFamily="2" charset="2"/>
            </a:endParaRPr>
          </a:p>
          <a:p>
            <a:r>
              <a:rPr lang="en-US" dirty="0" err="1">
                <a:sym typeface="Wingdings" panose="05000000000000000000" pitchFamily="2" charset="2"/>
              </a:rPr>
              <a:t>Tạo</a:t>
            </a:r>
            <a:r>
              <a:rPr lang="en-US" dirty="0">
                <a:sym typeface="Wingdings" panose="05000000000000000000" pitchFamily="2" charset="2"/>
              </a:rPr>
              <a:t> file </a:t>
            </a:r>
            <a:r>
              <a:rPr lang="en-US" dirty="0" err="1">
                <a:sym typeface="Wingdings" panose="05000000000000000000" pitchFamily="2" charset="2"/>
              </a:rPr>
              <a:t>chương</a:t>
            </a:r>
            <a:r>
              <a:rPr lang="en-US" dirty="0">
                <a:sym typeface="Wingdings" panose="05000000000000000000" pitchFamily="2" charset="2"/>
              </a:rPr>
              <a:t> </a:t>
            </a:r>
            <a:r>
              <a:rPr lang="en-US" dirty="0" err="1">
                <a:sym typeface="Wingdings" panose="05000000000000000000" pitchFamily="2" charset="2"/>
              </a:rPr>
              <a:t>trình</a:t>
            </a:r>
            <a:r>
              <a:rPr lang="en-US" dirty="0">
                <a:sym typeface="Wingdings" panose="05000000000000000000" pitchFamily="2" charset="2"/>
              </a:rPr>
              <a:t>: </a:t>
            </a:r>
            <a:r>
              <a:rPr lang="en-US" dirty="0" err="1">
                <a:sym typeface="Wingdings" panose="05000000000000000000" pitchFamily="2" charset="2"/>
              </a:rPr>
              <a:t>FileNew</a:t>
            </a:r>
            <a:r>
              <a:rPr lang="en-US" dirty="0">
                <a:sym typeface="Wingdings" panose="05000000000000000000" pitchFamily="2" charset="2"/>
              </a:rPr>
              <a:t> file</a:t>
            </a:r>
          </a:p>
          <a:p>
            <a:r>
              <a:rPr lang="en-US" dirty="0" err="1">
                <a:sym typeface="Wingdings" panose="05000000000000000000" pitchFamily="2" charset="2"/>
              </a:rPr>
              <a:t>Mở</a:t>
            </a:r>
            <a:r>
              <a:rPr lang="en-US" dirty="0">
                <a:sym typeface="Wingdings" panose="05000000000000000000" pitchFamily="2" charset="2"/>
              </a:rPr>
              <a:t> </a:t>
            </a:r>
            <a:r>
              <a:rPr lang="en-US" dirty="0" err="1">
                <a:sym typeface="Wingdings" panose="05000000000000000000" pitchFamily="2" charset="2"/>
              </a:rPr>
              <a:t>chương</a:t>
            </a:r>
            <a:r>
              <a:rPr lang="en-US" dirty="0">
                <a:sym typeface="Wingdings" panose="05000000000000000000" pitchFamily="2" charset="2"/>
              </a:rPr>
              <a:t> </a:t>
            </a:r>
            <a:r>
              <a:rPr lang="en-US" dirty="0" err="1">
                <a:sym typeface="Wingdings" panose="05000000000000000000" pitchFamily="2" charset="2"/>
              </a:rPr>
              <a:t>trình</a:t>
            </a:r>
            <a:r>
              <a:rPr lang="en-US" dirty="0">
                <a:sym typeface="Wingdings" panose="05000000000000000000" pitchFamily="2" charset="2"/>
              </a:rPr>
              <a:t>: </a:t>
            </a:r>
            <a:r>
              <a:rPr lang="en-US" dirty="0" err="1">
                <a:sym typeface="Wingdings" panose="05000000000000000000" pitchFamily="2" charset="2"/>
              </a:rPr>
              <a:t>FileOpen</a:t>
            </a:r>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a:t>
            </a:fld>
            <a:endParaRPr lang="en-US"/>
          </a:p>
        </p:txBody>
      </p:sp>
    </p:spTree>
    <p:extLst>
      <p:ext uri="{BB962C8B-B14F-4D97-AF65-F5344CB8AC3E}">
        <p14:creationId xmlns:p14="http://schemas.microsoft.com/office/powerpoint/2010/main" val="3113751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Môi</a:t>
            </a:r>
            <a:r>
              <a:rPr lang="en-US" dirty="0"/>
              <a:t> </a:t>
            </a:r>
            <a:r>
              <a:rPr lang="en-US" dirty="0" err="1"/>
              <a:t>trường</a:t>
            </a:r>
            <a:r>
              <a:rPr lang="en-US" dirty="0"/>
              <a:t> </a:t>
            </a:r>
            <a:r>
              <a:rPr lang="en-US" dirty="0" err="1"/>
              <a:t>phát</a:t>
            </a:r>
            <a:r>
              <a:rPr lang="en-US" dirty="0"/>
              <a:t> </a:t>
            </a:r>
            <a:r>
              <a:rPr lang="en-US" dirty="0" err="1"/>
              <a:t>triển</a:t>
            </a:r>
            <a:r>
              <a:rPr lang="en-US" dirty="0"/>
              <a:t> (IDE)</a:t>
            </a:r>
          </a:p>
        </p:txBody>
      </p:sp>
      <p:sp>
        <p:nvSpPr>
          <p:cNvPr id="3" name="Content Placeholder 2"/>
          <p:cNvSpPr>
            <a:spLocks noGrp="1"/>
          </p:cNvSpPr>
          <p:nvPr>
            <p:ph idx="1"/>
          </p:nvPr>
        </p:nvSpPr>
        <p:spPr/>
        <p:txBody>
          <a:bodyPr/>
          <a:lstStyle/>
          <a:p>
            <a:r>
              <a:rPr lang="en-US" dirty="0" err="1"/>
              <a:t>Có</a:t>
            </a:r>
            <a:r>
              <a:rPr lang="en-US" dirty="0"/>
              <a:t> </a:t>
            </a:r>
            <a:r>
              <a:rPr lang="en-US" dirty="0" err="1"/>
              <a:t>môi</a:t>
            </a:r>
            <a:r>
              <a:rPr lang="en-US" dirty="0"/>
              <a:t> </a:t>
            </a:r>
            <a:r>
              <a:rPr lang="en-US" dirty="0" err="1"/>
              <a:t>trường</a:t>
            </a:r>
            <a:r>
              <a:rPr lang="en-US" dirty="0"/>
              <a:t> </a:t>
            </a:r>
            <a:r>
              <a:rPr lang="en-US" dirty="0" err="1"/>
              <a:t>phát</a:t>
            </a:r>
            <a:r>
              <a:rPr lang="en-US" dirty="0"/>
              <a:t> </a:t>
            </a:r>
            <a:r>
              <a:rPr lang="en-US" dirty="0" err="1"/>
              <a:t>triển</a:t>
            </a:r>
            <a:r>
              <a:rPr lang="en-US" dirty="0"/>
              <a:t> </a:t>
            </a:r>
            <a:r>
              <a:rPr lang="en-US" dirty="0" err="1"/>
              <a:t>tốt</a:t>
            </a:r>
            <a:r>
              <a:rPr lang="en-US" dirty="0"/>
              <a:t> </a:t>
            </a:r>
            <a:r>
              <a:rPr lang="en-US" dirty="0" err="1"/>
              <a:t>hơn</a:t>
            </a:r>
            <a:r>
              <a:rPr lang="en-US" dirty="0" err="1">
                <a:sym typeface="Wingdings" panose="05000000000000000000" pitchFamily="2" charset="2"/>
              </a:rPr>
              <a:t></a:t>
            </a:r>
            <a:r>
              <a:rPr lang="en-US" dirty="0" err="1"/>
              <a:t>cài</a:t>
            </a:r>
            <a:r>
              <a:rPr lang="en-US" dirty="0"/>
              <a:t> </a:t>
            </a:r>
            <a:r>
              <a:rPr lang="en-US" dirty="0" err="1"/>
              <a:t>đặt</a:t>
            </a:r>
            <a:r>
              <a:rPr lang="en-US" dirty="0"/>
              <a:t> </a:t>
            </a:r>
            <a:r>
              <a:rPr lang="en-US" dirty="0" err="1"/>
              <a:t>một</a:t>
            </a:r>
            <a:r>
              <a:rPr lang="en-US" dirty="0"/>
              <a:t> IDE (Integrated Development Environment):</a:t>
            </a:r>
          </a:p>
          <a:p>
            <a:pPr lvl="1"/>
            <a:r>
              <a:rPr lang="en-US" b="1" dirty="0" err="1"/>
              <a:t>PyCharm</a:t>
            </a:r>
            <a:endParaRPr lang="en-US" b="1" dirty="0"/>
          </a:p>
          <a:p>
            <a:pPr lvl="1"/>
            <a:r>
              <a:rPr lang="en-US" b="1" dirty="0" err="1"/>
              <a:t>PyDev</a:t>
            </a:r>
            <a:endParaRPr lang="en-US" b="1" dirty="0"/>
          </a:p>
          <a:p>
            <a:pPr lvl="1"/>
            <a:r>
              <a:rPr lang="en-US" b="1" dirty="0"/>
              <a:t>Atom IDE</a:t>
            </a:r>
          </a:p>
          <a:p>
            <a:pPr lvl="1"/>
            <a:r>
              <a:rPr lang="en-US" b="1" dirty="0"/>
              <a:t>Wing Python</a:t>
            </a:r>
          </a:p>
          <a:p>
            <a:pPr lvl="1"/>
            <a:r>
              <a:rPr lang="en-US" b="1" dirty="0" err="1"/>
              <a:t>PyScripter</a:t>
            </a:r>
            <a:endParaRPr lang="en-US" b="1" dirty="0"/>
          </a:p>
          <a:p>
            <a:pPr lvl="1"/>
            <a:r>
              <a:rPr lang="en-US" dirty="0"/>
              <a:t>…</a:t>
            </a:r>
          </a:p>
        </p:txBody>
      </p:sp>
      <p:sp>
        <p:nvSpPr>
          <p:cNvPr id="4" name="Footer Placeholder 3"/>
          <p:cNvSpPr>
            <a:spLocks noGrp="1"/>
          </p:cNvSpPr>
          <p:nvPr>
            <p:ph type="ftr" sz="quarter" idx="11"/>
          </p:nvPr>
        </p:nvSpPr>
        <p:spPr/>
        <p:txBody>
          <a:bodyPr/>
          <a:lstStyle/>
          <a:p>
            <a:r>
              <a:rPr lang="en-US" dirty="0" err="1"/>
              <a:t>Lập</a:t>
            </a:r>
            <a:r>
              <a:rPr lang="en-US" dirty="0"/>
              <a:t> </a:t>
            </a:r>
            <a:r>
              <a:rPr lang="en-US" dirty="0" err="1"/>
              <a:t>trình</a:t>
            </a:r>
            <a:r>
              <a:rPr lang="en-US" dirty="0"/>
              <a:t> </a:t>
            </a:r>
            <a:r>
              <a:rPr lang="en-US" dirty="0" err="1"/>
              <a:t>căn</a:t>
            </a:r>
            <a:r>
              <a:rPr lang="en-US" dirty="0"/>
              <a:t> </a:t>
            </a:r>
            <a:r>
              <a:rPr lang="en-US" dirty="0" err="1"/>
              <a:t>bản</a:t>
            </a:r>
            <a:r>
              <a:rPr lang="en-US" dirty="0"/>
              <a:t> </a:t>
            </a:r>
            <a:r>
              <a:rPr lang="en-US" dirty="0" err="1"/>
              <a:t>với</a:t>
            </a:r>
            <a:r>
              <a:rPr lang="en-US" dirty="0"/>
              <a:t>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a:t>
            </a:fld>
            <a:endParaRPr lang="en-US"/>
          </a:p>
        </p:txBody>
      </p:sp>
    </p:spTree>
    <p:extLst>
      <p:ext uri="{BB962C8B-B14F-4D97-AF65-F5344CB8AC3E}">
        <p14:creationId xmlns:p14="http://schemas.microsoft.com/office/powerpoint/2010/main" val="3114166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5435"/>
            <a:ext cx="7886700" cy="848994"/>
          </a:xfrm>
        </p:spPr>
        <p:txBody>
          <a:bodyPr/>
          <a:lstStyle/>
          <a:p>
            <a:r>
              <a:rPr lang="en-US" dirty="0" err="1"/>
              <a:t>Nhập</a:t>
            </a:r>
            <a:r>
              <a:rPr lang="en-US" dirty="0"/>
              <a:t> </a:t>
            </a:r>
            <a:r>
              <a:rPr lang="en-US" dirty="0" err="1"/>
              <a:t>xuất</a:t>
            </a:r>
            <a:r>
              <a:rPr lang="en-US" dirty="0"/>
              <a:t> </a:t>
            </a:r>
            <a:r>
              <a:rPr lang="en-US" dirty="0" err="1"/>
              <a:t>đơn</a:t>
            </a:r>
            <a:r>
              <a:rPr lang="en-US" dirty="0"/>
              <a:t> </a:t>
            </a:r>
            <a:r>
              <a:rPr lang="en-US" dirty="0" err="1"/>
              <a:t>giản</a:t>
            </a:r>
            <a:endParaRPr lang="en-US" dirty="0"/>
          </a:p>
        </p:txBody>
      </p:sp>
      <p:sp>
        <p:nvSpPr>
          <p:cNvPr id="3" name="Content Placeholder 2"/>
          <p:cNvSpPr>
            <a:spLocks noGrp="1"/>
          </p:cNvSpPr>
          <p:nvPr>
            <p:ph idx="1"/>
          </p:nvPr>
        </p:nvSpPr>
        <p:spPr>
          <a:xfrm>
            <a:off x="628650" y="1026160"/>
            <a:ext cx="7886700" cy="5150804"/>
          </a:xfrm>
        </p:spPr>
        <p:txBody>
          <a:bodyPr>
            <a:normAutofit fontScale="70000" lnSpcReduction="20000"/>
          </a:bodyPr>
          <a:lstStyle/>
          <a:p>
            <a:r>
              <a:rPr lang="en-US" dirty="0"/>
              <a:t>In </a:t>
            </a:r>
            <a:r>
              <a:rPr lang="en-US" dirty="0" err="1"/>
              <a:t>ra</a:t>
            </a:r>
            <a:r>
              <a:rPr lang="en-US" dirty="0"/>
              <a:t> </a:t>
            </a:r>
            <a:r>
              <a:rPr lang="en-US" dirty="0" err="1"/>
              <a:t>màn</a:t>
            </a:r>
            <a:r>
              <a:rPr lang="en-US" dirty="0"/>
              <a:t> </a:t>
            </a:r>
            <a:r>
              <a:rPr lang="en-US" err="1"/>
              <a:t>hình</a:t>
            </a:r>
            <a:r>
              <a:rPr lang="en-US"/>
              <a:t>: </a:t>
            </a:r>
            <a:r>
              <a:rPr lang="en-US" sz="2800" b="1" kern="100">
                <a:effectLst/>
                <a:latin typeface="Consolas" panose="020B0609020204030204" pitchFamily="49" charset="0"/>
                <a:ea typeface="Calibri" panose="020F0502020204030204" pitchFamily="34" charset="0"/>
                <a:cs typeface="Courier New" panose="02070309020205020404" pitchFamily="49" charset="0"/>
              </a:rPr>
              <a:t>print(*objects, sep=' ', end='\n', file=sys.stdout, flush=False)</a:t>
            </a:r>
            <a:endParaRPr lang="en-US" dirty="0"/>
          </a:p>
          <a:p>
            <a:r>
              <a:rPr lang="en-US" dirty="0" err="1"/>
              <a:t>Vd</a:t>
            </a:r>
            <a:r>
              <a:rPr lang="en-US" dirty="0"/>
              <a:t>:</a:t>
            </a:r>
          </a:p>
          <a:p>
            <a:pPr marL="0" indent="0">
              <a:buNone/>
            </a:pPr>
            <a:r>
              <a:rPr lang="en-US" dirty="0">
                <a:latin typeface="Courier New" panose="02070309020205020404" pitchFamily="49" charset="0"/>
                <a:cs typeface="Courier New" panose="02070309020205020404" pitchFamily="49" charset="0"/>
              </a:rPr>
              <a:t>print (“Hello world!”)</a:t>
            </a:r>
          </a:p>
          <a:p>
            <a:r>
              <a:rPr lang="en-US" dirty="0" err="1"/>
              <a:t>Sử</a:t>
            </a:r>
            <a:r>
              <a:rPr lang="en-US" dirty="0"/>
              <a:t> </a:t>
            </a:r>
            <a:r>
              <a:rPr lang="en-US" dirty="0" err="1"/>
              <a:t>dụng</a:t>
            </a:r>
            <a:r>
              <a:rPr lang="en-US" dirty="0"/>
              <a:t> </a:t>
            </a:r>
            <a:r>
              <a:rPr lang="en-US" dirty="0" err="1"/>
              <a:t>biến</a:t>
            </a:r>
            <a:r>
              <a:rPr lang="en-US" dirty="0"/>
              <a:t>:</a:t>
            </a:r>
          </a:p>
          <a:p>
            <a:pPr marL="0" indent="0">
              <a:buNone/>
            </a:pPr>
            <a:r>
              <a:rPr lang="en-US" dirty="0">
                <a:latin typeface="Courier New" panose="02070309020205020404" pitchFamily="49" charset="0"/>
                <a:cs typeface="Courier New" panose="02070309020205020404" pitchFamily="49" charset="0"/>
              </a:rPr>
              <a:t>ten=‘Nam’</a:t>
            </a:r>
          </a:p>
          <a:p>
            <a:pPr marL="0" indent="0">
              <a:buNone/>
            </a:pPr>
            <a:r>
              <a:rPr lang="en-US" dirty="0">
                <a:latin typeface="Courier New" panose="02070309020205020404" pitchFamily="49" charset="0"/>
                <a:cs typeface="Courier New" panose="02070309020205020404" pitchFamily="49" charset="0"/>
              </a:rPr>
              <a:t>print (‘My name is ‘, ten)</a:t>
            </a:r>
          </a:p>
          <a:p>
            <a:pPr marL="0" indent="0">
              <a:buNone/>
            </a:pPr>
            <a:r>
              <a:rPr lang="en-US" dirty="0">
                <a:latin typeface="Courier New" panose="02070309020205020404" pitchFamily="49" charset="0"/>
                <a:cs typeface="Courier New" panose="02070309020205020404" pitchFamily="49" charset="0"/>
              </a:rPr>
              <a:t>a=5</a:t>
            </a:r>
          </a:p>
          <a:p>
            <a:pPr marL="0" indent="0">
              <a:buNone/>
            </a:pPr>
            <a:r>
              <a:rPr lang="en-US" dirty="0">
                <a:latin typeface="Courier New" panose="02070309020205020404" pitchFamily="49" charset="0"/>
                <a:cs typeface="Courier New" panose="02070309020205020404" pitchFamily="49" charset="0"/>
              </a:rPr>
              <a:t>b=7</a:t>
            </a:r>
          </a:p>
          <a:p>
            <a:pPr marL="0" indent="0">
              <a:buNone/>
            </a:pPr>
            <a:r>
              <a:rPr lang="en-US" dirty="0">
                <a:latin typeface="Courier New" panose="02070309020205020404" pitchFamily="49" charset="0"/>
                <a:cs typeface="Courier New" panose="02070309020205020404" pitchFamily="49" charset="0"/>
              </a:rPr>
              <a:t>tong=</a:t>
            </a:r>
            <a:r>
              <a:rPr lang="en-US" dirty="0" err="1">
                <a:latin typeface="Courier New" panose="02070309020205020404" pitchFamily="49" charset="0"/>
                <a:cs typeface="Courier New" panose="02070309020205020404" pitchFamily="49" charset="0"/>
              </a:rPr>
              <a:t>a+b</a:t>
            </a:r>
            <a:endParaRPr lang="en-US" dirty="0">
              <a:latin typeface="Courier New" panose="02070309020205020404" pitchFamily="49" charset="0"/>
              <a:cs typeface="Courier New" panose="02070309020205020404" pitchFamily="49" charset="0"/>
            </a:endParaRPr>
          </a:p>
          <a:p>
            <a:pPr marL="0" indent="0">
              <a:buNone/>
            </a:pPr>
            <a:r>
              <a:rPr lang="en-US" dirty="0" err="1">
                <a:latin typeface="Courier New" panose="02070309020205020404" pitchFamily="49" charset="0"/>
                <a:cs typeface="Courier New" panose="02070309020205020404" pitchFamily="49" charset="0"/>
              </a:rPr>
              <a:t>x,y</a:t>
            </a:r>
            <a:r>
              <a:rPr lang="en-US" dirty="0">
                <a:latin typeface="Courier New" panose="02070309020205020404" pitchFamily="49" charset="0"/>
                <a:cs typeface="Courier New" panose="02070309020205020404" pitchFamily="49" charset="0"/>
              </a:rPr>
              <a:t>=3,4 </a:t>
            </a:r>
          </a:p>
          <a:p>
            <a:pPr marL="0" indent="0">
              <a:buNone/>
            </a:pPr>
            <a:r>
              <a:rPr lang="en-US" dirty="0">
                <a:latin typeface="Courier New" panose="02070309020205020404" pitchFamily="49" charset="0"/>
                <a:cs typeface="Courier New" panose="02070309020205020404" pitchFamily="49" charset="0"/>
              </a:rPr>
              <a:t>print (</a:t>
            </a:r>
            <a:r>
              <a:rPr lang="en-US" dirty="0" err="1">
                <a:latin typeface="Courier New" panose="02070309020205020404" pitchFamily="49" charset="0"/>
                <a:cs typeface="Courier New" panose="02070309020205020404" pitchFamily="49" charset="0"/>
              </a:rPr>
              <a:t>a,”+”,b</a:t>
            </a:r>
            <a:r>
              <a:rPr lang="en-US" dirty="0">
                <a:latin typeface="Courier New" panose="02070309020205020404" pitchFamily="49" charset="0"/>
                <a:cs typeface="Courier New" panose="02070309020205020404" pitchFamily="49" charset="0"/>
              </a:rPr>
              <a:t>, “=“, tong)</a:t>
            </a:r>
          </a:p>
          <a:p>
            <a:r>
              <a:rPr lang="en-US" sz="2700" dirty="0" err="1"/>
              <a:t>Lưu</a:t>
            </a:r>
            <a:r>
              <a:rPr lang="en-US" sz="2700" dirty="0"/>
              <a:t> ý </a:t>
            </a:r>
            <a:r>
              <a:rPr lang="en-US" sz="2700" dirty="0" err="1"/>
              <a:t>tên</a:t>
            </a:r>
            <a:r>
              <a:rPr lang="en-US" sz="2700" dirty="0"/>
              <a:t> </a:t>
            </a:r>
            <a:r>
              <a:rPr lang="en-US" sz="2700" dirty="0" err="1"/>
              <a:t>biến</a:t>
            </a:r>
            <a:r>
              <a:rPr lang="en-US" sz="2700" dirty="0"/>
              <a:t>:</a:t>
            </a:r>
          </a:p>
          <a:p>
            <a:pPr lvl="1"/>
            <a:r>
              <a:rPr lang="en-US" dirty="0"/>
              <a:t>C</a:t>
            </a:r>
            <a:r>
              <a:rPr lang="vi-VN" dirty="0"/>
              <a:t>hỉ có thể chứa ký tự chữ, số và dấu gạch dưới (A-z, 0-9, và _)</a:t>
            </a:r>
            <a:endParaRPr lang="en-US" dirty="0"/>
          </a:p>
          <a:p>
            <a:pPr lvl="1"/>
            <a:r>
              <a:rPr lang="en-US" dirty="0"/>
              <a:t>K</a:t>
            </a:r>
            <a:r>
              <a:rPr lang="vi-VN" dirty="0"/>
              <a:t>hông bắt đầu bằng số.</a:t>
            </a:r>
          </a:p>
          <a:p>
            <a:pPr lvl="1"/>
            <a:r>
              <a:rPr lang="en-US" dirty="0"/>
              <a:t>P</a:t>
            </a:r>
            <a:r>
              <a:rPr lang="vi-VN" dirty="0"/>
              <a:t>hân biệt giữa chữ hoa và chữ thường</a:t>
            </a: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a:p>
            <a:pPr marL="0" indent="0">
              <a:buNone/>
            </a:pP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a:t>
            </a:fld>
            <a:endParaRPr lang="en-US"/>
          </a:p>
        </p:txBody>
      </p:sp>
    </p:spTree>
    <p:extLst>
      <p:ext uri="{BB962C8B-B14F-4D97-AF65-F5344CB8AC3E}">
        <p14:creationId xmlns:p14="http://schemas.microsoft.com/office/powerpoint/2010/main" val="4099248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Nhập</a:t>
            </a:r>
            <a:r>
              <a:rPr lang="en-US" dirty="0"/>
              <a:t> </a:t>
            </a:r>
            <a:r>
              <a:rPr lang="en-US" dirty="0" err="1"/>
              <a:t>từ</a:t>
            </a:r>
            <a:r>
              <a:rPr lang="en-US" dirty="0"/>
              <a:t> </a:t>
            </a:r>
            <a:r>
              <a:rPr lang="en-US" dirty="0" err="1"/>
              <a:t>bàn</a:t>
            </a:r>
            <a:r>
              <a:rPr lang="en-US" dirty="0"/>
              <a:t> </a:t>
            </a:r>
            <a:r>
              <a:rPr lang="en-US" dirty="0" err="1"/>
              <a:t>phím</a:t>
            </a:r>
            <a:endParaRPr lang="en-US" dirty="0"/>
          </a:p>
        </p:txBody>
      </p:sp>
      <p:sp>
        <p:nvSpPr>
          <p:cNvPr id="3" name="Content Placeholder 2"/>
          <p:cNvSpPr>
            <a:spLocks noGrp="1"/>
          </p:cNvSpPr>
          <p:nvPr>
            <p:ph idx="1"/>
          </p:nvPr>
        </p:nvSpPr>
        <p:spPr/>
        <p:txBody>
          <a:bodyPr>
            <a:normAutofit fontScale="85000" lnSpcReduction="20000"/>
          </a:bodyPr>
          <a:lstStyle/>
          <a:p>
            <a:r>
              <a:rPr lang="en-US"/>
              <a:t>Nhập một giá trị</a:t>
            </a:r>
          </a:p>
          <a:p>
            <a:pPr marL="0" indent="0" algn="ctr">
              <a:buNone/>
            </a:pPr>
            <a:r>
              <a:rPr lang="en-US" b="1"/>
              <a:t>Biến</a:t>
            </a:r>
            <a:r>
              <a:rPr lang="en-US" b="1" dirty="0"/>
              <a:t>=input(thông </a:t>
            </a:r>
            <a:r>
              <a:rPr lang="en-US" b="1" dirty="0" err="1"/>
              <a:t>báo</a:t>
            </a:r>
            <a:r>
              <a:rPr lang="en-US" b="1" dirty="0"/>
              <a:t>)</a:t>
            </a:r>
          </a:p>
          <a:p>
            <a:r>
              <a:rPr lang="en-US" dirty="0" err="1"/>
              <a:t>Vd</a:t>
            </a:r>
            <a:r>
              <a:rPr lang="en-US" dirty="0"/>
              <a:t>:</a:t>
            </a:r>
          </a:p>
          <a:p>
            <a:pPr marL="457200" lvl="1" indent="0">
              <a:buNone/>
            </a:pPr>
            <a:r>
              <a:rPr lang="en-US" dirty="0">
                <a:latin typeface="Courier New" panose="02070309020205020404" pitchFamily="49" charset="0"/>
                <a:cs typeface="Courier New" panose="02070309020205020404" pitchFamily="49" charset="0"/>
              </a:rPr>
              <a:t>name=input(“Enter your name:”)</a:t>
            </a:r>
          </a:p>
          <a:p>
            <a:pPr marL="457200" lvl="1" indent="0">
              <a:buNone/>
            </a:pPr>
            <a:r>
              <a:rPr lang="en-US" dirty="0">
                <a:latin typeface="Courier New" panose="02070309020205020404" pitchFamily="49" charset="0"/>
                <a:cs typeface="Courier New" panose="02070309020205020404" pitchFamily="49" charset="0"/>
              </a:rPr>
              <a:t>print (“Hello “, </a:t>
            </a:r>
            <a:r>
              <a:rPr lang="en-US">
                <a:latin typeface="Courier New" panose="02070309020205020404" pitchFamily="49" charset="0"/>
                <a:cs typeface="Courier New" panose="02070309020205020404" pitchFamily="49" charset="0"/>
              </a:rPr>
              <a:t>name)</a:t>
            </a:r>
          </a:p>
          <a:p>
            <a:r>
              <a:rPr lang="en-US"/>
              <a:t>Để nhập nhiều giá trị, mỗi giá trị được cách nhau bởi một dấu phân cách (separator). Mặc định, separator là khoảng trắng:</a:t>
            </a:r>
          </a:p>
          <a:p>
            <a:pPr marL="0" indent="0" algn="ctr">
              <a:buNone/>
            </a:pPr>
            <a:r>
              <a:rPr lang="en-US" b="1"/>
              <a:t>    input().split(separator, maxsplit)</a:t>
            </a:r>
          </a:p>
          <a:p>
            <a:pPr marL="0" indent="0">
              <a:buNone/>
            </a:pPr>
            <a:r>
              <a:rPr lang="en-US" sz="3200" b="1"/>
              <a:t>Ví dụ:</a:t>
            </a:r>
          </a:p>
          <a:p>
            <a:pPr marL="0" indent="0">
              <a:buNone/>
            </a:pPr>
            <a:r>
              <a:rPr lang="en-US"/>
              <a:t>hoten, quequan = input("nhập họ tên và quê quán: ").split(‘;’)</a:t>
            </a:r>
            <a:br>
              <a:rPr lang="en-US"/>
            </a:br>
            <a:r>
              <a:rPr lang="en-US"/>
              <a:t>print("Họ tên: ", hoten)</a:t>
            </a:r>
            <a:br>
              <a:rPr lang="en-US"/>
            </a:br>
            <a:r>
              <a:rPr lang="en-US"/>
              <a:t>print("Quê quán: ", quequan)</a:t>
            </a:r>
            <a:endParaRPr lang="en-US" sz="3200"/>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endParaRPr lang="en-US" dirty="0"/>
          </a:p>
          <a:p>
            <a:pPr marL="457200" lvl="1" indent="0">
              <a:buNone/>
            </a:pP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9</a:t>
            </a:fld>
            <a:endParaRPr lang="en-US"/>
          </a:p>
        </p:txBody>
      </p:sp>
    </p:spTree>
    <p:extLst>
      <p:ext uri="{BB962C8B-B14F-4D97-AF65-F5344CB8AC3E}">
        <p14:creationId xmlns:p14="http://schemas.microsoft.com/office/powerpoint/2010/main" val="1306473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Làm</a:t>
            </a:r>
            <a:r>
              <a:rPr lang="en-US" dirty="0"/>
              <a:t> </a:t>
            </a:r>
            <a:r>
              <a:rPr lang="en-US" dirty="0" err="1"/>
              <a:t>việc</a:t>
            </a:r>
            <a:r>
              <a:rPr lang="en-US" dirty="0"/>
              <a:t> </a:t>
            </a:r>
            <a:r>
              <a:rPr lang="en-US" dirty="0" err="1"/>
              <a:t>với</a:t>
            </a:r>
            <a:r>
              <a:rPr lang="en-US" dirty="0"/>
              <a:t> </a:t>
            </a:r>
            <a:r>
              <a:rPr lang="en-US" dirty="0" err="1"/>
              <a:t>kiểu</a:t>
            </a:r>
            <a:r>
              <a:rPr lang="en-US" dirty="0"/>
              <a:t> </a:t>
            </a:r>
            <a:r>
              <a:rPr lang="en-US" dirty="0" err="1"/>
              <a:t>số</a:t>
            </a:r>
            <a:endParaRPr lang="en-US" dirty="0"/>
          </a:p>
        </p:txBody>
      </p:sp>
      <p:sp>
        <p:nvSpPr>
          <p:cNvPr id="3" name="Content Placeholder 2"/>
          <p:cNvSpPr>
            <a:spLocks noGrp="1"/>
          </p:cNvSpPr>
          <p:nvPr>
            <p:ph idx="1"/>
          </p:nvPr>
        </p:nvSpPr>
        <p:spPr/>
        <p:txBody>
          <a:bodyPr>
            <a:normAutofit lnSpcReduction="10000"/>
          </a:bodyPr>
          <a:lstStyle/>
          <a:p>
            <a:r>
              <a:rPr lang="en-US" dirty="0" err="1"/>
              <a:t>Số</a:t>
            </a:r>
            <a:r>
              <a:rPr lang="en-US" dirty="0"/>
              <a:t> </a:t>
            </a:r>
            <a:r>
              <a:rPr lang="en-US" dirty="0" err="1"/>
              <a:t>nguyên</a:t>
            </a:r>
            <a:r>
              <a:rPr lang="en-US" dirty="0"/>
              <a:t> </a:t>
            </a:r>
            <a:r>
              <a:rPr lang="en-US" dirty="0" err="1"/>
              <a:t>và</a:t>
            </a:r>
            <a:r>
              <a:rPr lang="en-US" dirty="0"/>
              <a:t> </a:t>
            </a:r>
            <a:r>
              <a:rPr lang="en-US" dirty="0" err="1"/>
              <a:t>số</a:t>
            </a:r>
            <a:r>
              <a:rPr lang="en-US" dirty="0"/>
              <a:t> </a:t>
            </a:r>
            <a:r>
              <a:rPr lang="en-US" dirty="0" err="1"/>
              <a:t>thực</a:t>
            </a:r>
            <a:r>
              <a:rPr lang="en-US" dirty="0"/>
              <a:t> </a:t>
            </a:r>
            <a:r>
              <a:rPr lang="en-US" dirty="0" err="1"/>
              <a:t>dấm</a:t>
            </a:r>
            <a:r>
              <a:rPr lang="en-US" dirty="0"/>
              <a:t> </a:t>
            </a:r>
            <a:r>
              <a:rPr lang="en-US" dirty="0" err="1"/>
              <a:t>chấm</a:t>
            </a:r>
            <a:r>
              <a:rPr lang="en-US" dirty="0"/>
              <a:t> </a:t>
            </a:r>
            <a:r>
              <a:rPr lang="en-US" dirty="0" err="1"/>
              <a:t>động</a:t>
            </a:r>
            <a:endParaRPr lang="en-US" dirty="0"/>
          </a:p>
          <a:p>
            <a:pPr marL="457200" lvl="1" indent="0">
              <a:buNone/>
            </a:pPr>
            <a:r>
              <a:rPr lang="en-US" dirty="0">
                <a:latin typeface="Courier New" panose="02070309020205020404" pitchFamily="49" charset="0"/>
                <a:cs typeface="Courier New" panose="02070309020205020404" pitchFamily="49" charset="0"/>
              </a:rPr>
              <a:t>a=5</a:t>
            </a:r>
          </a:p>
          <a:p>
            <a:pPr marL="457200" lvl="1" indent="0">
              <a:buNone/>
            </a:pPr>
            <a:r>
              <a:rPr lang="en-US" dirty="0">
                <a:latin typeface="Courier New" panose="02070309020205020404" pitchFamily="49" charset="0"/>
                <a:cs typeface="Courier New" panose="02070309020205020404" pitchFamily="49" charset="0"/>
              </a:rPr>
              <a:t>b=6.7</a:t>
            </a:r>
          </a:p>
          <a:p>
            <a:r>
              <a:rPr lang="en-US" sz="3200" dirty="0" err="1"/>
              <a:t>Các</a:t>
            </a:r>
            <a:r>
              <a:rPr lang="en-US" sz="3200" dirty="0"/>
              <a:t> </a:t>
            </a:r>
            <a:r>
              <a:rPr lang="en-US" sz="3200" dirty="0" err="1"/>
              <a:t>toán</a:t>
            </a:r>
            <a:r>
              <a:rPr lang="en-US" sz="3200" dirty="0"/>
              <a:t> </a:t>
            </a:r>
            <a:r>
              <a:rPr lang="en-US" sz="3200" dirty="0" err="1"/>
              <a:t>tử</a:t>
            </a:r>
            <a:r>
              <a:rPr lang="en-US" sz="3200" dirty="0"/>
              <a:t>:  </a:t>
            </a:r>
            <a:r>
              <a:rPr lang="en-US" sz="2400" dirty="0">
                <a:latin typeface="Courier New" panose="02070309020205020404" pitchFamily="49" charset="0"/>
                <a:cs typeface="Courier New" panose="02070309020205020404" pitchFamily="49" charset="0"/>
              </a:rPr>
              <a:t>+, -, *, / </a:t>
            </a:r>
            <a:r>
              <a:rPr lang="en-US" sz="3200" dirty="0" err="1"/>
              <a:t>và</a:t>
            </a:r>
            <a:endParaRPr lang="en-US" sz="3200" dirty="0"/>
          </a:p>
          <a:p>
            <a:pPr marL="4572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lũy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thừa</a:t>
            </a: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 chia </a:t>
            </a:r>
            <a:r>
              <a:rPr lang="en-US" dirty="0" err="1">
                <a:latin typeface="Courier New" panose="02070309020205020404" pitchFamily="49" charset="0"/>
                <a:cs typeface="Courier New" panose="02070309020205020404" pitchFamily="49" charset="0"/>
              </a:rPr>
              <a:t>lấy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phần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nguyên</a:t>
            </a: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 chia </a:t>
            </a:r>
            <a:r>
              <a:rPr lang="en-US" dirty="0" err="1">
                <a:latin typeface="Courier New" panose="02070309020205020404" pitchFamily="49" charset="0"/>
                <a:cs typeface="Courier New" panose="02070309020205020404" pitchFamily="49" charset="0"/>
              </a:rPr>
              <a:t>lấy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phần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dư</a:t>
            </a:r>
            <a:endParaRPr lang="en-US" dirty="0">
              <a:latin typeface="Courier New" panose="02070309020205020404" pitchFamily="49" charset="0"/>
              <a:cs typeface="Courier New" panose="02070309020205020404" pitchFamily="49" charset="0"/>
            </a:endParaRPr>
          </a:p>
          <a:p>
            <a:pPr marL="457200" lvl="1" indent="0">
              <a:buNone/>
            </a:pPr>
            <a:r>
              <a:rPr lang="en-US" dirty="0">
                <a:latin typeface="Courier New" panose="02070309020205020404" pitchFamily="49" charset="0"/>
                <a:cs typeface="Courier New" panose="02070309020205020404" pitchFamily="49" charset="0"/>
              </a:rPr>
              <a:t>+=, -=, *=, /=,</a:t>
            </a:r>
          </a:p>
          <a:p>
            <a:pPr marL="457200" lvl="1" indent="0">
              <a:buNone/>
            </a:pPr>
            <a:r>
              <a:rPr lang="en-US" dirty="0" err="1">
                <a:latin typeface="Courier New" panose="02070309020205020404" pitchFamily="49" charset="0"/>
                <a:cs typeface="Courier New" panose="02070309020205020404" pitchFamily="49" charset="0"/>
              </a:rPr>
              <a:t>Ví</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dụ</a:t>
            </a:r>
            <a:r>
              <a:rPr lang="en-US" dirty="0">
                <a:latin typeface="Courier New" panose="02070309020205020404" pitchFamily="49" charset="0"/>
                <a:cs typeface="Courier New" panose="02070309020205020404" pitchFamily="49" charset="0"/>
              </a:rPr>
              <a:t>:</a:t>
            </a:r>
          </a:p>
          <a:p>
            <a:pPr marL="457200" lvl="1" indent="0">
              <a:buNone/>
            </a:pPr>
            <a:r>
              <a:rPr lang="en-US" dirty="0">
                <a:latin typeface="Courier New" panose="02070309020205020404" pitchFamily="49" charset="0"/>
                <a:cs typeface="Courier New" panose="02070309020205020404" pitchFamily="49" charset="0"/>
              </a:rPr>
              <a:t>a+=5 #a=a+5</a:t>
            </a:r>
          </a:p>
          <a:p>
            <a:pPr marL="457200" lvl="1" indent="0">
              <a:buNone/>
            </a:pPr>
            <a:r>
              <a:rPr lang="en-US" dirty="0">
                <a:latin typeface="Courier New" panose="02070309020205020404" pitchFamily="49" charset="0"/>
                <a:cs typeface="Courier New" panose="02070309020205020404" pitchFamily="49" charset="0"/>
              </a:rPr>
              <a:t>a*=5 #a=a*5 </a:t>
            </a:r>
          </a:p>
          <a:p>
            <a:pPr marL="457200" lvl="1" indent="0">
              <a:buNone/>
            </a:pPr>
            <a:endParaRPr lang="en-US" dirty="0">
              <a:latin typeface="Courier New" panose="02070309020205020404" pitchFamily="49" charset="0"/>
              <a:cs typeface="Courier New" panose="02070309020205020404" pitchFamily="49" charset="0"/>
            </a:endParaRPr>
          </a:p>
          <a:p>
            <a:pPr marL="457200" lvl="1" indent="0">
              <a:buNone/>
            </a:pP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10</a:t>
            </a:fld>
            <a:endParaRPr lang="en-US"/>
          </a:p>
        </p:txBody>
      </p:sp>
    </p:spTree>
    <p:extLst>
      <p:ext uri="{BB962C8B-B14F-4D97-AF65-F5344CB8AC3E}">
        <p14:creationId xmlns:p14="http://schemas.microsoft.com/office/powerpoint/2010/main" val="2242173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Làm</a:t>
            </a:r>
            <a:r>
              <a:rPr lang="en-US" dirty="0"/>
              <a:t> </a:t>
            </a:r>
            <a:r>
              <a:rPr lang="en-US" dirty="0" err="1"/>
              <a:t>việc</a:t>
            </a:r>
            <a:r>
              <a:rPr lang="en-US" dirty="0"/>
              <a:t> </a:t>
            </a:r>
            <a:r>
              <a:rPr lang="en-US" dirty="0" err="1"/>
              <a:t>với</a:t>
            </a:r>
            <a:r>
              <a:rPr lang="en-US" dirty="0"/>
              <a:t> </a:t>
            </a:r>
            <a:r>
              <a:rPr lang="en-US" dirty="0" err="1"/>
              <a:t>kiểu</a:t>
            </a:r>
            <a:r>
              <a:rPr lang="en-US" dirty="0"/>
              <a:t> </a:t>
            </a:r>
            <a:r>
              <a:rPr lang="en-US" dirty="0" err="1"/>
              <a:t>số</a:t>
            </a:r>
            <a:endParaRPr lang="en-US" dirty="0"/>
          </a:p>
        </p:txBody>
      </p:sp>
      <p:sp>
        <p:nvSpPr>
          <p:cNvPr id="3" name="Content Placeholder 2"/>
          <p:cNvSpPr>
            <a:spLocks noGrp="1"/>
          </p:cNvSpPr>
          <p:nvPr>
            <p:ph idx="1"/>
          </p:nvPr>
        </p:nvSpPr>
        <p:spPr/>
        <p:txBody>
          <a:bodyPr>
            <a:normAutofit fontScale="92500" lnSpcReduction="20000"/>
          </a:bodyPr>
          <a:lstStyle/>
          <a:p>
            <a:r>
              <a:rPr lang="en-US" b="1" dirty="0" err="1"/>
              <a:t>Thư</a:t>
            </a:r>
            <a:r>
              <a:rPr lang="en-US" b="1" dirty="0"/>
              <a:t> </a:t>
            </a:r>
            <a:r>
              <a:rPr lang="en-US" b="1" dirty="0" err="1"/>
              <a:t>viện</a:t>
            </a:r>
            <a:r>
              <a:rPr lang="en-US" b="1" dirty="0"/>
              <a:t> math</a:t>
            </a:r>
          </a:p>
          <a:p>
            <a:r>
              <a:rPr lang="en-US" dirty="0" err="1"/>
              <a:t>Các</a:t>
            </a:r>
            <a:r>
              <a:rPr lang="en-US" dirty="0"/>
              <a:t> </a:t>
            </a:r>
            <a:r>
              <a:rPr lang="en-US" dirty="0" err="1"/>
              <a:t>hàm</a:t>
            </a:r>
            <a:r>
              <a:rPr lang="en-US" dirty="0"/>
              <a:t>: sin, cos, tan, </a:t>
            </a:r>
            <a:r>
              <a:rPr lang="en-US" dirty="0" err="1"/>
              <a:t>exp</a:t>
            </a:r>
            <a:r>
              <a:rPr lang="en-US" dirty="0"/>
              <a:t>, log, log10, factorial, </a:t>
            </a:r>
            <a:r>
              <a:rPr lang="en-US" dirty="0" err="1"/>
              <a:t>sqrt</a:t>
            </a:r>
            <a:r>
              <a:rPr lang="en-US" dirty="0"/>
              <a:t>, floor, ceil… </a:t>
            </a:r>
            <a:br>
              <a:rPr lang="en-US" dirty="0"/>
            </a:br>
            <a:r>
              <a:rPr lang="en-US" dirty="0" err="1"/>
              <a:t>Hằng</a:t>
            </a:r>
            <a:r>
              <a:rPr lang="en-US" dirty="0"/>
              <a:t>: p</a:t>
            </a:r>
            <a:r>
              <a:rPr lang="vi-VN" dirty="0"/>
              <a:t>i</a:t>
            </a:r>
            <a:r>
              <a:rPr lang="en-US" dirty="0"/>
              <a:t>, e</a:t>
            </a:r>
          </a:p>
          <a:p>
            <a:pPr marL="0" indent="0">
              <a:buNone/>
            </a:pPr>
            <a:r>
              <a:rPr lang="en-US" dirty="0" err="1"/>
              <a:t>Ví</a:t>
            </a:r>
            <a:r>
              <a:rPr lang="en-US" dirty="0"/>
              <a:t> </a:t>
            </a:r>
            <a:r>
              <a:rPr lang="en-US" dirty="0" err="1"/>
              <a:t>dụ</a:t>
            </a:r>
            <a:r>
              <a:rPr lang="en-US" dirty="0"/>
              <a:t> cach </a:t>
            </a:r>
            <a:r>
              <a:rPr lang="en-US" dirty="0" err="1"/>
              <a:t>khai</a:t>
            </a:r>
            <a:r>
              <a:rPr lang="en-US" dirty="0"/>
              <a:t>, </a:t>
            </a:r>
            <a:r>
              <a:rPr lang="en-US" dirty="0" err="1"/>
              <a:t>sử</a:t>
            </a:r>
            <a:r>
              <a:rPr lang="en-US" dirty="0"/>
              <a:t> </a:t>
            </a:r>
            <a:r>
              <a:rPr lang="en-US" dirty="0" err="1"/>
              <a:t>dụng</a:t>
            </a:r>
            <a:r>
              <a:rPr lang="en-US" dirty="0"/>
              <a:t> </a:t>
            </a:r>
            <a:r>
              <a:rPr lang="en-US" dirty="0" err="1"/>
              <a:t>thu</a:t>
            </a:r>
            <a:r>
              <a:rPr lang="en-US" dirty="0"/>
              <a:t> </a:t>
            </a:r>
            <a:r>
              <a:rPr lang="en-US" dirty="0" err="1"/>
              <a:t>viện</a:t>
            </a:r>
            <a:r>
              <a:rPr lang="en-US" dirty="0"/>
              <a:t>:</a:t>
            </a:r>
            <a:br>
              <a:rPr lang="vi-VN" dirty="0"/>
            </a:br>
            <a:r>
              <a:rPr lang="en-US" sz="2400" dirty="0">
                <a:latin typeface="Courier New" panose="02070309020205020404" pitchFamily="49" charset="0"/>
                <a:cs typeface="Courier New" panose="02070309020205020404" pitchFamily="49" charset="0"/>
              </a:rPr>
              <a:t>import math</a:t>
            </a:r>
          </a:p>
          <a:p>
            <a:pPr marL="0" indent="0">
              <a:buNone/>
            </a:pPr>
            <a:r>
              <a:rPr lang="en-US" sz="2400" dirty="0">
                <a:latin typeface="Courier New" panose="02070309020205020404" pitchFamily="49" charset="0"/>
                <a:cs typeface="Courier New" panose="02070309020205020404" pitchFamily="49" charset="0"/>
              </a:rPr>
              <a:t>print(</a:t>
            </a:r>
            <a:r>
              <a:rPr lang="en-US" sz="2400" dirty="0" err="1">
                <a:latin typeface="Courier New" panose="02070309020205020404" pitchFamily="49" charset="0"/>
                <a:cs typeface="Courier New" panose="02070309020205020404" pitchFamily="49" charset="0"/>
              </a:rPr>
              <a:t>math.sin</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math.pi</a:t>
            </a:r>
            <a:r>
              <a:rPr lang="en-US" sz="2400" dirty="0">
                <a:latin typeface="Courier New" panose="02070309020205020404" pitchFamily="49" charset="0"/>
                <a:cs typeface="Courier New" panose="02070309020205020404" pitchFamily="49" charset="0"/>
              </a:rPr>
              <a:t>/6))</a:t>
            </a:r>
          </a:p>
          <a:p>
            <a:pPr marL="0" indent="0">
              <a:buNone/>
            </a:pPr>
            <a:r>
              <a:rPr lang="en-US" dirty="0"/>
              <a:t>…</a:t>
            </a:r>
          </a:p>
          <a:p>
            <a:pPr marL="0" indent="0">
              <a:buNone/>
            </a:pPr>
            <a:r>
              <a:rPr lang="en-US" dirty="0">
                <a:latin typeface="Courier New" panose="02070309020205020404" pitchFamily="49" charset="0"/>
                <a:cs typeface="Courier New" panose="02070309020205020404" pitchFamily="49" charset="0"/>
              </a:rPr>
              <a:t>from math import sin, pi</a:t>
            </a:r>
          </a:p>
          <a:p>
            <a:pPr marL="0" indent="0">
              <a:buNone/>
            </a:pPr>
            <a:r>
              <a:rPr lang="en-US" dirty="0">
                <a:latin typeface="Courier New" panose="02070309020205020404" pitchFamily="49" charset="0"/>
                <a:cs typeface="Courier New" panose="02070309020205020404" pitchFamily="49" charset="0"/>
              </a:rPr>
              <a:t>print(sin(pi/6))</a:t>
            </a:r>
          </a:p>
          <a:p>
            <a:pPr marL="0" indent="0">
              <a:buNone/>
            </a:pPr>
            <a:br>
              <a:rPr lang="vi-VN"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11</a:t>
            </a:fld>
            <a:endParaRPr lang="en-US"/>
          </a:p>
        </p:txBody>
      </p:sp>
    </p:spTree>
    <p:extLst>
      <p:ext uri="{BB962C8B-B14F-4D97-AF65-F5344CB8AC3E}">
        <p14:creationId xmlns:p14="http://schemas.microsoft.com/office/powerpoint/2010/main" val="360414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Làm</a:t>
            </a:r>
            <a:r>
              <a:rPr lang="en-US" dirty="0"/>
              <a:t> </a:t>
            </a:r>
            <a:r>
              <a:rPr lang="en-US" dirty="0" err="1"/>
              <a:t>việc</a:t>
            </a:r>
            <a:r>
              <a:rPr lang="en-US" dirty="0"/>
              <a:t> </a:t>
            </a:r>
            <a:r>
              <a:rPr lang="en-US" dirty="0" err="1"/>
              <a:t>với</a:t>
            </a:r>
            <a:r>
              <a:rPr lang="en-US" dirty="0"/>
              <a:t> </a:t>
            </a:r>
            <a:r>
              <a:rPr lang="en-US" dirty="0" err="1"/>
              <a:t>kiểu</a:t>
            </a:r>
            <a:r>
              <a:rPr lang="en-US" dirty="0"/>
              <a:t> </a:t>
            </a:r>
            <a:r>
              <a:rPr lang="en-US" dirty="0" err="1"/>
              <a:t>số</a:t>
            </a:r>
            <a:endParaRPr lang="en-US" dirty="0"/>
          </a:p>
        </p:txBody>
      </p:sp>
      <p:sp>
        <p:nvSpPr>
          <p:cNvPr id="3" name="Content Placeholder 2"/>
          <p:cNvSpPr>
            <a:spLocks noGrp="1"/>
          </p:cNvSpPr>
          <p:nvPr>
            <p:ph idx="1"/>
          </p:nvPr>
        </p:nvSpPr>
        <p:spPr>
          <a:xfrm>
            <a:off x="196850" y="1847851"/>
            <a:ext cx="9442450" cy="4351338"/>
          </a:xfrm>
        </p:spPr>
        <p:txBody>
          <a:bodyPr>
            <a:normAutofit fontScale="92500" lnSpcReduction="10000"/>
          </a:bodyPr>
          <a:lstStyle/>
          <a:p>
            <a:r>
              <a:rPr lang="en-US" dirty="0" err="1"/>
              <a:t>Nhập</a:t>
            </a:r>
            <a:r>
              <a:rPr lang="en-US" dirty="0"/>
              <a:t> </a:t>
            </a:r>
            <a:r>
              <a:rPr lang="en-US" dirty="0" err="1"/>
              <a:t>số</a:t>
            </a:r>
            <a:r>
              <a:rPr lang="en-US" dirty="0"/>
              <a:t>:</a:t>
            </a:r>
          </a:p>
          <a:p>
            <a:pPr marL="457200" lvl="1" indent="0">
              <a:buNone/>
            </a:pPr>
            <a:r>
              <a:rPr lang="en-US" dirty="0">
                <a:latin typeface="Courier New" panose="02070309020205020404" pitchFamily="49" charset="0"/>
                <a:cs typeface="Courier New" panose="02070309020205020404" pitchFamily="49" charset="0"/>
              </a:rPr>
              <a:t>a=</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so nguyen:"))</a:t>
            </a:r>
          </a:p>
          <a:p>
            <a:pPr marL="457200" lvl="1" indent="0">
              <a:buNone/>
            </a:pPr>
            <a:r>
              <a:rPr lang="en-US" dirty="0">
                <a:latin typeface="Courier New" panose="02070309020205020404" pitchFamily="49" charset="0"/>
                <a:cs typeface="Courier New" panose="02070309020205020404" pitchFamily="49" charset="0"/>
              </a:rPr>
              <a:t>b=float(input(("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so </a:t>
            </a:r>
            <a:r>
              <a:rPr lang="en-US" err="1">
                <a:latin typeface="Courier New" panose="02070309020205020404" pitchFamily="49" charset="0"/>
                <a:cs typeface="Courier New" panose="02070309020205020404" pitchFamily="49" charset="0"/>
              </a:rPr>
              <a:t>thuc</a:t>
            </a:r>
            <a:r>
              <a:rPr lang="en-US">
                <a:latin typeface="Courier New" panose="02070309020205020404" pitchFamily="49" charset="0"/>
                <a:cs typeface="Courier New" panose="02070309020205020404" pitchFamily="49" charset="0"/>
              </a:rPr>
              <a:t>:“))</a:t>
            </a:r>
          </a:p>
          <a:p>
            <a:pPr marL="457200" lvl="1" indent="0">
              <a:buNone/>
            </a:pPr>
            <a:r>
              <a:rPr lang="en-US">
                <a:latin typeface="Courier New" panose="02070309020205020404" pitchFamily="49" charset="0"/>
                <a:cs typeface="Courier New" panose="02070309020205020404" pitchFamily="49" charset="0"/>
              </a:rPr>
              <a:t>x, y = map(int, input("nhap x, y: ").split())</a:t>
            </a:r>
          </a:p>
          <a:p>
            <a:pPr marL="457200" lvl="1" indent="0">
              <a:buNone/>
            </a:pPr>
            <a:r>
              <a:rPr lang="en-US">
                <a:latin typeface="Courier New" panose="02070309020205020404" pitchFamily="49" charset="0"/>
                <a:cs typeface="Courier New" panose="02070309020205020404" pitchFamily="49" charset="0"/>
              </a:rPr>
              <a:t>L = list(map(int, input("nhap danh sach so: ").split()))</a:t>
            </a:r>
          </a:p>
          <a:p>
            <a:r>
              <a:rPr lang="en-US"/>
              <a:t>Xử lý lỗi:</a:t>
            </a:r>
          </a:p>
          <a:p>
            <a:pPr marL="0" indent="0">
              <a:buNone/>
            </a:pPr>
            <a:r>
              <a:rPr lang="en-US" sz="2400">
                <a:latin typeface="Courier New" panose="02070309020205020404" pitchFamily="49" charset="0"/>
                <a:cs typeface="Courier New" panose="02070309020205020404" pitchFamily="49" charset="0"/>
              </a:rPr>
              <a:t>try</a:t>
            </a:r>
            <a:r>
              <a:rPr lang="en-US" sz="2400" dirty="0">
                <a:latin typeface="Courier New" panose="02070309020205020404" pitchFamily="49" charset="0"/>
                <a:cs typeface="Courier New" panose="02070309020205020404" pitchFamily="49" charset="0"/>
              </a:rPr>
              <a:t>:</a:t>
            </a:r>
            <a:br>
              <a:rPr lang="en-US" dirty="0"/>
            </a:br>
            <a:r>
              <a:rPr lang="en-US" dirty="0"/>
              <a:t>	</a:t>
            </a:r>
            <a:r>
              <a:rPr lang="en-US" sz="2400" dirty="0">
                <a:latin typeface="Courier New" panose="02070309020205020404" pitchFamily="49" charset="0"/>
                <a:cs typeface="Courier New" panose="02070309020205020404" pitchFamily="49" charset="0"/>
              </a:rPr>
              <a:t>a = </a:t>
            </a:r>
            <a:r>
              <a:rPr lang="en-US" sz="2400" dirty="0" err="1">
                <a:latin typeface="Courier New" panose="02070309020205020404" pitchFamily="49" charset="0"/>
                <a:cs typeface="Courier New" panose="02070309020205020404" pitchFamily="49" charset="0"/>
              </a:rPr>
              <a:t>int</a:t>
            </a:r>
            <a:r>
              <a:rPr lang="en-US" sz="2400" dirty="0">
                <a:latin typeface="Courier New" panose="02070309020205020404" pitchFamily="49" charset="0"/>
                <a:cs typeface="Courier New" panose="02070309020205020404" pitchFamily="49" charset="0"/>
              </a:rPr>
              <a:t>(input("</a:t>
            </a:r>
            <a:r>
              <a:rPr lang="en-US" sz="2400" dirty="0" err="1">
                <a:latin typeface="Courier New" panose="02070309020205020404" pitchFamily="49" charset="0"/>
                <a:cs typeface="Courier New" panose="02070309020205020404" pitchFamily="49" charset="0"/>
              </a:rPr>
              <a:t>Nhap</a:t>
            </a:r>
            <a:r>
              <a:rPr lang="en-US" sz="2400" dirty="0">
                <a:latin typeface="Courier New" panose="02070309020205020404" pitchFamily="49" charset="0"/>
                <a:cs typeface="Courier New" panose="02070309020205020404" pitchFamily="49" charset="0"/>
              </a:rPr>
              <a:t> so nguyen:"))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except: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 = 0</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print (a) </a:t>
            </a:r>
            <a:br>
              <a:rPr lang="en-US" dirty="0"/>
            </a:b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12</a:t>
            </a:fld>
            <a:endParaRPr lang="en-US"/>
          </a:p>
        </p:txBody>
      </p:sp>
    </p:spTree>
    <p:extLst>
      <p:ext uri="{BB962C8B-B14F-4D97-AF65-F5344CB8AC3E}">
        <p14:creationId xmlns:p14="http://schemas.microsoft.com/office/powerpoint/2010/main" val="2710710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Chú</a:t>
            </a:r>
            <a:r>
              <a:rPr lang="en-US" dirty="0"/>
              <a:t> </a:t>
            </a:r>
            <a:r>
              <a:rPr lang="en-US" dirty="0" err="1"/>
              <a:t>thích</a:t>
            </a:r>
            <a:endParaRPr lang="en-US" dirty="0"/>
          </a:p>
        </p:txBody>
      </p:sp>
      <p:sp>
        <p:nvSpPr>
          <p:cNvPr id="3" name="Content Placeholder 2"/>
          <p:cNvSpPr>
            <a:spLocks noGrp="1"/>
          </p:cNvSpPr>
          <p:nvPr>
            <p:ph idx="1"/>
          </p:nvPr>
        </p:nvSpPr>
        <p:spPr/>
        <p:txBody>
          <a:bodyPr>
            <a:normAutofit fontScale="85000" lnSpcReduction="10000"/>
          </a:bodyPr>
          <a:lstStyle/>
          <a:p>
            <a:r>
              <a:rPr lang="en-US" dirty="0" err="1"/>
              <a:t>Dòng</a:t>
            </a:r>
            <a:r>
              <a:rPr lang="en-US" dirty="0"/>
              <a:t> </a:t>
            </a:r>
            <a:r>
              <a:rPr lang="en-US" dirty="0" err="1"/>
              <a:t>chú</a:t>
            </a:r>
            <a:r>
              <a:rPr lang="en-US" dirty="0"/>
              <a:t> </a:t>
            </a:r>
            <a:r>
              <a:rPr lang="en-US" dirty="0" err="1"/>
              <a:t>thích</a:t>
            </a:r>
            <a:r>
              <a:rPr lang="en-US" dirty="0"/>
              <a:t> </a:t>
            </a:r>
            <a:r>
              <a:rPr lang="en-US" dirty="0" err="1"/>
              <a:t>không</a:t>
            </a:r>
            <a:r>
              <a:rPr lang="en-US" dirty="0"/>
              <a:t> </a:t>
            </a:r>
            <a:r>
              <a:rPr lang="en-US" dirty="0" err="1"/>
              <a:t>được</a:t>
            </a:r>
            <a:r>
              <a:rPr lang="en-US" dirty="0"/>
              <a:t> </a:t>
            </a:r>
            <a:r>
              <a:rPr lang="en-US" dirty="0" err="1"/>
              <a:t>bỏ</a:t>
            </a:r>
            <a:r>
              <a:rPr lang="en-US" dirty="0"/>
              <a:t> qua </a:t>
            </a:r>
            <a:r>
              <a:rPr lang="en-US" dirty="0" err="1"/>
              <a:t>khi</a:t>
            </a:r>
            <a:r>
              <a:rPr lang="en-US" dirty="0"/>
              <a:t> </a:t>
            </a:r>
            <a:r>
              <a:rPr lang="en-US" dirty="0" err="1"/>
              <a:t>dịch</a:t>
            </a:r>
            <a:r>
              <a:rPr lang="en-US" dirty="0"/>
              <a:t> </a:t>
            </a:r>
            <a:r>
              <a:rPr lang="en-US" dirty="0" err="1"/>
              <a:t>chương</a:t>
            </a:r>
            <a:r>
              <a:rPr lang="en-US" dirty="0"/>
              <a:t> </a:t>
            </a:r>
            <a:r>
              <a:rPr lang="en-US" dirty="0" err="1"/>
              <a:t>trình</a:t>
            </a:r>
            <a:endParaRPr lang="en-US" dirty="0"/>
          </a:p>
          <a:p>
            <a:r>
              <a:rPr lang="en-US" dirty="0" err="1"/>
              <a:t>Dùng</a:t>
            </a:r>
            <a:r>
              <a:rPr lang="en-US" dirty="0"/>
              <a:t> </a:t>
            </a:r>
            <a:r>
              <a:rPr lang="en-US" dirty="0" err="1"/>
              <a:t>để</a:t>
            </a:r>
            <a:r>
              <a:rPr lang="en-US" dirty="0"/>
              <a:t>:</a:t>
            </a:r>
          </a:p>
          <a:p>
            <a:pPr lvl="1"/>
            <a:r>
              <a:rPr lang="en-US" dirty="0" err="1"/>
              <a:t>Giải</a:t>
            </a:r>
            <a:r>
              <a:rPr lang="en-US" dirty="0"/>
              <a:t> </a:t>
            </a:r>
            <a:r>
              <a:rPr lang="en-US" dirty="0" err="1"/>
              <a:t>thích</a:t>
            </a:r>
            <a:r>
              <a:rPr lang="en-US" dirty="0"/>
              <a:t> </a:t>
            </a:r>
            <a:r>
              <a:rPr lang="en-US" dirty="0" err="1"/>
              <a:t>cho</a:t>
            </a:r>
            <a:r>
              <a:rPr lang="en-US" dirty="0"/>
              <a:t> </a:t>
            </a:r>
            <a:r>
              <a:rPr lang="en-US" dirty="0" err="1"/>
              <a:t>các</a:t>
            </a:r>
            <a:r>
              <a:rPr lang="en-US" dirty="0"/>
              <a:t> </a:t>
            </a:r>
            <a:r>
              <a:rPr lang="en-US" dirty="0" err="1"/>
              <a:t>chương</a:t>
            </a:r>
            <a:r>
              <a:rPr lang="en-US" dirty="0"/>
              <a:t> </a:t>
            </a:r>
            <a:r>
              <a:rPr lang="en-US" dirty="0" err="1"/>
              <a:t>trình</a:t>
            </a:r>
            <a:r>
              <a:rPr lang="en-US" dirty="0"/>
              <a:t>, </a:t>
            </a:r>
            <a:r>
              <a:rPr lang="en-US" dirty="0" err="1"/>
              <a:t>làm</a:t>
            </a:r>
            <a:r>
              <a:rPr lang="en-US" dirty="0"/>
              <a:t> </a:t>
            </a:r>
            <a:r>
              <a:rPr lang="en-US" dirty="0" err="1"/>
              <a:t>tài</a:t>
            </a:r>
            <a:r>
              <a:rPr lang="en-US" dirty="0"/>
              <a:t> </a:t>
            </a:r>
            <a:r>
              <a:rPr lang="en-US" dirty="0" err="1"/>
              <a:t>liệu</a:t>
            </a:r>
            <a:endParaRPr lang="en-US" dirty="0"/>
          </a:p>
          <a:p>
            <a:pPr lvl="1"/>
            <a:r>
              <a:rPr lang="en-US" dirty="0" err="1"/>
              <a:t>Vô</a:t>
            </a:r>
            <a:r>
              <a:rPr lang="en-US" dirty="0"/>
              <a:t> </a:t>
            </a:r>
            <a:r>
              <a:rPr lang="en-US" dirty="0" err="1"/>
              <a:t>hiệu</a:t>
            </a:r>
            <a:r>
              <a:rPr lang="en-US" dirty="0"/>
              <a:t> </a:t>
            </a:r>
            <a:r>
              <a:rPr lang="en-US" dirty="0" err="1"/>
              <a:t>hóa</a:t>
            </a:r>
            <a:r>
              <a:rPr lang="en-US" dirty="0"/>
              <a:t> </a:t>
            </a:r>
            <a:r>
              <a:rPr lang="en-US" dirty="0" err="1"/>
              <a:t>tạm</a:t>
            </a:r>
            <a:r>
              <a:rPr lang="en-US" dirty="0"/>
              <a:t> </a:t>
            </a:r>
            <a:r>
              <a:rPr lang="en-US" dirty="0" err="1"/>
              <a:t>thời</a:t>
            </a:r>
            <a:r>
              <a:rPr lang="en-US" dirty="0"/>
              <a:t> </a:t>
            </a:r>
            <a:r>
              <a:rPr lang="en-US" dirty="0" err="1"/>
              <a:t>một</a:t>
            </a:r>
            <a:r>
              <a:rPr lang="en-US" dirty="0"/>
              <a:t> </a:t>
            </a:r>
            <a:r>
              <a:rPr lang="en-US" dirty="0" err="1"/>
              <a:t>phần</a:t>
            </a:r>
            <a:r>
              <a:rPr lang="en-US" dirty="0"/>
              <a:t> code</a:t>
            </a:r>
          </a:p>
          <a:p>
            <a:r>
              <a:rPr lang="en-US" dirty="0" err="1"/>
              <a:t>Dùng</a:t>
            </a:r>
            <a:r>
              <a:rPr lang="en-US" dirty="0"/>
              <a:t> </a:t>
            </a:r>
            <a:r>
              <a:rPr lang="en-US" dirty="0" err="1"/>
              <a:t>ký</a:t>
            </a:r>
            <a:r>
              <a:rPr lang="en-US" dirty="0"/>
              <a:t> </a:t>
            </a:r>
            <a:r>
              <a:rPr lang="en-US" dirty="0" err="1"/>
              <a:t>tự</a:t>
            </a:r>
            <a:r>
              <a:rPr lang="en-US" dirty="0"/>
              <a:t> # </a:t>
            </a:r>
            <a:r>
              <a:rPr lang="en-US" dirty="0" err="1"/>
              <a:t>để</a:t>
            </a:r>
            <a:r>
              <a:rPr lang="en-US" dirty="0"/>
              <a:t> </a:t>
            </a:r>
            <a:r>
              <a:rPr lang="en-US" dirty="0" err="1"/>
              <a:t>chú</a:t>
            </a:r>
            <a:r>
              <a:rPr lang="en-US" dirty="0"/>
              <a:t> </a:t>
            </a:r>
            <a:r>
              <a:rPr lang="en-US" dirty="0" err="1"/>
              <a:t>thích</a:t>
            </a:r>
            <a:r>
              <a:rPr lang="en-US" dirty="0"/>
              <a:t> </a:t>
            </a:r>
            <a:r>
              <a:rPr lang="en-US" dirty="0" err="1"/>
              <a:t>đến</a:t>
            </a:r>
            <a:r>
              <a:rPr lang="en-US" dirty="0"/>
              <a:t> </a:t>
            </a:r>
            <a:r>
              <a:rPr lang="en-US" dirty="0" err="1"/>
              <a:t>hết</a:t>
            </a:r>
            <a:r>
              <a:rPr lang="en-US" dirty="0"/>
              <a:t> </a:t>
            </a:r>
            <a:r>
              <a:rPr lang="en-US" dirty="0" err="1"/>
              <a:t>dòng</a:t>
            </a:r>
            <a:r>
              <a:rPr lang="en-US" dirty="0"/>
              <a:t>, </a:t>
            </a:r>
            <a:r>
              <a:rPr lang="en-US" dirty="0" err="1"/>
              <a:t>vd</a:t>
            </a:r>
            <a:r>
              <a:rPr lang="en-US" dirty="0"/>
              <a:t>:</a:t>
            </a:r>
          </a:p>
          <a:p>
            <a:pPr marL="0" indent="0">
              <a:buNone/>
            </a:pPr>
            <a:r>
              <a:rPr lang="en-US" sz="2600" dirty="0">
                <a:latin typeface="Courier New" panose="02070309020205020404" pitchFamily="49" charset="0"/>
                <a:cs typeface="Courier New" panose="02070309020205020404" pitchFamily="49" charset="0"/>
              </a:rPr>
              <a:t>#My first python program</a:t>
            </a:r>
          </a:p>
          <a:p>
            <a:pPr marL="0" lvl="1" indent="0">
              <a:spcBef>
                <a:spcPts val="1000"/>
              </a:spcBef>
              <a:buNone/>
            </a:pPr>
            <a:r>
              <a:rPr lang="en-US" dirty="0">
                <a:latin typeface="Courier New" panose="02070309020205020404" pitchFamily="49" charset="0"/>
                <a:cs typeface="Courier New" panose="02070309020205020404" pitchFamily="49" charset="0"/>
              </a:rPr>
              <a:t>name=input(“Enter your name:”) #</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ten</a:t>
            </a:r>
          </a:p>
          <a:p>
            <a:r>
              <a:rPr lang="en-US" dirty="0" err="1"/>
              <a:t>Có</a:t>
            </a:r>
            <a:r>
              <a:rPr lang="en-US" dirty="0"/>
              <a:t> </a:t>
            </a:r>
            <a:r>
              <a:rPr lang="en-US" dirty="0" err="1"/>
              <a:t>thể</a:t>
            </a:r>
            <a:r>
              <a:rPr lang="en-US" dirty="0"/>
              <a:t> dung cach </a:t>
            </a:r>
            <a:r>
              <a:rPr lang="en-US" dirty="0" err="1"/>
              <a:t>sau</a:t>
            </a:r>
            <a:r>
              <a:rPr lang="en-US" dirty="0"/>
              <a:t> </a:t>
            </a:r>
            <a:r>
              <a:rPr lang="en-US" dirty="0" err="1"/>
              <a:t>để</a:t>
            </a:r>
            <a:r>
              <a:rPr lang="en-US" dirty="0"/>
              <a:t> </a:t>
            </a:r>
            <a:r>
              <a:rPr lang="en-US" dirty="0" err="1"/>
              <a:t>chú</a:t>
            </a:r>
            <a:r>
              <a:rPr lang="en-US" dirty="0"/>
              <a:t> </a:t>
            </a:r>
            <a:r>
              <a:rPr lang="en-US" dirty="0" err="1"/>
              <a:t>thích</a:t>
            </a:r>
            <a:r>
              <a:rPr lang="en-US" dirty="0"/>
              <a:t> </a:t>
            </a:r>
            <a:r>
              <a:rPr lang="en-US" dirty="0" err="1"/>
              <a:t>nhiều</a:t>
            </a:r>
            <a:r>
              <a:rPr lang="en-US" dirty="0"/>
              <a:t> </a:t>
            </a:r>
            <a:r>
              <a:rPr lang="en-US" dirty="0" err="1"/>
              <a:t>dòng</a:t>
            </a:r>
            <a:r>
              <a:rPr lang="en-US" dirty="0"/>
              <a:t>:</a:t>
            </a:r>
          </a:p>
          <a:p>
            <a:pPr marL="0" indent="0">
              <a:buNone/>
            </a:pP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Noi</a:t>
            </a:r>
            <a:r>
              <a:rPr lang="en-US" sz="2600" dirty="0">
                <a:latin typeface="Courier New" panose="02070309020205020404" pitchFamily="49" charset="0"/>
                <a:cs typeface="Courier New" panose="02070309020205020404" pitchFamily="49" charset="0"/>
              </a:rPr>
              <a:t> dung</a:t>
            </a:r>
          </a:p>
          <a:p>
            <a:pPr marL="0" indent="0">
              <a:buNone/>
            </a:pP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tren</a:t>
            </a:r>
            <a:r>
              <a:rPr lang="en-US" sz="2600" dirty="0">
                <a:latin typeface="Courier New" panose="02070309020205020404" pitchFamily="49" charset="0"/>
                <a:cs typeface="Courier New" panose="02070309020205020404" pitchFamily="49" charset="0"/>
              </a:rPr>
              <a:t> </a:t>
            </a:r>
            <a:r>
              <a:rPr lang="en-US" sz="2600" dirty="0" err="1">
                <a:latin typeface="Courier New" panose="02070309020205020404" pitchFamily="49" charset="0"/>
                <a:cs typeface="Courier New" panose="02070309020205020404" pitchFamily="49" charset="0"/>
              </a:rPr>
              <a:t>nhieu</a:t>
            </a:r>
            <a:r>
              <a:rPr lang="en-US" sz="2600" dirty="0">
                <a:latin typeface="Courier New" panose="02070309020205020404" pitchFamily="49" charset="0"/>
                <a:cs typeface="Courier New" panose="02070309020205020404" pitchFamily="49" charset="0"/>
              </a:rPr>
              <a:t> dong</a:t>
            </a:r>
          </a:p>
          <a:p>
            <a:pPr marL="0" indent="0">
              <a:buNone/>
            </a:pPr>
            <a:r>
              <a:rPr lang="en-US" sz="2600"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13</a:t>
            </a:fld>
            <a:endParaRPr lang="en-US"/>
          </a:p>
        </p:txBody>
      </p:sp>
    </p:spTree>
    <p:extLst>
      <p:ext uri="{BB962C8B-B14F-4D97-AF65-F5344CB8AC3E}">
        <p14:creationId xmlns:p14="http://schemas.microsoft.com/office/powerpoint/2010/main" val="2155718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Câu</a:t>
            </a:r>
            <a:r>
              <a:rPr lang="en-US" b="1" dirty="0"/>
              <a:t> </a:t>
            </a:r>
            <a:r>
              <a:rPr lang="en-US" b="1" dirty="0" err="1"/>
              <a:t>lệnh</a:t>
            </a:r>
            <a:r>
              <a:rPr lang="en-US" b="1" dirty="0"/>
              <a:t> if</a:t>
            </a:r>
          </a:p>
        </p:txBody>
      </p:sp>
      <p:sp>
        <p:nvSpPr>
          <p:cNvPr id="3" name="Content Placeholder 2"/>
          <p:cNvSpPr>
            <a:spLocks noGrp="1"/>
          </p:cNvSpPr>
          <p:nvPr>
            <p:ph idx="1"/>
          </p:nvPr>
        </p:nvSpPr>
        <p:spPr/>
        <p:txBody>
          <a:bodyPr/>
          <a:lstStyle/>
          <a:p>
            <a:r>
              <a:rPr lang="en-US" dirty="0" err="1"/>
              <a:t>Lệnh</a:t>
            </a:r>
            <a:r>
              <a:rPr lang="en-US" dirty="0"/>
              <a:t> if</a:t>
            </a:r>
          </a:p>
          <a:p>
            <a:r>
              <a:rPr lang="en-US" dirty="0"/>
              <a:t>if .. else</a:t>
            </a:r>
          </a:p>
          <a:p>
            <a:r>
              <a:rPr lang="en-US" dirty="0"/>
              <a:t>if .. </a:t>
            </a:r>
            <a:r>
              <a:rPr lang="en-US" dirty="0" err="1"/>
              <a:t>elif</a:t>
            </a:r>
            <a:r>
              <a:rPr lang="en-US" dirty="0"/>
              <a:t> .. else</a:t>
            </a:r>
          </a:p>
          <a:p>
            <a:r>
              <a:rPr lang="en-US" dirty="0" err="1"/>
              <a:t>Khối</a:t>
            </a:r>
            <a:r>
              <a:rPr lang="en-US" dirty="0"/>
              <a:t> </a:t>
            </a:r>
            <a:r>
              <a:rPr lang="en-US" dirty="0" err="1"/>
              <a:t>lệnh</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14</a:t>
            </a:fld>
            <a:endParaRPr lang="en-US"/>
          </a:p>
        </p:txBody>
      </p:sp>
    </p:spTree>
    <p:extLst>
      <p:ext uri="{BB962C8B-B14F-4D97-AF65-F5344CB8AC3E}">
        <p14:creationId xmlns:p14="http://schemas.microsoft.com/office/powerpoint/2010/main" val="3932723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Lệnh</a:t>
            </a:r>
            <a:r>
              <a:rPr lang="en-US" dirty="0"/>
              <a:t> if</a:t>
            </a:r>
          </a:p>
        </p:txBody>
      </p:sp>
      <p:sp>
        <p:nvSpPr>
          <p:cNvPr id="3" name="Content Placeholder 2"/>
          <p:cNvSpPr>
            <a:spLocks noGrp="1"/>
          </p:cNvSpPr>
          <p:nvPr>
            <p:ph idx="1"/>
          </p:nvPr>
        </p:nvSpPr>
        <p:spPr>
          <a:xfrm>
            <a:off x="628650" y="1346200"/>
            <a:ext cx="7886700" cy="4830763"/>
          </a:xfrm>
        </p:spPr>
        <p:txBody>
          <a:bodyPr>
            <a:normAutofit/>
          </a:bodyPr>
          <a:lstStyle/>
          <a:p>
            <a:r>
              <a:rPr lang="en-US" dirty="0" err="1"/>
              <a:t>Cú</a:t>
            </a:r>
            <a:r>
              <a:rPr lang="en-US" dirty="0"/>
              <a:t> </a:t>
            </a:r>
            <a:r>
              <a:rPr lang="en-US" dirty="0" err="1"/>
              <a:t>pháp</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if </a:t>
            </a:r>
            <a:r>
              <a:rPr lang="en-US" sz="2400" i="1" dirty="0" err="1">
                <a:latin typeface="Courier New" panose="02070309020205020404" pitchFamily="49" charset="0"/>
                <a:cs typeface="Courier New" panose="02070309020205020404" pitchFamily="49" charset="0"/>
              </a:rPr>
              <a:t>điều</a:t>
            </a:r>
            <a:r>
              <a:rPr lang="en-US" sz="2400" i="1" dirty="0">
                <a:latin typeface="Courier New" panose="02070309020205020404" pitchFamily="49" charset="0"/>
                <a:cs typeface="Courier New" panose="02070309020205020404" pitchFamily="49" charset="0"/>
              </a:rPr>
              <a:t> </a:t>
            </a:r>
            <a:r>
              <a:rPr lang="en-US" sz="2400" i="1" dirty="0" err="1">
                <a:latin typeface="Courier New" panose="02070309020205020404" pitchFamily="49" charset="0"/>
                <a:cs typeface="Courier New" panose="02070309020205020404" pitchFamily="49" charset="0"/>
              </a:rPr>
              <a:t>kiện</a:t>
            </a:r>
            <a:r>
              <a:rPr lang="en-US" sz="2400" dirty="0">
                <a:latin typeface="Courier New" panose="02070309020205020404" pitchFamily="49" charset="0"/>
                <a:cs typeface="Courier New" panose="02070309020205020404" pitchFamily="49" charset="0"/>
              </a:rPr>
              <a:t> :</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r>
              <a:rPr lang="en-US" dirty="0" err="1"/>
              <a:t>Ví</a:t>
            </a:r>
            <a:r>
              <a:rPr lang="en-US" dirty="0"/>
              <a:t> dụ1:</a:t>
            </a:r>
          </a:p>
          <a:p>
            <a:pPr marL="0" indent="0">
              <a:lnSpc>
                <a:spcPct val="70000"/>
              </a:lnSpc>
              <a:buNone/>
            </a:pPr>
            <a:r>
              <a:rPr lang="en-US" sz="2400" dirty="0">
                <a:latin typeface="Courier New" panose="02070309020205020404" pitchFamily="49" charset="0"/>
                <a:cs typeface="Courier New" panose="02070309020205020404" pitchFamily="49" charset="0"/>
              </a:rPr>
              <a:t>max=a</a:t>
            </a:r>
          </a:p>
          <a:p>
            <a:pPr marL="0" indent="0">
              <a:lnSpc>
                <a:spcPct val="70000"/>
              </a:lnSpc>
              <a:buNone/>
            </a:pPr>
            <a:r>
              <a:rPr lang="en-US" sz="2400" dirty="0">
                <a:latin typeface="Courier New" panose="02070309020205020404" pitchFamily="49" charset="0"/>
                <a:cs typeface="Courier New" panose="02070309020205020404" pitchFamily="49" charset="0"/>
              </a:rPr>
              <a:t>if b&gt;a:</a:t>
            </a:r>
          </a:p>
          <a:p>
            <a:pPr marL="0" indent="0">
              <a:lnSpc>
                <a:spcPct val="70000"/>
              </a:lnSpc>
              <a:buNone/>
            </a:pPr>
            <a:r>
              <a:rPr lang="en-US" sz="2400" dirty="0">
                <a:latin typeface="Courier New" panose="02070309020205020404" pitchFamily="49" charset="0"/>
                <a:cs typeface="Courier New" panose="02070309020205020404" pitchFamily="49" charset="0"/>
              </a:rPr>
              <a:t>	max=b</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15</a:t>
            </a:fld>
            <a:endParaRPr lang="en-US"/>
          </a:p>
        </p:txBody>
      </p:sp>
    </p:spTree>
    <p:extLst>
      <p:ext uri="{BB962C8B-B14F-4D97-AF65-F5344CB8AC3E}">
        <p14:creationId xmlns:p14="http://schemas.microsoft.com/office/powerpoint/2010/main" val="3176106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 else</a:t>
            </a:r>
          </a:p>
        </p:txBody>
      </p:sp>
      <p:sp>
        <p:nvSpPr>
          <p:cNvPr id="3" name="Content Placeholder 2"/>
          <p:cNvSpPr>
            <a:spLocks noGrp="1"/>
          </p:cNvSpPr>
          <p:nvPr>
            <p:ph idx="1"/>
          </p:nvPr>
        </p:nvSpPr>
        <p:spPr>
          <a:xfrm>
            <a:off x="628650" y="1346200"/>
            <a:ext cx="7886700" cy="4830763"/>
          </a:xfrm>
        </p:spPr>
        <p:txBody>
          <a:bodyPr>
            <a:normAutofit/>
          </a:bodyPr>
          <a:lstStyle/>
          <a:p>
            <a:r>
              <a:rPr lang="en-US" dirty="0" err="1"/>
              <a:t>Cú</a:t>
            </a:r>
            <a:r>
              <a:rPr lang="en-US" dirty="0"/>
              <a:t> </a:t>
            </a:r>
            <a:r>
              <a:rPr lang="en-US" dirty="0" err="1"/>
              <a:t>pháp</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if </a:t>
            </a:r>
            <a:r>
              <a:rPr lang="en-US" sz="2400" i="1" dirty="0" err="1">
                <a:latin typeface="Courier New" panose="02070309020205020404" pitchFamily="49" charset="0"/>
                <a:cs typeface="Courier New" panose="02070309020205020404" pitchFamily="49" charset="0"/>
              </a:rPr>
              <a:t>điều</a:t>
            </a:r>
            <a:r>
              <a:rPr lang="en-US" sz="2400" i="1" dirty="0">
                <a:latin typeface="Courier New" panose="02070309020205020404" pitchFamily="49" charset="0"/>
                <a:cs typeface="Courier New" panose="02070309020205020404" pitchFamily="49" charset="0"/>
              </a:rPr>
              <a:t> </a:t>
            </a:r>
            <a:r>
              <a:rPr lang="en-US" sz="2400" i="1" dirty="0" err="1">
                <a:latin typeface="Courier New" panose="02070309020205020404" pitchFamily="49" charset="0"/>
                <a:cs typeface="Courier New" panose="02070309020205020404" pitchFamily="49" charset="0"/>
              </a:rPr>
              <a:t>kiện</a:t>
            </a:r>
            <a:r>
              <a:rPr lang="en-US" sz="2400" dirty="0">
                <a:latin typeface="Courier New" panose="02070309020205020404" pitchFamily="49" charset="0"/>
                <a:cs typeface="Courier New" panose="02070309020205020404" pitchFamily="49" charset="0"/>
              </a:rPr>
              <a:t> :</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else:</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r>
              <a:rPr lang="en-US" dirty="0" err="1"/>
              <a:t>Ví</a:t>
            </a:r>
            <a:r>
              <a:rPr lang="en-US" dirty="0"/>
              <a:t> dụ1:</a:t>
            </a:r>
          </a:p>
          <a:p>
            <a:pPr marL="0" indent="0">
              <a:lnSpc>
                <a:spcPct val="70000"/>
              </a:lnSpc>
              <a:buNone/>
            </a:pPr>
            <a:r>
              <a:rPr lang="en-US" sz="2400" dirty="0">
                <a:latin typeface="Courier New" panose="02070309020205020404" pitchFamily="49" charset="0"/>
                <a:cs typeface="Courier New" panose="02070309020205020404" pitchFamily="49" charset="0"/>
              </a:rPr>
              <a:t>if a&gt;b:</a:t>
            </a:r>
          </a:p>
          <a:p>
            <a:pPr marL="0" indent="0">
              <a:lnSpc>
                <a:spcPct val="70000"/>
              </a:lnSpc>
              <a:buNone/>
            </a:pPr>
            <a:r>
              <a:rPr lang="en-US" sz="2400" dirty="0">
                <a:latin typeface="Courier New" panose="02070309020205020404" pitchFamily="49" charset="0"/>
                <a:cs typeface="Courier New" panose="02070309020205020404" pitchFamily="49" charset="0"/>
              </a:rPr>
              <a:t>	max=a</a:t>
            </a:r>
          </a:p>
          <a:p>
            <a:pPr marL="0" indent="0">
              <a:lnSpc>
                <a:spcPct val="70000"/>
              </a:lnSpc>
              <a:buNone/>
            </a:pPr>
            <a:r>
              <a:rPr lang="en-US" sz="2400" dirty="0">
                <a:latin typeface="Courier New" panose="02070309020205020404" pitchFamily="49" charset="0"/>
                <a:cs typeface="Courier New" panose="02070309020205020404" pitchFamily="49" charset="0"/>
              </a:rPr>
              <a:t>else</a:t>
            </a:r>
          </a:p>
          <a:p>
            <a:pPr marL="0" indent="0">
              <a:lnSpc>
                <a:spcPct val="70000"/>
              </a:lnSpc>
              <a:buNone/>
            </a:pPr>
            <a:r>
              <a:rPr lang="en-US" sz="2400" dirty="0">
                <a:latin typeface="Courier New" panose="02070309020205020404" pitchFamily="49" charset="0"/>
                <a:cs typeface="Courier New" panose="02070309020205020404" pitchFamily="49" charset="0"/>
              </a:rPr>
              <a:t>	max=b</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16</a:t>
            </a:fld>
            <a:endParaRPr lang="en-US"/>
          </a:p>
        </p:txBody>
      </p:sp>
    </p:spTree>
    <p:extLst>
      <p:ext uri="{BB962C8B-B14F-4D97-AF65-F5344CB8AC3E}">
        <p14:creationId xmlns:p14="http://schemas.microsoft.com/office/powerpoint/2010/main" val="73952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370" y="126367"/>
            <a:ext cx="7886700" cy="981074"/>
          </a:xfrm>
        </p:spPr>
        <p:txBody>
          <a:bodyPr/>
          <a:lstStyle/>
          <a:p>
            <a:r>
              <a:rPr lang="en-US" dirty="0"/>
              <a:t>if .. </a:t>
            </a:r>
            <a:r>
              <a:rPr lang="en-US" dirty="0" err="1"/>
              <a:t>elif</a:t>
            </a:r>
            <a:r>
              <a:rPr lang="en-US" dirty="0"/>
              <a:t> .. else</a:t>
            </a:r>
          </a:p>
        </p:txBody>
      </p:sp>
      <p:sp>
        <p:nvSpPr>
          <p:cNvPr id="3" name="Content Placeholder 2"/>
          <p:cNvSpPr>
            <a:spLocks noGrp="1"/>
          </p:cNvSpPr>
          <p:nvPr>
            <p:ph idx="1"/>
          </p:nvPr>
        </p:nvSpPr>
        <p:spPr>
          <a:xfrm>
            <a:off x="628650" y="1107442"/>
            <a:ext cx="7886700" cy="5191758"/>
          </a:xfrm>
        </p:spPr>
        <p:txBody>
          <a:bodyPr>
            <a:normAutofit fontScale="85000" lnSpcReduction="20000"/>
          </a:bodyPr>
          <a:lstStyle/>
          <a:p>
            <a:r>
              <a:rPr lang="en-US" dirty="0" err="1"/>
              <a:t>Cú</a:t>
            </a:r>
            <a:r>
              <a:rPr lang="en-US" dirty="0"/>
              <a:t> </a:t>
            </a:r>
            <a:r>
              <a:rPr lang="en-US" dirty="0" err="1"/>
              <a:t>pháp</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if </a:t>
            </a:r>
            <a:r>
              <a:rPr lang="en-US" sz="2400" i="1" dirty="0" err="1">
                <a:latin typeface="Courier New" panose="02070309020205020404" pitchFamily="49" charset="0"/>
                <a:cs typeface="Courier New" panose="02070309020205020404" pitchFamily="49" charset="0"/>
              </a:rPr>
              <a:t>điều</a:t>
            </a:r>
            <a:r>
              <a:rPr lang="en-US" sz="2400" i="1" dirty="0">
                <a:latin typeface="Courier New" panose="02070309020205020404" pitchFamily="49" charset="0"/>
                <a:cs typeface="Courier New" panose="02070309020205020404" pitchFamily="49" charset="0"/>
              </a:rPr>
              <a:t> </a:t>
            </a:r>
            <a:r>
              <a:rPr lang="en-US" sz="2400" i="1" dirty="0" err="1">
                <a:latin typeface="Courier New" panose="02070309020205020404" pitchFamily="49" charset="0"/>
                <a:cs typeface="Courier New" panose="02070309020205020404" pitchFamily="49" charset="0"/>
              </a:rPr>
              <a:t>kiện</a:t>
            </a:r>
            <a:r>
              <a:rPr lang="en-US" sz="2400" i="1"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pPr marL="0" lvl="1" indent="0">
              <a:lnSpc>
                <a:spcPct val="70000"/>
              </a:lnSpc>
              <a:spcBef>
                <a:spcPts val="1000"/>
              </a:spcBef>
              <a:buNone/>
            </a:pPr>
            <a:r>
              <a:rPr lang="en-US" dirty="0" err="1">
                <a:latin typeface="Courier New" panose="02070309020205020404" pitchFamily="49" charset="0"/>
                <a:cs typeface="Courier New" panose="02070309020205020404" pitchFamily="49" charset="0"/>
              </a:rPr>
              <a:t>elif</a:t>
            </a:r>
            <a:r>
              <a:rPr lang="en-US" dirty="0">
                <a:latin typeface="Courier New" panose="02070309020205020404" pitchFamily="49" charset="0"/>
                <a:cs typeface="Courier New" panose="02070309020205020404" pitchFamily="49" charset="0"/>
              </a:rPr>
              <a:t> </a:t>
            </a:r>
            <a:r>
              <a:rPr lang="en-US" i="1" dirty="0" err="1">
                <a:latin typeface="Courier New" panose="02070309020205020404" pitchFamily="49" charset="0"/>
                <a:cs typeface="Courier New" panose="02070309020205020404" pitchFamily="49" charset="0"/>
              </a:rPr>
              <a:t>điều</a:t>
            </a:r>
            <a:r>
              <a:rPr lang="en-US" i="1" dirty="0">
                <a:latin typeface="Courier New" panose="02070309020205020404" pitchFamily="49" charset="0"/>
                <a:cs typeface="Courier New" panose="02070309020205020404" pitchFamily="49" charset="0"/>
              </a:rPr>
              <a:t> </a:t>
            </a:r>
            <a:r>
              <a:rPr lang="en-US" i="1" dirty="0" err="1">
                <a:latin typeface="Courier New" panose="02070309020205020404" pitchFamily="49" charset="0"/>
                <a:cs typeface="Courier New" panose="02070309020205020404" pitchFamily="49" charset="0"/>
              </a:rPr>
              <a:t>kiện</a:t>
            </a:r>
            <a:r>
              <a:rPr lang="en-US" i="1"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else:</a:t>
            </a:r>
          </a:p>
          <a:p>
            <a:pPr marL="0" lvl="1" indent="0">
              <a:lnSpc>
                <a:spcPct val="70000"/>
              </a:lnSpc>
              <a:spcBef>
                <a:spcPts val="1000"/>
              </a:spcBef>
              <a:buNone/>
            </a:pPr>
            <a:r>
              <a:rPr lang="en-US" dirty="0">
                <a:latin typeface="Courier New" panose="02070309020205020404" pitchFamily="49" charset="0"/>
                <a:cs typeface="Courier New" panose="02070309020205020404" pitchFamily="49" charset="0"/>
              </a:rPr>
              <a:t>	…</a:t>
            </a:r>
          </a:p>
          <a:p>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nhiều</a:t>
            </a:r>
            <a:r>
              <a:rPr lang="en-US" dirty="0"/>
              <a:t> </a:t>
            </a:r>
            <a:r>
              <a:rPr lang="en-US" dirty="0" err="1"/>
              <a:t>lần</a:t>
            </a:r>
            <a:r>
              <a:rPr lang="en-US" dirty="0"/>
              <a:t> </a:t>
            </a:r>
            <a:r>
              <a:rPr lang="en-US" dirty="0" err="1"/>
              <a:t>elif</a:t>
            </a:r>
            <a:endParaRPr lang="en-US" dirty="0"/>
          </a:p>
          <a:p>
            <a:r>
              <a:rPr lang="en-US" dirty="0" err="1"/>
              <a:t>Ví</a:t>
            </a:r>
            <a:r>
              <a:rPr lang="en-US" dirty="0"/>
              <a:t> </a:t>
            </a:r>
            <a:r>
              <a:rPr lang="en-US" dirty="0" err="1"/>
              <a:t>dụ</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if diem&gt;=8:</a:t>
            </a:r>
          </a:p>
          <a:p>
            <a:pPr marL="0" indent="0">
              <a:lnSpc>
                <a:spcPct val="70000"/>
              </a:lnSpc>
              <a:buNone/>
            </a:pPr>
            <a:r>
              <a:rPr lang="en-US" sz="2400" dirty="0">
                <a:latin typeface="Courier New" panose="02070309020205020404" pitchFamily="49" charset="0"/>
                <a:cs typeface="Courier New" panose="02070309020205020404" pitchFamily="49" charset="0"/>
              </a:rPr>
              <a:t>	xl=“</a:t>
            </a:r>
            <a:r>
              <a:rPr lang="en-US" sz="2400" dirty="0" err="1">
                <a:latin typeface="Courier New" panose="02070309020205020404" pitchFamily="49" charset="0"/>
                <a:cs typeface="Courier New" panose="02070309020205020404" pitchFamily="49" charset="0"/>
              </a:rPr>
              <a:t>gioi</a:t>
            </a:r>
            <a:r>
              <a:rPr lang="en-US" sz="2400" dirty="0">
                <a:latin typeface="Courier New" panose="02070309020205020404" pitchFamily="49" charset="0"/>
                <a:cs typeface="Courier New" panose="02070309020205020404" pitchFamily="49" charset="0"/>
              </a:rPr>
              <a:t>”</a:t>
            </a:r>
          </a:p>
          <a:p>
            <a:pPr marL="0" indent="0">
              <a:lnSpc>
                <a:spcPct val="70000"/>
              </a:lnSpc>
              <a:buNone/>
            </a:pPr>
            <a:r>
              <a:rPr lang="en-US" sz="2400" dirty="0" err="1">
                <a:latin typeface="Courier New" panose="02070309020205020404" pitchFamily="49" charset="0"/>
                <a:cs typeface="Courier New" panose="02070309020205020404" pitchFamily="49" charset="0"/>
              </a:rPr>
              <a:t>elif</a:t>
            </a:r>
            <a:r>
              <a:rPr lang="en-US" sz="2400" dirty="0">
                <a:latin typeface="Courier New" panose="02070309020205020404" pitchFamily="49" charset="0"/>
                <a:cs typeface="Courier New" panose="02070309020205020404" pitchFamily="49" charset="0"/>
              </a:rPr>
              <a:t> diem&gt;=6.5:</a:t>
            </a:r>
          </a:p>
          <a:p>
            <a:pPr marL="0" indent="0">
              <a:lnSpc>
                <a:spcPct val="70000"/>
              </a:lnSpc>
              <a:buNone/>
            </a:pPr>
            <a:r>
              <a:rPr lang="en-US" sz="2400" dirty="0">
                <a:latin typeface="Courier New" panose="02070309020205020404" pitchFamily="49" charset="0"/>
                <a:cs typeface="Courier New" panose="02070309020205020404" pitchFamily="49" charset="0"/>
              </a:rPr>
              <a:t>	xl=“</a:t>
            </a:r>
            <a:r>
              <a:rPr lang="en-US" sz="2400" dirty="0" err="1">
                <a:latin typeface="Courier New" panose="02070309020205020404" pitchFamily="49" charset="0"/>
                <a:cs typeface="Courier New" panose="02070309020205020404" pitchFamily="49" charset="0"/>
              </a:rPr>
              <a:t>kha</a:t>
            </a:r>
            <a:r>
              <a:rPr lang="en-US" sz="2400" dirty="0">
                <a:latin typeface="Courier New" panose="02070309020205020404" pitchFamily="49" charset="0"/>
                <a:cs typeface="Courier New" panose="02070309020205020404" pitchFamily="49" charset="0"/>
              </a:rPr>
              <a:t>”</a:t>
            </a:r>
          </a:p>
          <a:p>
            <a:pPr marL="0" indent="0">
              <a:lnSpc>
                <a:spcPct val="70000"/>
              </a:lnSpc>
              <a:buNone/>
            </a:pPr>
            <a:r>
              <a:rPr lang="en-US" sz="2400" dirty="0" err="1">
                <a:latin typeface="Courier New" panose="02070309020205020404" pitchFamily="49" charset="0"/>
                <a:cs typeface="Courier New" panose="02070309020205020404" pitchFamily="49" charset="0"/>
              </a:rPr>
              <a:t>elif</a:t>
            </a:r>
            <a:r>
              <a:rPr lang="en-US" sz="2400" dirty="0">
                <a:latin typeface="Courier New" panose="02070309020205020404" pitchFamily="49" charset="0"/>
                <a:cs typeface="Courier New" panose="02070309020205020404" pitchFamily="49" charset="0"/>
              </a:rPr>
              <a:t> diem&gt;=5:</a:t>
            </a:r>
          </a:p>
          <a:p>
            <a:pPr marL="0" indent="0">
              <a:lnSpc>
                <a:spcPct val="70000"/>
              </a:lnSpc>
              <a:buNone/>
            </a:pPr>
            <a:r>
              <a:rPr lang="en-US" sz="2400" dirty="0">
                <a:latin typeface="Courier New" panose="02070309020205020404" pitchFamily="49" charset="0"/>
                <a:cs typeface="Courier New" panose="02070309020205020404" pitchFamily="49" charset="0"/>
              </a:rPr>
              <a:t>	xl=“TB”</a:t>
            </a:r>
          </a:p>
          <a:p>
            <a:pPr marL="0" indent="0">
              <a:lnSpc>
                <a:spcPct val="70000"/>
              </a:lnSpc>
              <a:buNone/>
            </a:pPr>
            <a:r>
              <a:rPr lang="en-US" sz="2400" dirty="0">
                <a:latin typeface="Courier New" panose="02070309020205020404" pitchFamily="49" charset="0"/>
                <a:cs typeface="Courier New" panose="02070309020205020404" pitchFamily="49" charset="0"/>
              </a:rPr>
              <a:t>else:</a:t>
            </a:r>
          </a:p>
          <a:p>
            <a:pPr marL="0" indent="0">
              <a:lnSpc>
                <a:spcPct val="70000"/>
              </a:lnSpc>
              <a:buNone/>
            </a:pPr>
            <a:r>
              <a:rPr lang="en-US" sz="2400" dirty="0">
                <a:latin typeface="Courier New" panose="02070309020205020404" pitchFamily="49" charset="0"/>
                <a:cs typeface="Courier New" panose="02070309020205020404" pitchFamily="49" charset="0"/>
              </a:rPr>
              <a:t>	xl=“</a:t>
            </a:r>
            <a:r>
              <a:rPr lang="en-US" sz="2400" dirty="0" err="1">
                <a:latin typeface="Courier New" panose="02070309020205020404" pitchFamily="49" charset="0"/>
                <a:cs typeface="Courier New" panose="02070309020205020404" pitchFamily="49" charset="0"/>
              </a:rPr>
              <a:t>Yeu</a:t>
            </a:r>
            <a:r>
              <a:rPr lang="en-US" sz="2400"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17</a:t>
            </a:fld>
            <a:endParaRPr lang="en-US"/>
          </a:p>
        </p:txBody>
      </p:sp>
    </p:spTree>
    <p:extLst>
      <p:ext uri="{BB962C8B-B14F-4D97-AF65-F5344CB8AC3E}">
        <p14:creationId xmlns:p14="http://schemas.microsoft.com/office/powerpoint/2010/main" val="3631511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45514"/>
          </a:xfrm>
        </p:spPr>
        <p:txBody>
          <a:bodyPr/>
          <a:lstStyle/>
          <a:p>
            <a:r>
              <a:rPr lang="en-US" dirty="0" err="1"/>
              <a:t>Biểu</a:t>
            </a:r>
            <a:r>
              <a:rPr lang="en-US" dirty="0"/>
              <a:t> </a:t>
            </a:r>
            <a:r>
              <a:rPr lang="en-US" dirty="0" err="1"/>
              <a:t>thức</a:t>
            </a:r>
            <a:r>
              <a:rPr lang="en-US" dirty="0"/>
              <a:t> logic</a:t>
            </a:r>
          </a:p>
        </p:txBody>
      </p:sp>
      <p:sp>
        <p:nvSpPr>
          <p:cNvPr id="3" name="Content Placeholder 2"/>
          <p:cNvSpPr>
            <a:spLocks noGrp="1"/>
          </p:cNvSpPr>
          <p:nvPr>
            <p:ph idx="1"/>
          </p:nvPr>
        </p:nvSpPr>
        <p:spPr>
          <a:xfrm>
            <a:off x="628650" y="1402080"/>
            <a:ext cx="7886700" cy="4774883"/>
          </a:xfrm>
        </p:spPr>
        <p:txBody>
          <a:bodyPr/>
          <a:lstStyle/>
          <a:p>
            <a:r>
              <a:rPr lang="en-US" dirty="0" err="1"/>
              <a:t>Kết</a:t>
            </a:r>
            <a:r>
              <a:rPr lang="en-US" dirty="0"/>
              <a:t> </a:t>
            </a:r>
            <a:r>
              <a:rPr lang="en-US" dirty="0" err="1"/>
              <a:t>quả</a:t>
            </a:r>
            <a:r>
              <a:rPr lang="en-US" dirty="0"/>
              <a:t> </a:t>
            </a:r>
            <a:r>
              <a:rPr lang="en-US" b="1" dirty="0"/>
              <a:t>true</a:t>
            </a:r>
            <a:r>
              <a:rPr lang="en-US" dirty="0"/>
              <a:t> </a:t>
            </a:r>
            <a:r>
              <a:rPr lang="en-US" dirty="0" err="1"/>
              <a:t>hoặc</a:t>
            </a:r>
            <a:r>
              <a:rPr lang="en-US" dirty="0"/>
              <a:t> </a:t>
            </a:r>
            <a:r>
              <a:rPr lang="en-US" b="1" dirty="0"/>
              <a:t>false</a:t>
            </a:r>
          </a:p>
          <a:p>
            <a:r>
              <a:rPr lang="en-US" dirty="0" err="1"/>
              <a:t>Các</a:t>
            </a:r>
            <a:r>
              <a:rPr lang="en-US" dirty="0"/>
              <a:t> </a:t>
            </a:r>
            <a:r>
              <a:rPr lang="en-US" dirty="0" err="1"/>
              <a:t>toán</a:t>
            </a:r>
            <a:r>
              <a:rPr lang="en-US" dirty="0"/>
              <a:t> </a:t>
            </a:r>
            <a:r>
              <a:rPr lang="en-US" dirty="0" err="1"/>
              <a:t>tử</a:t>
            </a:r>
            <a:r>
              <a:rPr lang="en-US" dirty="0"/>
              <a:t> so </a:t>
            </a:r>
            <a:r>
              <a:rPr lang="en-US" dirty="0" err="1"/>
              <a:t>sánh</a:t>
            </a:r>
            <a:r>
              <a:rPr lang="en-US" dirty="0"/>
              <a:t>: ==, &gt;, &lt;, &gt;=, &lt;=, !=. </a:t>
            </a:r>
          </a:p>
          <a:p>
            <a:r>
              <a:rPr lang="en-US" dirty="0" err="1"/>
              <a:t>Toán</a:t>
            </a:r>
            <a:r>
              <a:rPr lang="en-US" dirty="0"/>
              <a:t> </a:t>
            </a:r>
            <a:r>
              <a:rPr lang="en-US" dirty="0" err="1"/>
              <a:t>tử</a:t>
            </a:r>
            <a:r>
              <a:rPr lang="en-US" dirty="0"/>
              <a:t> logic: </a:t>
            </a:r>
            <a:r>
              <a:rPr lang="en-US" dirty="0">
                <a:latin typeface="Courier New" panose="02070309020205020404" pitchFamily="49" charset="0"/>
                <a:cs typeface="Courier New" panose="02070309020205020404" pitchFamily="49" charset="0"/>
              </a:rPr>
              <a:t>and, or, not</a:t>
            </a:r>
          </a:p>
          <a:p>
            <a:r>
              <a:rPr lang="en-US" dirty="0" err="1"/>
              <a:t>Ví</a:t>
            </a:r>
            <a:r>
              <a:rPr lang="en-US" dirty="0"/>
              <a:t> </a:t>
            </a:r>
            <a:r>
              <a:rPr lang="en-US" dirty="0" err="1"/>
              <a:t>dụ</a:t>
            </a:r>
            <a:r>
              <a:rPr lang="en-US" dirty="0"/>
              <a:t>:</a:t>
            </a:r>
          </a:p>
          <a:p>
            <a:pPr marL="0" indent="0">
              <a:buNone/>
            </a:pPr>
            <a:r>
              <a:rPr lang="en-US" dirty="0">
                <a:latin typeface="Courier New" panose="02070309020205020404" pitchFamily="49" charset="0"/>
                <a:cs typeface="Courier New" panose="02070309020205020404" pitchFamily="49" charset="0"/>
              </a:rPr>
              <a:t>if (</a:t>
            </a:r>
            <a:r>
              <a:rPr lang="en-US" dirty="0" err="1">
                <a:latin typeface="Courier New" panose="02070309020205020404" pitchFamily="49" charset="0"/>
                <a:cs typeface="Courier New" panose="02070309020205020404" pitchFamily="49" charset="0"/>
              </a:rPr>
              <a:t>toan</a:t>
            </a:r>
            <a:r>
              <a:rPr lang="en-US" dirty="0">
                <a:latin typeface="Courier New" panose="02070309020205020404" pitchFamily="49" charset="0"/>
                <a:cs typeface="Courier New" panose="02070309020205020404" pitchFamily="49" charset="0"/>
              </a:rPr>
              <a:t>&gt;=5) and (van&gt;=5):</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kq</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dau</a:t>
            </a:r>
            <a:r>
              <a:rPr lang="en-US" dirty="0">
                <a:latin typeface="Courier New" panose="02070309020205020404" pitchFamily="49" charset="0"/>
                <a:cs typeface="Courier New" panose="02070309020205020404" pitchFamily="49" charset="0"/>
              </a:rPr>
              <a:t>”</a:t>
            </a:r>
            <a:br>
              <a:rPr lang="en-US"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18</a:t>
            </a:fld>
            <a:endParaRPr lang="en-US"/>
          </a:p>
        </p:txBody>
      </p:sp>
    </p:spTree>
    <p:extLst>
      <p:ext uri="{BB962C8B-B14F-4D97-AF65-F5344CB8AC3E}">
        <p14:creationId xmlns:p14="http://schemas.microsoft.com/office/powerpoint/2010/main" val="164106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1834"/>
          </a:xfrm>
        </p:spPr>
        <p:txBody>
          <a:bodyPr>
            <a:normAutofit/>
          </a:bodyPr>
          <a:lstStyle/>
          <a:p>
            <a:r>
              <a:rPr lang="en-US" dirty="0" err="1"/>
              <a:t>Khối</a:t>
            </a:r>
            <a:r>
              <a:rPr lang="en-US" dirty="0"/>
              <a:t> </a:t>
            </a:r>
            <a:r>
              <a:rPr lang="en-US" dirty="0" err="1"/>
              <a:t>lệnh</a:t>
            </a:r>
            <a:endParaRPr lang="en-US" dirty="0"/>
          </a:p>
        </p:txBody>
      </p:sp>
      <p:sp>
        <p:nvSpPr>
          <p:cNvPr id="3" name="Content Placeholder 2"/>
          <p:cNvSpPr>
            <a:spLocks noGrp="1"/>
          </p:cNvSpPr>
          <p:nvPr>
            <p:ph idx="1"/>
          </p:nvPr>
        </p:nvSpPr>
        <p:spPr>
          <a:xfrm>
            <a:off x="628650" y="1153160"/>
            <a:ext cx="7886700" cy="5023803"/>
          </a:xfrm>
        </p:spPr>
        <p:txBody>
          <a:bodyPr>
            <a:normAutofit fontScale="92500" lnSpcReduction="20000"/>
          </a:bodyPr>
          <a:lstStyle/>
          <a:p>
            <a:r>
              <a:rPr lang="en-US" dirty="0" err="1"/>
              <a:t>Khối</a:t>
            </a:r>
            <a:r>
              <a:rPr lang="en-US" dirty="0"/>
              <a:t> </a:t>
            </a:r>
            <a:r>
              <a:rPr lang="en-US" dirty="0" err="1"/>
              <a:t>lệnh</a:t>
            </a:r>
            <a:r>
              <a:rPr lang="en-US" dirty="0"/>
              <a:t>: </a:t>
            </a:r>
            <a:r>
              <a:rPr lang="en-US" dirty="0" err="1"/>
              <a:t>các</a:t>
            </a:r>
            <a:r>
              <a:rPr lang="en-US" dirty="0"/>
              <a:t> </a:t>
            </a:r>
            <a:r>
              <a:rPr lang="en-US" dirty="0" err="1"/>
              <a:t>lệnh</a:t>
            </a:r>
            <a:r>
              <a:rPr lang="en-US" dirty="0"/>
              <a:t> </a:t>
            </a:r>
            <a:r>
              <a:rPr lang="en-US" dirty="0" err="1"/>
              <a:t>gần</a:t>
            </a:r>
            <a:r>
              <a:rPr lang="en-US" dirty="0"/>
              <a:t> </a:t>
            </a:r>
            <a:r>
              <a:rPr lang="en-US" dirty="0" err="1"/>
              <a:t>nhau</a:t>
            </a:r>
            <a:r>
              <a:rPr lang="en-US" dirty="0"/>
              <a:t> </a:t>
            </a:r>
            <a:r>
              <a:rPr lang="en-US" dirty="0" err="1"/>
              <a:t>cùng</a:t>
            </a:r>
            <a:r>
              <a:rPr lang="en-US" dirty="0"/>
              <a:t> </a:t>
            </a:r>
            <a:r>
              <a:rPr lang="en-US" dirty="0" err="1"/>
              <a:t>cân</a:t>
            </a:r>
            <a:r>
              <a:rPr lang="en-US" dirty="0"/>
              <a:t> </a:t>
            </a:r>
            <a:r>
              <a:rPr lang="en-US" dirty="0" err="1"/>
              <a:t>lề</a:t>
            </a:r>
            <a:r>
              <a:rPr lang="en-US" dirty="0"/>
              <a:t> </a:t>
            </a:r>
            <a:r>
              <a:rPr lang="en-US" dirty="0" err="1"/>
              <a:t>bằng</a:t>
            </a:r>
            <a:r>
              <a:rPr lang="en-US" dirty="0"/>
              <a:t> </a:t>
            </a:r>
            <a:r>
              <a:rPr lang="en-US" dirty="0" err="1"/>
              <a:t>nhau</a:t>
            </a:r>
            <a:endParaRPr lang="en-US" dirty="0"/>
          </a:p>
          <a:p>
            <a:pPr marL="0" indent="0">
              <a:lnSpc>
                <a:spcPct val="70000"/>
              </a:lnSpc>
              <a:buNone/>
            </a:pPr>
            <a:r>
              <a:rPr lang="en-US" sz="2500" dirty="0">
                <a:latin typeface="Courier New" panose="02070309020205020404" pitchFamily="49" charset="0"/>
                <a:cs typeface="Courier New" panose="02070309020205020404" pitchFamily="49" charset="0"/>
              </a:rPr>
              <a:t>a=10; b= 7</a:t>
            </a:r>
          </a:p>
          <a:p>
            <a:pPr marL="0" indent="0">
              <a:lnSpc>
                <a:spcPct val="70000"/>
              </a:lnSpc>
              <a:buNone/>
            </a:pPr>
            <a:r>
              <a:rPr lang="en-US" sz="2500" dirty="0">
                <a:latin typeface="Courier New" panose="02070309020205020404" pitchFamily="49" charset="0"/>
                <a:cs typeface="Courier New" panose="02070309020205020404" pitchFamily="49" charset="0"/>
              </a:rPr>
              <a:t>if a&gt;b:</a:t>
            </a:r>
          </a:p>
          <a:p>
            <a:pPr marL="0" indent="0">
              <a:lnSpc>
                <a:spcPct val="70000"/>
              </a:lnSpc>
              <a:buNone/>
            </a:pPr>
            <a:r>
              <a:rPr lang="en-US" sz="2500" dirty="0">
                <a:latin typeface="Courier New" panose="02070309020205020404" pitchFamily="49" charset="0"/>
                <a:cs typeface="Courier New" panose="02070309020205020404" pitchFamily="49" charset="0"/>
              </a:rPr>
              <a:t>	max=a</a:t>
            </a:r>
          </a:p>
          <a:p>
            <a:pPr marL="0" indent="0">
              <a:lnSpc>
                <a:spcPct val="70000"/>
              </a:lnSpc>
              <a:buNone/>
            </a:pPr>
            <a:r>
              <a:rPr lang="en-US" sz="2500" dirty="0">
                <a:latin typeface="Courier New" panose="02070309020205020404" pitchFamily="49" charset="0"/>
                <a:cs typeface="Courier New" panose="02070309020205020404" pitchFamily="49" charset="0"/>
              </a:rPr>
              <a:t>	min=b</a:t>
            </a:r>
          </a:p>
          <a:p>
            <a:pPr marL="0" indent="0">
              <a:lnSpc>
                <a:spcPct val="70000"/>
              </a:lnSpc>
              <a:buNone/>
            </a:pPr>
            <a:r>
              <a:rPr lang="en-US" sz="2500" dirty="0">
                <a:latin typeface="Courier New" panose="02070309020205020404" pitchFamily="49" charset="0"/>
                <a:cs typeface="Courier New" panose="02070309020205020404" pitchFamily="49" charset="0"/>
              </a:rPr>
              <a:t>else:</a:t>
            </a:r>
          </a:p>
          <a:p>
            <a:pPr marL="0" indent="0">
              <a:lnSpc>
                <a:spcPct val="70000"/>
              </a:lnSpc>
              <a:buNone/>
            </a:pPr>
            <a:r>
              <a:rPr lang="en-US" sz="2500" dirty="0">
                <a:latin typeface="Courier New" panose="02070309020205020404" pitchFamily="49" charset="0"/>
                <a:cs typeface="Courier New" panose="02070309020205020404" pitchFamily="49" charset="0"/>
              </a:rPr>
              <a:t>	max=b</a:t>
            </a:r>
          </a:p>
          <a:p>
            <a:pPr marL="0" indent="0">
              <a:lnSpc>
                <a:spcPct val="70000"/>
              </a:lnSpc>
              <a:buNone/>
            </a:pPr>
            <a:r>
              <a:rPr lang="en-US" sz="2500" dirty="0">
                <a:latin typeface="Courier New" panose="02070309020205020404" pitchFamily="49" charset="0"/>
                <a:cs typeface="Courier New" panose="02070309020205020404" pitchFamily="49" charset="0"/>
              </a:rPr>
              <a:t>	min=a</a:t>
            </a:r>
          </a:p>
          <a:p>
            <a:pPr marL="0" indent="0">
              <a:lnSpc>
                <a:spcPct val="70000"/>
              </a:lnSpc>
              <a:buNone/>
            </a:pPr>
            <a:r>
              <a:rPr lang="en-US" sz="2500" dirty="0">
                <a:latin typeface="Courier New" panose="02070309020205020404" pitchFamily="49" charset="0"/>
                <a:cs typeface="Courier New" panose="02070309020205020404" pitchFamily="49" charset="0"/>
              </a:rPr>
              <a:t>print(max, min)</a:t>
            </a:r>
            <a:r>
              <a:rPr lang="en-US" sz="2900" dirty="0"/>
              <a:t>	</a:t>
            </a:r>
            <a:r>
              <a:rPr lang="en-US" dirty="0"/>
              <a:t>  </a:t>
            </a:r>
          </a:p>
          <a:p>
            <a:r>
              <a:rPr lang="en-US" dirty="0" err="1"/>
              <a:t>Nhiều</a:t>
            </a:r>
            <a:r>
              <a:rPr lang="en-US" dirty="0"/>
              <a:t> </a:t>
            </a:r>
            <a:r>
              <a:rPr lang="en-US" dirty="0" err="1"/>
              <a:t>lệnh</a:t>
            </a:r>
            <a:r>
              <a:rPr lang="en-US" dirty="0"/>
              <a:t> </a:t>
            </a:r>
            <a:r>
              <a:rPr lang="en-US" dirty="0" err="1"/>
              <a:t>trên</a:t>
            </a:r>
            <a:r>
              <a:rPr lang="en-US" dirty="0"/>
              <a:t> 1 </a:t>
            </a:r>
            <a:r>
              <a:rPr lang="en-US" dirty="0" err="1"/>
              <a:t>dòng</a:t>
            </a:r>
            <a:r>
              <a:rPr lang="en-US" dirty="0"/>
              <a:t>: dung </a:t>
            </a:r>
            <a:r>
              <a:rPr lang="en-US" dirty="0" err="1"/>
              <a:t>dấu</a:t>
            </a:r>
            <a:r>
              <a:rPr lang="en-US" dirty="0"/>
              <a:t> “;” </a:t>
            </a:r>
            <a:r>
              <a:rPr lang="en-US" dirty="0" err="1"/>
              <a:t>phân</a:t>
            </a:r>
            <a:r>
              <a:rPr lang="en-US" dirty="0"/>
              <a:t> </a:t>
            </a:r>
            <a:r>
              <a:rPr lang="en-US" dirty="0" err="1"/>
              <a:t>cách</a:t>
            </a:r>
            <a:endParaRPr lang="en-US" dirty="0"/>
          </a:p>
          <a:p>
            <a:r>
              <a:rPr lang="en-US" dirty="0" err="1"/>
              <a:t>Một</a:t>
            </a:r>
            <a:r>
              <a:rPr lang="en-US" dirty="0"/>
              <a:t> </a:t>
            </a:r>
            <a:r>
              <a:rPr lang="en-US" dirty="0" err="1"/>
              <a:t>lệnh</a:t>
            </a:r>
            <a:r>
              <a:rPr lang="en-US" dirty="0"/>
              <a:t> </a:t>
            </a:r>
            <a:r>
              <a:rPr lang="en-US" dirty="0" err="1"/>
              <a:t>trên</a:t>
            </a:r>
            <a:r>
              <a:rPr lang="en-US" dirty="0"/>
              <a:t> </a:t>
            </a:r>
            <a:r>
              <a:rPr lang="en-US" dirty="0" err="1"/>
              <a:t>nhiều</a:t>
            </a:r>
            <a:r>
              <a:rPr lang="en-US" dirty="0"/>
              <a:t> </a:t>
            </a:r>
            <a:r>
              <a:rPr lang="en-US" dirty="0" err="1"/>
              <a:t>dòng</a:t>
            </a:r>
            <a:r>
              <a:rPr lang="en-US" dirty="0"/>
              <a:t> dung </a:t>
            </a:r>
            <a:r>
              <a:rPr lang="en-US" dirty="0" err="1"/>
              <a:t>ký</a:t>
            </a:r>
            <a:r>
              <a:rPr lang="en-US" dirty="0"/>
              <a:t> </a:t>
            </a:r>
            <a:r>
              <a:rPr lang="en-US" dirty="0" err="1"/>
              <a:t>tự</a:t>
            </a:r>
            <a:r>
              <a:rPr lang="en-US" dirty="0"/>
              <a:t> “\” </a:t>
            </a:r>
            <a:r>
              <a:rPr lang="en-US" dirty="0" err="1"/>
              <a:t>để</a:t>
            </a:r>
            <a:r>
              <a:rPr lang="en-US" dirty="0"/>
              <a:t> </a:t>
            </a:r>
            <a:r>
              <a:rPr lang="en-US" dirty="0" err="1"/>
              <a:t>nối</a:t>
            </a:r>
            <a:endParaRPr lang="en-US" dirty="0"/>
          </a:p>
          <a:p>
            <a:r>
              <a:rPr lang="en-US" dirty="0" err="1"/>
              <a:t>Ví</a:t>
            </a:r>
            <a:r>
              <a:rPr lang="en-US" dirty="0"/>
              <a:t> </a:t>
            </a:r>
            <a:r>
              <a:rPr lang="en-US" dirty="0" err="1"/>
              <a:t>dụ</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c=5;b=7</a:t>
            </a:r>
          </a:p>
          <a:p>
            <a:pPr marL="0" indent="0">
              <a:lnSpc>
                <a:spcPct val="70000"/>
              </a:lnSpc>
              <a:buNone/>
            </a:pPr>
            <a:r>
              <a:rPr lang="en-US" sz="2400" dirty="0">
                <a:latin typeface="Courier New" panose="02070309020205020404" pitchFamily="49" charset="0"/>
                <a:cs typeface="Courier New" panose="02070309020205020404" pitchFamily="49" charset="0"/>
              </a:rPr>
              <a:t>c=a*</a:t>
            </a:r>
            <a:r>
              <a:rPr lang="en-US" sz="2400" dirty="0" err="1">
                <a:latin typeface="Courier New" panose="02070309020205020404" pitchFamily="49" charset="0"/>
                <a:cs typeface="Courier New" panose="02070309020205020404" pitchFamily="49" charset="0"/>
              </a:rPr>
              <a:t>a+b</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b+a</a:t>
            </a:r>
            <a:r>
              <a:rPr lang="en-US" sz="2400" dirty="0">
                <a:latin typeface="Courier New" panose="02070309020205020404" pitchFamily="49" charset="0"/>
                <a:cs typeface="Courier New" panose="02070309020205020404" pitchFamily="49" charset="0"/>
              </a:rPr>
              <a:t>*b + \</a:t>
            </a:r>
          </a:p>
          <a:p>
            <a:pPr marL="0" indent="0">
              <a:lnSpc>
                <a:spcPct val="70000"/>
              </a:lnSpc>
              <a:buNone/>
            </a:pPr>
            <a:r>
              <a:rPr lang="en-US" sz="2400" dirty="0">
                <a:latin typeface="Courier New" panose="02070309020205020404" pitchFamily="49" charset="0"/>
                <a:cs typeface="Courier New" panose="02070309020205020404" pitchFamily="49" charset="0"/>
              </a:rPr>
              <a:t>	a*a*b; </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19</a:t>
            </a:fld>
            <a:endParaRPr lang="en-US"/>
          </a:p>
        </p:txBody>
      </p:sp>
    </p:spTree>
    <p:extLst>
      <p:ext uri="{BB962C8B-B14F-4D97-AF65-F5344CB8AC3E}">
        <p14:creationId xmlns:p14="http://schemas.microsoft.com/office/powerpoint/2010/main" val="2497558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341120"/>
            <a:ext cx="7886700" cy="4835843"/>
          </a:xfrm>
        </p:spPr>
        <p:txBody>
          <a:bodyPr/>
          <a:lstStyle/>
          <a:p>
            <a:pPr marL="0" indent="0">
              <a:buNone/>
            </a:pPr>
            <a:r>
              <a:rPr lang="en-US" dirty="0" err="1"/>
              <a:t>Viết</a:t>
            </a:r>
            <a:r>
              <a:rPr lang="en-US" dirty="0"/>
              <a:t> </a:t>
            </a:r>
            <a:r>
              <a:rPr lang="en-US" dirty="0" err="1"/>
              <a:t>chương</a:t>
            </a:r>
            <a:r>
              <a:rPr lang="en-US" dirty="0"/>
              <a:t> </a:t>
            </a:r>
            <a:r>
              <a:rPr lang="en-US" dirty="0" err="1"/>
              <a:t>trình</a:t>
            </a:r>
            <a:r>
              <a:rPr lang="en-US" dirty="0"/>
              <a:t>:</a:t>
            </a:r>
          </a:p>
          <a:p>
            <a:r>
              <a:rPr lang="en-US" dirty="0" err="1"/>
              <a:t>Tính</a:t>
            </a:r>
            <a:r>
              <a:rPr lang="en-US" dirty="0"/>
              <a:t> </a:t>
            </a:r>
            <a:r>
              <a:rPr lang="en-US" dirty="0" err="1"/>
              <a:t>diện</a:t>
            </a:r>
            <a:r>
              <a:rPr lang="en-US" dirty="0"/>
              <a:t> </a:t>
            </a:r>
            <a:r>
              <a:rPr lang="en-US" dirty="0" err="1"/>
              <a:t>tích</a:t>
            </a:r>
            <a:r>
              <a:rPr lang="en-US" dirty="0"/>
              <a:t> </a:t>
            </a:r>
            <a:r>
              <a:rPr lang="en-US" dirty="0" err="1"/>
              <a:t>hình</a:t>
            </a:r>
            <a:r>
              <a:rPr lang="en-US" dirty="0"/>
              <a:t> </a:t>
            </a:r>
            <a:r>
              <a:rPr lang="en-US" dirty="0" err="1"/>
              <a:t>tròn</a:t>
            </a:r>
            <a:endParaRPr lang="en-US" dirty="0"/>
          </a:p>
          <a:p>
            <a:r>
              <a:rPr lang="en-US" dirty="0" err="1"/>
              <a:t>Giải</a:t>
            </a:r>
            <a:r>
              <a:rPr lang="en-US" dirty="0"/>
              <a:t> </a:t>
            </a:r>
            <a:r>
              <a:rPr lang="en-US" dirty="0" err="1"/>
              <a:t>phương</a:t>
            </a:r>
            <a:r>
              <a:rPr lang="en-US" dirty="0"/>
              <a:t> </a:t>
            </a:r>
            <a:r>
              <a:rPr lang="en-US" dirty="0" err="1"/>
              <a:t>trình</a:t>
            </a:r>
            <a:r>
              <a:rPr lang="en-US" dirty="0"/>
              <a:t> </a:t>
            </a:r>
            <a:r>
              <a:rPr lang="en-US" dirty="0" err="1"/>
              <a:t>bậc</a:t>
            </a:r>
            <a:r>
              <a:rPr lang="en-US" dirty="0"/>
              <a:t> </a:t>
            </a:r>
            <a:r>
              <a:rPr lang="en-US" dirty="0" err="1"/>
              <a:t>nhất</a:t>
            </a:r>
            <a:endParaRPr lang="en-US" dirty="0"/>
          </a:p>
          <a:p>
            <a:r>
              <a:rPr lang="en-US" dirty="0" err="1"/>
              <a:t>Giải</a:t>
            </a:r>
            <a:r>
              <a:rPr lang="en-US" dirty="0"/>
              <a:t> </a:t>
            </a:r>
            <a:r>
              <a:rPr lang="en-US" dirty="0" err="1"/>
              <a:t>phương</a:t>
            </a:r>
            <a:r>
              <a:rPr lang="en-US" dirty="0"/>
              <a:t> </a:t>
            </a:r>
            <a:r>
              <a:rPr lang="en-US" dirty="0" err="1"/>
              <a:t>trình</a:t>
            </a:r>
            <a:r>
              <a:rPr lang="en-US" dirty="0"/>
              <a:t> </a:t>
            </a:r>
            <a:r>
              <a:rPr lang="en-US" dirty="0" err="1"/>
              <a:t>bậc</a:t>
            </a:r>
            <a:r>
              <a:rPr lang="en-US" dirty="0"/>
              <a:t> </a:t>
            </a:r>
            <a:r>
              <a:rPr lang="en-US" dirty="0" err="1"/>
              <a:t>hai</a:t>
            </a:r>
            <a:endParaRPr lang="en-US" dirty="0"/>
          </a:p>
          <a:p>
            <a:r>
              <a:rPr lang="en-US" dirty="0" err="1"/>
              <a:t>Tính</a:t>
            </a:r>
            <a:r>
              <a:rPr lang="en-US" dirty="0"/>
              <a:t> </a:t>
            </a:r>
            <a:r>
              <a:rPr lang="en-US" dirty="0" err="1"/>
              <a:t>tiền</a:t>
            </a:r>
            <a:r>
              <a:rPr lang="en-US" dirty="0"/>
              <a:t> </a:t>
            </a:r>
            <a:r>
              <a:rPr lang="en-US" dirty="0" err="1"/>
              <a:t>điện</a:t>
            </a:r>
            <a:r>
              <a:rPr lang="en-US" dirty="0"/>
              <a:t> </a:t>
            </a:r>
            <a:r>
              <a:rPr lang="en-US" dirty="0" err="1"/>
              <a:t>theo</a:t>
            </a:r>
            <a:r>
              <a:rPr lang="en-US" dirty="0"/>
              <a:t> </a:t>
            </a:r>
            <a:r>
              <a:rPr lang="en-US" dirty="0" err="1"/>
              <a:t>số</a:t>
            </a:r>
            <a:r>
              <a:rPr lang="en-US" dirty="0"/>
              <a:t> KWh </a:t>
            </a:r>
            <a:r>
              <a:rPr lang="en-US" dirty="0" err="1"/>
              <a:t>tiêu</a:t>
            </a:r>
            <a:r>
              <a:rPr lang="en-US" dirty="0"/>
              <a:t> </a:t>
            </a:r>
            <a:r>
              <a:rPr lang="en-US" dirty="0" err="1"/>
              <a:t>thụ</a:t>
            </a:r>
            <a:r>
              <a:rPr lang="en-US" dirty="0"/>
              <a:t>, </a:t>
            </a:r>
            <a:r>
              <a:rPr lang="en-US" dirty="0" err="1"/>
              <a:t>sử</a:t>
            </a:r>
            <a:r>
              <a:rPr lang="en-US" dirty="0"/>
              <a:t> </a:t>
            </a:r>
            <a:r>
              <a:rPr lang="en-US" dirty="0" err="1"/>
              <a:t>dụng</a:t>
            </a:r>
            <a:r>
              <a:rPr lang="en-US" dirty="0"/>
              <a:t> </a:t>
            </a:r>
            <a:r>
              <a:rPr lang="en-US" dirty="0" err="1"/>
              <a:t>bảng</a:t>
            </a:r>
            <a:r>
              <a:rPr lang="en-US" dirty="0"/>
              <a:t> </a:t>
            </a:r>
            <a:r>
              <a:rPr lang="en-US" dirty="0" err="1"/>
              <a:t>giá</a:t>
            </a:r>
            <a:r>
              <a:rPr lang="en-US" dirty="0"/>
              <a:t> </a:t>
            </a:r>
            <a:r>
              <a:rPr lang="en-US" dirty="0" err="1"/>
              <a:t>tiền</a:t>
            </a:r>
            <a:r>
              <a:rPr lang="en-US" dirty="0"/>
              <a:t> </a:t>
            </a:r>
            <a:r>
              <a:rPr lang="en-US" dirty="0" err="1"/>
              <a:t>điện</a:t>
            </a:r>
            <a:r>
              <a:rPr lang="en-US" dirty="0"/>
              <a:t> ở </a:t>
            </a:r>
            <a:r>
              <a:rPr lang="en-US" dirty="0" err="1"/>
              <a:t>Huế</a:t>
            </a:r>
            <a:r>
              <a:rPr lang="en-US" dirty="0"/>
              <a:t>. </a:t>
            </a:r>
          </a:p>
          <a:p>
            <a:r>
              <a:rPr lang="en-US" dirty="0" err="1"/>
              <a:t>Tính</a:t>
            </a:r>
            <a:r>
              <a:rPr lang="en-US" dirty="0"/>
              <a:t> </a:t>
            </a:r>
            <a:r>
              <a:rPr lang="en-US" err="1"/>
              <a:t>số</a:t>
            </a:r>
            <a:r>
              <a:rPr lang="en-US"/>
              <a:t> tiền thu được </a:t>
            </a:r>
            <a:r>
              <a:rPr lang="en-US" dirty="0" err="1"/>
              <a:t>với</a:t>
            </a:r>
            <a:r>
              <a:rPr lang="en-US" dirty="0"/>
              <a:t> </a:t>
            </a:r>
            <a:r>
              <a:rPr lang="en-US" dirty="0" err="1"/>
              <a:t>khoản</a:t>
            </a:r>
            <a:r>
              <a:rPr lang="en-US" dirty="0"/>
              <a:t> </a:t>
            </a:r>
            <a:r>
              <a:rPr lang="en-US" dirty="0" err="1"/>
              <a:t>tiền</a:t>
            </a:r>
            <a:r>
              <a:rPr lang="en-US" dirty="0"/>
              <a:t> a </a:t>
            </a:r>
            <a:r>
              <a:rPr lang="en-US" dirty="0" err="1"/>
              <a:t>sau</a:t>
            </a:r>
            <a:r>
              <a:rPr lang="en-US" dirty="0"/>
              <a:t> </a:t>
            </a:r>
            <a:r>
              <a:rPr lang="en-US" dirty="0" err="1"/>
              <a:t>khi</a:t>
            </a:r>
            <a:r>
              <a:rPr lang="en-US" dirty="0"/>
              <a:t> </a:t>
            </a:r>
            <a:r>
              <a:rPr lang="en-US" dirty="0" err="1"/>
              <a:t>gửi</a:t>
            </a:r>
            <a:r>
              <a:rPr lang="en-US" dirty="0"/>
              <a:t> </a:t>
            </a:r>
            <a:r>
              <a:rPr lang="en-US" dirty="0" err="1"/>
              <a:t>ngân</a:t>
            </a:r>
            <a:r>
              <a:rPr lang="en-US" dirty="0"/>
              <a:t> </a:t>
            </a:r>
            <a:r>
              <a:rPr lang="en-US" dirty="0" err="1"/>
              <a:t>hàng</a:t>
            </a:r>
            <a:r>
              <a:rPr lang="en-US" dirty="0"/>
              <a:t> n </a:t>
            </a:r>
            <a:r>
              <a:rPr lang="en-US" dirty="0" err="1"/>
              <a:t>tháng</a:t>
            </a:r>
            <a:r>
              <a:rPr lang="en-US" dirty="0"/>
              <a:t> </a:t>
            </a:r>
            <a:r>
              <a:rPr lang="en-US" dirty="0" err="1"/>
              <a:t>với</a:t>
            </a:r>
            <a:r>
              <a:rPr lang="en-US" dirty="0"/>
              <a:t> </a:t>
            </a:r>
            <a:r>
              <a:rPr lang="en-US" dirty="0" err="1"/>
              <a:t>lãi</a:t>
            </a:r>
            <a:r>
              <a:rPr lang="en-US" dirty="0"/>
              <a:t> </a:t>
            </a:r>
            <a:r>
              <a:rPr lang="en-US" dirty="0" err="1"/>
              <a:t>suất</a:t>
            </a:r>
            <a:r>
              <a:rPr lang="en-US" dirty="0"/>
              <a:t> k%/</a:t>
            </a:r>
            <a:r>
              <a:rPr lang="en-US" dirty="0" err="1"/>
              <a:t>tháng</a:t>
            </a:r>
            <a:r>
              <a:rPr lang="en-US" dirty="0"/>
              <a:t>. </a:t>
            </a:r>
            <a:r>
              <a:rPr lang="en-US" err="1"/>
              <a:t>Biết</a:t>
            </a:r>
            <a:r>
              <a:rPr lang="en-US"/>
              <a:t> rằng </a:t>
            </a:r>
            <a:r>
              <a:rPr lang="en-US" dirty="0" err="1"/>
              <a:t>lãi</a:t>
            </a:r>
            <a:r>
              <a:rPr lang="en-US" dirty="0"/>
              <a:t> </a:t>
            </a:r>
            <a:r>
              <a:rPr lang="en-US" dirty="0" err="1"/>
              <a:t>suất</a:t>
            </a:r>
            <a:r>
              <a:rPr lang="en-US" dirty="0"/>
              <a:t> </a:t>
            </a:r>
            <a:r>
              <a:rPr lang="en-US" dirty="0" err="1"/>
              <a:t>được</a:t>
            </a:r>
            <a:r>
              <a:rPr lang="en-US" dirty="0"/>
              <a:t> </a:t>
            </a:r>
            <a:r>
              <a:rPr lang="en-US" dirty="0" err="1"/>
              <a:t>công</a:t>
            </a:r>
            <a:r>
              <a:rPr lang="en-US" dirty="0"/>
              <a:t> </a:t>
            </a:r>
            <a:r>
              <a:rPr lang="en-US" dirty="0" err="1"/>
              <a:t>dồn</a:t>
            </a:r>
            <a:r>
              <a:rPr lang="en-US" dirty="0"/>
              <a:t> </a:t>
            </a:r>
            <a:r>
              <a:rPr lang="en-US" dirty="0" err="1"/>
              <a:t>vào</a:t>
            </a:r>
            <a:r>
              <a:rPr lang="en-US" dirty="0"/>
              <a:t> </a:t>
            </a:r>
            <a:r>
              <a:rPr lang="en-US" dirty="0" err="1"/>
              <a:t>tiền</a:t>
            </a:r>
            <a:r>
              <a:rPr lang="en-US" dirty="0"/>
              <a:t> </a:t>
            </a:r>
            <a:r>
              <a:rPr lang="en-US" dirty="0" err="1"/>
              <a:t>gửi</a:t>
            </a:r>
            <a:r>
              <a:rPr lang="en-US" dirty="0"/>
              <a:t> </a:t>
            </a:r>
            <a:r>
              <a:rPr lang="en-US" err="1"/>
              <a:t>tiết</a:t>
            </a:r>
            <a:r>
              <a:rPr lang="en-US"/>
              <a:t> kiệm hằng tháng.  </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20</a:t>
            </a:fld>
            <a:endParaRPr lang="en-US"/>
          </a:p>
        </p:txBody>
      </p:sp>
    </p:spTree>
    <p:extLst>
      <p:ext uri="{BB962C8B-B14F-4D97-AF65-F5344CB8AC3E}">
        <p14:creationId xmlns:p14="http://schemas.microsoft.com/office/powerpoint/2010/main" val="3838769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Bảng</a:t>
            </a:r>
            <a:r>
              <a:rPr lang="en-US" dirty="0"/>
              <a:t> </a:t>
            </a:r>
            <a:r>
              <a:rPr lang="en-US" dirty="0" err="1"/>
              <a:t>giá</a:t>
            </a:r>
            <a:r>
              <a:rPr lang="en-US" dirty="0"/>
              <a:t> </a:t>
            </a:r>
            <a:r>
              <a:rPr lang="en-US" dirty="0" err="1"/>
              <a:t>điện</a:t>
            </a:r>
            <a:r>
              <a:rPr lang="en-US" dirty="0"/>
              <a:t> </a:t>
            </a:r>
            <a:r>
              <a:rPr lang="en-US" dirty="0" err="1"/>
              <a:t>sinh</a:t>
            </a:r>
            <a:r>
              <a:rPr lang="en-US" dirty="0"/>
              <a:t> </a:t>
            </a:r>
            <a:r>
              <a:rPr lang="en-US" dirty="0" err="1"/>
              <a:t>hoạt</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21</a:t>
            </a:fld>
            <a:endParaRPr 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332779637"/>
              </p:ext>
            </p:extLst>
          </p:nvPr>
        </p:nvGraphicFramePr>
        <p:xfrm>
          <a:off x="1092200" y="1336039"/>
          <a:ext cx="5679440" cy="4587243"/>
        </p:xfrm>
        <a:graphic>
          <a:graphicData uri="http://schemas.openxmlformats.org/drawingml/2006/table">
            <a:tbl>
              <a:tblPr firstRow="1" firstCol="1" bandRow="1">
                <a:tableStyleId>{5C22544A-7EE6-4342-B048-85BDC9FD1C3A}</a:tableStyleId>
              </a:tblPr>
              <a:tblGrid>
                <a:gridCol w="2950199">
                  <a:extLst>
                    <a:ext uri="{9D8B030D-6E8A-4147-A177-3AD203B41FA5}">
                      <a16:colId xmlns:a16="http://schemas.microsoft.com/office/drawing/2014/main" val="318698245"/>
                    </a:ext>
                  </a:extLst>
                </a:gridCol>
                <a:gridCol w="2729241">
                  <a:extLst>
                    <a:ext uri="{9D8B030D-6E8A-4147-A177-3AD203B41FA5}">
                      <a16:colId xmlns:a16="http://schemas.microsoft.com/office/drawing/2014/main" val="2126425539"/>
                    </a:ext>
                  </a:extLst>
                </a:gridCol>
              </a:tblGrid>
              <a:tr h="1308489">
                <a:tc>
                  <a:txBody>
                    <a:bodyPr/>
                    <a:lstStyle/>
                    <a:p>
                      <a:pPr marL="200025">
                        <a:lnSpc>
                          <a:spcPts val="1500"/>
                        </a:lnSpc>
                        <a:spcBef>
                          <a:spcPts val="375"/>
                        </a:spcBef>
                        <a:spcAft>
                          <a:spcPts val="0"/>
                        </a:spcAft>
                      </a:pPr>
                      <a:r>
                        <a:rPr lang="en-US" sz="1600" dirty="0" err="1">
                          <a:effectLst/>
                        </a:rPr>
                        <a:t>Bậc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1600" dirty="0" err="1">
                          <a:effectLst/>
                        </a:rPr>
                        <a:t>Giá</a:t>
                      </a:r>
                      <a:r>
                        <a:rPr lang="en-US" sz="1600" dirty="0">
                          <a:effectLst/>
                        </a:rPr>
                        <a:t> </a:t>
                      </a:r>
                      <a:r>
                        <a:rPr lang="en-US" sz="1600" dirty="0" err="1">
                          <a:effectLst/>
                        </a:rPr>
                        <a:t>bán</a:t>
                      </a:r>
                      <a:r>
                        <a:rPr lang="en-US" sz="1600" dirty="0">
                          <a:effectLst/>
                        </a:rPr>
                        <a:t> </a:t>
                      </a:r>
                      <a:r>
                        <a:rPr lang="en-US" sz="1600" dirty="0" err="1">
                          <a:effectLst/>
                        </a:rPr>
                        <a:t>điện</a:t>
                      </a:r>
                      <a:endParaRPr lang="en-US" sz="2400" dirty="0">
                        <a:effectLst/>
                      </a:endParaRPr>
                    </a:p>
                    <a:p>
                      <a:pPr marL="200025">
                        <a:lnSpc>
                          <a:spcPts val="1500"/>
                        </a:lnSpc>
                        <a:spcBef>
                          <a:spcPts val="375"/>
                        </a:spcBef>
                        <a:spcAft>
                          <a:spcPts val="0"/>
                        </a:spcAft>
                      </a:pPr>
                      <a:r>
                        <a:rPr lang="en-US" sz="1600" dirty="0">
                          <a:effectLst/>
                        </a:rPr>
                        <a:t>(</a:t>
                      </a:r>
                      <a:r>
                        <a:rPr lang="en-US" sz="1600" dirty="0" err="1">
                          <a:effectLst/>
                        </a:rPr>
                        <a:t>đồng</a:t>
                      </a:r>
                      <a:r>
                        <a:rPr lang="en-US" sz="1600" dirty="0">
                          <a:effectLst/>
                        </a:rPr>
                        <a:t>/kWh)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738428219"/>
                  </a:ext>
                </a:extLst>
              </a:tr>
              <a:tr h="546459">
                <a:tc>
                  <a:txBody>
                    <a:bodyPr/>
                    <a:lstStyle/>
                    <a:p>
                      <a:pPr marL="200025">
                        <a:lnSpc>
                          <a:spcPts val="1500"/>
                        </a:lnSpc>
                        <a:spcBef>
                          <a:spcPts val="375"/>
                        </a:spcBef>
                        <a:spcAft>
                          <a:spcPts val="0"/>
                        </a:spcAft>
                      </a:pPr>
                      <a:r>
                        <a:rPr lang="en-US" sz="1600" dirty="0" err="1">
                          <a:effectLst/>
                        </a:rPr>
                        <a:t>Bậc</a:t>
                      </a:r>
                      <a:r>
                        <a:rPr lang="en-US" sz="1600" dirty="0">
                          <a:effectLst/>
                        </a:rPr>
                        <a:t> 1: Cho kWh </a:t>
                      </a:r>
                      <a:r>
                        <a:rPr lang="en-US" sz="1600" dirty="0" err="1">
                          <a:effectLst/>
                        </a:rPr>
                        <a:t>từ</a:t>
                      </a:r>
                      <a:r>
                        <a:rPr lang="en-US" sz="1600" dirty="0">
                          <a:effectLst/>
                        </a:rPr>
                        <a:t> 0 - 50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1.678  	1.6</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9929431"/>
                  </a:ext>
                </a:extLst>
              </a:tr>
              <a:tr h="546459">
                <a:tc>
                  <a:txBody>
                    <a:bodyPr/>
                    <a:lstStyle/>
                    <a:p>
                      <a:pPr marL="200025">
                        <a:lnSpc>
                          <a:spcPts val="1500"/>
                        </a:lnSpc>
                        <a:spcBef>
                          <a:spcPts val="375"/>
                        </a:spcBef>
                        <a:spcAft>
                          <a:spcPts val="0"/>
                        </a:spcAft>
                      </a:pPr>
                      <a:r>
                        <a:rPr lang="en-US" sz="1600" dirty="0" err="1">
                          <a:effectLst/>
                        </a:rPr>
                        <a:t>Bậc</a:t>
                      </a:r>
                      <a:r>
                        <a:rPr lang="en-US" sz="1600" dirty="0">
                          <a:effectLst/>
                        </a:rPr>
                        <a:t> 2: Cho kWh </a:t>
                      </a:r>
                      <a:r>
                        <a:rPr lang="en-US" sz="1600" dirty="0" err="1">
                          <a:effectLst/>
                        </a:rPr>
                        <a:t>từ</a:t>
                      </a:r>
                      <a:r>
                        <a:rPr lang="en-US" sz="1600" dirty="0">
                          <a:effectLst/>
                        </a:rPr>
                        <a:t> 51 - 100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1.734	1.7</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78111450"/>
                  </a:ext>
                </a:extLst>
              </a:tr>
              <a:tr h="546459">
                <a:tc>
                  <a:txBody>
                    <a:bodyPr/>
                    <a:lstStyle/>
                    <a:p>
                      <a:pPr marL="200025">
                        <a:lnSpc>
                          <a:spcPts val="1500"/>
                        </a:lnSpc>
                        <a:spcBef>
                          <a:spcPts val="375"/>
                        </a:spcBef>
                        <a:spcAft>
                          <a:spcPts val="0"/>
                        </a:spcAft>
                      </a:pPr>
                      <a:r>
                        <a:rPr lang="en-US" sz="1600">
                          <a:effectLst/>
                        </a:rPr>
                        <a:t>Bậc 3: Cho kWh từ 101 - 200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2.014	2</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878817902"/>
                  </a:ext>
                </a:extLst>
              </a:tr>
              <a:tr h="546459">
                <a:tc>
                  <a:txBody>
                    <a:bodyPr/>
                    <a:lstStyle/>
                    <a:p>
                      <a:pPr marL="200025">
                        <a:lnSpc>
                          <a:spcPts val="1500"/>
                        </a:lnSpc>
                        <a:spcBef>
                          <a:spcPts val="375"/>
                        </a:spcBef>
                        <a:spcAft>
                          <a:spcPts val="0"/>
                        </a:spcAft>
                      </a:pPr>
                      <a:r>
                        <a:rPr lang="en-US" sz="1600">
                          <a:effectLst/>
                        </a:rPr>
                        <a:t>Bậc 4: Cho kWh từ 201 - 300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2.536	2.5</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628931850"/>
                  </a:ext>
                </a:extLst>
              </a:tr>
              <a:tr h="546459">
                <a:tc>
                  <a:txBody>
                    <a:bodyPr/>
                    <a:lstStyle/>
                    <a:p>
                      <a:pPr marL="200025">
                        <a:lnSpc>
                          <a:spcPts val="1500"/>
                        </a:lnSpc>
                        <a:spcBef>
                          <a:spcPts val="375"/>
                        </a:spcBef>
                        <a:spcAft>
                          <a:spcPts val="0"/>
                        </a:spcAft>
                      </a:pPr>
                      <a:r>
                        <a:rPr lang="en-US" sz="1600">
                          <a:effectLst/>
                        </a:rPr>
                        <a:t>Bậc 5: Cho kWh từ 301 - 400</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2.834	2.8</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981055025"/>
                  </a:ext>
                </a:extLst>
              </a:tr>
              <a:tr h="546459">
                <a:tc>
                  <a:txBody>
                    <a:bodyPr/>
                    <a:lstStyle/>
                    <a:p>
                      <a:pPr marL="200025">
                        <a:lnSpc>
                          <a:spcPts val="1500"/>
                        </a:lnSpc>
                        <a:spcBef>
                          <a:spcPts val="375"/>
                        </a:spcBef>
                        <a:spcAft>
                          <a:spcPts val="0"/>
                        </a:spcAft>
                      </a:pPr>
                      <a:r>
                        <a:rPr lang="en-US" sz="1600">
                          <a:effectLst/>
                        </a:rPr>
                        <a:t>Bậc 6: Cho kWh từ 401 trở lên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marL="200025">
                        <a:lnSpc>
                          <a:spcPts val="1500"/>
                        </a:lnSpc>
                        <a:spcBef>
                          <a:spcPts val="375"/>
                        </a:spcBef>
                        <a:spcAft>
                          <a:spcPts val="0"/>
                        </a:spcAft>
                      </a:pPr>
                      <a:r>
                        <a:rPr lang="en-US" sz="2000" b="1" dirty="0">
                          <a:effectLst/>
                        </a:rPr>
                        <a:t>2.927	2.9</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74696162"/>
                  </a:ext>
                </a:extLst>
              </a:tr>
            </a:tbl>
          </a:graphicData>
        </a:graphic>
      </p:graphicFrame>
    </p:spTree>
    <p:extLst>
      <p:ext uri="{BB962C8B-B14F-4D97-AF65-F5344CB8AC3E}">
        <p14:creationId xmlns:p14="http://schemas.microsoft.com/office/powerpoint/2010/main" val="771787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Vòng</a:t>
            </a:r>
            <a:r>
              <a:rPr lang="en-US" dirty="0"/>
              <a:t> </a:t>
            </a:r>
            <a:r>
              <a:rPr lang="en-US" dirty="0" err="1"/>
              <a:t>lặp</a:t>
            </a:r>
            <a:endParaRPr lang="en-US" dirty="0"/>
          </a:p>
        </p:txBody>
      </p:sp>
      <p:sp>
        <p:nvSpPr>
          <p:cNvPr id="3" name="Content Placeholder 2"/>
          <p:cNvSpPr>
            <a:spLocks noGrp="1"/>
          </p:cNvSpPr>
          <p:nvPr>
            <p:ph idx="1"/>
          </p:nvPr>
        </p:nvSpPr>
        <p:spPr/>
        <p:txBody>
          <a:bodyPr/>
          <a:lstStyle/>
          <a:p>
            <a:r>
              <a:rPr lang="en-US" dirty="0" err="1"/>
              <a:t>Vòng</a:t>
            </a:r>
            <a:r>
              <a:rPr lang="en-US" dirty="0"/>
              <a:t> </a:t>
            </a:r>
            <a:r>
              <a:rPr lang="en-US" dirty="0" err="1"/>
              <a:t>lặp</a:t>
            </a:r>
            <a:r>
              <a:rPr lang="en-US" dirty="0"/>
              <a:t> </a:t>
            </a:r>
            <a:r>
              <a:rPr lang="en-US" b="1" dirty="0"/>
              <a:t>for</a:t>
            </a:r>
          </a:p>
          <a:p>
            <a:r>
              <a:rPr lang="en-US" dirty="0" err="1"/>
              <a:t>Vòng</a:t>
            </a:r>
            <a:r>
              <a:rPr lang="en-US" dirty="0"/>
              <a:t> </a:t>
            </a:r>
            <a:r>
              <a:rPr lang="en-US" dirty="0" err="1"/>
              <a:t>lặp</a:t>
            </a:r>
            <a:r>
              <a:rPr lang="en-US" dirty="0"/>
              <a:t> </a:t>
            </a:r>
            <a:r>
              <a:rPr lang="en-US" b="1" dirty="0"/>
              <a:t>while</a:t>
            </a:r>
          </a:p>
          <a:p>
            <a:r>
              <a:rPr lang="en-US" dirty="0" err="1"/>
              <a:t>Lệnh</a:t>
            </a:r>
            <a:r>
              <a:rPr lang="en-US" dirty="0"/>
              <a:t> </a:t>
            </a:r>
            <a:r>
              <a:rPr lang="en-US" b="1" dirty="0"/>
              <a:t>break</a:t>
            </a:r>
            <a:r>
              <a:rPr lang="en-US" dirty="0"/>
              <a:t> </a:t>
            </a:r>
            <a:r>
              <a:rPr lang="en-US" dirty="0" err="1"/>
              <a:t>và</a:t>
            </a:r>
            <a:r>
              <a:rPr lang="en-US" dirty="0"/>
              <a:t> </a:t>
            </a:r>
            <a:r>
              <a:rPr lang="en-US" b="1" dirty="0"/>
              <a:t>else</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22</a:t>
            </a:fld>
            <a:endParaRPr lang="en-US"/>
          </a:p>
        </p:txBody>
      </p:sp>
    </p:spTree>
    <p:extLst>
      <p:ext uri="{BB962C8B-B14F-4D97-AF65-F5344CB8AC3E}">
        <p14:creationId xmlns:p14="http://schemas.microsoft.com/office/powerpoint/2010/main" val="511515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Hàm</a:t>
            </a:r>
            <a:r>
              <a:rPr lang="en-US" dirty="0"/>
              <a:t> range()</a:t>
            </a:r>
          </a:p>
        </p:txBody>
      </p:sp>
      <p:sp>
        <p:nvSpPr>
          <p:cNvPr id="3" name="Content Placeholder 2"/>
          <p:cNvSpPr>
            <a:spLocks noGrp="1"/>
          </p:cNvSpPr>
          <p:nvPr>
            <p:ph idx="1"/>
          </p:nvPr>
        </p:nvSpPr>
        <p:spPr>
          <a:xfrm>
            <a:off x="628650" y="1825625"/>
            <a:ext cx="8350250" cy="4351338"/>
          </a:xfrm>
        </p:spPr>
        <p:txBody>
          <a:bodyPr/>
          <a:lstStyle/>
          <a:p>
            <a:r>
              <a:rPr lang="en-US" dirty="0"/>
              <a:t>Cho </a:t>
            </a:r>
            <a:r>
              <a:rPr lang="en-US" dirty="0" err="1"/>
              <a:t>dãy</a:t>
            </a:r>
            <a:r>
              <a:rPr lang="en-US" dirty="0"/>
              <a:t> </a:t>
            </a:r>
            <a:r>
              <a:rPr lang="en-US" dirty="0" err="1"/>
              <a:t>số</a:t>
            </a:r>
            <a:r>
              <a:rPr lang="en-US" dirty="0"/>
              <a:t> </a:t>
            </a:r>
            <a:r>
              <a:rPr lang="en-US" dirty="0" err="1"/>
              <a:t>nguyên</a:t>
            </a:r>
            <a:endParaRPr lang="en-US" dirty="0"/>
          </a:p>
          <a:p>
            <a:r>
              <a:rPr lang="en-US" sz="2100" dirty="0">
                <a:latin typeface="Courier New" panose="02070309020205020404" pitchFamily="49" charset="0"/>
                <a:cs typeface="Courier New" panose="02070309020205020404" pitchFamily="49" charset="0"/>
              </a:rPr>
              <a:t>range(n): </a:t>
            </a:r>
            <a:r>
              <a:rPr lang="en-US" dirty="0"/>
              <a:t>0..n-1</a:t>
            </a:r>
          </a:p>
          <a:p>
            <a:r>
              <a:rPr lang="en-US" sz="2100" dirty="0">
                <a:latin typeface="Courier New" panose="02070309020205020404" pitchFamily="49" charset="0"/>
                <a:cs typeface="Courier New" panose="02070309020205020404" pitchFamily="49" charset="0"/>
              </a:rPr>
              <a:t>range(</a:t>
            </a:r>
            <a:r>
              <a:rPr lang="en-US" sz="2100" dirty="0" err="1">
                <a:latin typeface="Courier New" panose="02070309020205020404" pitchFamily="49" charset="0"/>
                <a:cs typeface="Courier New" panose="02070309020205020404" pitchFamily="49" charset="0"/>
              </a:rPr>
              <a:t>a,b</a:t>
            </a:r>
            <a:r>
              <a:rPr lang="en-US" sz="2100" dirty="0">
                <a:latin typeface="Courier New" panose="02070309020205020404" pitchFamily="49" charset="0"/>
                <a:cs typeface="Courier New" panose="02070309020205020404" pitchFamily="49" charset="0"/>
              </a:rPr>
              <a:t>): </a:t>
            </a:r>
            <a:r>
              <a:rPr lang="en-US" dirty="0" err="1"/>
              <a:t>dãy</a:t>
            </a:r>
            <a:r>
              <a:rPr lang="en-US" dirty="0"/>
              <a:t> </a:t>
            </a:r>
            <a:r>
              <a:rPr lang="en-US" dirty="0" err="1"/>
              <a:t>số</a:t>
            </a:r>
            <a:r>
              <a:rPr lang="en-US" dirty="0"/>
              <a:t> </a:t>
            </a:r>
            <a:r>
              <a:rPr lang="en-US" dirty="0" err="1"/>
              <a:t>từ</a:t>
            </a:r>
            <a:r>
              <a:rPr lang="en-US" dirty="0"/>
              <a:t> a </a:t>
            </a:r>
            <a:r>
              <a:rPr lang="en-US" dirty="0" err="1"/>
              <a:t>đến</a:t>
            </a:r>
            <a:r>
              <a:rPr lang="en-US"/>
              <a:t> b-1</a:t>
            </a:r>
            <a:endParaRPr lang="en-US" dirty="0"/>
          </a:p>
          <a:p>
            <a:r>
              <a:rPr lang="en-US" sz="2100" dirty="0">
                <a:latin typeface="Courier New" panose="02070309020205020404" pitchFamily="49" charset="0"/>
                <a:cs typeface="Courier New" panose="02070309020205020404" pitchFamily="49" charset="0"/>
              </a:rPr>
              <a:t>range(</a:t>
            </a:r>
            <a:r>
              <a:rPr lang="en-US" sz="2100" dirty="0" err="1">
                <a:latin typeface="Courier New" panose="02070309020205020404" pitchFamily="49" charset="0"/>
                <a:cs typeface="Courier New" panose="02070309020205020404" pitchFamily="49" charset="0"/>
              </a:rPr>
              <a:t>a,b</a:t>
            </a:r>
            <a:r>
              <a:rPr lang="en-US" sz="2100" dirty="0">
                <a:latin typeface="Courier New" panose="02070309020205020404" pitchFamily="49" charset="0"/>
                <a:cs typeface="Courier New" panose="02070309020205020404" pitchFamily="49" charset="0"/>
              </a:rPr>
              <a:t>, </a:t>
            </a:r>
            <a:r>
              <a:rPr lang="en-US" sz="2100" dirty="0" err="1">
                <a:latin typeface="Courier New" panose="02070309020205020404" pitchFamily="49" charset="0"/>
                <a:cs typeface="Courier New" panose="02070309020205020404" pitchFamily="49" charset="0"/>
              </a:rPr>
              <a:t>inc</a:t>
            </a:r>
            <a:r>
              <a:rPr lang="en-US" sz="2100" dirty="0">
                <a:latin typeface="Courier New" panose="02070309020205020404" pitchFamily="49" charset="0"/>
                <a:cs typeface="Courier New" panose="02070309020205020404" pitchFamily="49" charset="0"/>
              </a:rPr>
              <a:t>): </a:t>
            </a:r>
            <a:r>
              <a:rPr lang="en-US" dirty="0" err="1"/>
              <a:t>dãy</a:t>
            </a:r>
            <a:r>
              <a:rPr lang="en-US" dirty="0"/>
              <a:t>  </a:t>
            </a:r>
            <a:r>
              <a:rPr lang="en-US" dirty="0" err="1"/>
              <a:t>số</a:t>
            </a:r>
            <a:r>
              <a:rPr lang="en-US" dirty="0"/>
              <a:t> </a:t>
            </a:r>
            <a:r>
              <a:rPr lang="en-US" dirty="0" err="1"/>
              <a:t>từ</a:t>
            </a:r>
            <a:r>
              <a:rPr lang="en-US" dirty="0"/>
              <a:t> a </a:t>
            </a:r>
            <a:r>
              <a:rPr lang="en-US" dirty="0" err="1"/>
              <a:t>đến</a:t>
            </a:r>
            <a:r>
              <a:rPr lang="en-US" dirty="0"/>
              <a:t> b, </a:t>
            </a:r>
            <a:r>
              <a:rPr lang="en-US" dirty="0" err="1"/>
              <a:t>phần</a:t>
            </a:r>
            <a:r>
              <a:rPr lang="en-US" dirty="0"/>
              <a:t> </a:t>
            </a:r>
            <a:r>
              <a:rPr lang="en-US" dirty="0" err="1"/>
              <a:t>tử</a:t>
            </a:r>
            <a:r>
              <a:rPr lang="en-US" dirty="0"/>
              <a:t> </a:t>
            </a:r>
            <a:r>
              <a:rPr lang="en-US" dirty="0" err="1"/>
              <a:t>sau</a:t>
            </a:r>
            <a:r>
              <a:rPr lang="en-US" dirty="0"/>
              <a:t> </a:t>
            </a:r>
            <a:r>
              <a:rPr lang="en-US" dirty="0" err="1"/>
              <a:t>tăng</a:t>
            </a:r>
            <a:r>
              <a:rPr lang="en-US" dirty="0"/>
              <a:t> </a:t>
            </a:r>
            <a:r>
              <a:rPr lang="en-US" dirty="0" err="1"/>
              <a:t>lên</a:t>
            </a:r>
            <a:r>
              <a:rPr lang="en-US" dirty="0"/>
              <a:t> </a:t>
            </a:r>
            <a:r>
              <a:rPr lang="en-US" dirty="0" err="1"/>
              <a:t>inc</a:t>
            </a:r>
            <a:r>
              <a:rPr lang="en-US" dirty="0"/>
              <a:t>, </a:t>
            </a:r>
            <a:r>
              <a:rPr lang="en-US" dirty="0" err="1"/>
              <a:t>phần</a:t>
            </a:r>
            <a:r>
              <a:rPr lang="en-US" dirty="0"/>
              <a:t> </a:t>
            </a:r>
            <a:r>
              <a:rPr lang="en-US" dirty="0" err="1"/>
              <a:t>tử</a:t>
            </a:r>
            <a:r>
              <a:rPr lang="en-US" dirty="0"/>
              <a:t> </a:t>
            </a:r>
            <a:r>
              <a:rPr lang="en-US" dirty="0" err="1"/>
              <a:t>cuối</a:t>
            </a:r>
            <a:r>
              <a:rPr lang="en-US" dirty="0"/>
              <a:t> </a:t>
            </a:r>
            <a:r>
              <a:rPr lang="en-US" dirty="0" err="1"/>
              <a:t>nhỏ</a:t>
            </a:r>
            <a:r>
              <a:rPr lang="en-US" dirty="0"/>
              <a:t> </a:t>
            </a:r>
            <a:r>
              <a:rPr lang="en-US" dirty="0" err="1"/>
              <a:t>hơn</a:t>
            </a:r>
            <a:endParaRPr lang="en-US" dirty="0"/>
          </a:p>
          <a:p>
            <a:pPr marL="0" indent="0">
              <a:buNone/>
            </a:pPr>
            <a:r>
              <a:rPr lang="en-US" dirty="0"/>
              <a:t> </a:t>
            </a:r>
            <a:r>
              <a:rPr lang="en-US" dirty="0" err="1"/>
              <a:t>Ví</a:t>
            </a:r>
            <a:r>
              <a:rPr lang="en-US" dirty="0"/>
              <a:t> </a:t>
            </a:r>
            <a:r>
              <a:rPr lang="en-US" dirty="0" err="1"/>
              <a:t>dụ</a:t>
            </a:r>
            <a:r>
              <a:rPr lang="en-US" dirty="0"/>
              <a:t>:</a:t>
            </a:r>
          </a:p>
          <a:p>
            <a:pPr marL="0" indent="0">
              <a:buNone/>
            </a:pPr>
            <a:r>
              <a:rPr lang="en-US" sz="2100" dirty="0">
                <a:latin typeface="Courier New" panose="02070309020205020404" pitchFamily="49" charset="0"/>
                <a:cs typeface="Courier New" panose="02070309020205020404" pitchFamily="49" charset="0"/>
              </a:rPr>
              <a:t>for </a:t>
            </a:r>
            <a:r>
              <a:rPr lang="en-US" sz="2100" dirty="0" err="1">
                <a:latin typeface="Courier New" panose="02070309020205020404" pitchFamily="49" charset="0"/>
                <a:cs typeface="Courier New" panose="02070309020205020404" pitchFamily="49" charset="0"/>
              </a:rPr>
              <a:t>i</a:t>
            </a:r>
            <a:r>
              <a:rPr lang="en-US" sz="2100" dirty="0">
                <a:latin typeface="Courier New" panose="02070309020205020404" pitchFamily="49" charset="0"/>
                <a:cs typeface="Courier New" panose="02070309020205020404" pitchFamily="49" charset="0"/>
              </a:rPr>
              <a:t> in range(10,0,-1): print(</a:t>
            </a:r>
            <a:r>
              <a:rPr lang="en-US" sz="2100" dirty="0" err="1">
                <a:latin typeface="Courier New" panose="02070309020205020404" pitchFamily="49" charset="0"/>
                <a:cs typeface="Courier New" panose="02070309020205020404" pitchFamily="49" charset="0"/>
              </a:rPr>
              <a:t>i</a:t>
            </a:r>
            <a:r>
              <a:rPr lang="en-US" sz="2100" dirty="0">
                <a:latin typeface="Courier New" panose="02070309020205020404" pitchFamily="49" charset="0"/>
                <a:cs typeface="Courier New" panose="02070309020205020404" pitchFamily="49" charset="0"/>
              </a:rPr>
              <a:t>)</a:t>
            </a:r>
          </a:p>
          <a:p>
            <a:pPr marL="0" indent="0">
              <a:buNone/>
            </a:pPr>
            <a:r>
              <a:rPr lang="en-US" sz="2100" dirty="0">
                <a:latin typeface="Courier New" panose="02070309020205020404" pitchFamily="49" charset="0"/>
                <a:cs typeface="Courier New" panose="02070309020205020404" pitchFamily="49" charset="0"/>
              </a:rPr>
              <a:t>#in </a:t>
            </a:r>
            <a:r>
              <a:rPr lang="en-US" sz="2100" dirty="0" err="1">
                <a:latin typeface="Courier New" panose="02070309020205020404" pitchFamily="49" charset="0"/>
                <a:cs typeface="Courier New" panose="02070309020205020404" pitchFamily="49" charset="0"/>
              </a:rPr>
              <a:t>ra</a:t>
            </a:r>
            <a:r>
              <a:rPr lang="en-US" sz="2100" dirty="0">
                <a:latin typeface="Courier New" panose="02070309020205020404" pitchFamily="49" charset="0"/>
                <a:cs typeface="Courier New" panose="02070309020205020404" pitchFamily="49" charset="0"/>
              </a:rPr>
              <a:t>: 10,9,…,1</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23</a:t>
            </a:fld>
            <a:endParaRPr lang="en-US"/>
          </a:p>
        </p:txBody>
      </p:sp>
    </p:spTree>
    <p:extLst>
      <p:ext uri="{BB962C8B-B14F-4D97-AF65-F5344CB8AC3E}">
        <p14:creationId xmlns:p14="http://schemas.microsoft.com/office/powerpoint/2010/main" val="1468814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Vòng</a:t>
            </a:r>
            <a:r>
              <a:rPr lang="en-US" dirty="0"/>
              <a:t> </a:t>
            </a:r>
            <a:r>
              <a:rPr lang="en-US" dirty="0" err="1"/>
              <a:t>lặp</a:t>
            </a:r>
            <a:r>
              <a:rPr lang="en-US" dirty="0"/>
              <a:t> </a:t>
            </a:r>
            <a:r>
              <a:rPr lang="en-US" b="1" dirty="0"/>
              <a:t>for</a:t>
            </a:r>
          </a:p>
        </p:txBody>
      </p:sp>
      <p:sp>
        <p:nvSpPr>
          <p:cNvPr id="3" name="Content Placeholder 2"/>
          <p:cNvSpPr>
            <a:spLocks noGrp="1"/>
          </p:cNvSpPr>
          <p:nvPr>
            <p:ph idx="1"/>
          </p:nvPr>
        </p:nvSpPr>
        <p:spPr>
          <a:xfrm>
            <a:off x="527050" y="1646236"/>
            <a:ext cx="7886700" cy="4351338"/>
          </a:xfrm>
        </p:spPr>
        <p:txBody>
          <a:bodyPr>
            <a:normAutofit/>
          </a:bodyPr>
          <a:lstStyle/>
          <a:p>
            <a:r>
              <a:rPr lang="en-US" dirty="0" err="1"/>
              <a:t>Cú</a:t>
            </a:r>
            <a:r>
              <a:rPr lang="en-US" dirty="0"/>
              <a:t> </a:t>
            </a:r>
            <a:r>
              <a:rPr lang="en-US" dirty="0" err="1"/>
              <a:t>pháp</a:t>
            </a:r>
            <a:r>
              <a:rPr lang="en-US" dirty="0"/>
              <a:t>:</a:t>
            </a:r>
          </a:p>
          <a:p>
            <a:pPr marL="0" indent="0">
              <a:lnSpc>
                <a:spcPct val="50000"/>
              </a:lnSpc>
              <a:buNone/>
            </a:pPr>
            <a:r>
              <a:rPr lang="en-US" sz="2300" b="1" dirty="0">
                <a:latin typeface="Courier New" panose="02070309020205020404" pitchFamily="49" charset="0"/>
                <a:cs typeface="Courier New" panose="02070309020205020404" pitchFamily="49" charset="0"/>
              </a:rPr>
              <a:t>for</a:t>
            </a:r>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&lt;</a:t>
            </a:r>
            <a:r>
              <a:rPr lang="en-US" sz="2300" i="1" dirty="0" err="1">
                <a:latin typeface="Courier New" panose="02070309020205020404" pitchFamily="49" charset="0"/>
                <a:cs typeface="Courier New" panose="02070309020205020404" pitchFamily="49" charset="0"/>
              </a:rPr>
              <a:t>biến</a:t>
            </a:r>
            <a:r>
              <a:rPr lang="en-US" sz="2300" i="1" dirty="0">
                <a:latin typeface="Courier New" panose="02070309020205020404" pitchFamily="49" charset="0"/>
                <a:cs typeface="Courier New" panose="02070309020205020404" pitchFamily="49" charset="0"/>
              </a:rPr>
              <a:t> </a:t>
            </a:r>
            <a:r>
              <a:rPr lang="en-US" sz="2300" i="1" dirty="0" err="1">
                <a:latin typeface="Courier New" panose="02070309020205020404" pitchFamily="49" charset="0"/>
                <a:cs typeface="Courier New" panose="02070309020205020404" pitchFamily="49" charset="0"/>
              </a:rPr>
              <a:t>lặp</a:t>
            </a:r>
            <a:r>
              <a:rPr lang="en-US" sz="2300" i="1" dirty="0">
                <a:latin typeface="Courier New" panose="02070309020205020404" pitchFamily="49" charset="0"/>
                <a:cs typeface="Courier New" panose="02070309020205020404" pitchFamily="49" charset="0"/>
              </a:rPr>
              <a:t>&gt; </a:t>
            </a:r>
            <a:r>
              <a:rPr lang="en-US" sz="2300" b="1" dirty="0">
                <a:latin typeface="Courier New" panose="02070309020205020404" pitchFamily="49" charset="0"/>
                <a:cs typeface="Courier New" panose="02070309020205020404" pitchFamily="49" charset="0"/>
              </a:rPr>
              <a:t>in</a:t>
            </a:r>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sequence</a:t>
            </a:r>
            <a:r>
              <a:rPr lang="en-US" sz="2300" dirty="0">
                <a:latin typeface="Courier New" panose="02070309020205020404" pitchFamily="49" charset="0"/>
                <a:cs typeface="Courier New" panose="02070309020205020404" pitchFamily="49" charset="0"/>
              </a:rPr>
              <a:t>:</a:t>
            </a:r>
          </a:p>
          <a:p>
            <a:pPr marL="0" indent="0">
              <a:lnSpc>
                <a:spcPct val="50000"/>
              </a:lnSpc>
              <a:buNone/>
            </a:pPr>
            <a:r>
              <a:rPr lang="en-US" sz="2300" dirty="0">
                <a:latin typeface="Courier New" panose="02070309020205020404" pitchFamily="49" charset="0"/>
                <a:cs typeface="Courier New" panose="02070309020205020404" pitchFamily="49" charset="0"/>
              </a:rPr>
              <a:t>	…</a:t>
            </a:r>
          </a:p>
          <a:p>
            <a:r>
              <a:rPr lang="en-US" dirty="0" err="1"/>
              <a:t>Ví</a:t>
            </a:r>
            <a:r>
              <a:rPr lang="en-US" dirty="0"/>
              <a:t> </a:t>
            </a:r>
            <a:r>
              <a:rPr lang="en-US" dirty="0" err="1"/>
              <a:t>dụ</a:t>
            </a:r>
            <a:r>
              <a:rPr lang="en-US" dirty="0"/>
              <a:t>:</a:t>
            </a:r>
          </a:p>
          <a:p>
            <a:pPr marL="0" indent="0">
              <a:buNone/>
            </a:pPr>
            <a:r>
              <a:rPr lang="en-US" sz="2300" dirty="0">
                <a:latin typeface="Courier New" panose="02070309020205020404" pitchFamily="49" charset="0"/>
                <a:cs typeface="Courier New" panose="02070309020205020404" pitchFamily="49" charset="0"/>
              </a:rPr>
              <a:t>for </a:t>
            </a:r>
            <a:r>
              <a:rPr lang="en-US" sz="2300" dirty="0" err="1">
                <a:latin typeface="Courier New" panose="02070309020205020404" pitchFamily="49" charset="0"/>
                <a:cs typeface="Courier New" panose="02070309020205020404" pitchFamily="49" charset="0"/>
              </a:rPr>
              <a:t>i</a:t>
            </a:r>
            <a:r>
              <a:rPr lang="en-US" sz="2300" dirty="0">
                <a:latin typeface="Courier New" panose="02070309020205020404" pitchFamily="49" charset="0"/>
                <a:cs typeface="Courier New" panose="02070309020205020404" pitchFamily="49" charset="0"/>
              </a:rPr>
              <a:t> in range(10):</a:t>
            </a:r>
            <a:br>
              <a:rPr lang="en-US" sz="2300" dirty="0">
                <a:latin typeface="Courier New" panose="02070309020205020404" pitchFamily="49" charset="0"/>
                <a:cs typeface="Courier New" panose="02070309020205020404" pitchFamily="49" charset="0"/>
              </a:rPr>
            </a:br>
            <a:r>
              <a:rPr lang="en-US" sz="2300" dirty="0">
                <a:latin typeface="Courier New" panose="02070309020205020404" pitchFamily="49" charset="0"/>
                <a:cs typeface="Courier New" panose="02070309020205020404" pitchFamily="49" charset="0"/>
              </a:rPr>
              <a:t>	print</a:t>
            </a:r>
            <a:r>
              <a:rPr lang="en-US" sz="2300">
                <a:latin typeface="Courier New" panose="02070309020205020404" pitchFamily="49" charset="0"/>
                <a:cs typeface="Courier New" panose="02070309020205020404" pitchFamily="49" charset="0"/>
              </a:rPr>
              <a:t>(i)</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24</a:t>
            </a:fld>
            <a:endParaRPr lang="en-US"/>
          </a:p>
        </p:txBody>
      </p:sp>
      <p:pic>
        <p:nvPicPr>
          <p:cNvPr id="7" name="Picture 6">
            <a:extLst>
              <a:ext uri="{FF2B5EF4-FFF2-40B4-BE49-F238E27FC236}">
                <a16:creationId xmlns:a16="http://schemas.microsoft.com/office/drawing/2014/main" id="{1A91A317-D90B-79E1-3EB7-B2EC1B4BBFC7}"/>
              </a:ext>
            </a:extLst>
          </p:cNvPr>
          <p:cNvPicPr>
            <a:picLocks noChangeAspect="1"/>
          </p:cNvPicPr>
          <p:nvPr/>
        </p:nvPicPr>
        <p:blipFill>
          <a:blip r:embed="rId2">
            <a:extLst>
              <a:ext uri="{28A0092B-C50C-407E-A947-70E740481C1C}">
                <a14:useLocalDpi xmlns:a14="http://schemas.microsoft.com/office/drawing/2010/main" val="0"/>
              </a:ext>
            </a:extLst>
          </a:blip>
          <a:srcRect l="20435" r="18080"/>
          <a:stretch>
            <a:fillRect/>
          </a:stretch>
        </p:blipFill>
        <p:spPr>
          <a:xfrm>
            <a:off x="4470400" y="2522805"/>
            <a:ext cx="4483100" cy="3970069"/>
          </a:xfrm>
          <a:prstGeom prst="rect">
            <a:avLst/>
          </a:prstGeom>
        </p:spPr>
      </p:pic>
    </p:spTree>
    <p:extLst>
      <p:ext uri="{BB962C8B-B14F-4D97-AF65-F5344CB8AC3E}">
        <p14:creationId xmlns:p14="http://schemas.microsoft.com/office/powerpoint/2010/main" val="129141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57D1-49AF-ABA9-2A57-E26D471F8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51DC0-AF32-287D-2266-B483FEDF1194}"/>
              </a:ext>
            </a:extLst>
          </p:cNvPr>
          <p:cNvSpPr>
            <a:spLocks noGrp="1"/>
          </p:cNvSpPr>
          <p:nvPr>
            <p:ph type="title"/>
          </p:nvPr>
        </p:nvSpPr>
        <p:spPr/>
        <p:txBody>
          <a:bodyPr/>
          <a:lstStyle/>
          <a:p>
            <a:r>
              <a:rPr lang="en-US" dirty="0" err="1"/>
              <a:t>Vòng</a:t>
            </a:r>
            <a:r>
              <a:rPr lang="en-US" dirty="0"/>
              <a:t> </a:t>
            </a:r>
            <a:r>
              <a:rPr lang="en-US" dirty="0" err="1"/>
              <a:t>lặp</a:t>
            </a:r>
            <a:r>
              <a:rPr lang="en-US" dirty="0"/>
              <a:t> </a:t>
            </a:r>
            <a:r>
              <a:rPr lang="en-US" b="1" dirty="0"/>
              <a:t>for</a:t>
            </a:r>
          </a:p>
        </p:txBody>
      </p:sp>
      <p:sp>
        <p:nvSpPr>
          <p:cNvPr id="3" name="Content Placeholder 2">
            <a:extLst>
              <a:ext uri="{FF2B5EF4-FFF2-40B4-BE49-F238E27FC236}">
                <a16:creationId xmlns:a16="http://schemas.microsoft.com/office/drawing/2014/main" id="{66C6925E-5205-7304-D971-34A400793020}"/>
              </a:ext>
            </a:extLst>
          </p:cNvPr>
          <p:cNvSpPr>
            <a:spLocks noGrp="1"/>
          </p:cNvSpPr>
          <p:nvPr>
            <p:ph idx="1"/>
          </p:nvPr>
        </p:nvSpPr>
        <p:spPr>
          <a:xfrm>
            <a:off x="628650" y="1825625"/>
            <a:ext cx="8286750" cy="4351338"/>
          </a:xfrm>
        </p:spPr>
        <p:txBody>
          <a:bodyPr>
            <a:normAutofit/>
          </a:bodyPr>
          <a:lstStyle/>
          <a:p>
            <a:r>
              <a:rPr lang="en-US" dirty="0" err="1"/>
              <a:t>Cú</a:t>
            </a:r>
            <a:r>
              <a:rPr lang="en-US" dirty="0"/>
              <a:t> </a:t>
            </a:r>
            <a:r>
              <a:rPr lang="en-US" dirty="0" err="1"/>
              <a:t>pháp</a:t>
            </a:r>
            <a:r>
              <a:rPr lang="en-US" dirty="0"/>
              <a:t>:</a:t>
            </a:r>
          </a:p>
          <a:p>
            <a:pPr marL="0" indent="0">
              <a:lnSpc>
                <a:spcPct val="50000"/>
              </a:lnSpc>
              <a:buNone/>
            </a:pPr>
            <a:r>
              <a:rPr lang="en-US" sz="2300" b="1" dirty="0">
                <a:latin typeface="Courier New" panose="02070309020205020404" pitchFamily="49" charset="0"/>
                <a:cs typeface="Courier New" panose="02070309020205020404" pitchFamily="49" charset="0"/>
              </a:rPr>
              <a:t>for</a:t>
            </a:r>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&lt;</a:t>
            </a:r>
            <a:r>
              <a:rPr lang="en-US" sz="2300" i="1" dirty="0" err="1">
                <a:latin typeface="Courier New" panose="02070309020205020404" pitchFamily="49" charset="0"/>
                <a:cs typeface="Courier New" panose="02070309020205020404" pitchFamily="49" charset="0"/>
              </a:rPr>
              <a:t>biến</a:t>
            </a:r>
            <a:r>
              <a:rPr lang="en-US" sz="2300" i="1" dirty="0">
                <a:latin typeface="Courier New" panose="02070309020205020404" pitchFamily="49" charset="0"/>
                <a:cs typeface="Courier New" panose="02070309020205020404" pitchFamily="49" charset="0"/>
              </a:rPr>
              <a:t> </a:t>
            </a:r>
            <a:r>
              <a:rPr lang="en-US" sz="2300" i="1" dirty="0" err="1">
                <a:latin typeface="Courier New" panose="02070309020205020404" pitchFamily="49" charset="0"/>
                <a:cs typeface="Courier New" panose="02070309020205020404" pitchFamily="49" charset="0"/>
              </a:rPr>
              <a:t>lặp</a:t>
            </a:r>
            <a:r>
              <a:rPr lang="en-US" sz="2300" i="1" dirty="0">
                <a:latin typeface="Courier New" panose="02070309020205020404" pitchFamily="49" charset="0"/>
                <a:cs typeface="Courier New" panose="02070309020205020404" pitchFamily="49" charset="0"/>
              </a:rPr>
              <a:t>&gt; </a:t>
            </a:r>
            <a:r>
              <a:rPr lang="en-US" sz="2300" b="1" dirty="0">
                <a:latin typeface="Courier New" panose="02070309020205020404" pitchFamily="49" charset="0"/>
                <a:cs typeface="Courier New" panose="02070309020205020404" pitchFamily="49" charset="0"/>
              </a:rPr>
              <a:t>in</a:t>
            </a:r>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sequence</a:t>
            </a:r>
            <a:r>
              <a:rPr lang="en-US" sz="2300" dirty="0">
                <a:latin typeface="Courier New" panose="02070309020205020404" pitchFamily="49" charset="0"/>
                <a:cs typeface="Courier New" panose="02070309020205020404" pitchFamily="49" charset="0"/>
              </a:rPr>
              <a:t>:</a:t>
            </a:r>
          </a:p>
          <a:p>
            <a:pPr marL="0" indent="0">
              <a:lnSpc>
                <a:spcPct val="50000"/>
              </a:lnSpc>
              <a:buNone/>
            </a:pPr>
            <a:r>
              <a:rPr lang="en-US" sz="2300" dirty="0">
                <a:latin typeface="Courier New" panose="02070309020205020404" pitchFamily="49" charset="0"/>
                <a:cs typeface="Courier New" panose="02070309020205020404" pitchFamily="49" charset="0"/>
              </a:rPr>
              <a:t>	…</a:t>
            </a:r>
          </a:p>
          <a:p>
            <a:r>
              <a:rPr lang="en-US" dirty="0" err="1"/>
              <a:t>Ví</a:t>
            </a:r>
            <a:r>
              <a:rPr lang="en-US" dirty="0"/>
              <a:t> </a:t>
            </a:r>
            <a:r>
              <a:rPr lang="en-US" dirty="0" err="1"/>
              <a:t>dụ</a:t>
            </a:r>
            <a:r>
              <a:rPr lang="en-US" dirty="0"/>
              <a:t>:</a:t>
            </a:r>
          </a:p>
          <a:p>
            <a:pPr marL="0" indent="0">
              <a:buNone/>
            </a:pPr>
            <a:r>
              <a:rPr lang="en-US">
                <a:latin typeface="Courier New" panose="02070309020205020404" pitchFamily="49" charset="0"/>
                <a:cs typeface="Courier New" panose="02070309020205020404" pitchFamily="49" charset="0"/>
              </a:rPr>
              <a:t>n</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so nguyen </a:t>
            </a:r>
            <a:r>
              <a:rPr lang="en-US" dirty="0" err="1">
                <a:latin typeface="Courier New" panose="02070309020205020404" pitchFamily="49" charset="0"/>
                <a:cs typeface="Courier New" panose="02070309020205020404" pitchFamily="49" charset="0"/>
              </a:rPr>
              <a:t>duong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s=0</a:t>
            </a:r>
          </a:p>
          <a:p>
            <a:pPr marL="0" indent="0">
              <a:buNone/>
            </a:pP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in range(1,n+1):</a:t>
            </a:r>
          </a:p>
          <a:p>
            <a:pPr marL="0" indent="0">
              <a:buNone/>
            </a:pPr>
            <a:r>
              <a:rPr lang="en-US" dirty="0">
                <a:latin typeface="Courier New" panose="02070309020205020404" pitchFamily="49" charset="0"/>
                <a:cs typeface="Courier New" panose="02070309020205020404" pitchFamily="49" charset="0"/>
              </a:rPr>
              <a:t>	s=</a:t>
            </a:r>
            <a:r>
              <a:rPr lang="en-US" dirty="0" err="1">
                <a:latin typeface="Courier New" panose="02070309020205020404" pitchFamily="49" charset="0"/>
                <a:cs typeface="Courier New" panose="02070309020205020404" pitchFamily="49" charset="0"/>
              </a:rPr>
              <a:t>s+i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print(s)</a:t>
            </a:r>
            <a:endParaRPr lang="en-US" dirty="0"/>
          </a:p>
        </p:txBody>
      </p:sp>
      <p:sp>
        <p:nvSpPr>
          <p:cNvPr id="4" name="Footer Placeholder 3">
            <a:extLst>
              <a:ext uri="{FF2B5EF4-FFF2-40B4-BE49-F238E27FC236}">
                <a16:creationId xmlns:a16="http://schemas.microsoft.com/office/drawing/2014/main" id="{89A2CAC6-9242-C79A-6EEC-B2549EE8A150}"/>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5444A7C0-BEFD-C293-B9B2-AA810F8BB637}"/>
              </a:ext>
            </a:extLst>
          </p:cNvPr>
          <p:cNvSpPr>
            <a:spLocks noGrp="1"/>
          </p:cNvSpPr>
          <p:nvPr>
            <p:ph type="sldNum" sz="quarter" idx="12"/>
          </p:nvPr>
        </p:nvSpPr>
        <p:spPr/>
        <p:txBody>
          <a:bodyPr/>
          <a:lstStyle/>
          <a:p>
            <a:fld id="{ADD32889-1A4F-4FED-AEC4-AD6BC7117F25}" type="slidenum">
              <a:rPr lang="en-US" smtClean="0"/>
              <a:t>25</a:t>
            </a:fld>
            <a:endParaRPr lang="en-US"/>
          </a:p>
        </p:txBody>
      </p:sp>
    </p:spTree>
    <p:extLst>
      <p:ext uri="{BB962C8B-B14F-4D97-AF65-F5344CB8AC3E}">
        <p14:creationId xmlns:p14="http://schemas.microsoft.com/office/powerpoint/2010/main" val="1751412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Vòng</a:t>
            </a:r>
            <a:r>
              <a:rPr lang="en-US" dirty="0"/>
              <a:t> </a:t>
            </a:r>
            <a:r>
              <a:rPr lang="en-US" dirty="0" err="1"/>
              <a:t>lặp</a:t>
            </a:r>
            <a:r>
              <a:rPr lang="en-US" dirty="0"/>
              <a:t> </a:t>
            </a:r>
            <a:r>
              <a:rPr lang="en-US" b="1" dirty="0"/>
              <a:t>while</a:t>
            </a:r>
            <a:endParaRPr lang="en-US" dirty="0"/>
          </a:p>
        </p:txBody>
      </p:sp>
      <p:sp>
        <p:nvSpPr>
          <p:cNvPr id="3" name="Content Placeholder 2"/>
          <p:cNvSpPr>
            <a:spLocks noGrp="1"/>
          </p:cNvSpPr>
          <p:nvPr>
            <p:ph idx="1"/>
          </p:nvPr>
        </p:nvSpPr>
        <p:spPr>
          <a:xfrm>
            <a:off x="628650" y="1825625"/>
            <a:ext cx="8515350" cy="4351338"/>
          </a:xfrm>
        </p:spPr>
        <p:txBody>
          <a:bodyPr/>
          <a:lstStyle/>
          <a:p>
            <a:r>
              <a:rPr lang="en-US" dirty="0" err="1"/>
              <a:t>Cú</a:t>
            </a:r>
            <a:r>
              <a:rPr lang="en-US" dirty="0"/>
              <a:t> </a:t>
            </a:r>
            <a:r>
              <a:rPr lang="en-US" dirty="0" err="1"/>
              <a:t>pháp</a:t>
            </a:r>
            <a:r>
              <a:rPr lang="en-US" dirty="0"/>
              <a:t>:</a:t>
            </a:r>
          </a:p>
          <a:p>
            <a:pPr marL="0" indent="0">
              <a:buNone/>
            </a:pPr>
            <a:r>
              <a:rPr lang="en-US" dirty="0">
                <a:latin typeface="Courier New" panose="02070309020205020404" pitchFamily="49" charset="0"/>
                <a:cs typeface="Courier New" panose="02070309020205020404" pitchFamily="49" charset="0"/>
              </a:rPr>
              <a:t>while &lt;</a:t>
            </a:r>
            <a:r>
              <a:rPr lang="en-US" dirty="0" err="1">
                <a:latin typeface="Courier New" panose="02070309020205020404" pitchFamily="49" charset="0"/>
                <a:cs typeface="Courier New" panose="02070309020205020404" pitchFamily="49" charset="0"/>
              </a:rPr>
              <a:t>điều</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kiện</a:t>
            </a:r>
            <a:r>
              <a:rPr lang="en-US" dirty="0">
                <a:latin typeface="Courier New" panose="02070309020205020404" pitchFamily="49" charset="0"/>
                <a:cs typeface="Courier New" panose="02070309020205020404" pitchFamily="49" charset="0"/>
              </a:rPr>
              <a:t>&gt;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br>
              <a:rPr lang="en-US"/>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26</a:t>
            </a:fld>
            <a:endParaRPr lang="en-US"/>
          </a:p>
        </p:txBody>
      </p:sp>
      <p:pic>
        <p:nvPicPr>
          <p:cNvPr id="7" name="Picture 6">
            <a:extLst>
              <a:ext uri="{FF2B5EF4-FFF2-40B4-BE49-F238E27FC236}">
                <a16:creationId xmlns:a16="http://schemas.microsoft.com/office/drawing/2014/main" id="{F15D6687-E77B-A054-C114-D5D22C3EE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3023" y="3097328"/>
            <a:ext cx="5424054" cy="3395546"/>
          </a:xfrm>
          <a:prstGeom prst="rect">
            <a:avLst/>
          </a:prstGeom>
        </p:spPr>
      </p:pic>
    </p:spTree>
    <p:extLst>
      <p:ext uri="{BB962C8B-B14F-4D97-AF65-F5344CB8AC3E}">
        <p14:creationId xmlns:p14="http://schemas.microsoft.com/office/powerpoint/2010/main" val="3655051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63026-E427-5291-D581-29A1B6705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F1F58-62D9-F535-2624-2E8A9B83353C}"/>
              </a:ext>
            </a:extLst>
          </p:cNvPr>
          <p:cNvSpPr>
            <a:spLocks noGrp="1"/>
          </p:cNvSpPr>
          <p:nvPr>
            <p:ph type="title"/>
          </p:nvPr>
        </p:nvSpPr>
        <p:spPr/>
        <p:txBody>
          <a:bodyPr/>
          <a:lstStyle/>
          <a:p>
            <a:r>
              <a:rPr lang="en-US" dirty="0" err="1"/>
              <a:t>Vòng</a:t>
            </a:r>
            <a:r>
              <a:rPr lang="en-US" dirty="0"/>
              <a:t> </a:t>
            </a:r>
            <a:r>
              <a:rPr lang="en-US" dirty="0" err="1"/>
              <a:t>lặp</a:t>
            </a:r>
            <a:r>
              <a:rPr lang="en-US" dirty="0"/>
              <a:t> </a:t>
            </a:r>
            <a:r>
              <a:rPr lang="en-US" b="1" dirty="0"/>
              <a:t>while</a:t>
            </a:r>
            <a:endParaRPr lang="en-US" dirty="0"/>
          </a:p>
        </p:txBody>
      </p:sp>
      <p:sp>
        <p:nvSpPr>
          <p:cNvPr id="3" name="Content Placeholder 2">
            <a:extLst>
              <a:ext uri="{FF2B5EF4-FFF2-40B4-BE49-F238E27FC236}">
                <a16:creationId xmlns:a16="http://schemas.microsoft.com/office/drawing/2014/main" id="{DBD0C5AF-2A1F-F714-58BD-AFFE5482D27F}"/>
              </a:ext>
            </a:extLst>
          </p:cNvPr>
          <p:cNvSpPr>
            <a:spLocks noGrp="1"/>
          </p:cNvSpPr>
          <p:nvPr>
            <p:ph idx="1"/>
          </p:nvPr>
        </p:nvSpPr>
        <p:spPr>
          <a:xfrm>
            <a:off x="628650" y="3975099"/>
            <a:ext cx="8515350" cy="2201863"/>
          </a:xfrm>
        </p:spPr>
        <p:txBody>
          <a:bodyPr/>
          <a:lstStyle/>
          <a:p>
            <a:pPr marL="0" indent="0">
              <a:buNone/>
            </a:pPr>
            <a:r>
              <a:rPr lang="en-US"/>
              <a:t>Ví </a:t>
            </a:r>
            <a:r>
              <a:rPr lang="en-US" dirty="0" err="1"/>
              <a:t>dụ</a:t>
            </a:r>
            <a:r>
              <a:rPr lang="en-US" dirty="0"/>
              <a:t>:</a:t>
            </a:r>
          </a:p>
          <a:p>
            <a:pPr marL="0" indent="0">
              <a:buNone/>
            </a:pPr>
            <a:r>
              <a:rPr lang="en-US" dirty="0">
                <a:latin typeface="Courier New" panose="02070309020205020404" pitchFamily="49" charset="0"/>
                <a:cs typeface="Courier New" panose="02070309020205020404" pitchFamily="49" charset="0"/>
              </a:rPr>
              <a:t>n=-1</a:t>
            </a:r>
          </a:p>
          <a:p>
            <a:pPr marL="0" indent="0">
              <a:buNone/>
            </a:pPr>
            <a:r>
              <a:rPr lang="en-US" dirty="0">
                <a:latin typeface="Courier New" panose="02070309020205020404" pitchFamily="49" charset="0"/>
                <a:cs typeface="Courier New" panose="02070309020205020404" pitchFamily="49" charset="0"/>
              </a:rPr>
              <a:t>while n&lt;=0:</a:t>
            </a:r>
          </a:p>
          <a:p>
            <a:pPr marL="0" indent="0">
              <a:buNone/>
            </a:pPr>
            <a:r>
              <a:rPr lang="en-US" dirty="0">
                <a:latin typeface="Courier New" panose="02070309020205020404" pitchFamily="49" charset="0"/>
                <a:cs typeface="Courier New" panose="02070309020205020404" pitchFamily="49" charset="0"/>
              </a:rPr>
              <a:t>	n=float(input(“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1 so </a:t>
            </a:r>
            <a:r>
              <a:rPr lang="en-US" dirty="0" err="1">
                <a:latin typeface="Courier New" panose="02070309020205020404" pitchFamily="49" charset="0"/>
                <a:cs typeface="Courier New" panose="02070309020205020404" pitchFamily="49" charset="0"/>
              </a:rPr>
              <a:t>duong</a:t>
            </a:r>
            <a:r>
              <a:rPr lang="en-US" dirty="0">
                <a:latin typeface="Courier New" panose="02070309020205020404" pitchFamily="49" charset="0"/>
                <a:cs typeface="Courier New" panose="02070309020205020404" pitchFamily="49" charset="0"/>
              </a:rPr>
              <a:t>:”)) </a:t>
            </a:r>
          </a:p>
        </p:txBody>
      </p:sp>
      <p:sp>
        <p:nvSpPr>
          <p:cNvPr id="4" name="Footer Placeholder 3">
            <a:extLst>
              <a:ext uri="{FF2B5EF4-FFF2-40B4-BE49-F238E27FC236}">
                <a16:creationId xmlns:a16="http://schemas.microsoft.com/office/drawing/2014/main" id="{CA55B5AB-BAFA-2736-7D43-A4AB1C89F2F7}"/>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5D9F26-14D2-988A-518B-4388DCC462FA}"/>
              </a:ext>
            </a:extLst>
          </p:cNvPr>
          <p:cNvSpPr>
            <a:spLocks noGrp="1"/>
          </p:cNvSpPr>
          <p:nvPr>
            <p:ph type="sldNum" sz="quarter" idx="12"/>
          </p:nvPr>
        </p:nvSpPr>
        <p:spPr/>
        <p:txBody>
          <a:bodyPr/>
          <a:lstStyle/>
          <a:p>
            <a:fld id="{ADD32889-1A4F-4FED-AEC4-AD6BC7117F25}" type="slidenum">
              <a:rPr lang="en-US" smtClean="0"/>
              <a:t>27</a:t>
            </a:fld>
            <a:endParaRPr lang="en-US"/>
          </a:p>
        </p:txBody>
      </p:sp>
      <p:pic>
        <p:nvPicPr>
          <p:cNvPr id="7" name="Picture 6">
            <a:extLst>
              <a:ext uri="{FF2B5EF4-FFF2-40B4-BE49-F238E27FC236}">
                <a16:creationId xmlns:a16="http://schemas.microsoft.com/office/drawing/2014/main" id="{88193D59-212A-5A1F-A175-30C774F298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4100" y="1459764"/>
            <a:ext cx="5424054" cy="3395546"/>
          </a:xfrm>
          <a:prstGeom prst="rect">
            <a:avLst/>
          </a:prstGeom>
        </p:spPr>
      </p:pic>
    </p:spTree>
    <p:extLst>
      <p:ext uri="{BB962C8B-B14F-4D97-AF65-F5344CB8AC3E}">
        <p14:creationId xmlns:p14="http://schemas.microsoft.com/office/powerpoint/2010/main" val="2524923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Lệnh</a:t>
            </a:r>
            <a:r>
              <a:rPr lang="en-US"/>
              <a:t> </a:t>
            </a:r>
            <a:r>
              <a:rPr lang="en-US" b="1"/>
              <a:t>break</a:t>
            </a:r>
            <a:r>
              <a:rPr lang="en-US"/>
              <a:t> và </a:t>
            </a:r>
            <a:r>
              <a:rPr lang="en-US" b="1"/>
              <a:t>else</a:t>
            </a:r>
            <a:endParaRPr lang="en-US" dirty="0"/>
          </a:p>
        </p:txBody>
      </p:sp>
      <p:sp>
        <p:nvSpPr>
          <p:cNvPr id="3" name="Content Placeholder 2"/>
          <p:cNvSpPr>
            <a:spLocks noGrp="1"/>
          </p:cNvSpPr>
          <p:nvPr>
            <p:ph idx="1"/>
          </p:nvPr>
        </p:nvSpPr>
        <p:spPr>
          <a:xfrm>
            <a:off x="628650" y="1825625"/>
            <a:ext cx="8515350" cy="4351338"/>
          </a:xfrm>
        </p:spPr>
        <p:txBody>
          <a:bodyPr/>
          <a:lstStyle/>
          <a:p>
            <a:r>
              <a:rPr lang="en-US" dirty="0" err="1"/>
              <a:t>Lệnh</a:t>
            </a:r>
            <a:r>
              <a:rPr lang="en-US" dirty="0"/>
              <a:t> break: </a:t>
            </a:r>
            <a:r>
              <a:rPr lang="en-US" dirty="0" err="1"/>
              <a:t>thoát</a:t>
            </a:r>
            <a:r>
              <a:rPr lang="en-US" dirty="0"/>
              <a:t> </a:t>
            </a:r>
            <a:r>
              <a:rPr lang="en-US" dirty="0" err="1"/>
              <a:t>khỏi</a:t>
            </a:r>
            <a:r>
              <a:rPr lang="en-US" dirty="0"/>
              <a:t> </a:t>
            </a:r>
            <a:r>
              <a:rPr lang="en-US" dirty="0" err="1"/>
              <a:t>vòng</a:t>
            </a:r>
            <a:r>
              <a:rPr lang="en-US" dirty="0"/>
              <a:t> </a:t>
            </a:r>
            <a:r>
              <a:rPr lang="en-US" dirty="0" err="1"/>
              <a:t>lặp</a:t>
            </a:r>
            <a:endParaRPr lang="en-US" dirty="0"/>
          </a:p>
          <a:p>
            <a:r>
              <a:rPr lang="en-US" dirty="0" err="1"/>
              <a:t>Lệnh</a:t>
            </a:r>
            <a:r>
              <a:rPr lang="en-US" dirty="0"/>
              <a:t> else </a:t>
            </a:r>
            <a:r>
              <a:rPr lang="en-US" dirty="0" err="1"/>
              <a:t>thực</a:t>
            </a:r>
            <a:r>
              <a:rPr lang="en-US" dirty="0"/>
              <a:t> </a:t>
            </a:r>
            <a:r>
              <a:rPr lang="en-US" dirty="0" err="1"/>
              <a:t>hiện</a:t>
            </a:r>
            <a:r>
              <a:rPr lang="en-US" dirty="0"/>
              <a:t> </a:t>
            </a:r>
            <a:r>
              <a:rPr lang="en-US" dirty="0" err="1"/>
              <a:t>nếu</a:t>
            </a:r>
            <a:r>
              <a:rPr lang="en-US" dirty="0"/>
              <a:t> </a:t>
            </a:r>
            <a:r>
              <a:rPr lang="en-US" dirty="0" err="1"/>
              <a:t>vòng</a:t>
            </a:r>
            <a:r>
              <a:rPr lang="en-US" dirty="0"/>
              <a:t> </a:t>
            </a:r>
            <a:r>
              <a:rPr lang="en-US" dirty="0" err="1"/>
              <a:t>lặp</a:t>
            </a:r>
            <a:r>
              <a:rPr lang="en-US" dirty="0"/>
              <a:t> </a:t>
            </a:r>
            <a:r>
              <a:rPr lang="en-US" dirty="0" err="1"/>
              <a:t>không</a:t>
            </a:r>
            <a:r>
              <a:rPr lang="en-US" dirty="0"/>
              <a:t> </a:t>
            </a:r>
            <a:r>
              <a:rPr lang="en-US" dirty="0" err="1"/>
              <a:t>bị</a:t>
            </a:r>
            <a:r>
              <a:rPr lang="en-US" dirty="0"/>
              <a:t> </a:t>
            </a:r>
            <a:r>
              <a:rPr lang="en-US" dirty="0" err="1"/>
              <a:t>thoát</a:t>
            </a:r>
            <a:r>
              <a:rPr lang="en-US" dirty="0"/>
              <a:t> </a:t>
            </a:r>
            <a:r>
              <a:rPr lang="en-US" dirty="0" err="1"/>
              <a:t>bởi</a:t>
            </a:r>
            <a:r>
              <a:rPr lang="en-US" dirty="0"/>
              <a:t> break</a:t>
            </a:r>
          </a:p>
          <a:p>
            <a:r>
              <a:rPr lang="en-US" dirty="0" err="1"/>
              <a:t>Ví</a:t>
            </a:r>
            <a:r>
              <a:rPr lang="en-US" dirty="0"/>
              <a:t> </a:t>
            </a:r>
            <a:r>
              <a:rPr lang="en-US" dirty="0" err="1"/>
              <a:t>dụ</a:t>
            </a:r>
            <a:r>
              <a:rPr lang="en-US" dirty="0"/>
              <a:t> 1:</a:t>
            </a:r>
          </a:p>
          <a:p>
            <a:pPr marL="0" indent="0">
              <a:buNone/>
            </a:pPr>
            <a:r>
              <a:rPr lang="en-US">
                <a:latin typeface="Courier New" panose="02070309020205020404" pitchFamily="49" charset="0"/>
                <a:cs typeface="Courier New" panose="02070309020205020404" pitchFamily="49" charset="0"/>
              </a:rPr>
              <a:t>while True</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n=float(input(“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1 so </a:t>
            </a:r>
            <a:r>
              <a:rPr lang="en-US" dirty="0" err="1">
                <a:latin typeface="Courier New" panose="02070309020205020404" pitchFamily="49" charset="0"/>
                <a:cs typeface="Courier New" panose="02070309020205020404" pitchFamily="49" charset="0"/>
              </a:rPr>
              <a:t>duong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if n&gt;0: </a:t>
            </a:r>
          </a:p>
          <a:p>
            <a:pPr marL="0" indent="0">
              <a:buNone/>
            </a:pPr>
            <a:r>
              <a:rPr lang="en-US" dirty="0">
                <a:latin typeface="Courier New" panose="02070309020205020404" pitchFamily="49" charset="0"/>
                <a:cs typeface="Courier New" panose="02070309020205020404" pitchFamily="49" charset="0"/>
              </a:rPr>
              <a:t>		break </a:t>
            </a:r>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28</a:t>
            </a:fld>
            <a:endParaRPr lang="en-US"/>
          </a:p>
        </p:txBody>
      </p:sp>
    </p:spTree>
    <p:extLst>
      <p:ext uri="{BB962C8B-B14F-4D97-AF65-F5344CB8AC3E}">
        <p14:creationId xmlns:p14="http://schemas.microsoft.com/office/powerpoint/2010/main" val="3385001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02567"/>
            <a:ext cx="7886700" cy="732154"/>
          </a:xfrm>
        </p:spPr>
        <p:txBody>
          <a:bodyPr/>
          <a:lstStyle/>
          <a:p>
            <a:r>
              <a:rPr lang="en-US" dirty="0" err="1"/>
              <a:t>Lệnh</a:t>
            </a:r>
            <a:r>
              <a:rPr lang="en-US" dirty="0"/>
              <a:t> </a:t>
            </a:r>
            <a:r>
              <a:rPr lang="en-US" b="1" dirty="0"/>
              <a:t>break</a:t>
            </a:r>
            <a:r>
              <a:rPr lang="en-US" dirty="0"/>
              <a:t> </a:t>
            </a:r>
            <a:r>
              <a:rPr lang="en-US" dirty="0" err="1"/>
              <a:t>và</a:t>
            </a:r>
            <a:r>
              <a:rPr lang="en-US" dirty="0"/>
              <a:t> </a:t>
            </a:r>
            <a:r>
              <a:rPr lang="en-US" b="1" dirty="0"/>
              <a:t>else</a:t>
            </a:r>
            <a:endParaRPr lang="en-US" dirty="0"/>
          </a:p>
        </p:txBody>
      </p:sp>
      <p:sp>
        <p:nvSpPr>
          <p:cNvPr id="3" name="Content Placeholder 2"/>
          <p:cNvSpPr>
            <a:spLocks noGrp="1"/>
          </p:cNvSpPr>
          <p:nvPr>
            <p:ph idx="1"/>
          </p:nvPr>
        </p:nvSpPr>
        <p:spPr>
          <a:xfrm>
            <a:off x="628650" y="1000760"/>
            <a:ext cx="8223250" cy="5176203"/>
          </a:xfrm>
        </p:spPr>
        <p:txBody>
          <a:bodyPr>
            <a:normAutofit fontScale="92500" lnSpcReduction="10000"/>
          </a:bodyPr>
          <a:lstStyle/>
          <a:p>
            <a:r>
              <a:rPr lang="en-US" dirty="0" err="1"/>
              <a:t>Ví</a:t>
            </a:r>
            <a:r>
              <a:rPr lang="en-US" dirty="0"/>
              <a:t> </a:t>
            </a:r>
            <a:r>
              <a:rPr lang="en-US" dirty="0" err="1"/>
              <a:t>dụ</a:t>
            </a:r>
            <a:r>
              <a:rPr lang="en-US" dirty="0"/>
              <a:t> 2:</a:t>
            </a:r>
          </a:p>
          <a:p>
            <a:pPr marL="0" indent="0">
              <a:buNone/>
            </a:pPr>
            <a:r>
              <a:rPr lang="en-US" dirty="0">
                <a:latin typeface="Courier New" panose="02070309020205020404" pitchFamily="49" charset="0"/>
                <a:cs typeface="Courier New" panose="02070309020205020404" pitchFamily="49" charset="0"/>
              </a:rPr>
              <a:t>while true:</a:t>
            </a:r>
          </a:p>
          <a:p>
            <a:pPr marL="0" indent="0">
              <a:buNone/>
            </a:pPr>
            <a:r>
              <a:rPr lang="en-US" dirty="0">
                <a:latin typeface="Courier New" panose="02070309020205020404" pitchFamily="49" charset="0"/>
                <a:cs typeface="Courier New" panose="02070309020205020404" pitchFamily="49" charset="0"/>
              </a:rPr>
              <a:t>	n=input(“</a:t>
            </a:r>
            <a:r>
              <a:rPr lang="en-US" dirty="0" err="1">
                <a:latin typeface="Courier New" panose="02070309020205020404" pitchFamily="49" charset="0"/>
                <a:cs typeface="Courier New" panose="02070309020205020404" pitchFamily="49" charset="0"/>
              </a:rPr>
              <a:t>Nhap</a:t>
            </a:r>
            <a:r>
              <a:rPr lang="en-US" dirty="0">
                <a:latin typeface="Courier New" panose="02070309020205020404" pitchFamily="49" charset="0"/>
                <a:cs typeface="Courier New" panose="02070309020205020404" pitchFamily="49" charset="0"/>
              </a:rPr>
              <a:t> 1 so </a:t>
            </a:r>
            <a:r>
              <a:rPr lang="en-US" dirty="0" err="1">
                <a:latin typeface="Courier New" panose="02070309020205020404" pitchFamily="49" charset="0"/>
                <a:cs typeface="Courier New" panose="02070309020205020404" pitchFamily="49" charset="0"/>
              </a:rPr>
              <a:t>duong</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if n&gt;0: </a:t>
            </a:r>
          </a:p>
          <a:p>
            <a:pPr marL="0" indent="0">
              <a:buNone/>
            </a:pPr>
            <a:r>
              <a:rPr lang="en-US" dirty="0">
                <a:latin typeface="Courier New" panose="02070309020205020404" pitchFamily="49" charset="0"/>
                <a:cs typeface="Courier New" panose="02070309020205020404" pitchFamily="49" charset="0"/>
              </a:rPr>
              <a:t>		</a:t>
            </a:r>
            <a:r>
              <a:rPr lang="en-US">
                <a:latin typeface="Courier New" panose="02070309020205020404" pitchFamily="49" charset="0"/>
                <a:cs typeface="Courier New" panose="02070309020205020404" pitchFamily="49" charset="0"/>
              </a:rPr>
              <a:t>break </a:t>
            </a:r>
          </a:p>
          <a:p>
            <a:pPr>
              <a:lnSpc>
                <a:spcPct val="100000"/>
              </a:lnSpc>
            </a:pPr>
            <a:r>
              <a:rPr lang="en-US"/>
              <a:t>Ví dụ 3:</a:t>
            </a:r>
          </a:p>
          <a:p>
            <a:pPr marL="0" indent="0">
              <a:buNone/>
            </a:pPr>
            <a:r>
              <a:rPr lang="en-US">
                <a:latin typeface="Courier New" panose="02070309020205020404" pitchFamily="49" charset="0"/>
                <a:cs typeface="Courier New" panose="02070309020205020404" pitchFamily="49" charset="0"/>
              </a:rPr>
              <a:t>for i in range(2, num):</a:t>
            </a:r>
            <a:br>
              <a:rPr lang="en-US">
                <a:latin typeface="Courier New" panose="02070309020205020404" pitchFamily="49" charset="0"/>
                <a:cs typeface="Courier New" panose="02070309020205020404" pitchFamily="49" charset="0"/>
              </a:rPr>
            </a:br>
            <a:r>
              <a:rPr lang="en-US">
                <a:latin typeface="Courier New" panose="02070309020205020404" pitchFamily="49" charset="0"/>
                <a:cs typeface="Courier New" panose="02070309020205020404" pitchFamily="49" charset="0"/>
              </a:rPr>
              <a:t>	if num%i==0:</a:t>
            </a:r>
            <a:br>
              <a:rPr lang="en-US">
                <a:latin typeface="Courier New" panose="02070309020205020404" pitchFamily="49" charset="0"/>
                <a:cs typeface="Courier New" panose="02070309020205020404" pitchFamily="49" charset="0"/>
              </a:rPr>
            </a:br>
            <a:r>
              <a:rPr lang="en-US">
                <a:latin typeface="Courier New" panose="02070309020205020404" pitchFamily="49" charset="0"/>
                <a:cs typeface="Courier New" panose="02070309020205020404" pitchFamily="49" charset="0"/>
              </a:rPr>
              <a:t>		print(num, ‘ La hop so')</a:t>
            </a:r>
            <a:br>
              <a:rPr lang="en-US">
                <a:latin typeface="Courier New" panose="02070309020205020404" pitchFamily="49" charset="0"/>
                <a:cs typeface="Courier New" panose="02070309020205020404" pitchFamily="49" charset="0"/>
              </a:rPr>
            </a:br>
            <a:r>
              <a:rPr lang="en-US">
                <a:latin typeface="Courier New" panose="02070309020205020404" pitchFamily="49" charset="0"/>
                <a:cs typeface="Courier New" panose="02070309020205020404" pitchFamily="49" charset="0"/>
              </a:rPr>
              <a:t>		break</a:t>
            </a:r>
            <a:br>
              <a:rPr lang="en-US">
                <a:latin typeface="Courier New" panose="02070309020205020404" pitchFamily="49" charset="0"/>
                <a:cs typeface="Courier New" panose="02070309020205020404" pitchFamily="49" charset="0"/>
              </a:rPr>
            </a:br>
            <a:r>
              <a:rPr lang="en-US">
                <a:latin typeface="Courier New" panose="02070309020205020404" pitchFamily="49" charset="0"/>
                <a:cs typeface="Courier New" panose="02070309020205020404" pitchFamily="49" charset="0"/>
              </a:rPr>
              <a:t>else: #can le voi for</a:t>
            </a:r>
          </a:p>
          <a:p>
            <a:pPr marL="0" indent="0">
              <a:buNone/>
            </a:pPr>
            <a:r>
              <a:rPr lang="en-US">
                <a:latin typeface="Courier New" panose="02070309020205020404" pitchFamily="49" charset="0"/>
                <a:cs typeface="Courier New" panose="02070309020205020404" pitchFamily="49" charset="0"/>
              </a:rPr>
              <a:t>	print(num, ‘So NT') </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29</a:t>
            </a:fld>
            <a:endParaRPr lang="en-US"/>
          </a:p>
        </p:txBody>
      </p:sp>
    </p:spTree>
    <p:extLst>
      <p:ext uri="{BB962C8B-B14F-4D97-AF65-F5344CB8AC3E}">
        <p14:creationId xmlns:p14="http://schemas.microsoft.com/office/powerpoint/2010/main" val="1942885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229360"/>
            <a:ext cx="7886700" cy="4947603"/>
          </a:xfrm>
        </p:spPr>
        <p:txBody>
          <a:bodyPr>
            <a:normAutofit fontScale="92500" lnSpcReduction="10000"/>
          </a:bodyPr>
          <a:lstStyle/>
          <a:p>
            <a:pPr marL="0" indent="0">
              <a:buNone/>
            </a:pPr>
            <a:r>
              <a:rPr lang="en-US" dirty="0" err="1"/>
              <a:t>Viết</a:t>
            </a:r>
            <a:r>
              <a:rPr lang="en-US" dirty="0"/>
              <a:t> </a:t>
            </a:r>
            <a:r>
              <a:rPr lang="en-US" dirty="0" err="1"/>
              <a:t>chương</a:t>
            </a:r>
            <a:r>
              <a:rPr lang="en-US" dirty="0"/>
              <a:t> </a:t>
            </a:r>
            <a:r>
              <a:rPr lang="en-US" dirty="0" err="1"/>
              <a:t>trình</a:t>
            </a:r>
            <a:r>
              <a:rPr lang="en-US" dirty="0"/>
              <a:t>:</a:t>
            </a:r>
          </a:p>
          <a:p>
            <a:r>
              <a:rPr lang="en-US" dirty="0" err="1"/>
              <a:t>Tính</a:t>
            </a:r>
            <a:r>
              <a:rPr lang="en-US" dirty="0"/>
              <a:t> </a:t>
            </a:r>
            <a:r>
              <a:rPr lang="en-US" dirty="0" err="1"/>
              <a:t>tổng</a:t>
            </a:r>
            <a:r>
              <a:rPr lang="en-US" dirty="0"/>
              <a:t> 1 </a:t>
            </a:r>
            <a:r>
              <a:rPr lang="en-US" dirty="0" err="1"/>
              <a:t>đến</a:t>
            </a:r>
            <a:r>
              <a:rPr lang="en-US" dirty="0"/>
              <a:t> n </a:t>
            </a:r>
            <a:r>
              <a:rPr lang="en-US" dirty="0" err="1"/>
              <a:t>và</a:t>
            </a:r>
            <a:r>
              <a:rPr lang="en-US" dirty="0"/>
              <a:t> </a:t>
            </a:r>
            <a:r>
              <a:rPr lang="en-US" dirty="0" err="1"/>
              <a:t>tổng</a:t>
            </a:r>
            <a:r>
              <a:rPr lang="en-US" dirty="0"/>
              <a:t> </a:t>
            </a:r>
            <a:r>
              <a:rPr lang="en-US" dirty="0" err="1"/>
              <a:t>các</a:t>
            </a:r>
            <a:r>
              <a:rPr lang="en-US" dirty="0"/>
              <a:t> </a:t>
            </a:r>
            <a:r>
              <a:rPr lang="en-US" dirty="0" err="1"/>
              <a:t>số</a:t>
            </a:r>
            <a:r>
              <a:rPr lang="en-US" dirty="0"/>
              <a:t> </a:t>
            </a:r>
            <a:r>
              <a:rPr lang="en-US" dirty="0" err="1"/>
              <a:t>lẻ</a:t>
            </a:r>
            <a:r>
              <a:rPr lang="en-US" dirty="0"/>
              <a:t> </a:t>
            </a:r>
            <a:r>
              <a:rPr lang="en-US" dirty="0" err="1"/>
              <a:t>từ</a:t>
            </a:r>
            <a:r>
              <a:rPr lang="en-US" dirty="0"/>
              <a:t> 1..n, n </a:t>
            </a:r>
            <a:r>
              <a:rPr lang="en-US" dirty="0" err="1"/>
              <a:t>nhập</a:t>
            </a:r>
            <a:r>
              <a:rPr lang="en-US" dirty="0"/>
              <a:t> </a:t>
            </a:r>
            <a:r>
              <a:rPr lang="en-US" dirty="0" err="1"/>
              <a:t>vào</a:t>
            </a:r>
            <a:r>
              <a:rPr lang="en-US" dirty="0"/>
              <a:t>.</a:t>
            </a:r>
          </a:p>
          <a:p>
            <a:r>
              <a:rPr lang="en-US" dirty="0" err="1"/>
              <a:t>Tính</a:t>
            </a:r>
            <a:r>
              <a:rPr lang="en-US" dirty="0"/>
              <a:t> </a:t>
            </a:r>
            <a:r>
              <a:rPr lang="en-US" dirty="0" err="1"/>
              <a:t>tổng</a:t>
            </a:r>
            <a:r>
              <a:rPr lang="en-US" dirty="0"/>
              <a:t> 1-1/2+2/3-3/4…+(-1)</a:t>
            </a:r>
            <a:r>
              <a:rPr lang="en-US" baseline="30000" dirty="0" err="1"/>
              <a:t>n</a:t>
            </a:r>
            <a:r>
              <a:rPr lang="en-US" dirty="0" err="1"/>
              <a:t>n</a:t>
            </a:r>
            <a:r>
              <a:rPr lang="en-US" dirty="0"/>
              <a:t>/n+1</a:t>
            </a:r>
          </a:p>
          <a:p>
            <a:pPr algn="just"/>
            <a:r>
              <a:rPr lang="vi-VN" dirty="0"/>
              <a:t>Một số nguyên dương có n chữ số được gọi là số Armstrong khi tổng các lũy thừa bậc n của các chữ số của nó bằng chính nó. Hãy kiểm tra xem một số nguyên </a:t>
            </a:r>
            <a:r>
              <a:rPr lang="vi-VN"/>
              <a:t>dương </a:t>
            </a:r>
            <a:r>
              <a:rPr lang="en-US"/>
              <a:t>X</a:t>
            </a:r>
            <a:r>
              <a:rPr lang="vi-VN"/>
              <a:t> </a:t>
            </a:r>
            <a:r>
              <a:rPr lang="vi-VN" dirty="0"/>
              <a:t>nhập vào từ bàn phím có phải là số Armstrong hay không. Nếu phải thì xuất 'YES', ngược lại là 'NO'.</a:t>
            </a:r>
          </a:p>
          <a:p>
            <a:r>
              <a:rPr lang="vi-VN" dirty="0"/>
              <a:t>VD:</a:t>
            </a:r>
          </a:p>
          <a:p>
            <a:r>
              <a:rPr lang="vi-VN" dirty="0"/>
              <a:t>371 là số Armstrong vì: 3^3 + 7^3 + 1^3 = 371</a:t>
            </a:r>
          </a:p>
          <a:p>
            <a:r>
              <a:rPr lang="vi-VN" dirty="0"/>
              <a:t>8208 là số Armstrong vì: 8^4 + 2^4 + 8^4 = 8208</a:t>
            </a:r>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30</a:t>
            </a:fld>
            <a:endParaRPr lang="en-US"/>
          </a:p>
        </p:txBody>
      </p:sp>
    </p:spTree>
    <p:extLst>
      <p:ext uri="{BB962C8B-B14F-4D97-AF65-F5344CB8AC3E}">
        <p14:creationId xmlns:p14="http://schemas.microsoft.com/office/powerpoint/2010/main" val="3296921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52194"/>
          </a:xfrm>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417321"/>
            <a:ext cx="7886700" cy="4759642"/>
          </a:xfrm>
        </p:spPr>
        <p:txBody>
          <a:bodyPr>
            <a:normAutofit fontScale="92500" lnSpcReduction="10000"/>
          </a:bodyPr>
          <a:lstStyle/>
          <a:p>
            <a:pPr marL="0" indent="0">
              <a:buNone/>
            </a:pPr>
            <a:r>
              <a:rPr lang="en-US" dirty="0" err="1"/>
              <a:t>Viết</a:t>
            </a:r>
            <a:r>
              <a:rPr lang="en-US" dirty="0"/>
              <a:t> </a:t>
            </a:r>
            <a:r>
              <a:rPr lang="en-US" dirty="0" err="1"/>
              <a:t>chương</a:t>
            </a:r>
            <a:r>
              <a:rPr lang="en-US" dirty="0"/>
              <a:t> </a:t>
            </a:r>
            <a:r>
              <a:rPr lang="en-US" dirty="0" err="1"/>
              <a:t>trình</a:t>
            </a:r>
            <a:endParaRPr lang="en-US" dirty="0"/>
          </a:p>
          <a:p>
            <a:r>
              <a:rPr lang="en-US" dirty="0" err="1"/>
              <a:t>Tính</a:t>
            </a:r>
            <a:r>
              <a:rPr lang="en-US" dirty="0"/>
              <a:t> </a:t>
            </a:r>
            <a:r>
              <a:rPr lang="en-US" dirty="0" err="1"/>
              <a:t>số</a:t>
            </a:r>
            <a:r>
              <a:rPr lang="en-US" dirty="0"/>
              <a:t> </a:t>
            </a:r>
            <a:r>
              <a:rPr lang="en-US" dirty="0" err="1"/>
              <a:t>thứ</a:t>
            </a:r>
            <a:r>
              <a:rPr lang="en-US" dirty="0"/>
              <a:t> </a:t>
            </a:r>
            <a:r>
              <a:rPr lang="en-US" dirty="0" err="1"/>
              <a:t>hạng</a:t>
            </a:r>
            <a:r>
              <a:rPr lang="en-US" dirty="0"/>
              <a:t> n </a:t>
            </a:r>
            <a:r>
              <a:rPr lang="en-US" dirty="0" err="1"/>
              <a:t>của</a:t>
            </a:r>
            <a:r>
              <a:rPr lang="en-US" dirty="0"/>
              <a:t> </a:t>
            </a:r>
            <a:r>
              <a:rPr lang="en-US" dirty="0" err="1"/>
              <a:t>dãy</a:t>
            </a:r>
            <a:r>
              <a:rPr lang="en-US" dirty="0"/>
              <a:t> </a:t>
            </a:r>
            <a:r>
              <a:rPr lang="en-US" dirty="0" err="1"/>
              <a:t>Finonacci</a:t>
            </a:r>
            <a:endParaRPr lang="en-US" dirty="0"/>
          </a:p>
          <a:p>
            <a:pPr algn="just"/>
            <a:r>
              <a:rPr lang="en-US" dirty="0" err="1"/>
              <a:t>Tìm</a:t>
            </a:r>
            <a:r>
              <a:rPr lang="en-US" dirty="0"/>
              <a:t> USCLN </a:t>
            </a:r>
            <a:r>
              <a:rPr lang="en-US" dirty="0" err="1"/>
              <a:t>của</a:t>
            </a:r>
            <a:r>
              <a:rPr lang="en-US" dirty="0"/>
              <a:t> 2 </a:t>
            </a:r>
            <a:r>
              <a:rPr lang="en-US" dirty="0" err="1"/>
              <a:t>số</a:t>
            </a:r>
            <a:r>
              <a:rPr lang="en-US" dirty="0"/>
              <a:t> </a:t>
            </a:r>
            <a:r>
              <a:rPr lang="en-US" dirty="0" err="1"/>
              <a:t>theo</a:t>
            </a:r>
            <a:r>
              <a:rPr lang="en-US" dirty="0"/>
              <a:t> </a:t>
            </a:r>
            <a:r>
              <a:rPr lang="en-US" dirty="0" err="1"/>
              <a:t>phương</a:t>
            </a:r>
            <a:r>
              <a:rPr lang="en-US" dirty="0"/>
              <a:t> </a:t>
            </a:r>
            <a:r>
              <a:rPr lang="en-US" dirty="0" err="1"/>
              <a:t>pháp</a:t>
            </a:r>
            <a:r>
              <a:rPr lang="en-US" dirty="0"/>
              <a:t> Euclid: </a:t>
            </a:r>
            <a:r>
              <a:rPr lang="en-US" dirty="0" err="1"/>
              <a:t>thay</a:t>
            </a:r>
            <a:r>
              <a:rPr lang="en-US" dirty="0"/>
              <a:t> </a:t>
            </a:r>
            <a:r>
              <a:rPr lang="en-US" dirty="0" err="1"/>
              <a:t>số</a:t>
            </a:r>
            <a:r>
              <a:rPr lang="en-US" dirty="0"/>
              <a:t> </a:t>
            </a:r>
            <a:r>
              <a:rPr lang="en-US" dirty="0" err="1"/>
              <a:t>lớn</a:t>
            </a:r>
            <a:r>
              <a:rPr lang="en-US" dirty="0"/>
              <a:t> </a:t>
            </a:r>
            <a:r>
              <a:rPr lang="en-US" dirty="0" err="1"/>
              <a:t>bằng</a:t>
            </a:r>
            <a:r>
              <a:rPr lang="en-US" dirty="0"/>
              <a:t> </a:t>
            </a:r>
            <a:r>
              <a:rPr lang="en-US" dirty="0" err="1"/>
              <a:t>hiệu</a:t>
            </a:r>
            <a:r>
              <a:rPr lang="en-US" dirty="0"/>
              <a:t> </a:t>
            </a:r>
            <a:r>
              <a:rPr lang="en-US" dirty="0" err="1"/>
              <a:t>của</a:t>
            </a:r>
            <a:r>
              <a:rPr lang="en-US" dirty="0"/>
              <a:t> </a:t>
            </a:r>
            <a:r>
              <a:rPr lang="en-US" dirty="0" err="1"/>
              <a:t>số</a:t>
            </a:r>
            <a:r>
              <a:rPr lang="en-US" dirty="0"/>
              <a:t> </a:t>
            </a:r>
            <a:r>
              <a:rPr lang="en-US" dirty="0" err="1"/>
              <a:t>lớn</a:t>
            </a:r>
            <a:r>
              <a:rPr lang="en-US" dirty="0"/>
              <a:t> </a:t>
            </a:r>
            <a:r>
              <a:rPr lang="en-US" dirty="0" err="1"/>
              <a:t>và</a:t>
            </a:r>
            <a:r>
              <a:rPr lang="en-US" dirty="0"/>
              <a:t> </a:t>
            </a:r>
            <a:r>
              <a:rPr lang="en-US" dirty="0" err="1"/>
              <a:t>số</a:t>
            </a:r>
            <a:r>
              <a:rPr lang="en-US" dirty="0"/>
              <a:t> </a:t>
            </a:r>
            <a:r>
              <a:rPr lang="en-US" dirty="0" err="1"/>
              <a:t>bé</a:t>
            </a:r>
            <a:r>
              <a:rPr lang="en-US" dirty="0"/>
              <a:t> </a:t>
            </a:r>
            <a:r>
              <a:rPr lang="en-US" dirty="0" err="1"/>
              <a:t>cho</a:t>
            </a:r>
            <a:r>
              <a:rPr lang="en-US" dirty="0"/>
              <a:t> </a:t>
            </a:r>
            <a:r>
              <a:rPr lang="en-US" dirty="0" err="1"/>
              <a:t>đến</a:t>
            </a:r>
            <a:r>
              <a:rPr lang="en-US" dirty="0"/>
              <a:t> </a:t>
            </a:r>
            <a:r>
              <a:rPr lang="en-US" dirty="0" err="1"/>
              <a:t>khi</a:t>
            </a:r>
            <a:r>
              <a:rPr lang="en-US" dirty="0"/>
              <a:t> 2 </a:t>
            </a:r>
            <a:r>
              <a:rPr lang="en-US" dirty="0" err="1"/>
              <a:t>số</a:t>
            </a:r>
            <a:r>
              <a:rPr lang="en-US" dirty="0"/>
              <a:t> </a:t>
            </a:r>
            <a:r>
              <a:rPr lang="en-US" dirty="0" err="1"/>
              <a:t>bằng</a:t>
            </a:r>
            <a:r>
              <a:rPr lang="en-US" dirty="0"/>
              <a:t> </a:t>
            </a:r>
            <a:r>
              <a:rPr lang="en-US" dirty="0" err="1"/>
              <a:t>nhau</a:t>
            </a:r>
            <a:r>
              <a:rPr lang="en-US" dirty="0"/>
              <a:t>. </a:t>
            </a:r>
          </a:p>
          <a:p>
            <a:pPr algn="just"/>
            <a:r>
              <a:rPr lang="en-US" dirty="0" err="1"/>
              <a:t>Nhập</a:t>
            </a:r>
            <a:r>
              <a:rPr lang="en-US" dirty="0"/>
              <a:t> </a:t>
            </a:r>
            <a:r>
              <a:rPr lang="en-US" dirty="0" err="1"/>
              <a:t>vào</a:t>
            </a:r>
            <a:r>
              <a:rPr lang="en-US" dirty="0"/>
              <a:t> </a:t>
            </a:r>
            <a:r>
              <a:rPr lang="en-US" dirty="0" err="1"/>
              <a:t>một</a:t>
            </a:r>
            <a:r>
              <a:rPr lang="en-US" dirty="0"/>
              <a:t> </a:t>
            </a:r>
            <a:r>
              <a:rPr lang="en-US" dirty="0" err="1"/>
              <a:t>số</a:t>
            </a:r>
            <a:r>
              <a:rPr lang="en-US" dirty="0"/>
              <a:t> </a:t>
            </a:r>
            <a:r>
              <a:rPr lang="en-US" dirty="0" err="1"/>
              <a:t>nguyên</a:t>
            </a:r>
            <a:r>
              <a:rPr lang="en-US" dirty="0"/>
              <a:t> </a:t>
            </a:r>
            <a:r>
              <a:rPr lang="en-US" dirty="0" err="1"/>
              <a:t>và</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có</a:t>
            </a:r>
            <a:r>
              <a:rPr lang="en-US" dirty="0"/>
              <a:t> </a:t>
            </a:r>
            <a:r>
              <a:rPr lang="en-US" dirty="0" err="1"/>
              <a:t>phải</a:t>
            </a:r>
            <a:r>
              <a:rPr lang="en-US" dirty="0"/>
              <a:t> </a:t>
            </a:r>
            <a:r>
              <a:rPr lang="en-US" dirty="0" err="1"/>
              <a:t>là</a:t>
            </a:r>
            <a:r>
              <a:rPr lang="en-US" dirty="0"/>
              <a:t> </a:t>
            </a:r>
            <a:r>
              <a:rPr lang="en-US" dirty="0" err="1"/>
              <a:t>số</a:t>
            </a:r>
            <a:r>
              <a:rPr lang="en-US" dirty="0"/>
              <a:t> </a:t>
            </a:r>
            <a:r>
              <a:rPr lang="en-US" dirty="0" err="1"/>
              <a:t>hoàn</a:t>
            </a:r>
            <a:r>
              <a:rPr lang="en-US" dirty="0"/>
              <a:t> </a:t>
            </a:r>
            <a:r>
              <a:rPr lang="en-US" dirty="0" err="1"/>
              <a:t>hảo</a:t>
            </a:r>
            <a:r>
              <a:rPr lang="en-US" dirty="0"/>
              <a:t> (</a:t>
            </a:r>
            <a:r>
              <a:rPr lang="en-US" dirty="0" err="1"/>
              <a:t>tổng</a:t>
            </a:r>
            <a:r>
              <a:rPr lang="en-US" dirty="0"/>
              <a:t> </a:t>
            </a:r>
            <a:r>
              <a:rPr lang="en-US" dirty="0" err="1"/>
              <a:t>các</a:t>
            </a:r>
            <a:r>
              <a:rPr lang="en-US" dirty="0"/>
              <a:t> </a:t>
            </a:r>
            <a:r>
              <a:rPr lang="en-US" dirty="0" err="1"/>
              <a:t>ước</a:t>
            </a:r>
            <a:r>
              <a:rPr lang="en-US" dirty="0"/>
              <a:t> </a:t>
            </a:r>
            <a:r>
              <a:rPr lang="en-US" dirty="0" err="1"/>
              <a:t>số</a:t>
            </a:r>
            <a:r>
              <a:rPr lang="en-US" dirty="0"/>
              <a:t> </a:t>
            </a:r>
            <a:r>
              <a:rPr lang="en-US" dirty="0" err="1"/>
              <a:t>bằng</a:t>
            </a:r>
            <a:r>
              <a:rPr lang="en-US" dirty="0"/>
              <a:t> </a:t>
            </a:r>
            <a:r>
              <a:rPr lang="en-US" dirty="0" err="1"/>
              <a:t>chính</a:t>
            </a:r>
            <a:r>
              <a:rPr lang="en-US" dirty="0"/>
              <a:t> </a:t>
            </a:r>
            <a:r>
              <a:rPr lang="en-US" dirty="0" err="1"/>
              <a:t>nó</a:t>
            </a:r>
            <a:r>
              <a:rPr lang="en-US" dirty="0"/>
              <a:t>) </a:t>
            </a:r>
          </a:p>
          <a:p>
            <a:pPr algn="just"/>
            <a:r>
              <a:rPr lang="en-US" dirty="0" err="1"/>
              <a:t>Tự</a:t>
            </a:r>
            <a:r>
              <a:rPr lang="en-US" dirty="0"/>
              <a:t> </a:t>
            </a:r>
            <a:r>
              <a:rPr lang="en-US" dirty="0" err="1"/>
              <a:t>tìm</a:t>
            </a:r>
            <a:r>
              <a:rPr lang="en-US" dirty="0"/>
              <a:t> </a:t>
            </a:r>
            <a:r>
              <a:rPr lang="en-US" dirty="0" err="1"/>
              <a:t>hiểu</a:t>
            </a:r>
            <a:r>
              <a:rPr lang="en-US" dirty="0"/>
              <a:t> </a:t>
            </a:r>
            <a:r>
              <a:rPr lang="en-US" dirty="0" err="1"/>
              <a:t>hàm</a:t>
            </a:r>
            <a:r>
              <a:rPr lang="en-US" dirty="0"/>
              <a:t> </a:t>
            </a:r>
            <a:r>
              <a:rPr lang="en-US" dirty="0" err="1"/>
              <a:t>tạo</a:t>
            </a:r>
            <a:r>
              <a:rPr lang="en-US" dirty="0"/>
              <a:t> </a:t>
            </a:r>
            <a:r>
              <a:rPr lang="en-US" dirty="0" err="1"/>
              <a:t>số</a:t>
            </a:r>
            <a:r>
              <a:rPr lang="en-US" dirty="0"/>
              <a:t> </a:t>
            </a:r>
            <a:r>
              <a:rPr lang="en-US" dirty="0" err="1"/>
              <a:t>ngẫu</a:t>
            </a:r>
            <a:r>
              <a:rPr lang="en-US" dirty="0"/>
              <a:t> </a:t>
            </a:r>
            <a:r>
              <a:rPr lang="en-US" dirty="0" err="1"/>
              <a:t>nhiên</a:t>
            </a:r>
            <a:r>
              <a:rPr lang="en-US" dirty="0"/>
              <a:t> </a:t>
            </a:r>
            <a:r>
              <a:rPr lang="en-US" dirty="0" err="1"/>
              <a:t>và</a:t>
            </a:r>
            <a:r>
              <a:rPr lang="en-US" dirty="0"/>
              <a:t> </a:t>
            </a:r>
            <a:r>
              <a:rPr lang="en-US" dirty="0" err="1"/>
              <a:t>viết</a:t>
            </a:r>
            <a:r>
              <a:rPr lang="en-US" dirty="0"/>
              <a:t> </a:t>
            </a:r>
            <a:r>
              <a:rPr lang="en-US" dirty="0" err="1"/>
              <a:t>chương</a:t>
            </a:r>
            <a:r>
              <a:rPr lang="en-US" dirty="0"/>
              <a:t> </a:t>
            </a:r>
            <a:r>
              <a:rPr lang="en-US" dirty="0" err="1"/>
              <a:t>trình</a:t>
            </a:r>
            <a:r>
              <a:rPr lang="en-US" dirty="0"/>
              <a:t> </a:t>
            </a:r>
            <a:r>
              <a:rPr lang="en-US" dirty="0" err="1"/>
              <a:t>và</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số</a:t>
            </a:r>
            <a:r>
              <a:rPr lang="en-US" dirty="0"/>
              <a:t> </a:t>
            </a:r>
            <a:r>
              <a:rPr lang="en-US" dirty="0" err="1"/>
              <a:t>ngẫu</a:t>
            </a:r>
            <a:r>
              <a:rPr lang="en-US" dirty="0"/>
              <a:t> </a:t>
            </a:r>
            <a:r>
              <a:rPr lang="en-US" dirty="0" err="1"/>
              <a:t>nhiên</a:t>
            </a:r>
            <a:r>
              <a:rPr lang="en-US" dirty="0"/>
              <a:t> </a:t>
            </a:r>
            <a:r>
              <a:rPr lang="en-US" dirty="0" err="1"/>
              <a:t>trong</a:t>
            </a:r>
            <a:r>
              <a:rPr lang="en-US" dirty="0"/>
              <a:t> </a:t>
            </a:r>
            <a:r>
              <a:rPr lang="en-US" dirty="0" err="1"/>
              <a:t>khoảng</a:t>
            </a:r>
            <a:r>
              <a:rPr lang="en-US" dirty="0"/>
              <a:t> 1 </a:t>
            </a:r>
            <a:r>
              <a:rPr lang="en-US" dirty="0" err="1"/>
              <a:t>đến</a:t>
            </a:r>
            <a:r>
              <a:rPr lang="en-US" dirty="0"/>
              <a:t> 30 </a:t>
            </a:r>
            <a:r>
              <a:rPr lang="en-US" dirty="0" err="1"/>
              <a:t>và</a:t>
            </a:r>
            <a:r>
              <a:rPr lang="en-US" dirty="0"/>
              <a:t> </a:t>
            </a:r>
            <a:r>
              <a:rPr lang="en-US" dirty="0" err="1"/>
              <a:t>cho</a:t>
            </a:r>
            <a:r>
              <a:rPr lang="en-US" dirty="0"/>
              <a:t> </a:t>
            </a:r>
            <a:r>
              <a:rPr lang="en-US" dirty="0" err="1"/>
              <a:t>người</a:t>
            </a:r>
            <a:r>
              <a:rPr lang="en-US" dirty="0"/>
              <a:t> </a:t>
            </a:r>
            <a:r>
              <a:rPr lang="en-US" dirty="0" err="1"/>
              <a:t>chơi</a:t>
            </a:r>
            <a:r>
              <a:rPr lang="en-US" dirty="0"/>
              <a:t> </a:t>
            </a:r>
            <a:r>
              <a:rPr lang="en-US" dirty="0" err="1"/>
              <a:t>đoán</a:t>
            </a:r>
            <a:r>
              <a:rPr lang="en-US" dirty="0"/>
              <a:t> 4 </a:t>
            </a:r>
            <a:r>
              <a:rPr lang="en-US" dirty="0" err="1"/>
              <a:t>lần</a:t>
            </a:r>
            <a:r>
              <a:rPr lang="en-US" dirty="0"/>
              <a:t>. </a:t>
            </a:r>
            <a:r>
              <a:rPr lang="en-US" dirty="0" err="1"/>
              <a:t>Mỗi</a:t>
            </a:r>
            <a:r>
              <a:rPr lang="en-US" dirty="0"/>
              <a:t> </a:t>
            </a:r>
            <a:r>
              <a:rPr lang="en-US" dirty="0" err="1"/>
              <a:t>lần</a:t>
            </a:r>
            <a:r>
              <a:rPr lang="en-US" dirty="0"/>
              <a:t> </a:t>
            </a:r>
            <a:r>
              <a:rPr lang="en-US" dirty="0" err="1"/>
              <a:t>đoán</a:t>
            </a:r>
            <a:r>
              <a:rPr lang="en-US" dirty="0"/>
              <a:t> </a:t>
            </a:r>
            <a:r>
              <a:rPr lang="en-US" dirty="0" err="1"/>
              <a:t>nếu</a:t>
            </a:r>
            <a:r>
              <a:rPr lang="en-US" dirty="0"/>
              <a:t> </a:t>
            </a:r>
            <a:r>
              <a:rPr lang="en-US" dirty="0" err="1"/>
              <a:t>không</a:t>
            </a:r>
            <a:r>
              <a:rPr lang="en-US" dirty="0"/>
              <a:t> </a:t>
            </a:r>
            <a:r>
              <a:rPr lang="en-US" dirty="0" err="1"/>
              <a:t>đúng</a:t>
            </a:r>
            <a:r>
              <a:rPr lang="en-US" dirty="0"/>
              <a:t> </a:t>
            </a:r>
            <a:r>
              <a:rPr lang="en-US" dirty="0" err="1"/>
              <a:t>thì</a:t>
            </a:r>
            <a:r>
              <a:rPr lang="en-US" dirty="0"/>
              <a:t> </a:t>
            </a:r>
            <a:r>
              <a:rPr lang="en-US" dirty="0" err="1"/>
              <a:t>cho</a:t>
            </a:r>
            <a:r>
              <a:rPr lang="en-US" dirty="0"/>
              <a:t> </a:t>
            </a:r>
            <a:r>
              <a:rPr lang="en-US" dirty="0" err="1"/>
              <a:t>biết</a:t>
            </a:r>
            <a:r>
              <a:rPr lang="en-US" dirty="0"/>
              <a:t> </a:t>
            </a:r>
            <a:r>
              <a:rPr lang="en-US" dirty="0" err="1"/>
              <a:t>số</a:t>
            </a:r>
            <a:r>
              <a:rPr lang="en-US" dirty="0"/>
              <a:t> </a:t>
            </a:r>
            <a:r>
              <a:rPr lang="en-US" dirty="0" err="1"/>
              <a:t>bí</a:t>
            </a:r>
            <a:r>
              <a:rPr lang="en-US" dirty="0"/>
              <a:t> </a:t>
            </a:r>
            <a:r>
              <a:rPr lang="en-US" dirty="0" err="1"/>
              <a:t>mật</a:t>
            </a:r>
            <a:r>
              <a:rPr lang="en-US" dirty="0"/>
              <a:t> </a:t>
            </a:r>
            <a:r>
              <a:rPr lang="en-US" dirty="0" err="1"/>
              <a:t>lớn</a:t>
            </a:r>
            <a:r>
              <a:rPr lang="en-US" dirty="0"/>
              <a:t> </a:t>
            </a:r>
            <a:r>
              <a:rPr lang="en-US" dirty="0" err="1"/>
              <a:t>hơn</a:t>
            </a:r>
            <a:r>
              <a:rPr lang="en-US" dirty="0"/>
              <a:t> hay </a:t>
            </a:r>
            <a:r>
              <a:rPr lang="en-US" dirty="0" err="1"/>
              <a:t>nhỏ</a:t>
            </a:r>
            <a:r>
              <a:rPr lang="en-US" dirty="0"/>
              <a:t> </a:t>
            </a:r>
            <a:r>
              <a:rPr lang="en-US" dirty="0" err="1"/>
              <a:t>hơn</a:t>
            </a:r>
            <a:r>
              <a:rPr lang="en-US" dirty="0"/>
              <a:t> </a:t>
            </a:r>
            <a:r>
              <a:rPr lang="en-US" dirty="0" err="1"/>
              <a:t>số</a:t>
            </a:r>
            <a:r>
              <a:rPr lang="en-US" dirty="0"/>
              <a:t> </a:t>
            </a:r>
            <a:r>
              <a:rPr lang="en-US" dirty="0" err="1"/>
              <a:t>vừa</a:t>
            </a:r>
            <a:r>
              <a:rPr lang="en-US" dirty="0"/>
              <a:t> </a:t>
            </a:r>
            <a:r>
              <a:rPr lang="en-US" dirty="0" err="1"/>
              <a:t>đoán</a:t>
            </a:r>
            <a:r>
              <a:rPr lang="en-US" dirty="0"/>
              <a:t>. </a:t>
            </a:r>
            <a:r>
              <a:rPr lang="en-US" dirty="0" err="1"/>
              <a:t>Chương</a:t>
            </a:r>
            <a:r>
              <a:rPr lang="en-US" dirty="0"/>
              <a:t> </a:t>
            </a:r>
            <a:r>
              <a:rPr lang="en-US" dirty="0" err="1"/>
              <a:t>trình</a:t>
            </a:r>
            <a:r>
              <a:rPr lang="en-US" dirty="0"/>
              <a:t> </a:t>
            </a:r>
            <a:r>
              <a:rPr lang="en-US" dirty="0" err="1"/>
              <a:t>kết</a:t>
            </a:r>
            <a:r>
              <a:rPr lang="en-US" dirty="0"/>
              <a:t> </a:t>
            </a:r>
            <a:r>
              <a:rPr lang="en-US" dirty="0" err="1"/>
              <a:t>thúc</a:t>
            </a:r>
            <a:r>
              <a:rPr lang="en-US" dirty="0"/>
              <a:t> </a:t>
            </a:r>
            <a:r>
              <a:rPr lang="en-US" dirty="0" err="1"/>
              <a:t>khi</a:t>
            </a:r>
            <a:r>
              <a:rPr lang="en-US" dirty="0"/>
              <a:t> </a:t>
            </a:r>
            <a:r>
              <a:rPr lang="en-US" dirty="0" err="1"/>
              <a:t>người</a:t>
            </a:r>
            <a:r>
              <a:rPr lang="en-US" dirty="0"/>
              <a:t> </a:t>
            </a:r>
            <a:r>
              <a:rPr lang="en-US" dirty="0" err="1"/>
              <a:t>chơi</a:t>
            </a:r>
            <a:r>
              <a:rPr lang="en-US" dirty="0"/>
              <a:t> </a:t>
            </a:r>
            <a:r>
              <a:rPr lang="en-US" dirty="0" err="1"/>
              <a:t>đoán</a:t>
            </a:r>
            <a:r>
              <a:rPr lang="en-US" dirty="0"/>
              <a:t> </a:t>
            </a:r>
            <a:r>
              <a:rPr lang="en-US" dirty="0" err="1"/>
              <a:t>đúng</a:t>
            </a:r>
            <a:r>
              <a:rPr lang="en-US" dirty="0"/>
              <a:t> </a:t>
            </a:r>
            <a:r>
              <a:rPr lang="en-US" dirty="0" err="1"/>
              <a:t>hoặc</a:t>
            </a:r>
            <a:r>
              <a:rPr lang="en-US" dirty="0"/>
              <a:t> </a:t>
            </a:r>
            <a:r>
              <a:rPr lang="en-US" dirty="0" err="1"/>
              <a:t>đoán</a:t>
            </a:r>
            <a:r>
              <a:rPr lang="en-US" dirty="0"/>
              <a:t> 4 </a:t>
            </a:r>
            <a:r>
              <a:rPr lang="en-US" dirty="0" err="1"/>
              <a:t>lần</a:t>
            </a:r>
            <a:r>
              <a:rPr lang="en-US" dirty="0"/>
              <a:t> </a:t>
            </a:r>
            <a:r>
              <a:rPr lang="en-US" dirty="0" err="1"/>
              <a:t>sai</a:t>
            </a:r>
            <a:r>
              <a:rPr lang="en-US" dirty="0"/>
              <a:t>. </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31</a:t>
            </a:fld>
            <a:endParaRPr lang="en-US"/>
          </a:p>
        </p:txBody>
      </p:sp>
    </p:spTree>
    <p:extLst>
      <p:ext uri="{BB962C8B-B14F-4D97-AF65-F5344CB8AC3E}">
        <p14:creationId xmlns:p14="http://schemas.microsoft.com/office/powerpoint/2010/main" val="36232021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kiểu</a:t>
            </a:r>
            <a:r>
              <a:rPr lang="en-US" dirty="0"/>
              <a:t> </a:t>
            </a:r>
            <a:r>
              <a:rPr lang="en-US" dirty="0" err="1"/>
              <a:t>dữ</a:t>
            </a:r>
            <a:r>
              <a:rPr lang="en-US" dirty="0"/>
              <a:t> </a:t>
            </a:r>
            <a:r>
              <a:rPr lang="en-US" dirty="0" err="1"/>
              <a:t>liệu</a:t>
            </a:r>
            <a:r>
              <a:rPr lang="en-US" dirty="0"/>
              <a:t> thông </a:t>
            </a:r>
            <a:r>
              <a:rPr lang="en-US" dirty="0" err="1"/>
              <a:t>dụng</a:t>
            </a:r>
            <a:endParaRPr lang="en-US" dirty="0"/>
          </a:p>
        </p:txBody>
      </p:sp>
      <p:sp>
        <p:nvSpPr>
          <p:cNvPr id="3" name="Content Placeholder 2"/>
          <p:cNvSpPr>
            <a:spLocks noGrp="1"/>
          </p:cNvSpPr>
          <p:nvPr>
            <p:ph idx="1"/>
          </p:nvPr>
        </p:nvSpPr>
        <p:spPr/>
        <p:txBody>
          <a:bodyPr/>
          <a:lstStyle/>
          <a:p>
            <a:r>
              <a:rPr lang="en-US" dirty="0" err="1"/>
              <a:t>Kiểu</a:t>
            </a:r>
            <a:r>
              <a:rPr lang="en-US" dirty="0"/>
              <a:t> </a:t>
            </a:r>
            <a:r>
              <a:rPr lang="en-US" dirty="0" err="1"/>
              <a:t>xâu</a:t>
            </a:r>
            <a:r>
              <a:rPr lang="en-US" dirty="0"/>
              <a:t> </a:t>
            </a:r>
            <a:r>
              <a:rPr lang="en-US" dirty="0" err="1"/>
              <a:t>ký</a:t>
            </a:r>
            <a:r>
              <a:rPr lang="en-US" dirty="0"/>
              <a:t> </a:t>
            </a:r>
            <a:r>
              <a:rPr lang="en-US" dirty="0" err="1"/>
              <a:t>tự</a:t>
            </a:r>
            <a:endParaRPr lang="en-US" dirty="0"/>
          </a:p>
          <a:p>
            <a:r>
              <a:rPr lang="en-US" dirty="0" err="1"/>
              <a:t>Kiểu</a:t>
            </a:r>
            <a:r>
              <a:rPr lang="en-US" dirty="0"/>
              <a:t> list</a:t>
            </a:r>
          </a:p>
          <a:p>
            <a:r>
              <a:rPr lang="en-US" dirty="0" err="1"/>
              <a:t>Kiểu</a:t>
            </a:r>
            <a:r>
              <a:rPr lang="en-US" dirty="0"/>
              <a:t> </a:t>
            </a:r>
            <a:r>
              <a:rPr lang="en-US" dirty="0" err="1"/>
              <a:t>từ</a:t>
            </a:r>
            <a:r>
              <a:rPr lang="en-US" dirty="0"/>
              <a:t> </a:t>
            </a:r>
            <a:r>
              <a:rPr lang="en-US" dirty="0" err="1"/>
              <a:t>điển</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32</a:t>
            </a:fld>
            <a:endParaRPr lang="en-US"/>
          </a:p>
        </p:txBody>
      </p:sp>
    </p:spTree>
    <p:extLst>
      <p:ext uri="{BB962C8B-B14F-4D97-AF65-F5344CB8AC3E}">
        <p14:creationId xmlns:p14="http://schemas.microsoft.com/office/powerpoint/2010/main" val="4181369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Kiểu</a:t>
            </a:r>
            <a:r>
              <a:rPr lang="en-US" dirty="0"/>
              <a:t> string</a:t>
            </a:r>
          </a:p>
        </p:txBody>
      </p:sp>
      <p:sp>
        <p:nvSpPr>
          <p:cNvPr id="3" name="Content Placeholder 2"/>
          <p:cNvSpPr>
            <a:spLocks noGrp="1"/>
          </p:cNvSpPr>
          <p:nvPr>
            <p:ph idx="1"/>
          </p:nvPr>
        </p:nvSpPr>
        <p:spPr/>
        <p:txBody>
          <a:bodyPr>
            <a:normAutofit fontScale="70000" lnSpcReduction="20000"/>
          </a:bodyPr>
          <a:lstStyle/>
          <a:p>
            <a:r>
              <a:rPr lang="en-US" dirty="0" err="1"/>
              <a:t>Đánh</a:t>
            </a:r>
            <a:r>
              <a:rPr lang="en-US" dirty="0"/>
              <a:t> </a:t>
            </a:r>
            <a:r>
              <a:rPr lang="en-US" dirty="0" err="1"/>
              <a:t>dấu</a:t>
            </a:r>
            <a:r>
              <a:rPr lang="en-US" dirty="0"/>
              <a:t> </a:t>
            </a:r>
            <a:r>
              <a:rPr lang="en-US" dirty="0" err="1"/>
              <a:t>bằng</a:t>
            </a:r>
            <a:r>
              <a:rPr lang="en-US" dirty="0"/>
              <a:t> </a:t>
            </a:r>
            <a:r>
              <a:rPr lang="en-US" dirty="0" err="1"/>
              <a:t>nháy</a:t>
            </a:r>
            <a:r>
              <a:rPr lang="en-US" dirty="0"/>
              <a:t> </a:t>
            </a:r>
            <a:r>
              <a:rPr lang="en-US" dirty="0" err="1"/>
              <a:t>đơn</a:t>
            </a:r>
            <a:r>
              <a:rPr lang="en-US" dirty="0"/>
              <a:t> hay </a:t>
            </a:r>
            <a:r>
              <a:rPr lang="en-US" dirty="0" err="1"/>
              <a:t>nháy</a:t>
            </a:r>
            <a:r>
              <a:rPr lang="en-US" dirty="0"/>
              <a:t> </a:t>
            </a:r>
            <a:r>
              <a:rPr lang="en-US" dirty="0" err="1"/>
              <a:t>kép</a:t>
            </a:r>
            <a:endParaRPr lang="en-US" dirty="0"/>
          </a:p>
          <a:p>
            <a:r>
              <a:rPr lang="en-US" dirty="0" err="1"/>
              <a:t>Chuổi</a:t>
            </a:r>
            <a:r>
              <a:rPr lang="en-US" dirty="0"/>
              <a:t> </a:t>
            </a:r>
            <a:r>
              <a:rPr lang="en-US" dirty="0" err="1"/>
              <a:t>trên</a:t>
            </a:r>
            <a:r>
              <a:rPr lang="en-US" dirty="0"/>
              <a:t> </a:t>
            </a:r>
            <a:r>
              <a:rPr lang="en-US" dirty="0" err="1"/>
              <a:t>nhiều</a:t>
            </a:r>
            <a:r>
              <a:rPr lang="en-US" dirty="0"/>
              <a:t> </a:t>
            </a:r>
            <a:r>
              <a:rPr lang="en-US" dirty="0" err="1"/>
              <a:t>dòng</a:t>
            </a:r>
            <a:r>
              <a:rPr lang="en-US" dirty="0"/>
              <a:t> : </a:t>
            </a:r>
            <a:r>
              <a:rPr lang="en-US" dirty="0" err="1"/>
              <a:t>sử</a:t>
            </a:r>
            <a:r>
              <a:rPr lang="en-US" dirty="0"/>
              <a:t> </a:t>
            </a:r>
            <a:r>
              <a:rPr lang="en-US" dirty="0" err="1"/>
              <a:t>dụng</a:t>
            </a:r>
            <a:r>
              <a:rPr lang="en-US" dirty="0"/>
              <a:t> 3 </a:t>
            </a:r>
            <a:r>
              <a:rPr lang="en-US" dirty="0" err="1"/>
              <a:t>dấu</a:t>
            </a:r>
            <a:r>
              <a:rPr lang="en-US" dirty="0"/>
              <a:t> </a:t>
            </a:r>
            <a:r>
              <a:rPr lang="en-US" dirty="0" err="1"/>
              <a:t>nháy</a:t>
            </a:r>
            <a:r>
              <a:rPr lang="en-US" dirty="0"/>
              <a:t> </a:t>
            </a:r>
            <a:r>
              <a:rPr lang="en-US" dirty="0" err="1"/>
              <a:t>kép</a:t>
            </a:r>
            <a:r>
              <a:rPr lang="en-US" dirty="0"/>
              <a:t> (“””)</a:t>
            </a:r>
          </a:p>
          <a:p>
            <a:r>
              <a:rPr lang="en-US" dirty="0" err="1"/>
              <a:t>Ví</a:t>
            </a:r>
            <a:r>
              <a:rPr lang="en-US" dirty="0"/>
              <a:t> </a:t>
            </a:r>
            <a:r>
              <a:rPr lang="en-US" dirty="0" err="1"/>
              <a:t>dụ</a:t>
            </a:r>
            <a:r>
              <a:rPr lang="en-US" dirty="0"/>
              <a:t>:</a:t>
            </a:r>
          </a:p>
          <a:p>
            <a:pPr marL="0" indent="0">
              <a:lnSpc>
                <a:spcPct val="80000"/>
              </a:lnSpc>
              <a:buNone/>
            </a:pPr>
            <a:r>
              <a:rPr lang="en-US" dirty="0">
                <a:latin typeface="Courier New" panose="02070309020205020404" pitchFamily="49" charset="0"/>
                <a:cs typeface="Courier New" panose="02070309020205020404" pitchFamily="49" charset="0"/>
              </a:rPr>
              <a:t>a = " Xin </a:t>
            </a:r>
            <a:r>
              <a:rPr lang="en-US" dirty="0" err="1">
                <a:latin typeface="Courier New" panose="02070309020205020404" pitchFamily="49" charset="0"/>
                <a:cs typeface="Courier New" panose="02070309020205020404" pitchFamily="49" charset="0"/>
              </a:rPr>
              <a:t>chao</a:t>
            </a:r>
            <a:r>
              <a:rPr lang="en-US" dirty="0">
                <a:latin typeface="Courier New" panose="02070309020205020404" pitchFamily="49" charset="0"/>
                <a:cs typeface="Courier New" panose="02070309020205020404" pitchFamily="49" charset="0"/>
              </a:rPr>
              <a: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print(’Hello \n’) # \n </a:t>
            </a:r>
            <a:r>
              <a:rPr lang="en-US" dirty="0" err="1">
                <a:latin typeface="Courier New" panose="02070309020205020404" pitchFamily="49" charset="0"/>
                <a:cs typeface="Courier New" panose="02070309020205020404" pitchFamily="49" charset="0"/>
              </a:rPr>
              <a:t>nghia</a:t>
            </a:r>
            <a:r>
              <a:rPr lang="en-US" dirty="0">
                <a:latin typeface="Courier New" panose="02070309020205020404" pitchFamily="49" charset="0"/>
                <a:cs typeface="Courier New" panose="02070309020205020404" pitchFamily="49" charset="0"/>
              </a:rPr>
              <a:t> la dong </a:t>
            </a:r>
            <a:r>
              <a:rPr lang="en-US" dirty="0" err="1">
                <a:latin typeface="Courier New" panose="02070309020205020404" pitchFamily="49" charset="0"/>
                <a:cs typeface="Courier New" panose="02070309020205020404" pitchFamily="49" charset="0"/>
              </a:rPr>
              <a:t>moi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s="""This is a long string </a:t>
            </a:r>
          </a:p>
          <a:p>
            <a:pPr marL="0" indent="0">
              <a:lnSpc>
                <a:spcPct val="80000"/>
              </a:lnSpc>
              <a:buNone/>
            </a:pPr>
            <a:r>
              <a:rPr lang="en-US" dirty="0">
                <a:latin typeface="Courier New" panose="02070309020205020404" pitchFamily="49" charset="0"/>
                <a:cs typeface="Courier New" panose="02070309020205020404" pitchFamily="49" charset="0"/>
              </a:rPr>
              <a:t>that is</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spread across two lines.""" </a:t>
            </a:r>
          </a:p>
          <a:p>
            <a:r>
              <a:rPr lang="en-US" sz="2900" dirty="0" err="1"/>
              <a:t>Ký</a:t>
            </a:r>
            <a:r>
              <a:rPr lang="en-US" sz="2900" dirty="0"/>
              <a:t> </a:t>
            </a:r>
            <a:r>
              <a:rPr lang="en-US" sz="2900" dirty="0" err="1"/>
              <a:t>tự</a:t>
            </a:r>
            <a:r>
              <a:rPr lang="en-US" sz="2900" dirty="0"/>
              <a:t> \:</a:t>
            </a:r>
          </a:p>
          <a:p>
            <a:pPr marL="0" indent="0">
              <a:lnSpc>
                <a:spcPct val="80000"/>
              </a:lnSpc>
              <a:buNone/>
            </a:pPr>
            <a:r>
              <a:rPr lang="en-US" sz="2900" dirty="0"/>
              <a:t>\n	 </a:t>
            </a:r>
            <a:r>
              <a:rPr lang="en-US" sz="2900" dirty="0" err="1"/>
              <a:t>xuống</a:t>
            </a:r>
            <a:r>
              <a:rPr lang="en-US" sz="2900" dirty="0"/>
              <a:t> </a:t>
            </a:r>
            <a:r>
              <a:rPr lang="en-US" sz="2900" dirty="0" err="1"/>
              <a:t>dòng</a:t>
            </a:r>
            <a:endParaRPr lang="en-US" sz="2900" dirty="0"/>
          </a:p>
          <a:p>
            <a:pPr marL="0" indent="0">
              <a:lnSpc>
                <a:spcPct val="80000"/>
              </a:lnSpc>
              <a:buNone/>
            </a:pPr>
            <a:r>
              <a:rPr lang="en-US" sz="2900" dirty="0"/>
              <a:t>\t	</a:t>
            </a:r>
            <a:r>
              <a:rPr lang="en-US" sz="2900" dirty="0" err="1"/>
              <a:t>ký</a:t>
            </a:r>
            <a:r>
              <a:rPr lang="en-US" sz="2900" dirty="0"/>
              <a:t> </a:t>
            </a:r>
            <a:r>
              <a:rPr lang="en-US" sz="2900" dirty="0" err="1"/>
              <a:t>tự</a:t>
            </a:r>
            <a:r>
              <a:rPr lang="en-US" sz="2900" dirty="0"/>
              <a:t> tab</a:t>
            </a:r>
          </a:p>
          <a:p>
            <a:pPr marL="0" indent="0">
              <a:lnSpc>
                <a:spcPct val="80000"/>
              </a:lnSpc>
              <a:buNone/>
            </a:pPr>
            <a:r>
              <a:rPr lang="en-US" sz="2900" dirty="0"/>
              <a:t>\’ hay \” 	</a:t>
            </a:r>
            <a:r>
              <a:rPr lang="en-US" sz="2900" dirty="0" err="1"/>
              <a:t>để</a:t>
            </a:r>
            <a:r>
              <a:rPr lang="en-US" sz="2900" dirty="0"/>
              <a:t> </a:t>
            </a:r>
            <a:r>
              <a:rPr lang="en-US" sz="2900" dirty="0" err="1"/>
              <a:t>tạo</a:t>
            </a:r>
            <a:r>
              <a:rPr lang="en-US" sz="2900" dirty="0"/>
              <a:t> </a:t>
            </a:r>
            <a:r>
              <a:rPr lang="en-US" sz="2900" dirty="0" err="1"/>
              <a:t>ra</a:t>
            </a:r>
            <a:r>
              <a:rPr lang="en-US" sz="2900" dirty="0"/>
              <a:t> </a:t>
            </a:r>
            <a:r>
              <a:rPr lang="en-US" sz="2900" dirty="0" err="1"/>
              <a:t>ký</a:t>
            </a:r>
            <a:r>
              <a:rPr lang="en-US" sz="2900" dirty="0"/>
              <a:t> </a:t>
            </a:r>
            <a:r>
              <a:rPr lang="en-US" sz="2900" dirty="0" err="1"/>
              <a:t>tự</a:t>
            </a:r>
            <a:r>
              <a:rPr lang="en-US" sz="2900" dirty="0"/>
              <a:t> ‘ hay </a:t>
            </a:r>
            <a:r>
              <a:rPr lang="en-US" sz="2900" dirty="0" err="1"/>
              <a:t>trong</a:t>
            </a:r>
            <a:r>
              <a:rPr lang="en-US" sz="2900" dirty="0"/>
              <a:t> </a:t>
            </a:r>
            <a:r>
              <a:rPr lang="en-US" sz="2900" dirty="0" err="1"/>
              <a:t>xâu</a:t>
            </a:r>
            <a:endParaRPr lang="en-US" sz="2900" dirty="0"/>
          </a:p>
          <a:p>
            <a:pPr marL="0" indent="0">
              <a:lnSpc>
                <a:spcPct val="80000"/>
              </a:lnSpc>
              <a:buNone/>
            </a:pPr>
            <a:r>
              <a:rPr lang="en-US" dirty="0"/>
              <a:t>\\	 </a:t>
            </a:r>
            <a:r>
              <a:rPr lang="en-US" dirty="0" err="1"/>
              <a:t>ký</a:t>
            </a:r>
            <a:r>
              <a:rPr lang="en-US" dirty="0"/>
              <a:t> </a:t>
            </a:r>
            <a:r>
              <a:rPr lang="en-US" dirty="0" err="1"/>
              <a:t>tự</a:t>
            </a:r>
            <a:r>
              <a:rPr lang="en-US" dirty="0"/>
              <a:t> \</a:t>
            </a:r>
            <a:br>
              <a:rPr lang="en-US" dirty="0"/>
            </a:br>
            <a:br>
              <a:rPr lang="en-US"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33</a:t>
            </a:fld>
            <a:endParaRPr lang="en-US"/>
          </a:p>
        </p:txBody>
      </p:sp>
    </p:spTree>
    <p:extLst>
      <p:ext uri="{BB962C8B-B14F-4D97-AF65-F5344CB8AC3E}">
        <p14:creationId xmlns:p14="http://schemas.microsoft.com/office/powerpoint/2010/main" val="3012775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Kiểu</a:t>
            </a:r>
            <a:r>
              <a:rPr lang="en-US" dirty="0"/>
              <a:t> string</a:t>
            </a:r>
          </a:p>
        </p:txBody>
      </p:sp>
      <p:sp>
        <p:nvSpPr>
          <p:cNvPr id="3" name="Content Placeholder 2"/>
          <p:cNvSpPr>
            <a:spLocks noGrp="1"/>
          </p:cNvSpPr>
          <p:nvPr>
            <p:ph idx="1"/>
          </p:nvPr>
        </p:nvSpPr>
        <p:spPr/>
        <p:txBody>
          <a:bodyPr>
            <a:normAutofit fontScale="85000" lnSpcReduction="20000"/>
          </a:bodyPr>
          <a:lstStyle/>
          <a:p>
            <a:r>
              <a:rPr lang="en-US" dirty="0"/>
              <a:t>T</a:t>
            </a:r>
            <a:r>
              <a:rPr lang="vi-VN" dirty="0"/>
              <a:t>ruy xuất </a:t>
            </a:r>
            <a:r>
              <a:rPr lang="en-US" dirty="0" err="1"/>
              <a:t>ký</a:t>
            </a:r>
            <a:r>
              <a:rPr lang="en-US" dirty="0"/>
              <a:t> </a:t>
            </a:r>
            <a:r>
              <a:rPr lang="en-US" dirty="0" err="1"/>
              <a:t>tự</a:t>
            </a:r>
            <a:r>
              <a:rPr lang="en-US" dirty="0"/>
              <a:t>:  </a:t>
            </a:r>
            <a:r>
              <a:rPr lang="en-US" dirty="0" err="1">
                <a:latin typeface="Courier New" panose="02070309020205020404" pitchFamily="49" charset="0"/>
                <a:cs typeface="Courier New" panose="02070309020205020404" pitchFamily="49" charset="0"/>
              </a:rPr>
              <a:t>tên_xâu</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chỉ_số</a:t>
            </a:r>
            <a:r>
              <a:rPr lang="en-US" dirty="0">
                <a:latin typeface="Courier New" panose="02070309020205020404" pitchFamily="49" charset="0"/>
                <a:cs typeface="Courier New" panose="02070309020205020404" pitchFamily="49" charset="0"/>
              </a:rPr>
              <a:t>]</a:t>
            </a:r>
            <a:br>
              <a:rPr lang="vi-VN" dirty="0">
                <a:latin typeface="Courier New" panose="02070309020205020404" pitchFamily="49" charset="0"/>
                <a:cs typeface="Courier New" panose="02070309020205020404" pitchFamily="49" charset="0"/>
              </a:rPr>
            </a:br>
            <a:r>
              <a:rPr lang="vi-VN" dirty="0">
                <a:latin typeface="Courier New" panose="02070309020205020404" pitchFamily="49" charset="0"/>
                <a:cs typeface="Courier New" panose="02070309020205020404" pitchFamily="49" charset="0"/>
              </a:rPr>
              <a:t>a = "Xin chao</a:t>
            </a:r>
            <a:r>
              <a:rPr lang="en-US" dirty="0">
                <a:latin typeface="Courier New" panose="02070309020205020404" pitchFamily="49" charset="0"/>
                <a:cs typeface="Courier New" panose="02070309020205020404" pitchFamily="49" charset="0"/>
              </a:rPr>
              <a:t>!</a:t>
            </a:r>
            <a:r>
              <a:rPr lang="vi-VN" dirty="0">
                <a:latin typeface="Courier New" panose="02070309020205020404" pitchFamily="49" charset="0"/>
                <a:cs typeface="Courier New" panose="02070309020205020404" pitchFamily="49" charset="0"/>
              </a:rPr>
              <a:t>"</a:t>
            </a:r>
            <a:br>
              <a:rPr lang="vi-VN" dirty="0">
                <a:latin typeface="Courier New" panose="02070309020205020404" pitchFamily="49" charset="0"/>
                <a:cs typeface="Courier New" panose="02070309020205020404" pitchFamily="49" charset="0"/>
              </a:rPr>
            </a:br>
            <a:r>
              <a:rPr lang="vi-VN" dirty="0">
                <a:latin typeface="Courier New" panose="02070309020205020404" pitchFamily="49" charset="0"/>
                <a:cs typeface="Courier New" panose="02070309020205020404" pitchFamily="49" charset="0"/>
              </a:rPr>
              <a:t>for i in range (len (a)):</a:t>
            </a:r>
            <a:br>
              <a:rPr lang="vi-VN"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vi-VN" dirty="0">
                <a:latin typeface="Courier New" panose="02070309020205020404" pitchFamily="49" charset="0"/>
                <a:cs typeface="Courier New" panose="02070309020205020404" pitchFamily="49" charset="0"/>
              </a:rPr>
              <a:t>print (a[i])</a:t>
            </a:r>
            <a:endParaRPr lang="en-US" dirty="0">
              <a:latin typeface="Courier New" panose="02070309020205020404" pitchFamily="49" charset="0"/>
              <a:cs typeface="Courier New" panose="02070309020205020404" pitchFamily="49" charset="0"/>
            </a:endParaRPr>
          </a:p>
          <a:p>
            <a:r>
              <a:rPr lang="en-US" dirty="0" err="1"/>
              <a:t>Lưu</a:t>
            </a:r>
            <a:r>
              <a:rPr lang="en-US" dirty="0"/>
              <a:t> ý: </a:t>
            </a:r>
          </a:p>
          <a:p>
            <a:pPr lvl="1"/>
            <a:r>
              <a:rPr lang="en-US" dirty="0"/>
              <a:t>a[-1] </a:t>
            </a:r>
            <a:r>
              <a:rPr lang="en-US" dirty="0" err="1"/>
              <a:t>cho</a:t>
            </a:r>
            <a:r>
              <a:rPr lang="en-US" dirty="0"/>
              <a:t> </a:t>
            </a:r>
            <a:r>
              <a:rPr lang="en-US" dirty="0" err="1"/>
              <a:t>ký</a:t>
            </a:r>
            <a:r>
              <a:rPr lang="en-US" dirty="0"/>
              <a:t> </a:t>
            </a:r>
            <a:r>
              <a:rPr lang="en-US" dirty="0" err="1"/>
              <a:t>tự</a:t>
            </a:r>
            <a:r>
              <a:rPr lang="en-US" dirty="0"/>
              <a:t> </a:t>
            </a:r>
            <a:r>
              <a:rPr lang="en-US" dirty="0" err="1"/>
              <a:t>cuối</a:t>
            </a:r>
            <a:r>
              <a:rPr lang="en-US" dirty="0"/>
              <a:t>, a[-2] </a:t>
            </a:r>
            <a:r>
              <a:rPr lang="en-US" dirty="0" err="1"/>
              <a:t>cho</a:t>
            </a:r>
            <a:r>
              <a:rPr lang="en-US" dirty="0"/>
              <a:t> </a:t>
            </a:r>
            <a:r>
              <a:rPr lang="en-US" dirty="0" err="1"/>
              <a:t>ký</a:t>
            </a:r>
            <a:r>
              <a:rPr lang="en-US" dirty="0"/>
              <a:t> </a:t>
            </a:r>
            <a:r>
              <a:rPr lang="en-US" dirty="0" err="1"/>
              <a:t>tự</a:t>
            </a:r>
            <a:r>
              <a:rPr lang="en-US" dirty="0"/>
              <a:t> </a:t>
            </a:r>
            <a:r>
              <a:rPr lang="en-US" dirty="0" err="1"/>
              <a:t>gần</a:t>
            </a:r>
            <a:r>
              <a:rPr lang="en-US" dirty="0"/>
              <a:t> </a:t>
            </a:r>
            <a:r>
              <a:rPr lang="en-US" dirty="0" err="1"/>
              <a:t>cuối</a:t>
            </a:r>
            <a:r>
              <a:rPr lang="en-US" dirty="0"/>
              <a:t>… </a:t>
            </a:r>
          </a:p>
          <a:p>
            <a:pPr lvl="1"/>
            <a:r>
              <a:rPr lang="en-US" dirty="0" err="1"/>
              <a:t>Truy</a:t>
            </a:r>
            <a:r>
              <a:rPr lang="en-US" dirty="0"/>
              <a:t> </a:t>
            </a:r>
            <a:r>
              <a:rPr lang="en-US" dirty="0" err="1"/>
              <a:t>xuất</a:t>
            </a:r>
            <a:r>
              <a:rPr lang="en-US" dirty="0"/>
              <a:t> </a:t>
            </a:r>
            <a:r>
              <a:rPr lang="en-US" dirty="0" err="1"/>
              <a:t>chỉ</a:t>
            </a:r>
            <a:r>
              <a:rPr lang="en-US" dirty="0"/>
              <a:t> </a:t>
            </a:r>
            <a:r>
              <a:rPr lang="en-US" dirty="0" err="1"/>
              <a:t>đọc</a:t>
            </a:r>
            <a:r>
              <a:rPr lang="en-US" dirty="0"/>
              <a:t>, </a:t>
            </a:r>
            <a:r>
              <a:rPr lang="en-US" dirty="0" err="1"/>
              <a:t>không</a:t>
            </a:r>
            <a:r>
              <a:rPr lang="en-US" dirty="0"/>
              <a:t> </a:t>
            </a:r>
            <a:r>
              <a:rPr lang="en-US" dirty="0" err="1"/>
              <a:t>gán</a:t>
            </a:r>
            <a:r>
              <a:rPr lang="en-US" dirty="0"/>
              <a:t> </a:t>
            </a:r>
            <a:r>
              <a:rPr lang="en-US" dirty="0" err="1"/>
              <a:t>được</a:t>
            </a:r>
            <a:r>
              <a:rPr lang="en-US" dirty="0"/>
              <a:t> </a:t>
            </a:r>
            <a:r>
              <a:rPr lang="en-US" dirty="0" err="1"/>
              <a:t>dạng</a:t>
            </a:r>
            <a:r>
              <a:rPr lang="en-US" dirty="0"/>
              <a:t>: a[1]=‘A’ </a:t>
            </a:r>
          </a:p>
          <a:p>
            <a:r>
              <a:rPr lang="en-US" dirty="0" err="1"/>
              <a:t>Nối</a:t>
            </a:r>
            <a:r>
              <a:rPr lang="en-US" dirty="0"/>
              <a:t> </a:t>
            </a:r>
            <a:r>
              <a:rPr lang="en-US" dirty="0" err="1"/>
              <a:t>chuỗi</a:t>
            </a:r>
            <a:r>
              <a:rPr lang="en-US" dirty="0"/>
              <a:t> dung </a:t>
            </a:r>
            <a:r>
              <a:rPr lang="en-US" dirty="0" err="1"/>
              <a:t>toán</a:t>
            </a:r>
            <a:r>
              <a:rPr lang="en-US" dirty="0"/>
              <a:t> </a:t>
            </a:r>
            <a:r>
              <a:rPr lang="en-US" dirty="0" err="1"/>
              <a:t>tử</a:t>
            </a:r>
            <a:r>
              <a:rPr lang="en-US" dirty="0"/>
              <a:t> </a:t>
            </a:r>
            <a:r>
              <a:rPr lang="en-US" dirty="0">
                <a:latin typeface="Courier New" panose="02070309020205020404" pitchFamily="49" charset="0"/>
                <a:cs typeface="Courier New" panose="02070309020205020404" pitchFamily="49" charset="0"/>
              </a:rPr>
              <a:t>+</a:t>
            </a:r>
          </a:p>
          <a:p>
            <a:r>
              <a:rPr lang="en-US" dirty="0" err="1"/>
              <a:t>Lặp</a:t>
            </a:r>
            <a:r>
              <a:rPr lang="en-US" dirty="0"/>
              <a:t> </a:t>
            </a:r>
            <a:r>
              <a:rPr lang="en-US" dirty="0" err="1"/>
              <a:t>lại</a:t>
            </a:r>
            <a:r>
              <a:rPr lang="en-US" dirty="0"/>
              <a:t>: </a:t>
            </a:r>
            <a:r>
              <a:rPr lang="en-US" dirty="0" err="1"/>
              <a:t>toán</a:t>
            </a:r>
            <a:r>
              <a:rPr lang="en-US" dirty="0"/>
              <a:t> </a:t>
            </a:r>
            <a:r>
              <a:rPr lang="en-US" dirty="0" err="1"/>
              <a:t>tử</a:t>
            </a:r>
            <a:r>
              <a:rPr lang="en-US" dirty="0"/>
              <a:t> *:  </a:t>
            </a:r>
            <a:r>
              <a:rPr lang="en-US" dirty="0">
                <a:latin typeface="Courier New" panose="02070309020205020404" pitchFamily="49" charset="0"/>
                <a:cs typeface="Courier New" panose="02070309020205020404" pitchFamily="49" charset="0"/>
              </a:rPr>
              <a:t>“ABC”*2</a:t>
            </a:r>
            <a:r>
              <a:rPr lang="en-US" dirty="0">
                <a:latin typeface="Courier New" panose="02070309020205020404" pitchFamily="49" charset="0"/>
                <a:cs typeface="Courier New" panose="02070309020205020404" pitchFamily="49" charset="0"/>
                <a:sym typeface="Wingdings" panose="05000000000000000000" pitchFamily="2" charset="2"/>
              </a:rPr>
              <a:t>”ABCABC”</a:t>
            </a:r>
            <a:endParaRPr lang="en-US" dirty="0">
              <a:latin typeface="Courier New" panose="02070309020205020404" pitchFamily="49" charset="0"/>
              <a:cs typeface="Courier New" panose="02070309020205020404" pitchFamily="49" charset="0"/>
            </a:endParaRPr>
          </a:p>
          <a:p>
            <a:r>
              <a:rPr lang="en-US" dirty="0"/>
              <a:t>So </a:t>
            </a:r>
            <a:r>
              <a:rPr lang="en-US" dirty="0" err="1"/>
              <a:t>sánh</a:t>
            </a:r>
            <a:r>
              <a:rPr lang="en-US" dirty="0"/>
              <a:t>:  =</a:t>
            </a:r>
            <a:r>
              <a:rPr lang="en-US" dirty="0">
                <a:latin typeface="Courier New" panose="02070309020205020404" pitchFamily="49" charset="0"/>
                <a:cs typeface="Courier New" panose="02070309020205020404" pitchFamily="49" charset="0"/>
              </a:rPr>
              <a:t>=, &gt;, &lt;, &gt;=, &lt;=, !=</a:t>
            </a:r>
          </a:p>
          <a:p>
            <a:r>
              <a:rPr lang="en-US" dirty="0" err="1"/>
              <a:t>Toán</a:t>
            </a:r>
            <a:r>
              <a:rPr lang="en-US" dirty="0"/>
              <a:t> </a:t>
            </a:r>
            <a:r>
              <a:rPr lang="en-US" dirty="0" err="1"/>
              <a:t>tử</a:t>
            </a:r>
            <a:r>
              <a:rPr lang="en-US" dirty="0"/>
              <a:t> </a:t>
            </a:r>
            <a:r>
              <a:rPr lang="en-US" b="1" dirty="0"/>
              <a:t>in</a:t>
            </a:r>
            <a:r>
              <a:rPr lang="en-US" dirty="0"/>
              <a:t> </a:t>
            </a:r>
            <a:r>
              <a:rPr lang="en-US" dirty="0" err="1"/>
              <a:t>kiểm</a:t>
            </a:r>
            <a:r>
              <a:rPr lang="en-US" dirty="0"/>
              <a:t> </a:t>
            </a:r>
            <a:r>
              <a:rPr lang="en-US" dirty="0" err="1"/>
              <a:t>tra</a:t>
            </a:r>
            <a:r>
              <a:rPr lang="en-US" dirty="0"/>
              <a:t> </a:t>
            </a:r>
            <a:r>
              <a:rPr lang="en-US" dirty="0" err="1"/>
              <a:t>xâu</a:t>
            </a:r>
            <a:r>
              <a:rPr lang="en-US" dirty="0"/>
              <a:t> con:</a:t>
            </a:r>
          </a:p>
          <a:p>
            <a:pPr marL="0" indent="0">
              <a:buNone/>
            </a:pPr>
            <a:r>
              <a:rPr lang="en-US" dirty="0">
                <a:latin typeface="Courier New" panose="02070309020205020404" pitchFamily="49" charset="0"/>
                <a:cs typeface="Courier New" panose="02070309020205020404" pitchFamily="49" charset="0"/>
              </a:rPr>
              <a:t>a in s: </a:t>
            </a:r>
            <a:r>
              <a:rPr lang="en-US" dirty="0" err="1"/>
              <a:t>cho</a:t>
            </a:r>
            <a:r>
              <a:rPr lang="en-US" dirty="0"/>
              <a:t> </a:t>
            </a:r>
            <a:r>
              <a:rPr lang="en-US" dirty="0" err="1"/>
              <a:t>kết</a:t>
            </a:r>
            <a:r>
              <a:rPr lang="en-US" dirty="0"/>
              <a:t> </a:t>
            </a:r>
            <a:r>
              <a:rPr lang="en-US" dirty="0" err="1"/>
              <a:t>quả</a:t>
            </a:r>
            <a:r>
              <a:rPr lang="en-US" dirty="0"/>
              <a:t> </a:t>
            </a:r>
            <a:r>
              <a:rPr lang="en-US" i="1" dirty="0"/>
              <a:t>true</a:t>
            </a:r>
            <a:r>
              <a:rPr lang="en-US" dirty="0"/>
              <a:t> </a:t>
            </a:r>
            <a:r>
              <a:rPr lang="en-US" dirty="0" err="1"/>
              <a:t>nếu</a:t>
            </a:r>
            <a:r>
              <a:rPr lang="en-US" dirty="0"/>
              <a:t> </a:t>
            </a:r>
            <a:r>
              <a:rPr lang="en-US" dirty="0" err="1"/>
              <a:t>xâu</a:t>
            </a:r>
            <a:r>
              <a:rPr lang="en-US" dirty="0"/>
              <a:t> s </a:t>
            </a:r>
            <a:r>
              <a:rPr lang="en-US" dirty="0" err="1"/>
              <a:t>chứa</a:t>
            </a:r>
            <a:r>
              <a:rPr lang="en-US" dirty="0"/>
              <a:t> </a:t>
            </a:r>
            <a:r>
              <a:rPr lang="en-US" dirty="0" err="1"/>
              <a:t>xâu</a:t>
            </a:r>
            <a:r>
              <a:rPr lang="en-US" dirty="0"/>
              <a:t> a</a:t>
            </a:r>
            <a:br>
              <a:rPr lang="vi-VN"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34</a:t>
            </a:fld>
            <a:endParaRPr lang="en-US"/>
          </a:p>
        </p:txBody>
      </p:sp>
    </p:spTree>
    <p:extLst>
      <p:ext uri="{BB962C8B-B14F-4D97-AF65-F5344CB8AC3E}">
        <p14:creationId xmlns:p14="http://schemas.microsoft.com/office/powerpoint/2010/main" val="27213369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2794"/>
          </a:xfrm>
        </p:spPr>
        <p:txBody>
          <a:bodyPr/>
          <a:lstStyle/>
          <a:p>
            <a:r>
              <a:rPr lang="en-US" dirty="0" err="1"/>
              <a:t>Kiểu</a:t>
            </a:r>
            <a:r>
              <a:rPr lang="en-US" dirty="0"/>
              <a:t> string</a:t>
            </a:r>
          </a:p>
        </p:txBody>
      </p:sp>
      <p:sp>
        <p:nvSpPr>
          <p:cNvPr id="3" name="Content Placeholder 2"/>
          <p:cNvSpPr>
            <a:spLocks noGrp="1"/>
          </p:cNvSpPr>
          <p:nvPr>
            <p:ph idx="1"/>
          </p:nvPr>
        </p:nvSpPr>
        <p:spPr>
          <a:xfrm>
            <a:off x="628650" y="1137920"/>
            <a:ext cx="7886700" cy="5039043"/>
          </a:xfrm>
        </p:spPr>
        <p:txBody>
          <a:bodyPr>
            <a:normAutofit/>
          </a:bodyPr>
          <a:lstStyle/>
          <a:p>
            <a:r>
              <a:rPr lang="en-US"/>
              <a:t>Hàm lấy </a:t>
            </a:r>
            <a:r>
              <a:rPr lang="en-US" dirty="0" err="1"/>
              <a:t>độ</a:t>
            </a:r>
            <a:r>
              <a:rPr lang="en-US" dirty="0"/>
              <a:t> </a:t>
            </a:r>
            <a:r>
              <a:rPr lang="en-US" dirty="0" err="1"/>
              <a:t>dài</a:t>
            </a:r>
            <a:r>
              <a:rPr lang="en-US" dirty="0"/>
              <a:t>: </a:t>
            </a:r>
            <a:r>
              <a:rPr lang="en-US" b="1" dirty="0" err="1"/>
              <a:t>len</a:t>
            </a:r>
            <a:r>
              <a:rPr lang="en-US" dirty="0"/>
              <a:t>(string)</a:t>
            </a:r>
          </a:p>
          <a:p>
            <a:r>
              <a:rPr lang="en-US" dirty="0"/>
              <a:t>T</a:t>
            </a:r>
            <a:r>
              <a:rPr lang="vi-VN" dirty="0"/>
              <a:t>ruy xuất </a:t>
            </a:r>
            <a:r>
              <a:rPr lang="en-US" dirty="0" err="1"/>
              <a:t>một</a:t>
            </a:r>
            <a:r>
              <a:rPr lang="en-US" dirty="0"/>
              <a:t> </a:t>
            </a:r>
            <a:r>
              <a:rPr lang="en-US" dirty="0" err="1"/>
              <a:t>xâu</a:t>
            </a:r>
            <a:r>
              <a:rPr lang="en-US" dirty="0"/>
              <a:t> con:</a:t>
            </a:r>
          </a:p>
          <a:p>
            <a:pPr marL="0" indent="0">
              <a:buNone/>
            </a:pPr>
            <a:r>
              <a:rPr lang="en-US" dirty="0" err="1"/>
              <a:t>Với</a:t>
            </a:r>
            <a:r>
              <a:rPr lang="en-US" dirty="0"/>
              <a:t> s='</a:t>
            </a:r>
            <a:r>
              <a:rPr lang="en-US" dirty="0" err="1"/>
              <a:t>abcdefghij</a:t>
            </a:r>
            <a:r>
              <a:rPr lang="en-US" dirty="0"/>
              <a:t>' </a:t>
            </a:r>
            <a:r>
              <a:rPr lang="en-US" dirty="0" err="1"/>
              <a:t>thì</a:t>
            </a:r>
            <a:br>
              <a:rPr lang="en-US" dirty="0"/>
            </a:br>
            <a:endParaRPr lang="en-US" dirty="0"/>
          </a:p>
          <a:p>
            <a:pPr marL="457200" lvl="1" indent="0">
              <a:buNone/>
            </a:pPr>
            <a:r>
              <a:rPr lang="vi-VN" dirty="0"/>
              <a:t>s[2: 5] </a:t>
            </a:r>
            <a:r>
              <a:rPr lang="en-US" dirty="0">
                <a:sym typeface="Wingdings" panose="05000000000000000000" pitchFamily="2" charset="2"/>
              </a:rPr>
              <a:t></a:t>
            </a:r>
            <a:r>
              <a:rPr lang="en-US" dirty="0"/>
              <a:t> ‘</a:t>
            </a:r>
            <a:r>
              <a:rPr lang="vi-VN" dirty="0"/>
              <a:t>cde</a:t>
            </a:r>
            <a:r>
              <a:rPr lang="en-US" dirty="0"/>
              <a:t>’  	(</a:t>
            </a:r>
            <a:r>
              <a:rPr lang="vi-VN" dirty="0"/>
              <a:t>ký tự tại các chỉ số 2, 3, 4</a:t>
            </a:r>
            <a:r>
              <a:rPr lang="en-US" dirty="0"/>
              <a:t>)</a:t>
            </a:r>
            <a:r>
              <a:rPr lang="vi-VN" dirty="0"/>
              <a:t> </a:t>
            </a:r>
            <a:endParaRPr lang="en-US" dirty="0"/>
          </a:p>
          <a:p>
            <a:pPr marL="457200" lvl="1" indent="0">
              <a:buNone/>
            </a:pPr>
            <a:r>
              <a:rPr lang="vi-VN" dirty="0"/>
              <a:t>s[: 5] </a:t>
            </a:r>
            <a:r>
              <a:rPr lang="en-US" dirty="0">
                <a:sym typeface="Wingdings" panose="05000000000000000000" pitchFamily="2" charset="2"/>
              </a:rPr>
              <a:t> ‘</a:t>
            </a:r>
            <a:r>
              <a:rPr lang="vi-VN" dirty="0"/>
              <a:t>abcde</a:t>
            </a:r>
            <a:r>
              <a:rPr lang="en-US" dirty="0"/>
              <a:t>’</a:t>
            </a:r>
            <a:r>
              <a:rPr lang="vi-VN" dirty="0"/>
              <a:t> </a:t>
            </a:r>
            <a:r>
              <a:rPr lang="en-US" dirty="0"/>
              <a:t>	(</a:t>
            </a:r>
            <a:r>
              <a:rPr lang="vi-VN" dirty="0"/>
              <a:t>năm ký tự đầu tiên</a:t>
            </a:r>
            <a:r>
              <a:rPr lang="en-US" dirty="0"/>
              <a:t>)</a:t>
            </a:r>
            <a:r>
              <a:rPr lang="vi-VN" dirty="0"/>
              <a:t> </a:t>
            </a:r>
            <a:endParaRPr lang="en-US" dirty="0"/>
          </a:p>
          <a:p>
            <a:pPr marL="457200" lvl="1" indent="0">
              <a:buNone/>
            </a:pPr>
            <a:r>
              <a:rPr lang="vi-VN" dirty="0"/>
              <a:t>s[5:] </a:t>
            </a:r>
            <a:r>
              <a:rPr lang="en-US" dirty="0">
                <a:sym typeface="Wingdings" panose="05000000000000000000" pitchFamily="2" charset="2"/>
              </a:rPr>
              <a:t> ‘</a:t>
            </a:r>
            <a:r>
              <a:rPr lang="vi-VN" dirty="0"/>
              <a:t>fghij</a:t>
            </a:r>
            <a:r>
              <a:rPr lang="en-US" dirty="0"/>
              <a:t>’</a:t>
            </a:r>
            <a:r>
              <a:rPr lang="vi-VN" dirty="0"/>
              <a:t> </a:t>
            </a:r>
            <a:r>
              <a:rPr lang="en-US" dirty="0"/>
              <a:t>	(</a:t>
            </a:r>
            <a:r>
              <a:rPr lang="vi-VN" dirty="0"/>
              <a:t>ký tự từ chỉ </a:t>
            </a:r>
            <a:r>
              <a:rPr lang="en-US" dirty="0" err="1"/>
              <a:t>số</a:t>
            </a:r>
            <a:r>
              <a:rPr lang="vi-VN" dirty="0"/>
              <a:t> 5 đến cuối</a:t>
            </a:r>
            <a:r>
              <a:rPr lang="en-US" dirty="0"/>
              <a:t>)</a:t>
            </a:r>
            <a:r>
              <a:rPr lang="vi-VN" dirty="0"/>
              <a:t> </a:t>
            </a:r>
            <a:endParaRPr lang="en-US" dirty="0"/>
          </a:p>
          <a:p>
            <a:pPr marL="457200" lvl="1" indent="0">
              <a:buNone/>
            </a:pPr>
            <a:r>
              <a:rPr lang="vi-VN" dirty="0"/>
              <a:t>s[-2:] </a:t>
            </a:r>
            <a:r>
              <a:rPr lang="en-US" dirty="0">
                <a:sym typeface="Wingdings" panose="05000000000000000000" pitchFamily="2" charset="2"/>
              </a:rPr>
              <a:t> ‘</a:t>
            </a:r>
            <a:r>
              <a:rPr lang="vi-VN" dirty="0"/>
              <a:t>ij</a:t>
            </a:r>
            <a:r>
              <a:rPr lang="en-US" dirty="0"/>
              <a:t>’</a:t>
            </a:r>
            <a:r>
              <a:rPr lang="vi-VN" dirty="0"/>
              <a:t> </a:t>
            </a:r>
            <a:r>
              <a:rPr lang="en-US" dirty="0"/>
              <a:t>	(</a:t>
            </a:r>
            <a:r>
              <a:rPr lang="vi-VN" dirty="0"/>
              <a:t>hai ký tự cuối cùng</a:t>
            </a:r>
            <a:r>
              <a:rPr lang="en-US" dirty="0"/>
              <a:t>)</a:t>
            </a:r>
            <a:r>
              <a:rPr lang="vi-VN" dirty="0"/>
              <a:t> </a:t>
            </a:r>
            <a:endParaRPr lang="en-US" dirty="0"/>
          </a:p>
          <a:p>
            <a:pPr marL="457200" lvl="1" indent="0">
              <a:buNone/>
            </a:pPr>
            <a:r>
              <a:rPr lang="vi-VN" dirty="0"/>
              <a:t>s[:] </a:t>
            </a:r>
            <a:r>
              <a:rPr lang="en-US" dirty="0">
                <a:sym typeface="Wingdings" panose="05000000000000000000" pitchFamily="2" charset="2"/>
              </a:rPr>
              <a:t> </a:t>
            </a:r>
            <a:r>
              <a:rPr lang="en-US" dirty="0"/>
              <a:t>‘</a:t>
            </a:r>
            <a:r>
              <a:rPr lang="vi-VN" dirty="0"/>
              <a:t>abcdefghij</a:t>
            </a:r>
            <a:r>
              <a:rPr lang="en-US" dirty="0"/>
              <a:t>’</a:t>
            </a:r>
            <a:r>
              <a:rPr lang="vi-VN" dirty="0"/>
              <a:t> </a:t>
            </a:r>
            <a:r>
              <a:rPr lang="en-US" dirty="0"/>
              <a:t>(</a:t>
            </a:r>
            <a:r>
              <a:rPr lang="vi-VN" dirty="0"/>
              <a:t>toàn bộ chuỗi</a:t>
            </a:r>
            <a:r>
              <a:rPr lang="en-US" dirty="0"/>
              <a:t>)</a:t>
            </a:r>
            <a:r>
              <a:rPr lang="vi-VN" dirty="0"/>
              <a:t> </a:t>
            </a:r>
            <a:endParaRPr lang="en-US" dirty="0"/>
          </a:p>
          <a:p>
            <a:pPr marL="457200" lvl="1" indent="0">
              <a:buNone/>
            </a:pPr>
            <a:r>
              <a:rPr lang="vi-VN" dirty="0"/>
              <a:t>s[1: 7: 2] </a:t>
            </a:r>
            <a:r>
              <a:rPr lang="en-US" dirty="0">
                <a:sym typeface="Wingdings" panose="05000000000000000000" pitchFamily="2" charset="2"/>
              </a:rPr>
              <a:t> ‘</a:t>
            </a:r>
            <a:r>
              <a:rPr lang="vi-VN" dirty="0"/>
              <a:t>bdf</a:t>
            </a:r>
            <a:r>
              <a:rPr lang="en-US" dirty="0"/>
              <a:t>’</a:t>
            </a:r>
            <a:r>
              <a:rPr lang="vi-VN" dirty="0"/>
              <a:t> </a:t>
            </a:r>
            <a:r>
              <a:rPr lang="en-US" dirty="0"/>
              <a:t>(</a:t>
            </a:r>
            <a:r>
              <a:rPr lang="vi-VN" dirty="0"/>
              <a:t>từ chỉ </a:t>
            </a:r>
            <a:r>
              <a:rPr lang="en-US" dirty="0" err="1"/>
              <a:t>số</a:t>
            </a:r>
            <a:r>
              <a:rPr lang="vi-VN" dirty="0"/>
              <a:t> 1 đến 6, </a:t>
            </a:r>
            <a:r>
              <a:rPr lang="en-US" dirty="0" err="1"/>
              <a:t>cách</a:t>
            </a:r>
            <a:r>
              <a:rPr lang="en-US" dirty="0"/>
              <a:t> 2 </a:t>
            </a:r>
            <a:r>
              <a:rPr lang="en-US" dirty="0" err="1"/>
              <a:t>ký</a:t>
            </a:r>
            <a:r>
              <a:rPr lang="en-US" dirty="0"/>
              <a:t> </a:t>
            </a:r>
            <a:r>
              <a:rPr lang="en-US" dirty="0" err="1"/>
              <a:t>tự</a:t>
            </a:r>
            <a:r>
              <a:rPr lang="en-US" dirty="0"/>
              <a:t>)</a:t>
            </a:r>
          </a:p>
          <a:p>
            <a:pPr marL="457200" lvl="1" indent="0">
              <a:buNone/>
            </a:pPr>
            <a:r>
              <a:rPr lang="en-US" dirty="0"/>
              <a:t>s</a:t>
            </a:r>
            <a:r>
              <a:rPr lang="vi-VN" dirty="0"/>
              <a:t>[:: -1] </a:t>
            </a:r>
            <a:r>
              <a:rPr lang="en-US" dirty="0">
                <a:sym typeface="Wingdings" panose="05000000000000000000" pitchFamily="2" charset="2"/>
              </a:rPr>
              <a:t>’</a:t>
            </a:r>
            <a:r>
              <a:rPr lang="vi-VN" dirty="0"/>
              <a:t>jihgfedcba</a:t>
            </a:r>
            <a:r>
              <a:rPr lang="en-US" dirty="0"/>
              <a:t>’</a:t>
            </a:r>
            <a:r>
              <a:rPr lang="vi-VN" dirty="0"/>
              <a:t> </a:t>
            </a:r>
            <a:r>
              <a:rPr lang="en-US" dirty="0"/>
              <a:t>(</a:t>
            </a:r>
            <a:r>
              <a:rPr lang="en-US" dirty="0" err="1"/>
              <a:t>bước</a:t>
            </a:r>
            <a:r>
              <a:rPr lang="en-US" dirty="0"/>
              <a:t> </a:t>
            </a:r>
            <a:r>
              <a:rPr lang="en-US" dirty="0" err="1"/>
              <a:t>nhảy</a:t>
            </a:r>
            <a:r>
              <a:rPr lang="en-US" dirty="0"/>
              <a:t> </a:t>
            </a:r>
            <a:r>
              <a:rPr lang="en-US" dirty="0" err="1"/>
              <a:t>âm</a:t>
            </a:r>
            <a:r>
              <a:rPr lang="en-US" dirty="0"/>
              <a:t> </a:t>
            </a:r>
            <a:r>
              <a:rPr lang="en-US" dirty="0" err="1"/>
              <a:t>đão</a:t>
            </a:r>
            <a:r>
              <a:rPr lang="en-US" dirty="0"/>
              <a:t> </a:t>
            </a:r>
            <a:r>
              <a:rPr lang="en-US" dirty="0" err="1"/>
              <a:t>ngược</a:t>
            </a:r>
            <a:r>
              <a:rPr lang="vi-VN" dirty="0"/>
              <a:t> chuỗi</a:t>
            </a:r>
            <a:r>
              <a:rPr lang="en-US" dirty="0"/>
              <a:t>)</a:t>
            </a:r>
            <a:br>
              <a:rPr lang="vi-VN"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35</a:t>
            </a:fld>
            <a:endParaRPr lang="en-US"/>
          </a:p>
        </p:txBody>
      </p:sp>
    </p:spTree>
    <p:extLst>
      <p:ext uri="{BB962C8B-B14F-4D97-AF65-F5344CB8AC3E}">
        <p14:creationId xmlns:p14="http://schemas.microsoft.com/office/powerpoint/2010/main" val="1293543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Kiểu</a:t>
            </a:r>
            <a:r>
              <a:rPr lang="en-US" dirty="0"/>
              <a:t> string</a:t>
            </a:r>
          </a:p>
        </p:txBody>
      </p:sp>
      <p:sp>
        <p:nvSpPr>
          <p:cNvPr id="3" name="Content Placeholder 2"/>
          <p:cNvSpPr>
            <a:spLocks noGrp="1"/>
          </p:cNvSpPr>
          <p:nvPr>
            <p:ph idx="1"/>
          </p:nvPr>
        </p:nvSpPr>
        <p:spPr>
          <a:xfrm>
            <a:off x="628650" y="1513840"/>
            <a:ext cx="7886700" cy="4663123"/>
          </a:xfrm>
        </p:spPr>
        <p:txBody>
          <a:bodyPr>
            <a:normAutofit fontScale="70000" lnSpcReduction="20000"/>
          </a:bodyPr>
          <a:lstStyle/>
          <a:p>
            <a:r>
              <a:rPr lang="en-US" dirty="0" err="1"/>
              <a:t>Các</a:t>
            </a:r>
            <a:r>
              <a:rPr lang="en-US" dirty="0"/>
              <a:t> </a:t>
            </a:r>
            <a:r>
              <a:rPr lang="en-US" dirty="0" err="1"/>
              <a:t>hàm</a:t>
            </a:r>
            <a:r>
              <a:rPr lang="en-US" dirty="0"/>
              <a:t> </a:t>
            </a:r>
            <a:r>
              <a:rPr lang="en-US" dirty="0" err="1"/>
              <a:t>thành</a:t>
            </a:r>
            <a:r>
              <a:rPr lang="en-US" dirty="0"/>
              <a:t> </a:t>
            </a:r>
            <a:r>
              <a:rPr lang="en-US" dirty="0" err="1"/>
              <a:t>phần</a:t>
            </a:r>
            <a:r>
              <a:rPr lang="en-US" dirty="0"/>
              <a:t>:</a:t>
            </a:r>
          </a:p>
          <a:p>
            <a:pPr lvl="1"/>
            <a:r>
              <a:rPr lang="en-US" dirty="0"/>
              <a:t>l</a:t>
            </a:r>
            <a:r>
              <a:rPr lang="vi-VN" dirty="0"/>
              <a:t>ow</a:t>
            </a:r>
            <a:r>
              <a:rPr lang="en-US" dirty="0" err="1"/>
              <a:t>er</a:t>
            </a:r>
            <a:r>
              <a:rPr lang="vi-VN" dirty="0"/>
              <a:t>() trả về một chuỗi với mọi chữ cái của bản gốc ở dạng chữ thường </a:t>
            </a:r>
            <a:endParaRPr lang="en-US" dirty="0"/>
          </a:p>
          <a:p>
            <a:pPr lvl="1"/>
            <a:r>
              <a:rPr lang="vi-VN" dirty="0"/>
              <a:t>upper () trả về một chuỗi với mọi chữ cái của bản gốc được viết hoa </a:t>
            </a:r>
            <a:endParaRPr lang="en-US" dirty="0"/>
          </a:p>
          <a:p>
            <a:pPr lvl="1"/>
            <a:r>
              <a:rPr lang="en-US"/>
              <a:t>S.r</a:t>
            </a:r>
            <a:r>
              <a:rPr lang="vi-VN" dirty="0"/>
              <a:t>eplace (x, y) trả về một chuỗi với mỗi lần xuất hiện của x được thay thế bằng y </a:t>
            </a:r>
            <a:endParaRPr lang="en-US" dirty="0"/>
          </a:p>
          <a:p>
            <a:pPr lvl="1"/>
            <a:r>
              <a:rPr lang="en-US"/>
              <a:t>S.</a:t>
            </a:r>
            <a:r>
              <a:rPr lang="vi-VN"/>
              <a:t>count </a:t>
            </a:r>
            <a:r>
              <a:rPr lang="vi-VN" dirty="0"/>
              <a:t>(x) đếm số lần xuất hiện của x trong </a:t>
            </a:r>
            <a:r>
              <a:rPr lang="vi-VN"/>
              <a:t>chuỗi </a:t>
            </a:r>
            <a:r>
              <a:rPr lang="en-US"/>
              <a:t>s</a:t>
            </a:r>
            <a:endParaRPr lang="en-US" dirty="0"/>
          </a:p>
          <a:p>
            <a:pPr lvl="1"/>
            <a:r>
              <a:rPr lang="en-US"/>
              <a:t>S.</a:t>
            </a:r>
            <a:r>
              <a:rPr lang="vi-VN"/>
              <a:t>index </a:t>
            </a:r>
            <a:r>
              <a:rPr lang="vi-VN" dirty="0"/>
              <a:t>(x) trả về vị trí xuất hiện đầu tiên của </a:t>
            </a:r>
            <a:r>
              <a:rPr lang="vi-VN"/>
              <a:t>x </a:t>
            </a:r>
            <a:r>
              <a:rPr lang="en-US"/>
              <a:t>trong chuỗi s</a:t>
            </a:r>
          </a:p>
          <a:p>
            <a:pPr lvl="1"/>
            <a:r>
              <a:rPr lang="en-US"/>
              <a:t>S.rindex(x)</a:t>
            </a:r>
            <a:endParaRPr lang="en-US" dirty="0"/>
          </a:p>
          <a:p>
            <a:pPr lvl="1"/>
            <a:r>
              <a:rPr lang="en-US"/>
              <a:t>S.</a:t>
            </a:r>
            <a:r>
              <a:rPr lang="vi-VN"/>
              <a:t>isalpha </a:t>
            </a:r>
            <a:r>
              <a:rPr lang="vi-VN" dirty="0"/>
              <a:t>() trả về True nếu mọi ký tự của chuỗi là một </a:t>
            </a:r>
            <a:r>
              <a:rPr lang="vi-VN"/>
              <a:t>chữ cái</a:t>
            </a:r>
            <a:endParaRPr lang="en-US"/>
          </a:p>
          <a:p>
            <a:pPr lvl="1"/>
            <a:r>
              <a:rPr lang="en-US"/>
              <a:t>S.digit()</a:t>
            </a:r>
            <a:endParaRPr lang="en-US" dirty="0"/>
          </a:p>
          <a:p>
            <a:pPr lvl="1"/>
            <a:r>
              <a:rPr lang="en-US" dirty="0" err="1"/>
              <a:t>lstrip</a:t>
            </a:r>
            <a:r>
              <a:rPr lang="en-US" dirty="0"/>
              <a:t>([chars]), </a:t>
            </a:r>
            <a:r>
              <a:rPr lang="en-US" dirty="0" err="1"/>
              <a:t>rstrip</a:t>
            </a:r>
            <a:r>
              <a:rPr lang="en-US" dirty="0"/>
              <a:t>([chars]) hay strip([chars]) </a:t>
            </a:r>
            <a:r>
              <a:rPr lang="en-US" dirty="0" err="1"/>
              <a:t>xòa</a:t>
            </a:r>
            <a:r>
              <a:rPr lang="en-US" dirty="0"/>
              <a:t> </a:t>
            </a:r>
            <a:r>
              <a:rPr lang="en-US" dirty="0" err="1"/>
              <a:t>ký</a:t>
            </a:r>
            <a:r>
              <a:rPr lang="en-US" dirty="0"/>
              <a:t> </a:t>
            </a:r>
            <a:r>
              <a:rPr lang="en-US" dirty="0" err="1"/>
              <a:t>tự</a:t>
            </a:r>
            <a:r>
              <a:rPr lang="en-US" dirty="0"/>
              <a:t> </a:t>
            </a:r>
            <a:r>
              <a:rPr lang="en-US" err="1"/>
              <a:t>trắng</a:t>
            </a:r>
            <a:r>
              <a:rPr lang="en-US"/>
              <a:t> thừa</a:t>
            </a:r>
          </a:p>
          <a:p>
            <a:pPr lvl="1"/>
            <a:r>
              <a:rPr lang="en-US"/>
              <a:t>S.split(deli): s.split(‘ ‘)</a:t>
            </a:r>
            <a:endParaRPr lang="en-US" dirty="0"/>
          </a:p>
          <a:p>
            <a:r>
              <a:rPr lang="en-US" dirty="0" err="1"/>
              <a:t>Ví</a:t>
            </a:r>
            <a:r>
              <a:rPr lang="en-US" dirty="0"/>
              <a:t> </a:t>
            </a:r>
            <a:r>
              <a:rPr lang="en-US" dirty="0" err="1"/>
              <a:t>dụ</a:t>
            </a:r>
            <a:r>
              <a:rPr lang="en-US" dirty="0"/>
              <a:t> </a:t>
            </a:r>
            <a:r>
              <a:rPr lang="en-US" dirty="0" err="1"/>
              <a:t>cách</a:t>
            </a:r>
            <a:r>
              <a:rPr lang="en-US" dirty="0"/>
              <a:t> </a:t>
            </a:r>
            <a:r>
              <a:rPr lang="en-US" dirty="0" err="1"/>
              <a:t>dùng</a:t>
            </a:r>
            <a:r>
              <a:rPr lang="en-US" dirty="0"/>
              <a:t>:</a:t>
            </a:r>
          </a:p>
          <a:p>
            <a:pPr marL="0" indent="0">
              <a:buNone/>
            </a:pPr>
            <a:r>
              <a:rPr lang="en-US" dirty="0"/>
              <a:t>	 </a:t>
            </a:r>
            <a:r>
              <a:rPr lang="en-US" sz="3100" dirty="0">
                <a:latin typeface="Courier New" panose="02070309020205020404" pitchFamily="49" charset="0"/>
                <a:cs typeface="Courier New" panose="02070309020205020404" pitchFamily="49" charset="0"/>
              </a:rPr>
              <a:t>s=input("</a:t>
            </a:r>
            <a:r>
              <a:rPr lang="en-US" sz="3100" dirty="0" err="1">
                <a:latin typeface="Courier New" panose="02070309020205020404" pitchFamily="49" charset="0"/>
                <a:cs typeface="Courier New" panose="02070309020205020404" pitchFamily="49" charset="0"/>
              </a:rPr>
              <a:t>Nhập</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một</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câu</a:t>
            </a:r>
            <a:r>
              <a:rPr lang="en-US" sz="3100" dirty="0">
                <a:latin typeface="Courier New" panose="02070309020205020404" pitchFamily="49" charset="0"/>
                <a:cs typeface="Courier New" panose="02070309020205020404" pitchFamily="49" charset="0"/>
              </a:rPr>
              <a:t>:");</a:t>
            </a:r>
          </a:p>
          <a:p>
            <a:pPr marL="0" indent="0">
              <a:buNone/>
            </a:pPr>
            <a:r>
              <a:rPr lang="en-US" sz="3100" dirty="0">
                <a:latin typeface="Courier New" panose="02070309020205020404" pitchFamily="49" charset="0"/>
                <a:cs typeface="Courier New" panose="02070309020205020404" pitchFamily="49" charset="0"/>
              </a:rPr>
              <a:t>	print("</a:t>
            </a:r>
            <a:r>
              <a:rPr lang="en-US" sz="3100" dirty="0" err="1">
                <a:latin typeface="Courier New" panose="02070309020205020404" pitchFamily="49" charset="0"/>
                <a:cs typeface="Courier New" panose="02070309020205020404" pitchFamily="49" charset="0"/>
              </a:rPr>
              <a:t>Câu</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viết</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hoa</a:t>
            </a:r>
            <a:r>
              <a:rPr lang="en-US" sz="3100" dirty="0">
                <a:latin typeface="Courier New" panose="02070309020205020404" pitchFamily="49" charset="0"/>
                <a:cs typeface="Courier New" panose="02070309020205020404" pitchFamily="49" charset="0"/>
              </a:rPr>
              <a:t>:", </a:t>
            </a:r>
            <a:r>
              <a:rPr lang="en-US" sz="3100" dirty="0" err="1">
                <a:latin typeface="Courier New" panose="02070309020205020404" pitchFamily="49" charset="0"/>
                <a:cs typeface="Courier New" panose="02070309020205020404" pitchFamily="49" charset="0"/>
              </a:rPr>
              <a:t>s.upper</a:t>
            </a:r>
            <a:r>
              <a:rPr lang="en-US" sz="3100"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36</a:t>
            </a:fld>
            <a:endParaRPr lang="en-US"/>
          </a:p>
        </p:txBody>
      </p:sp>
    </p:spTree>
    <p:extLst>
      <p:ext uri="{BB962C8B-B14F-4D97-AF65-F5344CB8AC3E}">
        <p14:creationId xmlns:p14="http://schemas.microsoft.com/office/powerpoint/2010/main" val="3344329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254760"/>
            <a:ext cx="7886700" cy="4922203"/>
          </a:xfrm>
        </p:spPr>
        <p:txBody>
          <a:bodyPr/>
          <a:lstStyle/>
          <a:p>
            <a:pPr marL="0" indent="0">
              <a:buNone/>
            </a:pPr>
            <a:r>
              <a:rPr lang="en-US" b="1" dirty="0" err="1"/>
              <a:t>Viết</a:t>
            </a:r>
            <a:r>
              <a:rPr lang="en-US" b="1" dirty="0"/>
              <a:t> </a:t>
            </a:r>
            <a:r>
              <a:rPr lang="en-US" b="1" dirty="0" err="1"/>
              <a:t>ct</a:t>
            </a:r>
            <a:r>
              <a:rPr lang="en-US" b="1" dirty="0"/>
              <a:t>:</a:t>
            </a:r>
          </a:p>
          <a:p>
            <a:pPr marL="514350" indent="-514350">
              <a:buFont typeface="+mj-lt"/>
              <a:buAutoNum type="arabicPeriod"/>
            </a:pPr>
            <a:r>
              <a:rPr lang="en-US" dirty="0" err="1"/>
              <a:t>Hỏi</a:t>
            </a:r>
            <a:r>
              <a:rPr lang="en-US" dirty="0"/>
              <a:t> </a:t>
            </a:r>
            <a:r>
              <a:rPr lang="en-US" dirty="0" err="1"/>
              <a:t>bạn</a:t>
            </a:r>
            <a:r>
              <a:rPr lang="en-US" dirty="0"/>
              <a:t> </a:t>
            </a:r>
            <a:r>
              <a:rPr lang="en-US" dirty="0" err="1"/>
              <a:t>tên</a:t>
            </a:r>
            <a:r>
              <a:rPr lang="en-US" dirty="0"/>
              <a:t> </a:t>
            </a:r>
            <a:r>
              <a:rPr lang="en-US" dirty="0" err="1"/>
              <a:t>gì</a:t>
            </a:r>
            <a:r>
              <a:rPr lang="en-US" dirty="0"/>
              <a:t>, </a:t>
            </a:r>
            <a:r>
              <a:rPr lang="en-US" dirty="0" err="1"/>
              <a:t>nhập</a:t>
            </a:r>
            <a:r>
              <a:rPr lang="en-US" dirty="0"/>
              <a:t> </a:t>
            </a:r>
            <a:r>
              <a:rPr lang="en-US" dirty="0" err="1"/>
              <a:t>tên</a:t>
            </a:r>
            <a:r>
              <a:rPr lang="en-US" dirty="0"/>
              <a:t> </a:t>
            </a:r>
            <a:r>
              <a:rPr lang="en-US" dirty="0" err="1"/>
              <a:t>và</a:t>
            </a:r>
            <a:r>
              <a:rPr lang="en-US" dirty="0"/>
              <a:t> in </a:t>
            </a:r>
            <a:r>
              <a:rPr lang="en-US" dirty="0" err="1"/>
              <a:t>ra</a:t>
            </a:r>
            <a:r>
              <a:rPr lang="en-US" dirty="0"/>
              <a:t> “</a:t>
            </a:r>
            <a:r>
              <a:rPr lang="en-US" dirty="0" err="1"/>
              <a:t>Chào</a:t>
            </a:r>
            <a:r>
              <a:rPr lang="en-US" dirty="0"/>
              <a:t> </a:t>
            </a:r>
            <a:r>
              <a:rPr lang="en-US" dirty="0" err="1"/>
              <a:t>bạn</a:t>
            </a:r>
            <a:r>
              <a:rPr lang="en-US" dirty="0"/>
              <a:t>…”, “</a:t>
            </a:r>
            <a:r>
              <a:rPr lang="en-US" dirty="0" err="1"/>
              <a:t>Bạn</a:t>
            </a:r>
            <a:r>
              <a:rPr lang="en-US" dirty="0"/>
              <a:t> </a:t>
            </a:r>
            <a:r>
              <a:rPr lang="en-US" dirty="0" err="1"/>
              <a:t>trùng</a:t>
            </a:r>
            <a:r>
              <a:rPr lang="en-US" dirty="0"/>
              <a:t> </a:t>
            </a:r>
            <a:r>
              <a:rPr lang="en-US" dirty="0" err="1"/>
              <a:t>tên</a:t>
            </a:r>
            <a:r>
              <a:rPr lang="en-US" dirty="0"/>
              <a:t> </a:t>
            </a:r>
            <a:r>
              <a:rPr lang="en-US" dirty="0" err="1"/>
              <a:t>với</a:t>
            </a:r>
            <a:r>
              <a:rPr lang="en-US" dirty="0"/>
              <a:t> </a:t>
            </a:r>
            <a:r>
              <a:rPr lang="en-US" dirty="0" err="1"/>
              <a:t>tôi</a:t>
            </a:r>
            <a:r>
              <a:rPr lang="en-US" dirty="0"/>
              <a:t>” </a:t>
            </a:r>
            <a:r>
              <a:rPr lang="en-US" dirty="0" err="1"/>
              <a:t>hoặc</a:t>
            </a:r>
            <a:r>
              <a:rPr lang="en-US" dirty="0"/>
              <a:t> “</a:t>
            </a:r>
            <a:r>
              <a:rPr lang="en-US" dirty="0" err="1"/>
              <a:t>Bạn</a:t>
            </a:r>
            <a:r>
              <a:rPr lang="en-US" dirty="0"/>
              <a:t> </a:t>
            </a:r>
            <a:r>
              <a:rPr lang="en-US" dirty="0" err="1"/>
              <a:t>không</a:t>
            </a:r>
            <a:r>
              <a:rPr lang="en-US" dirty="0"/>
              <a:t> </a:t>
            </a:r>
            <a:r>
              <a:rPr lang="en-US" dirty="0" err="1"/>
              <a:t>cùng</a:t>
            </a:r>
            <a:r>
              <a:rPr lang="en-US" dirty="0"/>
              <a:t> </a:t>
            </a:r>
            <a:r>
              <a:rPr lang="en-US" dirty="0" err="1"/>
              <a:t>tên</a:t>
            </a:r>
            <a:r>
              <a:rPr lang="en-US" dirty="0"/>
              <a:t> </a:t>
            </a:r>
            <a:r>
              <a:rPr lang="en-US" dirty="0" err="1"/>
              <a:t>với</a:t>
            </a:r>
            <a:r>
              <a:rPr lang="en-US" dirty="0"/>
              <a:t> </a:t>
            </a:r>
            <a:r>
              <a:rPr lang="en-US" dirty="0" err="1"/>
              <a:t>tôi</a:t>
            </a:r>
            <a:r>
              <a:rPr lang="en-US" dirty="0"/>
              <a:t>”</a:t>
            </a:r>
          </a:p>
          <a:p>
            <a:pPr marL="514350" indent="-514350">
              <a:buFont typeface="+mj-lt"/>
              <a:buAutoNum type="arabicPeriod"/>
            </a:pPr>
            <a:r>
              <a:rPr lang="en-US" dirty="0"/>
              <a:t> </a:t>
            </a:r>
            <a:r>
              <a:rPr lang="en-US" dirty="0" err="1"/>
              <a:t>Nhập</a:t>
            </a:r>
            <a:r>
              <a:rPr lang="en-US" dirty="0"/>
              <a:t> </a:t>
            </a:r>
            <a:r>
              <a:rPr lang="en-US" dirty="0" err="1"/>
              <a:t>vào</a:t>
            </a:r>
            <a:r>
              <a:rPr lang="en-US" dirty="0"/>
              <a:t> </a:t>
            </a:r>
            <a:r>
              <a:rPr lang="en-US" dirty="0" err="1"/>
              <a:t>một</a:t>
            </a:r>
            <a:r>
              <a:rPr lang="en-US" dirty="0"/>
              <a:t> </a:t>
            </a:r>
            <a:r>
              <a:rPr lang="en-US" dirty="0" err="1"/>
              <a:t>xâu</a:t>
            </a:r>
            <a:r>
              <a:rPr lang="en-US" dirty="0"/>
              <a:t> </a:t>
            </a:r>
            <a:r>
              <a:rPr lang="en-US" dirty="0" err="1"/>
              <a:t>và</a:t>
            </a:r>
            <a:r>
              <a:rPr lang="en-US" dirty="0"/>
              <a:t> </a:t>
            </a:r>
            <a:r>
              <a:rPr lang="en-US" dirty="0" err="1"/>
              <a:t>đổi</a:t>
            </a:r>
            <a:r>
              <a:rPr lang="en-US" dirty="0"/>
              <a:t> </a:t>
            </a:r>
            <a:r>
              <a:rPr lang="en-US" dirty="0" err="1"/>
              <a:t>các</a:t>
            </a:r>
            <a:r>
              <a:rPr lang="en-US" dirty="0"/>
              <a:t> </a:t>
            </a:r>
            <a:r>
              <a:rPr lang="en-US" dirty="0" err="1"/>
              <a:t>ký</a:t>
            </a:r>
            <a:r>
              <a:rPr lang="en-US" dirty="0"/>
              <a:t> </a:t>
            </a:r>
            <a:r>
              <a:rPr lang="en-US" dirty="0" err="1"/>
              <a:t>tự</a:t>
            </a:r>
            <a:r>
              <a:rPr lang="en-US" dirty="0"/>
              <a:t> * </a:t>
            </a:r>
            <a:r>
              <a:rPr lang="en-US" dirty="0" err="1"/>
              <a:t>trong</a:t>
            </a:r>
            <a:r>
              <a:rPr lang="en-US" dirty="0"/>
              <a:t> </a:t>
            </a:r>
            <a:r>
              <a:rPr lang="en-US" dirty="0" err="1"/>
              <a:t>xâu</a:t>
            </a:r>
            <a:r>
              <a:rPr lang="en-US" dirty="0"/>
              <a:t> </a:t>
            </a:r>
            <a:r>
              <a:rPr lang="en-US" dirty="0" err="1"/>
              <a:t>đó</a:t>
            </a:r>
            <a:r>
              <a:rPr lang="en-US" dirty="0"/>
              <a:t> </a:t>
            </a:r>
            <a:r>
              <a:rPr lang="en-US" dirty="0" err="1"/>
              <a:t>thành</a:t>
            </a:r>
            <a:r>
              <a:rPr lang="en-US" dirty="0"/>
              <a:t> </a:t>
            </a:r>
            <a:r>
              <a:rPr lang="en-US" dirty="0" err="1"/>
              <a:t>ký</a:t>
            </a:r>
            <a:r>
              <a:rPr lang="en-US" dirty="0"/>
              <a:t> </a:t>
            </a:r>
            <a:r>
              <a:rPr lang="en-US" dirty="0" err="1"/>
              <a:t>tự</a:t>
            </a:r>
            <a:r>
              <a:rPr lang="en-US" dirty="0"/>
              <a:t> @</a:t>
            </a:r>
          </a:p>
          <a:p>
            <a:pPr marL="514350" indent="-514350">
              <a:buFont typeface="+mj-lt"/>
              <a:buAutoNum type="arabicPeriod"/>
            </a:pPr>
            <a:r>
              <a:rPr lang="en-US" dirty="0" err="1"/>
              <a:t>Nhập</a:t>
            </a:r>
            <a:r>
              <a:rPr lang="en-US" dirty="0"/>
              <a:t> </a:t>
            </a:r>
            <a:r>
              <a:rPr lang="en-US" dirty="0" err="1"/>
              <a:t>vào</a:t>
            </a:r>
            <a:r>
              <a:rPr lang="en-US" dirty="0"/>
              <a:t> </a:t>
            </a:r>
            <a:r>
              <a:rPr lang="en-US" dirty="0" err="1"/>
              <a:t>họ</a:t>
            </a:r>
            <a:r>
              <a:rPr lang="en-US" dirty="0"/>
              <a:t> </a:t>
            </a:r>
            <a:r>
              <a:rPr lang="en-US" dirty="0" err="1"/>
              <a:t>tên</a:t>
            </a:r>
            <a:r>
              <a:rPr lang="en-US" dirty="0"/>
              <a:t> </a:t>
            </a:r>
            <a:r>
              <a:rPr lang="en-US" dirty="0" err="1"/>
              <a:t>và</a:t>
            </a:r>
            <a:r>
              <a:rPr lang="en-US" dirty="0"/>
              <a:t> in </a:t>
            </a:r>
            <a:r>
              <a:rPr lang="en-US" dirty="0" err="1"/>
              <a:t>ra</a:t>
            </a:r>
            <a:r>
              <a:rPr lang="en-US" dirty="0"/>
              <a:t> </a:t>
            </a:r>
            <a:r>
              <a:rPr lang="en-US" dirty="0" err="1"/>
              <a:t>câu</a:t>
            </a:r>
            <a:r>
              <a:rPr lang="en-US" dirty="0"/>
              <a:t> </a:t>
            </a:r>
            <a:r>
              <a:rPr lang="en-US" dirty="0" err="1"/>
              <a:t>chào</a:t>
            </a:r>
            <a:r>
              <a:rPr lang="en-US" dirty="0"/>
              <a:t> </a:t>
            </a:r>
            <a:r>
              <a:rPr lang="en-US" dirty="0" err="1"/>
              <a:t>kết</a:t>
            </a:r>
            <a:r>
              <a:rPr lang="en-US" dirty="0"/>
              <a:t> </a:t>
            </a:r>
            <a:r>
              <a:rPr lang="en-US" dirty="0" err="1"/>
              <a:t>hợp</a:t>
            </a:r>
            <a:r>
              <a:rPr lang="en-US" dirty="0"/>
              <a:t> </a:t>
            </a:r>
            <a:r>
              <a:rPr lang="en-US" err="1"/>
              <a:t>với</a:t>
            </a:r>
            <a:r>
              <a:rPr lang="en-US"/>
              <a:t> tên riêng</a:t>
            </a:r>
            <a:endParaRPr lang="en-US" dirty="0"/>
          </a:p>
          <a:p>
            <a:pPr marL="0" indent="0">
              <a:buNone/>
            </a:pPr>
            <a:r>
              <a:rPr lang="en-US" dirty="0" err="1"/>
              <a:t>Ví</a:t>
            </a:r>
            <a:r>
              <a:rPr lang="en-US" dirty="0"/>
              <a:t> </a:t>
            </a:r>
            <a:r>
              <a:rPr lang="en-US" dirty="0" err="1"/>
              <a:t>dụ</a:t>
            </a:r>
            <a:r>
              <a:rPr lang="en-US" dirty="0"/>
              <a:t>:  </a:t>
            </a:r>
            <a:r>
              <a:rPr lang="en-US" dirty="0" err="1"/>
              <a:t>nhập</a:t>
            </a:r>
            <a:r>
              <a:rPr lang="en-US" dirty="0"/>
              <a:t> </a:t>
            </a:r>
            <a:r>
              <a:rPr lang="en-US" dirty="0" err="1"/>
              <a:t>vào</a:t>
            </a:r>
            <a:r>
              <a:rPr lang="en-US" dirty="0"/>
              <a:t>: </a:t>
            </a:r>
            <a:r>
              <a:rPr lang="en-US" dirty="0" err="1"/>
              <a:t>Trần</a:t>
            </a:r>
            <a:r>
              <a:rPr lang="en-US" dirty="0"/>
              <a:t> </a:t>
            </a:r>
            <a:r>
              <a:rPr lang="en-US" dirty="0" err="1"/>
              <a:t>Văn</a:t>
            </a:r>
            <a:r>
              <a:rPr lang="en-US" dirty="0"/>
              <a:t> </a:t>
            </a:r>
            <a:r>
              <a:rPr lang="en-US" dirty="0" err="1"/>
              <a:t>Trung</a:t>
            </a:r>
            <a:r>
              <a:rPr lang="en-US" dirty="0"/>
              <a:t> </a:t>
            </a:r>
          </a:p>
          <a:p>
            <a:pPr marL="0" indent="0">
              <a:buNone/>
            </a:pPr>
            <a:r>
              <a:rPr lang="en-US" dirty="0"/>
              <a:t>	in </a:t>
            </a:r>
            <a:r>
              <a:rPr lang="en-US" dirty="0" err="1"/>
              <a:t>ra</a:t>
            </a:r>
            <a:r>
              <a:rPr lang="en-US" dirty="0"/>
              <a:t>: </a:t>
            </a:r>
            <a:r>
              <a:rPr lang="en-US" dirty="0" err="1"/>
              <a:t>Chào</a:t>
            </a:r>
            <a:r>
              <a:rPr lang="en-US" dirty="0"/>
              <a:t> </a:t>
            </a:r>
            <a:r>
              <a:rPr lang="en-US" dirty="0" err="1"/>
              <a:t>Trung</a:t>
            </a:r>
            <a:r>
              <a:rPr lang="en-US" dirty="0"/>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37</a:t>
            </a:fld>
            <a:endParaRPr lang="en-US"/>
          </a:p>
        </p:txBody>
      </p:sp>
    </p:spTree>
    <p:extLst>
      <p:ext uri="{BB962C8B-B14F-4D97-AF65-F5344CB8AC3E}">
        <p14:creationId xmlns:p14="http://schemas.microsoft.com/office/powerpoint/2010/main" val="1080117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254760"/>
            <a:ext cx="8605502" cy="4922203"/>
          </a:xfrm>
        </p:spPr>
        <p:txBody>
          <a:bodyPr/>
          <a:lstStyle/>
          <a:p>
            <a:pPr marL="0" indent="0">
              <a:buNone/>
            </a:pPr>
            <a:r>
              <a:rPr lang="en-US" b="1" dirty="0" err="1"/>
              <a:t>Viết</a:t>
            </a:r>
            <a:r>
              <a:rPr lang="en-US" b="1" dirty="0"/>
              <a:t> </a:t>
            </a:r>
            <a:r>
              <a:rPr lang="en-US" b="1" err="1"/>
              <a:t>ct</a:t>
            </a:r>
            <a:r>
              <a:rPr lang="en-US" b="1"/>
              <a:t>:</a:t>
            </a:r>
          </a:p>
          <a:p>
            <a:pPr marL="0" indent="0">
              <a:buNone/>
            </a:pPr>
            <a:r>
              <a:rPr lang="en-US" b="1"/>
              <a:t>Nhập vào 1 xâu họ tên của bạn. Tạo ra 1 email với cú pháp sau:</a:t>
            </a:r>
          </a:p>
          <a:p>
            <a:pPr marL="0" indent="0">
              <a:buNone/>
            </a:pPr>
            <a:r>
              <a:rPr lang="en-US" b="1">
                <a:hlinkClick r:id="rId2"/>
              </a:rPr>
              <a:t>ten.ho_hodem@husc.edu.vn</a:t>
            </a:r>
            <a:endParaRPr lang="en-US" b="1"/>
          </a:p>
          <a:p>
            <a:pPr marL="0" indent="0">
              <a:buNone/>
            </a:pPr>
            <a:endParaRPr lang="en-US" b="1"/>
          </a:p>
          <a:p>
            <a:pPr marL="0" indent="0">
              <a:buNone/>
            </a:pPr>
            <a:r>
              <a:rPr lang="en-US" b="1"/>
              <a:t>Ví dụ: Nguyen Huu     Van   Nhat      Trung</a:t>
            </a:r>
          </a:p>
          <a:p>
            <a:pPr marL="0" indent="0">
              <a:buNone/>
            </a:pPr>
            <a:r>
              <a:rPr lang="en-US" b="1"/>
              <a:t>Email: trung.nguyen_huuvannhat@</a:t>
            </a:r>
            <a:r>
              <a:rPr lang="en-US" b="1">
                <a:hlinkClick r:id="rId3"/>
              </a:rPr>
              <a:t>husc.edu.vn</a:t>
            </a:r>
            <a:endParaRPr lang="en-US" b="1"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38</a:t>
            </a:fld>
            <a:endParaRPr lang="en-US"/>
          </a:p>
        </p:txBody>
      </p:sp>
    </p:spTree>
    <p:extLst>
      <p:ext uri="{BB962C8B-B14F-4D97-AF65-F5344CB8AC3E}">
        <p14:creationId xmlns:p14="http://schemas.microsoft.com/office/powerpoint/2010/main" val="18420510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sp>
        <p:nvSpPr>
          <p:cNvPr id="3" name="Content Placeholder 2"/>
          <p:cNvSpPr>
            <a:spLocks noGrp="1"/>
          </p:cNvSpPr>
          <p:nvPr>
            <p:ph idx="1"/>
          </p:nvPr>
        </p:nvSpPr>
        <p:spPr/>
        <p:txBody>
          <a:bodyPr>
            <a:normAutofit/>
          </a:bodyPr>
          <a:lstStyle/>
          <a:p>
            <a:pPr marL="0" indent="0">
              <a:buNone/>
            </a:pPr>
            <a:r>
              <a:rPr lang="vi-VN"/>
              <a:t>Một pangram trong tiếng Anh là một từ hoặc một câu sử dụng mỗi ký tự từ ’a’ đến ’z’ ít nhất một</a:t>
            </a:r>
            <a:r>
              <a:rPr lang="en-US"/>
              <a:t> </a:t>
            </a:r>
            <a:r>
              <a:rPr lang="vi-VN"/>
              <a:t>lần (không phân biệt hoa-thường). Một pangram phổ biến nhất từ cuối thế kỷ 19 là: </a:t>
            </a:r>
            <a:r>
              <a:rPr lang="vi-VN" b="1"/>
              <a:t>The quick brown fox jumps over the lazy dog</a:t>
            </a:r>
            <a:r>
              <a:rPr lang="vi-VN"/>
              <a:t>. Pangram này thường được sử dụng trong các hệ điều hành để hiển thị các preview (xem trước) cho các font máy tính.</a:t>
            </a:r>
            <a:endParaRPr lang="en-US"/>
          </a:p>
          <a:p>
            <a:pPr marL="0" indent="0">
              <a:buNone/>
            </a:pPr>
            <a:r>
              <a:rPr lang="en-US"/>
              <a:t>Viết CT nhập vào 1 xâu kí tự, kiểm tra xem thử xâu đó có phải là 1 xâu pangram không?</a:t>
            </a:r>
            <a:endParaRPr lang="fr-F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39</a:t>
            </a:fld>
            <a:endParaRPr lang="en-US"/>
          </a:p>
        </p:txBody>
      </p:sp>
    </p:spTree>
    <p:extLst>
      <p:ext uri="{BB962C8B-B14F-4D97-AF65-F5344CB8AC3E}">
        <p14:creationId xmlns:p14="http://schemas.microsoft.com/office/powerpoint/2010/main" val="1182670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7"/>
            <a:ext cx="7886700" cy="1035366"/>
          </a:xfrm>
        </p:spPr>
        <p:txBody>
          <a:bodyPr/>
          <a:lstStyle/>
          <a:p>
            <a:r>
              <a:rPr lang="en-US" dirty="0" err="1"/>
              <a:t>Kiểu</a:t>
            </a:r>
            <a:r>
              <a:rPr lang="en-US" dirty="0"/>
              <a:t> list</a:t>
            </a:r>
          </a:p>
        </p:txBody>
      </p:sp>
      <p:sp>
        <p:nvSpPr>
          <p:cNvPr id="3" name="Content Placeholder 2"/>
          <p:cNvSpPr>
            <a:spLocks noGrp="1"/>
          </p:cNvSpPr>
          <p:nvPr>
            <p:ph idx="1"/>
          </p:nvPr>
        </p:nvSpPr>
        <p:spPr>
          <a:xfrm>
            <a:off x="628650" y="1217614"/>
            <a:ext cx="7886700" cy="4959350"/>
          </a:xfrm>
        </p:spPr>
        <p:txBody>
          <a:bodyPr>
            <a:normAutofit/>
          </a:bodyPr>
          <a:lstStyle/>
          <a:p>
            <a:r>
              <a:rPr lang="en-US" dirty="0" err="1"/>
              <a:t>Tạo</a:t>
            </a:r>
            <a:r>
              <a:rPr lang="en-US" dirty="0"/>
              <a:t> list </a:t>
            </a:r>
            <a:r>
              <a:rPr lang="en-US" dirty="0" err="1"/>
              <a:t>bằng</a:t>
            </a:r>
            <a:r>
              <a:rPr lang="en-US" dirty="0"/>
              <a:t> </a:t>
            </a:r>
            <a:r>
              <a:rPr lang="en-US" dirty="0" err="1"/>
              <a:t>ngoặc</a:t>
            </a:r>
            <a:r>
              <a:rPr lang="en-US" dirty="0"/>
              <a:t> </a:t>
            </a:r>
            <a:r>
              <a:rPr lang="en-US" dirty="0" err="1"/>
              <a:t>vuông</a:t>
            </a:r>
            <a:r>
              <a:rPr lang="en-US" dirty="0"/>
              <a:t> </a:t>
            </a:r>
            <a:r>
              <a:rPr lang="en-US" dirty="0" err="1"/>
              <a:t>và</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cách</a:t>
            </a:r>
            <a:r>
              <a:rPr lang="en-US" dirty="0"/>
              <a:t> </a:t>
            </a:r>
            <a:r>
              <a:rPr lang="en-US" dirty="0" err="1"/>
              <a:t>nhau</a:t>
            </a:r>
            <a:r>
              <a:rPr lang="en-US" dirty="0"/>
              <a:t> </a:t>
            </a:r>
            <a:r>
              <a:rPr lang="en-US" dirty="0" err="1"/>
              <a:t>dấu</a:t>
            </a:r>
            <a:r>
              <a:rPr lang="en-US" dirty="0"/>
              <a:t> </a:t>
            </a:r>
            <a:r>
              <a:rPr lang="en-US" dirty="0" err="1"/>
              <a:t>phẩy</a:t>
            </a:r>
            <a:r>
              <a:rPr lang="en-US" dirty="0"/>
              <a:t>:</a:t>
            </a:r>
          </a:p>
          <a:p>
            <a:pPr marL="0" indent="0">
              <a:buNone/>
            </a:pPr>
            <a:r>
              <a:rPr lang="en-US" sz="2900" dirty="0">
                <a:latin typeface="Courier New" panose="02070309020205020404" pitchFamily="49" charset="0"/>
                <a:cs typeface="Courier New" panose="02070309020205020404" pitchFamily="49" charset="0"/>
              </a:rPr>
              <a:t>L=[1,2,3]</a:t>
            </a:r>
          </a:p>
          <a:p>
            <a:r>
              <a:rPr lang="en-US" dirty="0" err="1"/>
              <a:t>Danh</a:t>
            </a:r>
            <a:r>
              <a:rPr lang="en-US" dirty="0"/>
              <a:t> </a:t>
            </a:r>
            <a:r>
              <a:rPr lang="en-US" dirty="0" err="1"/>
              <a:t>sách</a:t>
            </a:r>
            <a:r>
              <a:rPr lang="en-US" dirty="0"/>
              <a:t> </a:t>
            </a:r>
            <a:r>
              <a:rPr lang="en-US" dirty="0" err="1"/>
              <a:t>rỗng</a:t>
            </a:r>
            <a:r>
              <a:rPr lang="en-US" dirty="0"/>
              <a:t>: </a:t>
            </a:r>
            <a:r>
              <a:rPr lang="en-US" sz="2900" dirty="0">
                <a:latin typeface="Courier New" panose="02070309020205020404" pitchFamily="49" charset="0"/>
                <a:cs typeface="Courier New" panose="02070309020205020404" pitchFamily="49" charset="0"/>
              </a:rPr>
              <a:t>[]</a:t>
            </a:r>
          </a:p>
          <a:p>
            <a:r>
              <a:rPr lang="en-US" sz="2900" dirty="0" err="1"/>
              <a:t>Các</a:t>
            </a:r>
            <a:r>
              <a:rPr lang="en-US" sz="2900" dirty="0"/>
              <a:t> </a:t>
            </a:r>
            <a:r>
              <a:rPr lang="en-US" sz="2900" dirty="0" err="1"/>
              <a:t>phần</a:t>
            </a:r>
            <a:r>
              <a:rPr lang="en-US" sz="2900" dirty="0"/>
              <a:t> </a:t>
            </a:r>
            <a:r>
              <a:rPr lang="en-US" sz="2900" dirty="0" err="1"/>
              <a:t>tử</a:t>
            </a:r>
            <a:r>
              <a:rPr lang="en-US" sz="2900" dirty="0"/>
              <a:t> </a:t>
            </a:r>
            <a:r>
              <a:rPr lang="en-US" sz="2900" dirty="0" err="1"/>
              <a:t>có</a:t>
            </a:r>
            <a:r>
              <a:rPr lang="en-US" sz="2900" dirty="0"/>
              <a:t> </a:t>
            </a:r>
            <a:r>
              <a:rPr lang="en-US" sz="2900" dirty="0" err="1"/>
              <a:t>thể</a:t>
            </a:r>
            <a:r>
              <a:rPr lang="en-US" sz="2900" dirty="0"/>
              <a:t> </a:t>
            </a:r>
            <a:r>
              <a:rPr lang="en-US" sz="2900" dirty="0" err="1"/>
              <a:t>khác</a:t>
            </a:r>
            <a:r>
              <a:rPr lang="en-US" sz="2900" dirty="0"/>
              <a:t> </a:t>
            </a:r>
            <a:r>
              <a:rPr lang="en-US" sz="2900" dirty="0" err="1"/>
              <a:t>kiểu</a:t>
            </a:r>
            <a:r>
              <a:rPr lang="en-US" sz="2900" dirty="0"/>
              <a:t>: </a:t>
            </a:r>
          </a:p>
          <a:p>
            <a:pPr marL="0" indent="0">
              <a:buNone/>
            </a:pPr>
            <a:r>
              <a:rPr lang="en-US" sz="2900" dirty="0">
                <a:latin typeface="Courier New" panose="02070309020205020404" pitchFamily="49" charset="0"/>
                <a:cs typeface="Courier New" panose="02070309020205020404" pitchFamily="49" charset="0"/>
              </a:rPr>
              <a:t>L=[1, 2.7,'abc',[5,6,7]]</a:t>
            </a:r>
          </a:p>
          <a:p>
            <a:r>
              <a:rPr lang="en-US" sz="2900" dirty="0" err="1"/>
              <a:t>Nhập</a:t>
            </a:r>
            <a:r>
              <a:rPr lang="en-US" sz="2900" dirty="0"/>
              <a:t> </a:t>
            </a:r>
            <a:r>
              <a:rPr lang="en-US" sz="2900" dirty="0" err="1"/>
              <a:t>xuất</a:t>
            </a:r>
            <a:r>
              <a:rPr lang="en-US" sz="2900" dirty="0"/>
              <a:t> </a:t>
            </a:r>
            <a:r>
              <a:rPr lang="en-US" sz="2900" err="1"/>
              <a:t>kiểu</a:t>
            </a:r>
            <a:r>
              <a:rPr lang="en-US" sz="2900"/>
              <a:t> list</a:t>
            </a:r>
          </a:p>
          <a:p>
            <a:pPr marL="0" indent="0">
              <a:buNone/>
            </a:pPr>
            <a:r>
              <a:rPr lang="en-US" sz="1800">
                <a:latin typeface="Courier New" panose="02070309020205020404" pitchFamily="49" charset="0"/>
                <a:cs typeface="Courier New" panose="02070309020205020404" pitchFamily="49" charset="0"/>
              </a:rPr>
              <a:t>x = list(map(int, input("nhap danh sach so: ").split()))</a:t>
            </a:r>
            <a:br>
              <a:rPr lang="en-US" sz="1800">
                <a:latin typeface="Courier New" panose="02070309020205020404" pitchFamily="49" charset="0"/>
                <a:cs typeface="Courier New" panose="02070309020205020404" pitchFamily="49" charset="0"/>
              </a:rPr>
            </a:br>
            <a:r>
              <a:rPr lang="en-US" sz="1800">
                <a:latin typeface="Courier New" panose="02070309020205020404" pitchFamily="49" charset="0"/>
                <a:cs typeface="Courier New" panose="02070309020205020404" pitchFamily="49" charset="0"/>
              </a:rPr>
              <a:t>print("danh sach: ", x)</a:t>
            </a:r>
            <a:endParaRPr lang="en-US" sz="2000" dirty="0">
              <a:latin typeface="Courier New" panose="02070309020205020404" pitchFamily="49" charset="0"/>
              <a:cs typeface="Courier New" panose="02070309020205020404" pitchFamily="49" charset="0"/>
            </a:endParaRPr>
          </a:p>
          <a:p>
            <a:endParaRPr lang="en-US" sz="29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40</a:t>
            </a:fld>
            <a:endParaRPr lang="en-US"/>
          </a:p>
        </p:txBody>
      </p:sp>
      <p:pic>
        <p:nvPicPr>
          <p:cNvPr id="9" name="Picture 8">
            <a:extLst>
              <a:ext uri="{FF2B5EF4-FFF2-40B4-BE49-F238E27FC236}">
                <a16:creationId xmlns:a16="http://schemas.microsoft.com/office/drawing/2014/main" id="{0A33615B-9888-4F70-2C5F-38203B3FD355}"/>
              </a:ext>
            </a:extLst>
          </p:cNvPr>
          <p:cNvPicPr>
            <a:picLocks noChangeAspect="1"/>
          </p:cNvPicPr>
          <p:nvPr/>
        </p:nvPicPr>
        <p:blipFill>
          <a:blip r:embed="rId2"/>
          <a:stretch>
            <a:fillRect/>
          </a:stretch>
        </p:blipFill>
        <p:spPr>
          <a:xfrm>
            <a:off x="692150" y="5440678"/>
            <a:ext cx="3092450" cy="564303"/>
          </a:xfrm>
          <a:prstGeom prst="rect">
            <a:avLst/>
          </a:prstGeom>
        </p:spPr>
      </p:pic>
    </p:spTree>
    <p:extLst>
      <p:ext uri="{BB962C8B-B14F-4D97-AF65-F5344CB8AC3E}">
        <p14:creationId xmlns:p14="http://schemas.microsoft.com/office/powerpoint/2010/main" val="2044078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7"/>
            <a:ext cx="7886700" cy="1035366"/>
          </a:xfrm>
        </p:spPr>
        <p:txBody>
          <a:bodyPr/>
          <a:lstStyle/>
          <a:p>
            <a:r>
              <a:rPr lang="en-US" dirty="0" err="1"/>
              <a:t>Kiểu</a:t>
            </a:r>
            <a:r>
              <a:rPr lang="en-US" dirty="0"/>
              <a:t> list</a:t>
            </a:r>
          </a:p>
        </p:txBody>
      </p:sp>
      <p:sp>
        <p:nvSpPr>
          <p:cNvPr id="3" name="Content Placeholder 2"/>
          <p:cNvSpPr>
            <a:spLocks noGrp="1"/>
          </p:cNvSpPr>
          <p:nvPr>
            <p:ph idx="1"/>
          </p:nvPr>
        </p:nvSpPr>
        <p:spPr>
          <a:xfrm>
            <a:off x="628650" y="1217614"/>
            <a:ext cx="7886700" cy="4959350"/>
          </a:xfrm>
        </p:spPr>
        <p:txBody>
          <a:bodyPr>
            <a:normAutofit/>
          </a:bodyPr>
          <a:lstStyle/>
          <a:p>
            <a:r>
              <a:rPr lang="en-US" dirty="0" err="1"/>
              <a:t>Các</a:t>
            </a:r>
            <a:r>
              <a:rPr lang="en-US" dirty="0"/>
              <a:t> </a:t>
            </a:r>
            <a:r>
              <a:rPr lang="en-US" dirty="0" err="1"/>
              <a:t>toán</a:t>
            </a:r>
            <a:r>
              <a:rPr lang="en-US" dirty="0"/>
              <a:t> </a:t>
            </a:r>
            <a:r>
              <a:rPr lang="en-US" dirty="0" err="1"/>
              <a:t>tử</a:t>
            </a:r>
            <a:r>
              <a:rPr lang="en-US" dirty="0"/>
              <a:t> </a:t>
            </a:r>
          </a:p>
          <a:p>
            <a:pPr lvl="1"/>
            <a:r>
              <a:rPr lang="en-US" dirty="0"/>
              <a:t>in:  a in L </a:t>
            </a:r>
            <a:r>
              <a:rPr lang="en-US" dirty="0">
                <a:sym typeface="Wingdings" panose="05000000000000000000" pitchFamily="2" charset="2"/>
              </a:rPr>
              <a:t> true </a:t>
            </a:r>
            <a:r>
              <a:rPr lang="en-US" dirty="0" err="1">
                <a:sym typeface="Wingdings" panose="05000000000000000000" pitchFamily="2" charset="2"/>
              </a:rPr>
              <a:t>nếu</a:t>
            </a:r>
            <a:r>
              <a:rPr lang="en-US" dirty="0">
                <a:sym typeface="Wingdings" panose="05000000000000000000" pitchFamily="2" charset="2"/>
              </a:rPr>
              <a:t> L </a:t>
            </a:r>
            <a:r>
              <a:rPr lang="en-US" dirty="0" err="1">
                <a:sym typeface="Wingdings" panose="05000000000000000000" pitchFamily="2" charset="2"/>
              </a:rPr>
              <a:t>chứa</a:t>
            </a:r>
            <a:r>
              <a:rPr lang="en-US" dirty="0">
                <a:sym typeface="Wingdings" panose="05000000000000000000" pitchFamily="2" charset="2"/>
              </a:rPr>
              <a:t> </a:t>
            </a:r>
            <a:r>
              <a:rPr lang="en-US" dirty="0" err="1">
                <a:sym typeface="Wingdings" panose="05000000000000000000" pitchFamily="2" charset="2"/>
              </a:rPr>
              <a:t>phần</a:t>
            </a:r>
            <a:r>
              <a:rPr lang="en-US" dirty="0">
                <a:sym typeface="Wingdings" panose="05000000000000000000" pitchFamily="2" charset="2"/>
              </a:rPr>
              <a:t> </a:t>
            </a:r>
            <a:r>
              <a:rPr lang="en-US" dirty="0" err="1">
                <a:sym typeface="Wingdings" panose="05000000000000000000" pitchFamily="2" charset="2"/>
              </a:rPr>
              <a:t>tử</a:t>
            </a:r>
            <a:r>
              <a:rPr lang="en-US" dirty="0">
                <a:sym typeface="Wingdings" panose="05000000000000000000" pitchFamily="2" charset="2"/>
              </a:rPr>
              <a:t> a.</a:t>
            </a:r>
          </a:p>
          <a:p>
            <a:pPr lvl="1"/>
            <a:r>
              <a:rPr lang="en-US" dirty="0">
                <a:sym typeface="Wingdings" panose="05000000000000000000" pitchFamily="2" charset="2"/>
              </a:rPr>
              <a:t>+ :</a:t>
            </a:r>
            <a:r>
              <a:rPr lang="en-US" dirty="0" err="1">
                <a:sym typeface="Wingdings" panose="05000000000000000000" pitchFamily="2" charset="2"/>
              </a:rPr>
              <a:t>nối</a:t>
            </a:r>
            <a:r>
              <a:rPr lang="en-US" dirty="0">
                <a:sym typeface="Wingdings" panose="05000000000000000000" pitchFamily="2" charset="2"/>
              </a:rPr>
              <a:t> </a:t>
            </a:r>
            <a:r>
              <a:rPr lang="en-US" dirty="0" err="1">
                <a:sym typeface="Wingdings" panose="05000000000000000000" pitchFamily="2" charset="2"/>
              </a:rPr>
              <a:t>hai</a:t>
            </a:r>
            <a:r>
              <a:rPr lang="en-US" dirty="0">
                <a:sym typeface="Wingdings" panose="05000000000000000000" pitchFamily="2" charset="2"/>
              </a:rPr>
              <a:t> list : [3, 4]+[5, 6, 7] [3, 4, 5 , 6, 7]</a:t>
            </a:r>
          </a:p>
          <a:p>
            <a:pPr lvl="1"/>
            <a:r>
              <a:rPr lang="en-US" dirty="0">
                <a:sym typeface="Wingdings" panose="05000000000000000000" pitchFamily="2" charset="2"/>
              </a:rPr>
              <a:t>* </a:t>
            </a:r>
            <a:r>
              <a:rPr lang="en-US" dirty="0" err="1">
                <a:sym typeface="Wingdings" panose="05000000000000000000" pitchFamily="2" charset="2"/>
              </a:rPr>
              <a:t>lặp</a:t>
            </a:r>
            <a:r>
              <a:rPr lang="en-US" dirty="0">
                <a:sym typeface="Wingdings" panose="05000000000000000000" pitchFamily="2" charset="2"/>
              </a:rPr>
              <a:t> </a:t>
            </a:r>
            <a:r>
              <a:rPr lang="en-US" dirty="0" err="1">
                <a:sym typeface="Wingdings" panose="05000000000000000000" pitchFamily="2" charset="2"/>
              </a:rPr>
              <a:t>lại</a:t>
            </a:r>
            <a:r>
              <a:rPr lang="en-US" dirty="0">
                <a:sym typeface="Wingdings" panose="05000000000000000000" pitchFamily="2" charset="2"/>
              </a:rPr>
              <a:t> </a:t>
            </a:r>
            <a:r>
              <a:rPr lang="en-US" dirty="0" err="1">
                <a:sym typeface="Wingdings" panose="05000000000000000000" pitchFamily="2" charset="2"/>
              </a:rPr>
              <a:t>danh</a:t>
            </a:r>
            <a:r>
              <a:rPr lang="en-US" dirty="0">
                <a:sym typeface="Wingdings" panose="05000000000000000000" pitchFamily="2" charset="2"/>
              </a:rPr>
              <a:t> </a:t>
            </a:r>
            <a:r>
              <a:rPr lang="en-US" dirty="0" err="1">
                <a:sym typeface="Wingdings" panose="05000000000000000000" pitchFamily="2" charset="2"/>
              </a:rPr>
              <a:t>sách</a:t>
            </a:r>
            <a:r>
              <a:rPr lang="en-US" dirty="0">
                <a:sym typeface="Wingdings" panose="05000000000000000000" pitchFamily="2" charset="2"/>
              </a:rPr>
              <a:t> [1, 2]*3[1, 2, 1, 2, 1, 2]</a:t>
            </a:r>
          </a:p>
          <a:p>
            <a:pPr lvl="1"/>
            <a:r>
              <a:rPr lang="en-US" dirty="0">
                <a:sym typeface="Wingdings" panose="05000000000000000000" pitchFamily="2" charset="2"/>
              </a:rPr>
              <a:t>del : </a:t>
            </a:r>
            <a:r>
              <a:rPr lang="en-US" dirty="0" err="1">
                <a:sym typeface="Wingdings" panose="05000000000000000000" pitchFamily="2" charset="2"/>
              </a:rPr>
              <a:t>xóa</a:t>
            </a:r>
            <a:r>
              <a:rPr lang="en-US" dirty="0">
                <a:sym typeface="Wingdings" panose="05000000000000000000" pitchFamily="2" charset="2"/>
              </a:rPr>
              <a:t> </a:t>
            </a:r>
            <a:r>
              <a:rPr lang="en-US" dirty="0" err="1">
                <a:sym typeface="Wingdings" panose="05000000000000000000" pitchFamily="2" charset="2"/>
              </a:rPr>
              <a:t>các</a:t>
            </a:r>
            <a:r>
              <a:rPr lang="en-US" dirty="0">
                <a:sym typeface="Wingdings" panose="05000000000000000000" pitchFamily="2" charset="2"/>
              </a:rPr>
              <a:t> </a:t>
            </a:r>
            <a:r>
              <a:rPr lang="en-US" dirty="0" err="1">
                <a:sym typeface="Wingdings" panose="05000000000000000000" pitchFamily="2" charset="2"/>
              </a:rPr>
              <a:t>phần</a:t>
            </a:r>
            <a:r>
              <a:rPr lang="en-US" dirty="0">
                <a:sym typeface="Wingdings" panose="05000000000000000000" pitchFamily="2" charset="2"/>
              </a:rPr>
              <a:t> </a:t>
            </a:r>
            <a:r>
              <a:rPr lang="en-US" dirty="0" err="1">
                <a:sym typeface="Wingdings" panose="05000000000000000000" pitchFamily="2" charset="2"/>
              </a:rPr>
              <a:t>tử</a:t>
            </a:r>
            <a:r>
              <a:rPr lang="en-US" dirty="0">
                <a:sym typeface="Wingdings" panose="05000000000000000000" pitchFamily="2" charset="2"/>
              </a:rPr>
              <a:t>, </a:t>
            </a:r>
            <a:r>
              <a:rPr lang="en-US" dirty="0" err="1">
                <a:sym typeface="Wingdings" panose="05000000000000000000" pitchFamily="2" charset="2"/>
              </a:rPr>
              <a:t>ví</a:t>
            </a:r>
            <a:r>
              <a:rPr lang="en-US" dirty="0">
                <a:sym typeface="Wingdings" panose="05000000000000000000" pitchFamily="2" charset="2"/>
              </a:rPr>
              <a:t> </a:t>
            </a:r>
            <a:r>
              <a:rPr lang="en-US" dirty="0" err="1">
                <a:sym typeface="Wingdings" panose="05000000000000000000" pitchFamily="2" charset="2"/>
              </a:rPr>
              <a:t>dụ</a:t>
            </a:r>
            <a:r>
              <a:rPr lang="en-US" dirty="0">
                <a:sym typeface="Wingdings" panose="05000000000000000000" pitchFamily="2" charset="2"/>
              </a:rPr>
              <a:t>:	del L[1]; del L[:2]</a:t>
            </a:r>
          </a:p>
          <a:p>
            <a:r>
              <a:rPr lang="en-US" dirty="0" err="1">
                <a:sym typeface="Wingdings" panose="05000000000000000000" pitchFamily="2" charset="2"/>
              </a:rPr>
              <a:t>Hàm</a:t>
            </a:r>
            <a:r>
              <a:rPr lang="en-US" dirty="0">
                <a:sym typeface="Wingdings" panose="05000000000000000000" pitchFamily="2" charset="2"/>
              </a:rPr>
              <a:t> </a:t>
            </a:r>
            <a:r>
              <a:rPr lang="en-US" dirty="0" err="1">
                <a:sym typeface="Wingdings" panose="05000000000000000000" pitchFamily="2" charset="2"/>
              </a:rPr>
              <a:t>trên</a:t>
            </a:r>
            <a:r>
              <a:rPr lang="en-US" dirty="0">
                <a:sym typeface="Wingdings" panose="05000000000000000000" pitchFamily="2" charset="2"/>
              </a:rPr>
              <a:t> </a:t>
            </a:r>
            <a:r>
              <a:rPr lang="en-US" dirty="0" err="1">
                <a:sym typeface="Wingdings" panose="05000000000000000000" pitchFamily="2" charset="2"/>
              </a:rPr>
              <a:t>kiểu</a:t>
            </a:r>
            <a:r>
              <a:rPr lang="en-US" dirty="0">
                <a:sym typeface="Wingdings" panose="05000000000000000000" pitchFamily="2" charset="2"/>
              </a:rPr>
              <a:t> list</a:t>
            </a:r>
          </a:p>
          <a:p>
            <a:pPr lvl="1"/>
            <a:r>
              <a:rPr lang="vi-VN" dirty="0"/>
              <a:t>len trả về số lượng </a:t>
            </a:r>
            <a:r>
              <a:rPr lang="en-US" dirty="0" err="1"/>
              <a:t>phần</a:t>
            </a:r>
            <a:r>
              <a:rPr lang="en-US" dirty="0"/>
              <a:t> </a:t>
            </a:r>
            <a:r>
              <a:rPr lang="en-US" dirty="0" err="1"/>
              <a:t>tử</a:t>
            </a:r>
            <a:endParaRPr lang="en-US" dirty="0"/>
          </a:p>
          <a:p>
            <a:pPr lvl="1"/>
            <a:r>
              <a:rPr lang="vi-VN" dirty="0"/>
              <a:t>sum trả về tổng </a:t>
            </a:r>
            <a:r>
              <a:rPr lang="en-US" dirty="0" err="1"/>
              <a:t>các</a:t>
            </a:r>
            <a:r>
              <a:rPr lang="en-US" dirty="0"/>
              <a:t> </a:t>
            </a:r>
            <a:r>
              <a:rPr lang="en-US" dirty="0" err="1"/>
              <a:t>phần</a:t>
            </a:r>
            <a:r>
              <a:rPr lang="en-US" dirty="0"/>
              <a:t> </a:t>
            </a:r>
            <a:r>
              <a:rPr lang="en-US" dirty="0" err="1"/>
              <a:t>tử</a:t>
            </a:r>
            <a:endParaRPr lang="en-US" dirty="0"/>
          </a:p>
          <a:p>
            <a:pPr lvl="1"/>
            <a:r>
              <a:rPr lang="vi-VN" dirty="0"/>
              <a:t>min trả về giá </a:t>
            </a:r>
            <a:r>
              <a:rPr lang="en-US" dirty="0" err="1"/>
              <a:t>nhỏ</a:t>
            </a:r>
            <a:r>
              <a:rPr lang="en-US" dirty="0"/>
              <a:t> </a:t>
            </a:r>
            <a:r>
              <a:rPr lang="en-US" dirty="0" err="1"/>
              <a:t>nhất</a:t>
            </a:r>
            <a:endParaRPr lang="en-US" dirty="0"/>
          </a:p>
          <a:p>
            <a:pPr lvl="1"/>
            <a:r>
              <a:rPr lang="vi-VN" dirty="0"/>
              <a:t>max trả về giá trị </a:t>
            </a:r>
            <a:r>
              <a:rPr lang="en-US" dirty="0" err="1"/>
              <a:t>lớn</a:t>
            </a:r>
            <a:r>
              <a:rPr lang="en-US" dirty="0"/>
              <a:t> </a:t>
            </a:r>
            <a:r>
              <a:rPr lang="en-US" dirty="0" err="1"/>
              <a:t>nhất</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41</a:t>
            </a:fld>
            <a:endParaRPr lang="en-US"/>
          </a:p>
        </p:txBody>
      </p:sp>
    </p:spTree>
    <p:extLst>
      <p:ext uri="{BB962C8B-B14F-4D97-AF65-F5344CB8AC3E}">
        <p14:creationId xmlns:p14="http://schemas.microsoft.com/office/powerpoint/2010/main" val="3299626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7"/>
            <a:ext cx="7886700" cy="1035366"/>
          </a:xfrm>
        </p:spPr>
        <p:txBody>
          <a:bodyPr/>
          <a:lstStyle/>
          <a:p>
            <a:r>
              <a:rPr lang="en-US" dirty="0" err="1"/>
              <a:t>Kiểu</a:t>
            </a:r>
            <a:r>
              <a:rPr lang="en-US" dirty="0"/>
              <a:t> list</a:t>
            </a:r>
          </a:p>
        </p:txBody>
      </p:sp>
      <p:sp>
        <p:nvSpPr>
          <p:cNvPr id="3" name="Content Placeholder 2"/>
          <p:cNvSpPr>
            <a:spLocks noGrp="1"/>
          </p:cNvSpPr>
          <p:nvPr>
            <p:ph idx="1"/>
          </p:nvPr>
        </p:nvSpPr>
        <p:spPr>
          <a:xfrm>
            <a:off x="628650" y="1217614"/>
            <a:ext cx="7886700" cy="4959350"/>
          </a:xfrm>
        </p:spPr>
        <p:txBody>
          <a:bodyPr>
            <a:normAutofit lnSpcReduction="10000"/>
          </a:bodyPr>
          <a:lstStyle/>
          <a:p>
            <a:r>
              <a:rPr lang="en-US" dirty="0" err="1"/>
              <a:t>Truy</a:t>
            </a:r>
            <a:r>
              <a:rPr lang="en-US" dirty="0"/>
              <a:t> </a:t>
            </a:r>
            <a:r>
              <a:rPr lang="en-US" dirty="0" err="1"/>
              <a:t>xuất</a:t>
            </a:r>
            <a:r>
              <a:rPr lang="en-US" dirty="0"/>
              <a:t> </a:t>
            </a:r>
            <a:r>
              <a:rPr lang="en-US" dirty="0" err="1"/>
              <a:t>phần</a:t>
            </a:r>
            <a:r>
              <a:rPr lang="en-US" dirty="0"/>
              <a:t> </a:t>
            </a:r>
            <a:r>
              <a:rPr lang="en-US" dirty="0" err="1"/>
              <a:t>tử</a:t>
            </a:r>
            <a:r>
              <a:rPr lang="en-US" dirty="0"/>
              <a:t> </a:t>
            </a:r>
            <a:r>
              <a:rPr lang="en-US" dirty="0" err="1"/>
              <a:t>và</a:t>
            </a:r>
            <a:r>
              <a:rPr lang="en-US" dirty="0"/>
              <a:t> </a:t>
            </a:r>
            <a:r>
              <a:rPr lang="en-US" dirty="0" err="1"/>
              <a:t>danh</a:t>
            </a:r>
            <a:r>
              <a:rPr lang="en-US" dirty="0"/>
              <a:t> </a:t>
            </a:r>
            <a:r>
              <a:rPr lang="en-US" dirty="0" err="1"/>
              <a:t>sách</a:t>
            </a:r>
            <a:r>
              <a:rPr lang="en-US" dirty="0"/>
              <a:t> con </a:t>
            </a:r>
            <a:r>
              <a:rPr lang="en-US" dirty="0" err="1"/>
              <a:t>tương</a:t>
            </a:r>
            <a:r>
              <a:rPr lang="en-US" dirty="0"/>
              <a:t> </a:t>
            </a:r>
            <a:r>
              <a:rPr lang="en-US" dirty="0" err="1"/>
              <a:t>tự</a:t>
            </a:r>
            <a:r>
              <a:rPr lang="en-US" dirty="0"/>
              <a:t> </a:t>
            </a:r>
            <a:r>
              <a:rPr lang="en-US" dirty="0" err="1"/>
              <a:t>xâu</a:t>
            </a:r>
            <a:r>
              <a:rPr lang="en-US" dirty="0"/>
              <a:t>:</a:t>
            </a:r>
          </a:p>
          <a:p>
            <a:pPr marL="0" indent="0">
              <a:buNone/>
            </a:pPr>
            <a:r>
              <a:rPr lang="en-US" sz="2900" dirty="0">
                <a:latin typeface="Courier New" panose="02070309020205020404" pitchFamily="49" charset="0"/>
                <a:cs typeface="Courier New" panose="02070309020205020404" pitchFamily="49" charset="0"/>
              </a:rPr>
              <a:t>L=[1,2,3,4,5,6] </a:t>
            </a:r>
          </a:p>
          <a:p>
            <a:pPr marL="0" indent="0">
              <a:buNone/>
            </a:pPr>
            <a:r>
              <a:rPr lang="en-US" sz="2900" dirty="0" err="1">
                <a:latin typeface="Courier New" panose="02070309020205020404" pitchFamily="49" charset="0"/>
                <a:cs typeface="Courier New" panose="02070309020205020404" pitchFamily="49" charset="0"/>
              </a:rPr>
              <a:t>Thì</a:t>
            </a:r>
            <a:r>
              <a:rPr lang="en-US" sz="2900" dirty="0">
                <a:latin typeface="Courier New" panose="02070309020205020404" pitchFamily="49" charset="0"/>
                <a:cs typeface="Courier New" panose="02070309020205020404" pitchFamily="49" charset="0"/>
              </a:rPr>
              <a:t>:</a:t>
            </a:r>
          </a:p>
          <a:p>
            <a:pPr marL="0" indent="0">
              <a:buNone/>
            </a:pPr>
            <a:r>
              <a:rPr lang="en-US" sz="2900" dirty="0">
                <a:latin typeface="Courier New" panose="02070309020205020404" pitchFamily="49" charset="0"/>
                <a:cs typeface="Courier New" panose="02070309020205020404" pitchFamily="49" charset="0"/>
              </a:rPr>
              <a:t>L[1] </a:t>
            </a:r>
            <a:r>
              <a:rPr lang="en-US" sz="2900" dirty="0">
                <a:latin typeface="Courier New" panose="02070309020205020404" pitchFamily="49" charset="0"/>
                <a:cs typeface="Courier New" panose="02070309020205020404" pitchFamily="49" charset="0"/>
                <a:sym typeface="Wingdings" panose="05000000000000000000" pitchFamily="2" charset="2"/>
              </a:rPr>
              <a:t></a:t>
            </a:r>
            <a:r>
              <a:rPr lang="en-US" sz="2900" dirty="0">
                <a:latin typeface="Courier New" panose="02070309020205020404" pitchFamily="49" charset="0"/>
                <a:cs typeface="Courier New" panose="02070309020205020404" pitchFamily="49" charset="0"/>
              </a:rPr>
              <a:t> 2 </a:t>
            </a:r>
          </a:p>
          <a:p>
            <a:pPr marL="0" indent="0">
              <a:buNone/>
            </a:pPr>
            <a:r>
              <a:rPr lang="en-US" sz="2900" dirty="0">
                <a:latin typeface="Courier New" panose="02070309020205020404" pitchFamily="49" charset="0"/>
                <a:cs typeface="Courier New" panose="02070309020205020404" pitchFamily="49" charset="0"/>
              </a:rPr>
              <a:t>L[2:5]</a:t>
            </a:r>
            <a:r>
              <a:rPr lang="en-US" sz="2900" dirty="0">
                <a:latin typeface="Courier New" panose="02070309020205020404" pitchFamily="49" charset="0"/>
                <a:cs typeface="Courier New" panose="02070309020205020404" pitchFamily="49" charset="0"/>
                <a:sym typeface="Wingdings" panose="05000000000000000000" pitchFamily="2" charset="2"/>
              </a:rPr>
              <a:t></a:t>
            </a:r>
            <a:r>
              <a:rPr lang="en-US" sz="2900" dirty="0">
                <a:latin typeface="Courier New" panose="02070309020205020404" pitchFamily="49" charset="0"/>
                <a:cs typeface="Courier New" panose="02070309020205020404" pitchFamily="49" charset="0"/>
              </a:rPr>
              <a:t>[3,4,5]</a:t>
            </a:r>
          </a:p>
          <a:p>
            <a:pPr marL="0" indent="0">
              <a:buNone/>
            </a:pPr>
            <a:r>
              <a:rPr lang="en-US" sz="2900" dirty="0">
                <a:latin typeface="Courier New" panose="02070309020205020404" pitchFamily="49" charset="0"/>
                <a:cs typeface="Courier New" panose="02070309020205020404" pitchFamily="49" charset="0"/>
              </a:rPr>
              <a:t>L[:5]</a:t>
            </a:r>
            <a:r>
              <a:rPr lang="en-US" sz="2900" dirty="0">
                <a:latin typeface="Courier New" panose="02070309020205020404" pitchFamily="49" charset="0"/>
                <a:cs typeface="Courier New" panose="02070309020205020404" pitchFamily="49" charset="0"/>
                <a:sym typeface="Wingdings" panose="05000000000000000000" pitchFamily="2" charset="2"/>
              </a:rPr>
              <a:t> [1,2,3,4]</a:t>
            </a:r>
          </a:p>
          <a:p>
            <a:pPr>
              <a:lnSpc>
                <a:spcPct val="100000"/>
              </a:lnSpc>
            </a:pPr>
            <a:r>
              <a:rPr lang="en-US" dirty="0">
                <a:sym typeface="Wingdings" panose="05000000000000000000" pitchFamily="2" charset="2"/>
              </a:rPr>
              <a:t>Hai </a:t>
            </a:r>
            <a:r>
              <a:rPr lang="en-US" dirty="0" err="1">
                <a:sym typeface="Wingdings" panose="05000000000000000000" pitchFamily="2" charset="2"/>
              </a:rPr>
              <a:t>cách</a:t>
            </a:r>
            <a:r>
              <a:rPr lang="en-US" dirty="0">
                <a:sym typeface="Wingdings" panose="05000000000000000000" pitchFamily="2" charset="2"/>
              </a:rPr>
              <a:t> </a:t>
            </a:r>
            <a:r>
              <a:rPr lang="en-US" dirty="0" err="1">
                <a:sym typeface="Wingdings" panose="05000000000000000000" pitchFamily="2" charset="2"/>
              </a:rPr>
              <a:t>duyệt</a:t>
            </a:r>
            <a:r>
              <a:rPr lang="en-US" dirty="0">
                <a:sym typeface="Wingdings" panose="05000000000000000000" pitchFamily="2" charset="2"/>
              </a:rPr>
              <a:t> list:</a:t>
            </a:r>
          </a:p>
          <a:p>
            <a:pPr marL="0" indent="0">
              <a:buNone/>
            </a:pPr>
            <a:r>
              <a:rPr lang="en-US" sz="2900" dirty="0">
                <a:latin typeface="Courier New" panose="02070309020205020404" pitchFamily="49" charset="0"/>
                <a:cs typeface="Courier New" panose="02070309020205020404" pitchFamily="49" charset="0"/>
              </a:rPr>
              <a:t>for </a:t>
            </a:r>
            <a:r>
              <a:rPr lang="en-US" sz="2900" dirty="0" err="1">
                <a:latin typeface="Courier New" panose="02070309020205020404" pitchFamily="49" charset="0"/>
                <a:cs typeface="Courier New" panose="02070309020205020404" pitchFamily="49" charset="0"/>
              </a:rPr>
              <a:t>i</a:t>
            </a:r>
            <a:r>
              <a:rPr lang="en-US" sz="2900" dirty="0">
                <a:latin typeface="Courier New" panose="02070309020205020404" pitchFamily="49" charset="0"/>
                <a:cs typeface="Courier New" panose="02070309020205020404" pitchFamily="49" charset="0"/>
              </a:rPr>
              <a:t> in range(</a:t>
            </a:r>
            <a:r>
              <a:rPr lang="en-US" sz="2900" dirty="0" err="1">
                <a:latin typeface="Courier New" panose="02070309020205020404" pitchFamily="49" charset="0"/>
                <a:cs typeface="Courier New" panose="02070309020205020404" pitchFamily="49" charset="0"/>
              </a:rPr>
              <a:t>len</a:t>
            </a:r>
            <a:r>
              <a:rPr lang="en-US" sz="2900" dirty="0">
                <a:latin typeface="Courier New" panose="02070309020205020404" pitchFamily="49" charset="0"/>
                <a:cs typeface="Courier New" panose="02070309020205020404" pitchFamily="49" charset="0"/>
              </a:rPr>
              <a:t>(L)):print(L[</a:t>
            </a:r>
            <a:r>
              <a:rPr lang="en-US" sz="2900" dirty="0" err="1">
                <a:latin typeface="Courier New" panose="02070309020205020404" pitchFamily="49" charset="0"/>
                <a:cs typeface="Courier New" panose="02070309020205020404" pitchFamily="49" charset="0"/>
              </a:rPr>
              <a:t>i</a:t>
            </a:r>
            <a:r>
              <a:rPr lang="en-US" sz="2900" dirty="0">
                <a:latin typeface="Courier New" panose="02070309020205020404" pitchFamily="49" charset="0"/>
                <a:cs typeface="Courier New" panose="02070309020205020404" pitchFamily="49" charset="0"/>
              </a:rPr>
              <a:t>]) </a:t>
            </a:r>
          </a:p>
          <a:p>
            <a:pPr marL="0" indent="0">
              <a:buNone/>
            </a:pPr>
            <a:r>
              <a:rPr lang="en-US" sz="2900" dirty="0">
                <a:latin typeface="Courier New" panose="02070309020205020404" pitchFamily="49" charset="0"/>
                <a:cs typeface="Courier New" panose="02070309020205020404" pitchFamily="49" charset="0"/>
              </a:rPr>
              <a:t>for item in L: print(item) </a:t>
            </a:r>
            <a:br>
              <a:rPr lang="en-US" sz="3200" dirty="0"/>
            </a:br>
            <a:endParaRPr lang="en-US" sz="29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42</a:t>
            </a:fld>
            <a:endParaRPr lang="en-US"/>
          </a:p>
        </p:txBody>
      </p:sp>
    </p:spTree>
    <p:extLst>
      <p:ext uri="{BB962C8B-B14F-4D97-AF65-F5344CB8AC3E}">
        <p14:creationId xmlns:p14="http://schemas.microsoft.com/office/powerpoint/2010/main" val="3994557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7"/>
            <a:ext cx="7886700" cy="1035366"/>
          </a:xfrm>
        </p:spPr>
        <p:txBody>
          <a:bodyPr/>
          <a:lstStyle/>
          <a:p>
            <a:r>
              <a:rPr lang="en-US" dirty="0" err="1"/>
              <a:t>Kiểu</a:t>
            </a:r>
            <a:r>
              <a:rPr lang="en-US" dirty="0"/>
              <a:t> list</a:t>
            </a:r>
          </a:p>
        </p:txBody>
      </p:sp>
      <p:sp>
        <p:nvSpPr>
          <p:cNvPr id="3" name="Content Placeholder 2"/>
          <p:cNvSpPr>
            <a:spLocks noGrp="1"/>
          </p:cNvSpPr>
          <p:nvPr>
            <p:ph idx="1"/>
          </p:nvPr>
        </p:nvSpPr>
        <p:spPr>
          <a:xfrm>
            <a:off x="628650" y="1217614"/>
            <a:ext cx="7886700" cy="4959350"/>
          </a:xfrm>
        </p:spPr>
        <p:txBody>
          <a:bodyPr>
            <a:normAutofit fontScale="70000" lnSpcReduction="20000"/>
          </a:bodyPr>
          <a:lstStyle/>
          <a:p>
            <a:r>
              <a:rPr lang="en-US" dirty="0" err="1"/>
              <a:t>Các</a:t>
            </a:r>
            <a:r>
              <a:rPr lang="en-US" dirty="0"/>
              <a:t> </a:t>
            </a:r>
            <a:r>
              <a:rPr lang="en-US" dirty="0" err="1"/>
              <a:t>hàm</a:t>
            </a:r>
            <a:r>
              <a:rPr lang="en-US" dirty="0"/>
              <a:t> </a:t>
            </a:r>
            <a:r>
              <a:rPr lang="en-US" dirty="0" err="1"/>
              <a:t>thành</a:t>
            </a:r>
            <a:r>
              <a:rPr lang="en-US" dirty="0"/>
              <a:t> </a:t>
            </a:r>
            <a:r>
              <a:rPr lang="en-US" dirty="0" err="1"/>
              <a:t>phần</a:t>
            </a:r>
            <a:r>
              <a:rPr lang="en-US" dirty="0"/>
              <a:t>:</a:t>
            </a:r>
          </a:p>
          <a:p>
            <a:pPr lvl="1"/>
            <a:r>
              <a:rPr lang="vi-VN" dirty="0"/>
              <a:t>append (x) thêm x vào cuối danh sách </a:t>
            </a:r>
            <a:endParaRPr lang="en-US" dirty="0"/>
          </a:p>
          <a:p>
            <a:pPr lvl="1"/>
            <a:r>
              <a:rPr lang="vi-VN" dirty="0"/>
              <a:t>sort () sắp xếp danh sách </a:t>
            </a:r>
            <a:endParaRPr lang="en-US" dirty="0"/>
          </a:p>
          <a:p>
            <a:pPr lvl="1"/>
            <a:r>
              <a:rPr lang="vi-VN" dirty="0"/>
              <a:t>count (x) trả về số lần x xuất hiện trong danh sách </a:t>
            </a:r>
            <a:endParaRPr lang="en-US" dirty="0"/>
          </a:p>
          <a:p>
            <a:pPr lvl="1"/>
            <a:r>
              <a:rPr lang="vi-VN" dirty="0"/>
              <a:t>index (x) trả về vị trí xuất hiện đầu tiên của x</a:t>
            </a:r>
            <a:endParaRPr lang="en-US" dirty="0"/>
          </a:p>
          <a:p>
            <a:pPr lvl="1"/>
            <a:r>
              <a:rPr lang="vi-VN" dirty="0"/>
              <a:t>reverse () đảo ngược danh sách </a:t>
            </a:r>
            <a:endParaRPr lang="en-US" dirty="0"/>
          </a:p>
          <a:p>
            <a:pPr lvl="1"/>
            <a:r>
              <a:rPr lang="vi-VN" dirty="0"/>
              <a:t>remove (x) loại bỏ vị trí xuất hiện đầu tiên của x khỏi danh sách </a:t>
            </a:r>
            <a:endParaRPr lang="en-US" dirty="0"/>
          </a:p>
          <a:p>
            <a:pPr lvl="1"/>
            <a:r>
              <a:rPr lang="vi-VN" dirty="0"/>
              <a:t>pop (p) xóa </a:t>
            </a:r>
            <a:r>
              <a:rPr lang="en-US" dirty="0" err="1"/>
              <a:t>phần</a:t>
            </a:r>
            <a:r>
              <a:rPr lang="en-US" dirty="0"/>
              <a:t> </a:t>
            </a:r>
            <a:r>
              <a:rPr lang="en-US" dirty="0" err="1"/>
              <a:t>tử</a:t>
            </a:r>
            <a:r>
              <a:rPr lang="en-US" dirty="0"/>
              <a:t> </a:t>
            </a:r>
            <a:r>
              <a:rPr lang="vi-VN" dirty="0"/>
              <a:t>chỉ </a:t>
            </a:r>
            <a:r>
              <a:rPr lang="en-US" dirty="0" err="1"/>
              <a:t>số</a:t>
            </a:r>
            <a:r>
              <a:rPr lang="vi-VN" dirty="0"/>
              <a:t> p và trả về giá trị của nó </a:t>
            </a:r>
            <a:endParaRPr lang="en-US" dirty="0"/>
          </a:p>
          <a:p>
            <a:pPr lvl="1"/>
            <a:r>
              <a:rPr lang="vi-VN" dirty="0"/>
              <a:t>insert (p, x) chèn x vào chỉ </a:t>
            </a:r>
            <a:r>
              <a:rPr lang="en-US" dirty="0" err="1"/>
              <a:t>số</a:t>
            </a:r>
            <a:r>
              <a:rPr lang="vi-VN" dirty="0"/>
              <a:t> p của danh sách</a:t>
            </a:r>
            <a:endParaRPr lang="en-US" dirty="0"/>
          </a:p>
          <a:p>
            <a:r>
              <a:rPr lang="en-US" sz="3200" dirty="0" err="1"/>
              <a:t>Lưu</a:t>
            </a:r>
            <a:r>
              <a:rPr lang="en-US" sz="3200" dirty="0"/>
              <a:t> ý: </a:t>
            </a:r>
            <a:r>
              <a:rPr lang="en-US" sz="3200" dirty="0" err="1"/>
              <a:t>các</a:t>
            </a:r>
            <a:r>
              <a:rPr lang="en-US" sz="3200" dirty="0"/>
              <a:t> </a:t>
            </a:r>
            <a:r>
              <a:rPr lang="en-US" sz="3200" dirty="0" err="1"/>
              <a:t>hàm</a:t>
            </a:r>
            <a:r>
              <a:rPr lang="en-US" sz="3200" dirty="0"/>
              <a:t> </a:t>
            </a:r>
            <a:r>
              <a:rPr lang="en-US" sz="3200" dirty="0" err="1"/>
              <a:t>thành</a:t>
            </a:r>
            <a:r>
              <a:rPr lang="en-US" sz="3200" dirty="0"/>
              <a:t> </a:t>
            </a:r>
            <a:r>
              <a:rPr lang="en-US" sz="3200" dirty="0" err="1"/>
              <a:t>phần</a:t>
            </a:r>
            <a:r>
              <a:rPr lang="en-US" sz="3200" dirty="0"/>
              <a:t> </a:t>
            </a:r>
            <a:r>
              <a:rPr lang="en-US" sz="3200" dirty="0" err="1"/>
              <a:t>kiểu</a:t>
            </a:r>
            <a:r>
              <a:rPr lang="en-US" sz="3200" dirty="0"/>
              <a:t> string </a:t>
            </a:r>
            <a:r>
              <a:rPr lang="en-US" sz="3200" dirty="0" err="1"/>
              <a:t>không</a:t>
            </a:r>
            <a:r>
              <a:rPr lang="en-US" sz="3200" dirty="0"/>
              <a:t> </a:t>
            </a:r>
            <a:r>
              <a:rPr lang="en-US" sz="3200" dirty="0" err="1"/>
              <a:t>làm</a:t>
            </a:r>
            <a:r>
              <a:rPr lang="en-US" sz="3200" dirty="0"/>
              <a:t> </a:t>
            </a:r>
            <a:r>
              <a:rPr lang="en-US" sz="3200" dirty="0" err="1"/>
              <a:t>thay</a:t>
            </a:r>
            <a:r>
              <a:rPr lang="en-US" sz="3200" dirty="0"/>
              <a:t> </a:t>
            </a:r>
            <a:r>
              <a:rPr lang="en-US" sz="3200" dirty="0" err="1"/>
              <a:t>đổi</a:t>
            </a:r>
            <a:r>
              <a:rPr lang="en-US" sz="3200" dirty="0"/>
              <a:t> </a:t>
            </a:r>
            <a:r>
              <a:rPr lang="en-US" sz="3200" dirty="0" err="1"/>
              <a:t>xâu</a:t>
            </a:r>
            <a:r>
              <a:rPr lang="en-US" sz="3200" dirty="0"/>
              <a:t> </a:t>
            </a:r>
            <a:r>
              <a:rPr lang="en-US" sz="3200" dirty="0" err="1"/>
              <a:t>đó</a:t>
            </a:r>
            <a:r>
              <a:rPr lang="en-US" sz="3200" dirty="0"/>
              <a:t> </a:t>
            </a:r>
            <a:r>
              <a:rPr lang="en-US" sz="3200" dirty="0" err="1"/>
              <a:t>nhưng</a:t>
            </a:r>
            <a:r>
              <a:rPr lang="en-US" sz="3200" dirty="0"/>
              <a:t> </a:t>
            </a:r>
            <a:r>
              <a:rPr lang="en-US" sz="3200" dirty="0" err="1"/>
              <a:t>hàm</a:t>
            </a:r>
            <a:r>
              <a:rPr lang="en-US" sz="3200" dirty="0"/>
              <a:t> </a:t>
            </a:r>
            <a:r>
              <a:rPr lang="en-US" sz="3200" dirty="0" err="1"/>
              <a:t>thành</a:t>
            </a:r>
            <a:r>
              <a:rPr lang="en-US" sz="3200" dirty="0"/>
              <a:t> </a:t>
            </a:r>
            <a:r>
              <a:rPr lang="en-US" sz="3200" dirty="0" err="1"/>
              <a:t>phần</a:t>
            </a:r>
            <a:r>
              <a:rPr lang="en-US" sz="3200" dirty="0"/>
              <a:t> </a:t>
            </a:r>
            <a:r>
              <a:rPr lang="en-US" sz="3200" dirty="0" err="1"/>
              <a:t>của</a:t>
            </a:r>
            <a:r>
              <a:rPr lang="en-US" sz="3200" dirty="0"/>
              <a:t> </a:t>
            </a:r>
            <a:r>
              <a:rPr lang="en-US" sz="3200" dirty="0" err="1"/>
              <a:t>kiểu</a:t>
            </a:r>
            <a:r>
              <a:rPr lang="en-US" sz="3200" dirty="0"/>
              <a:t> list </a:t>
            </a:r>
            <a:r>
              <a:rPr lang="en-US" sz="3200" dirty="0" err="1"/>
              <a:t>làm</a:t>
            </a:r>
            <a:r>
              <a:rPr lang="en-US" sz="3200" dirty="0"/>
              <a:t> </a:t>
            </a:r>
            <a:r>
              <a:rPr lang="en-US" sz="3200" dirty="0" err="1"/>
              <a:t>thay</a:t>
            </a:r>
            <a:r>
              <a:rPr lang="en-US" sz="3200" dirty="0"/>
              <a:t> </a:t>
            </a:r>
            <a:r>
              <a:rPr lang="en-US" sz="3200" dirty="0" err="1"/>
              <a:t>đổi</a:t>
            </a:r>
            <a:r>
              <a:rPr lang="en-US" sz="3200" dirty="0"/>
              <a:t> </a:t>
            </a:r>
            <a:r>
              <a:rPr lang="en-US" sz="3200" dirty="0" err="1"/>
              <a:t>danh</a:t>
            </a:r>
            <a:r>
              <a:rPr lang="en-US" sz="3200" dirty="0"/>
              <a:t> </a:t>
            </a:r>
            <a:r>
              <a:rPr lang="en-US" sz="3200" dirty="0" err="1"/>
              <a:t>sách</a:t>
            </a:r>
            <a:r>
              <a:rPr lang="en-US" sz="3200" dirty="0"/>
              <a:t> </a:t>
            </a:r>
            <a:r>
              <a:rPr lang="en-US" sz="3200" dirty="0" err="1"/>
              <a:t>đó</a:t>
            </a:r>
            <a:r>
              <a:rPr lang="en-US" sz="3200" dirty="0"/>
              <a:t>. </a:t>
            </a:r>
            <a:r>
              <a:rPr lang="en-US" sz="3200" dirty="0" err="1"/>
              <a:t>Ví</a:t>
            </a:r>
            <a:r>
              <a:rPr lang="en-US" sz="3200" dirty="0"/>
              <a:t> </a:t>
            </a:r>
            <a:r>
              <a:rPr lang="en-US" sz="3200" dirty="0" err="1"/>
              <a:t>dụ</a:t>
            </a:r>
            <a:r>
              <a:rPr lang="en-US" sz="3200" dirty="0"/>
              <a:t>:</a:t>
            </a:r>
          </a:p>
          <a:p>
            <a:r>
              <a:rPr lang="en-US" sz="3200" dirty="0" err="1"/>
              <a:t>Muốn</a:t>
            </a:r>
            <a:r>
              <a:rPr lang="en-US" sz="3200" dirty="0"/>
              <a:t> </a:t>
            </a:r>
            <a:r>
              <a:rPr lang="en-US" sz="3200" dirty="0" err="1"/>
              <a:t>chuyển</a:t>
            </a:r>
            <a:r>
              <a:rPr lang="en-US" sz="3200" dirty="0"/>
              <a:t> </a:t>
            </a:r>
            <a:r>
              <a:rPr lang="en-US" sz="3200" dirty="0" err="1"/>
              <a:t>xâu</a:t>
            </a:r>
            <a:r>
              <a:rPr lang="en-US" sz="3200" dirty="0"/>
              <a:t> s </a:t>
            </a:r>
            <a:r>
              <a:rPr lang="en-US" sz="3200" dirty="0" err="1"/>
              <a:t>thành</a:t>
            </a:r>
            <a:r>
              <a:rPr lang="en-US" sz="3200" dirty="0"/>
              <a:t> </a:t>
            </a:r>
            <a:r>
              <a:rPr lang="en-US" sz="3200" dirty="0" err="1"/>
              <a:t>chữ</a:t>
            </a:r>
            <a:r>
              <a:rPr lang="en-US" sz="3200" dirty="0"/>
              <a:t> </a:t>
            </a:r>
            <a:r>
              <a:rPr lang="en-US" sz="3200" dirty="0" err="1"/>
              <a:t>hoa</a:t>
            </a:r>
            <a:r>
              <a:rPr lang="en-US" sz="3200" dirty="0"/>
              <a:t>:</a:t>
            </a:r>
          </a:p>
          <a:p>
            <a:pPr marL="0" indent="0">
              <a:lnSpc>
                <a:spcPct val="110000"/>
              </a:lnSpc>
              <a:buNone/>
            </a:pPr>
            <a:r>
              <a:rPr lang="en-US" sz="3200" dirty="0"/>
              <a:t>	</a:t>
            </a:r>
            <a:r>
              <a:rPr lang="en-US" sz="3700" dirty="0">
                <a:latin typeface="Courier New" panose="02070309020205020404" pitchFamily="49" charset="0"/>
                <a:cs typeface="Courier New" panose="02070309020205020404" pitchFamily="49" charset="0"/>
              </a:rPr>
              <a:t>s=</a:t>
            </a:r>
            <a:r>
              <a:rPr lang="en-US" sz="3700" dirty="0" err="1">
                <a:latin typeface="Courier New" panose="02070309020205020404" pitchFamily="49" charset="0"/>
                <a:cs typeface="Courier New" panose="02070309020205020404" pitchFamily="49" charset="0"/>
              </a:rPr>
              <a:t>s.upper</a:t>
            </a:r>
            <a:r>
              <a:rPr lang="en-US" sz="3700" dirty="0">
                <a:latin typeface="Courier New" panose="02070309020205020404" pitchFamily="49" charset="0"/>
                <a:cs typeface="Courier New" panose="02070309020205020404" pitchFamily="49" charset="0"/>
              </a:rPr>
              <a:t>()</a:t>
            </a:r>
          </a:p>
          <a:p>
            <a:r>
              <a:rPr lang="en-US" sz="3200" dirty="0" err="1"/>
              <a:t>Muốn</a:t>
            </a:r>
            <a:r>
              <a:rPr lang="en-US" sz="3200" dirty="0"/>
              <a:t> </a:t>
            </a:r>
            <a:r>
              <a:rPr lang="en-US" sz="3200" dirty="0" err="1"/>
              <a:t>sắp</a:t>
            </a:r>
            <a:r>
              <a:rPr lang="en-US" sz="3200" dirty="0"/>
              <a:t> </a:t>
            </a:r>
            <a:r>
              <a:rPr lang="en-US" sz="3200" dirty="0" err="1"/>
              <a:t>xếp</a:t>
            </a:r>
            <a:r>
              <a:rPr lang="en-US" sz="3200" dirty="0"/>
              <a:t> </a:t>
            </a:r>
            <a:r>
              <a:rPr lang="en-US" sz="3200" dirty="0" err="1"/>
              <a:t>danh</a:t>
            </a:r>
            <a:r>
              <a:rPr lang="en-US" sz="3200" dirty="0"/>
              <a:t> </a:t>
            </a:r>
            <a:r>
              <a:rPr lang="en-US" sz="3200" dirty="0" err="1"/>
              <a:t>sách</a:t>
            </a:r>
            <a:r>
              <a:rPr lang="en-US" sz="3200" dirty="0"/>
              <a:t> L:</a:t>
            </a:r>
          </a:p>
          <a:p>
            <a:pPr marL="0" indent="0">
              <a:lnSpc>
                <a:spcPct val="110000"/>
              </a:lnSpc>
              <a:buNone/>
            </a:pPr>
            <a:r>
              <a:rPr lang="en-US" sz="3200" dirty="0"/>
              <a:t>	</a:t>
            </a:r>
            <a:r>
              <a:rPr lang="en-US" sz="3700" dirty="0" err="1">
                <a:latin typeface="Courier New" panose="02070309020205020404" pitchFamily="49" charset="0"/>
                <a:cs typeface="Courier New" panose="02070309020205020404" pitchFamily="49" charset="0"/>
              </a:rPr>
              <a:t>L.sort</a:t>
            </a:r>
            <a:r>
              <a:rPr lang="en-US" sz="3700" dirty="0">
                <a:latin typeface="Courier New" panose="02070309020205020404" pitchFamily="49" charset="0"/>
                <a:cs typeface="Courier New" panose="02070309020205020404" pitchFamily="49" charset="0"/>
              </a:rPr>
              <a:t>()</a:t>
            </a:r>
          </a:p>
          <a:p>
            <a:pPr marL="0" indent="0">
              <a:lnSpc>
                <a:spcPct val="110000"/>
              </a:lnSpc>
              <a:buNone/>
            </a:pPr>
            <a:endParaRPr lang="en-US" sz="37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43</a:t>
            </a:fld>
            <a:endParaRPr lang="en-US"/>
          </a:p>
        </p:txBody>
      </p:sp>
    </p:spTree>
    <p:extLst>
      <p:ext uri="{BB962C8B-B14F-4D97-AF65-F5344CB8AC3E}">
        <p14:creationId xmlns:p14="http://schemas.microsoft.com/office/powerpoint/2010/main" val="70373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2247"/>
            <a:ext cx="7886700" cy="1035366"/>
          </a:xfrm>
        </p:spPr>
        <p:txBody>
          <a:bodyPr/>
          <a:lstStyle/>
          <a:p>
            <a:r>
              <a:rPr lang="en-US" dirty="0" err="1"/>
              <a:t>Kiểu</a:t>
            </a:r>
            <a:r>
              <a:rPr lang="en-US" dirty="0"/>
              <a:t> list</a:t>
            </a:r>
          </a:p>
        </p:txBody>
      </p:sp>
      <p:sp>
        <p:nvSpPr>
          <p:cNvPr id="3" name="Content Placeholder 2"/>
          <p:cNvSpPr>
            <a:spLocks noGrp="1"/>
          </p:cNvSpPr>
          <p:nvPr>
            <p:ph idx="1"/>
          </p:nvPr>
        </p:nvSpPr>
        <p:spPr>
          <a:xfrm>
            <a:off x="628650" y="1217614"/>
            <a:ext cx="7886700" cy="4959350"/>
          </a:xfrm>
        </p:spPr>
        <p:txBody>
          <a:bodyPr>
            <a:normAutofit/>
          </a:bodyPr>
          <a:lstStyle/>
          <a:p>
            <a:r>
              <a:rPr lang="en-US" dirty="0"/>
              <a:t>Sao </a:t>
            </a:r>
            <a:r>
              <a:rPr lang="en-US" dirty="0" err="1"/>
              <a:t>chép</a:t>
            </a:r>
            <a:r>
              <a:rPr lang="en-US" dirty="0"/>
              <a:t> list:</a:t>
            </a:r>
          </a:p>
          <a:p>
            <a:pPr marL="0" indent="0">
              <a:buNone/>
            </a:pPr>
            <a:r>
              <a:rPr lang="en-US" sz="2900" dirty="0">
                <a:latin typeface="Courier New" panose="02070309020205020404" pitchFamily="49" charset="0"/>
                <a:cs typeface="Courier New" panose="02070309020205020404" pitchFamily="49" charset="0"/>
              </a:rPr>
              <a:t>T=L[:]</a:t>
            </a:r>
          </a:p>
          <a:p>
            <a:r>
              <a:rPr lang="en-US" dirty="0" err="1"/>
              <a:t>Chú</a:t>
            </a:r>
            <a:r>
              <a:rPr lang="en-US" dirty="0"/>
              <a:t> ý: </a:t>
            </a:r>
            <a:r>
              <a:rPr lang="en-US" dirty="0" err="1"/>
              <a:t>gán</a:t>
            </a:r>
            <a:r>
              <a:rPr lang="en-US" dirty="0"/>
              <a:t> T=L </a:t>
            </a:r>
            <a:r>
              <a:rPr lang="en-US" dirty="0" err="1"/>
              <a:t>thì</a:t>
            </a:r>
            <a:r>
              <a:rPr lang="en-US" dirty="0"/>
              <a:t> </a:t>
            </a:r>
            <a:r>
              <a:rPr lang="en-US" dirty="0" err="1"/>
              <a:t>hai</a:t>
            </a:r>
            <a:r>
              <a:rPr lang="en-US" dirty="0"/>
              <a:t> </a:t>
            </a:r>
            <a:r>
              <a:rPr lang="en-US" dirty="0" err="1"/>
              <a:t>biến</a:t>
            </a:r>
            <a:r>
              <a:rPr lang="en-US" dirty="0"/>
              <a:t> </a:t>
            </a:r>
            <a:r>
              <a:rPr lang="en-US" dirty="0" err="1"/>
              <a:t>cùng</a:t>
            </a:r>
            <a:r>
              <a:rPr lang="en-US" dirty="0"/>
              <a:t> </a:t>
            </a:r>
            <a:r>
              <a:rPr lang="en-US" dirty="0" err="1"/>
              <a:t>trỏ</a:t>
            </a:r>
            <a:r>
              <a:rPr lang="en-US" dirty="0"/>
              <a:t> </a:t>
            </a:r>
            <a:r>
              <a:rPr lang="en-US" dirty="0" err="1"/>
              <a:t>vào</a:t>
            </a:r>
            <a:r>
              <a:rPr lang="en-US" dirty="0"/>
              <a:t> </a:t>
            </a:r>
            <a:r>
              <a:rPr lang="en-US" dirty="0" err="1"/>
              <a:t>một</a:t>
            </a:r>
            <a:r>
              <a:rPr lang="en-US" dirty="0"/>
              <a:t> </a:t>
            </a:r>
            <a:r>
              <a:rPr lang="en-US" dirty="0" err="1"/>
              <a:t>danh</a:t>
            </a:r>
            <a:r>
              <a:rPr lang="en-US" dirty="0"/>
              <a:t> </a:t>
            </a:r>
            <a:r>
              <a:rPr lang="en-US" dirty="0" err="1"/>
              <a:t>sách</a:t>
            </a:r>
            <a:r>
              <a:rPr lang="en-US" dirty="0"/>
              <a:t> do </a:t>
            </a:r>
            <a:r>
              <a:rPr lang="en-US" dirty="0" err="1"/>
              <a:t>đó</a:t>
            </a:r>
            <a:r>
              <a:rPr lang="en-US" dirty="0"/>
              <a:t> T </a:t>
            </a:r>
            <a:r>
              <a:rPr lang="en-US" dirty="0" err="1"/>
              <a:t>và</a:t>
            </a:r>
            <a:r>
              <a:rPr lang="en-US" dirty="0"/>
              <a:t> L </a:t>
            </a:r>
            <a:r>
              <a:rPr lang="en-US" dirty="0" err="1"/>
              <a:t>luôn</a:t>
            </a:r>
            <a:r>
              <a:rPr lang="en-US" dirty="0"/>
              <a:t> </a:t>
            </a:r>
            <a:r>
              <a:rPr lang="en-US" dirty="0" err="1"/>
              <a:t>giống</a:t>
            </a:r>
            <a:r>
              <a:rPr lang="en-US" dirty="0"/>
              <a:t> </a:t>
            </a:r>
            <a:r>
              <a:rPr lang="en-US" dirty="0" err="1"/>
              <a:t>nhau</a:t>
            </a:r>
            <a:r>
              <a:rPr lang="en-US" dirty="0"/>
              <a:t>, </a:t>
            </a:r>
            <a:r>
              <a:rPr lang="en-US" dirty="0" err="1"/>
              <a:t>thay</a:t>
            </a:r>
            <a:r>
              <a:rPr lang="en-US" dirty="0"/>
              <a:t> </a:t>
            </a:r>
            <a:r>
              <a:rPr lang="en-US" dirty="0" err="1"/>
              <a:t>đổi</a:t>
            </a:r>
            <a:r>
              <a:rPr lang="en-US" dirty="0"/>
              <a:t> T </a:t>
            </a:r>
            <a:r>
              <a:rPr lang="en-US" dirty="0" err="1"/>
              <a:t>và</a:t>
            </a:r>
            <a:r>
              <a:rPr lang="en-US" dirty="0"/>
              <a:t> L </a:t>
            </a:r>
            <a:r>
              <a:rPr lang="en-US" dirty="0" err="1"/>
              <a:t>đều</a:t>
            </a:r>
            <a:r>
              <a:rPr lang="en-US" dirty="0"/>
              <a:t> </a:t>
            </a:r>
            <a:r>
              <a:rPr lang="en-US" dirty="0" err="1"/>
              <a:t>như</a:t>
            </a:r>
            <a:r>
              <a:rPr lang="en-US" dirty="0"/>
              <a:t> </a:t>
            </a:r>
            <a:r>
              <a:rPr lang="en-US" dirty="0" err="1"/>
              <a:t>nhau</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44</a:t>
            </a:fld>
            <a:endParaRPr lang="en-US"/>
          </a:p>
        </p:txBody>
      </p:sp>
    </p:spTree>
    <p:extLst>
      <p:ext uri="{BB962C8B-B14F-4D97-AF65-F5344CB8AC3E}">
        <p14:creationId xmlns:p14="http://schemas.microsoft.com/office/powerpoint/2010/main" val="3878415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70487"/>
            <a:ext cx="7886700" cy="1087754"/>
          </a:xfrm>
        </p:spPr>
        <p:txBody>
          <a:bodyPr/>
          <a:lstStyle/>
          <a:p>
            <a:r>
              <a:rPr lang="en-US" dirty="0" err="1"/>
              <a:t>Kiểu</a:t>
            </a:r>
            <a:r>
              <a:rPr lang="en-US" dirty="0"/>
              <a:t> </a:t>
            </a:r>
            <a:r>
              <a:rPr lang="en-US" dirty="0" err="1"/>
              <a:t>từ</a:t>
            </a:r>
            <a:r>
              <a:rPr lang="en-US" dirty="0"/>
              <a:t> </a:t>
            </a:r>
            <a:r>
              <a:rPr lang="en-US" dirty="0" err="1"/>
              <a:t>điển</a:t>
            </a:r>
            <a:endParaRPr lang="en-US" dirty="0"/>
          </a:p>
        </p:txBody>
      </p:sp>
      <p:sp>
        <p:nvSpPr>
          <p:cNvPr id="3" name="Content Placeholder 2"/>
          <p:cNvSpPr>
            <a:spLocks noGrp="1"/>
          </p:cNvSpPr>
          <p:nvPr>
            <p:ph idx="1"/>
          </p:nvPr>
        </p:nvSpPr>
        <p:spPr>
          <a:xfrm>
            <a:off x="628650" y="1275081"/>
            <a:ext cx="7886700" cy="4902200"/>
          </a:xfrm>
        </p:spPr>
        <p:txBody>
          <a:bodyPr>
            <a:normAutofit fontScale="92500" lnSpcReduction="20000"/>
          </a:bodyPr>
          <a:lstStyle/>
          <a:p>
            <a:r>
              <a:rPr lang="en-US" dirty="0" err="1"/>
              <a:t>Khởi</a:t>
            </a:r>
            <a:r>
              <a:rPr lang="en-US" dirty="0"/>
              <a:t> </a:t>
            </a:r>
            <a:r>
              <a:rPr lang="en-US" dirty="0" err="1"/>
              <a:t>tạo</a:t>
            </a:r>
            <a:r>
              <a:rPr lang="en-US" dirty="0"/>
              <a:t>:</a:t>
            </a:r>
          </a:p>
          <a:p>
            <a:pPr marL="0" indent="0">
              <a:buNone/>
            </a:pPr>
            <a:r>
              <a:rPr lang="it-IT" sz="2600" dirty="0">
                <a:latin typeface="Courier New" panose="02070309020205020404" pitchFamily="49" charset="0"/>
                <a:cs typeface="Courier New" panose="02070309020205020404" pitchFamily="49" charset="0"/>
              </a:rPr>
              <a:t>d = {"CAM":100, "BUOI":200,"CHANH":50} </a:t>
            </a:r>
          </a:p>
          <a:p>
            <a:r>
              <a:rPr lang="it-IT" dirty="0">
                <a:sym typeface="Wingdings" panose="05000000000000000000" pitchFamily="2" charset="2"/>
              </a:rPr>
              <a:t>Trong đó:</a:t>
            </a:r>
          </a:p>
          <a:p>
            <a:pPr lvl="1"/>
            <a:r>
              <a:rPr lang="it-IT" dirty="0">
                <a:sym typeface="Wingdings" panose="05000000000000000000" pitchFamily="2" charset="2"/>
              </a:rPr>
              <a:t>"CAM", "BUOI", và "CHANH" là từ khóa, kiểu string; </a:t>
            </a:r>
          </a:p>
          <a:p>
            <a:pPr lvl="1"/>
            <a:r>
              <a:rPr lang="it-IT" dirty="0">
                <a:sym typeface="Wingdings" panose="05000000000000000000" pitchFamily="2" charset="2"/>
              </a:rPr>
              <a:t>100, 200 và 50 là giá trị. Giá trị của từ điển có thể số, chuỗi hoặc các cấu trúc list, tuple, tập hợp hoặc thậm chí là một từ điển khác</a:t>
            </a:r>
          </a:p>
          <a:p>
            <a:r>
              <a:rPr lang="en-US" dirty="0" err="1"/>
              <a:t>Thay</a:t>
            </a:r>
            <a:r>
              <a:rPr lang="en-US" dirty="0"/>
              <a:t> </a:t>
            </a:r>
            <a:r>
              <a:rPr lang="en-US" dirty="0" err="1"/>
              <a:t>đổi</a:t>
            </a:r>
            <a:r>
              <a:rPr lang="en-US" dirty="0"/>
              <a:t>:</a:t>
            </a:r>
          </a:p>
          <a:p>
            <a:pPr marL="0" indent="0">
              <a:buNone/>
            </a:pPr>
            <a:r>
              <a:rPr lang="en-US" sz="2600" dirty="0">
                <a:latin typeface="Courier New" panose="02070309020205020404" pitchFamily="49" charset="0"/>
                <a:cs typeface="Courier New" panose="02070309020205020404" pitchFamily="49" charset="0"/>
              </a:rPr>
              <a:t>	d[</a:t>
            </a:r>
            <a:r>
              <a:rPr lang="it-IT" sz="2600" dirty="0">
                <a:latin typeface="Courier New" panose="02070309020205020404" pitchFamily="49" charset="0"/>
                <a:cs typeface="Courier New" panose="02070309020205020404" pitchFamily="49" charset="0"/>
              </a:rPr>
              <a:t>"CAM"</a:t>
            </a:r>
            <a:r>
              <a:rPr lang="en-US" sz="2600" dirty="0">
                <a:latin typeface="Courier New" panose="02070309020205020404" pitchFamily="49" charset="0"/>
                <a:cs typeface="Courier New" panose="02070309020205020404" pitchFamily="49" charset="0"/>
              </a:rPr>
              <a:t>]=400</a:t>
            </a:r>
          </a:p>
          <a:p>
            <a:pPr>
              <a:lnSpc>
                <a:spcPct val="100000"/>
              </a:lnSpc>
            </a:pPr>
            <a:r>
              <a:rPr lang="en-US" dirty="0" err="1"/>
              <a:t>Thêm</a:t>
            </a:r>
            <a:r>
              <a:rPr lang="en-US" dirty="0"/>
              <a:t>:</a:t>
            </a:r>
          </a:p>
          <a:p>
            <a:pPr marL="0" indent="0">
              <a:buNone/>
            </a:pPr>
            <a:r>
              <a:rPr lang="en-US" sz="2600" dirty="0">
                <a:latin typeface="Courier New" panose="02070309020205020404" pitchFamily="49" charset="0"/>
                <a:cs typeface="Courier New" panose="02070309020205020404" pitchFamily="49" charset="0"/>
              </a:rPr>
              <a:t>	d[</a:t>
            </a:r>
            <a:r>
              <a:rPr lang="it-IT" sz="2600" dirty="0">
                <a:latin typeface="Courier New" panose="02070309020205020404" pitchFamily="49" charset="0"/>
                <a:cs typeface="Courier New" panose="02070309020205020404" pitchFamily="49" charset="0"/>
              </a:rPr>
              <a:t>"QUYT"</a:t>
            </a:r>
            <a:r>
              <a:rPr lang="en-US" sz="2600" dirty="0">
                <a:latin typeface="Courier New" panose="02070309020205020404" pitchFamily="49" charset="0"/>
                <a:cs typeface="Courier New" panose="02070309020205020404" pitchFamily="49" charset="0"/>
              </a:rPr>
              <a:t>]=300</a:t>
            </a:r>
          </a:p>
          <a:p>
            <a:pPr>
              <a:lnSpc>
                <a:spcPct val="100000"/>
              </a:lnSpc>
            </a:pPr>
            <a:r>
              <a:rPr lang="en-US" dirty="0" err="1"/>
              <a:t>Xóa</a:t>
            </a:r>
            <a:r>
              <a:rPr lang="en-US" dirty="0"/>
              <a:t>:</a:t>
            </a:r>
          </a:p>
          <a:p>
            <a:pPr marL="0" indent="0">
              <a:buNone/>
            </a:pPr>
            <a:r>
              <a:rPr lang="en-US" sz="2600" dirty="0">
                <a:latin typeface="Courier New" panose="02070309020205020404" pitchFamily="49" charset="0"/>
                <a:cs typeface="Courier New" panose="02070309020205020404" pitchFamily="49" charset="0"/>
              </a:rPr>
              <a:t>	del d[</a:t>
            </a:r>
            <a:r>
              <a:rPr lang="it-IT" sz="2600" dirty="0">
                <a:latin typeface="Courier New" panose="02070309020205020404" pitchFamily="49" charset="0"/>
                <a:cs typeface="Courier New" panose="02070309020205020404" pitchFamily="49" charset="0"/>
              </a:rPr>
              <a:t>"CAM"</a:t>
            </a:r>
            <a:r>
              <a:rPr lang="en-US" sz="2600" dirty="0">
                <a:latin typeface="Courier New" panose="02070309020205020404" pitchFamily="49" charset="0"/>
                <a:cs typeface="Courier New" panose="02070309020205020404" pitchFamily="49" charset="0"/>
              </a:rPr>
              <a:t>]</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45</a:t>
            </a:fld>
            <a:endParaRPr lang="en-US"/>
          </a:p>
        </p:txBody>
      </p:sp>
    </p:spTree>
    <p:extLst>
      <p:ext uri="{BB962C8B-B14F-4D97-AF65-F5344CB8AC3E}">
        <p14:creationId xmlns:p14="http://schemas.microsoft.com/office/powerpoint/2010/main" val="4181934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70487"/>
            <a:ext cx="7886700" cy="1087754"/>
          </a:xfrm>
        </p:spPr>
        <p:txBody>
          <a:bodyPr/>
          <a:lstStyle/>
          <a:p>
            <a:r>
              <a:rPr lang="en-US" dirty="0" err="1"/>
              <a:t>Kiểu</a:t>
            </a:r>
            <a:r>
              <a:rPr lang="en-US" dirty="0"/>
              <a:t> </a:t>
            </a:r>
            <a:r>
              <a:rPr lang="en-US" dirty="0" err="1"/>
              <a:t>từ</a:t>
            </a:r>
            <a:r>
              <a:rPr lang="en-US" dirty="0"/>
              <a:t> </a:t>
            </a:r>
            <a:r>
              <a:rPr lang="en-US" dirty="0" err="1"/>
              <a:t>điển</a:t>
            </a:r>
            <a:endParaRPr lang="en-US" dirty="0"/>
          </a:p>
        </p:txBody>
      </p:sp>
      <p:sp>
        <p:nvSpPr>
          <p:cNvPr id="3" name="Content Placeholder 2"/>
          <p:cNvSpPr>
            <a:spLocks noGrp="1"/>
          </p:cNvSpPr>
          <p:nvPr>
            <p:ph idx="1"/>
          </p:nvPr>
        </p:nvSpPr>
        <p:spPr>
          <a:xfrm>
            <a:off x="628650" y="1275081"/>
            <a:ext cx="7886700" cy="4902200"/>
          </a:xfrm>
        </p:spPr>
        <p:txBody>
          <a:bodyPr>
            <a:normAutofit fontScale="92500" lnSpcReduction="20000"/>
          </a:bodyPr>
          <a:lstStyle/>
          <a:p>
            <a:r>
              <a:rPr lang="en-US" dirty="0" err="1"/>
              <a:t>Duyệt</a:t>
            </a:r>
            <a:r>
              <a:rPr lang="en-US" dirty="0"/>
              <a:t> </a:t>
            </a:r>
            <a:r>
              <a:rPr lang="en-US" dirty="0" err="1"/>
              <a:t>từ</a:t>
            </a:r>
            <a:r>
              <a:rPr lang="en-US" dirty="0"/>
              <a:t> </a:t>
            </a:r>
            <a:r>
              <a:rPr lang="en-US" dirty="0" err="1"/>
              <a:t>điển</a:t>
            </a:r>
            <a:r>
              <a:rPr lang="en-US" dirty="0"/>
              <a:t>:</a:t>
            </a:r>
          </a:p>
          <a:p>
            <a:pPr marL="0" indent="0">
              <a:lnSpc>
                <a:spcPct val="70000"/>
              </a:lnSpc>
              <a:buNone/>
            </a:pPr>
            <a:r>
              <a:rPr lang="en-US" sz="2400" dirty="0">
                <a:latin typeface="Courier New" panose="02070309020205020404" pitchFamily="49" charset="0"/>
                <a:cs typeface="Courier New" panose="02070309020205020404" pitchFamily="49" charset="0"/>
              </a:rPr>
              <a:t>for key in d:</a:t>
            </a:r>
          </a:p>
          <a:p>
            <a:pPr marL="0" indent="0">
              <a:lnSpc>
                <a:spcPct val="70000"/>
              </a:lnSpc>
              <a:buNone/>
            </a:pPr>
            <a:r>
              <a:rPr lang="en-US" sz="2400" dirty="0">
                <a:latin typeface="Courier New" panose="02070309020205020404" pitchFamily="49" charset="0"/>
                <a:cs typeface="Courier New" panose="02070309020205020404" pitchFamily="49" charset="0"/>
              </a:rPr>
              <a:t>	print(key, </a:t>
            </a:r>
            <a:r>
              <a:rPr lang="it-IT" sz="2400" dirty="0">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a:t>
            </a:r>
            <a:r>
              <a:rPr lang="it-IT" sz="2400" dirty="0">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d[</a:t>
            </a:r>
            <a:r>
              <a:rPr lang="en-US" sz="2400">
                <a:latin typeface="Courier New" panose="02070309020205020404" pitchFamily="49" charset="0"/>
                <a:cs typeface="Courier New" panose="02070309020205020404" pitchFamily="49" charset="0"/>
              </a:rPr>
              <a:t>key])</a:t>
            </a:r>
          </a:p>
          <a:p>
            <a:pPr marL="0" indent="0">
              <a:lnSpc>
                <a:spcPct val="70000"/>
              </a:lnSpc>
              <a:buNone/>
            </a:pPr>
            <a:r>
              <a:rPr lang="en-US" sz="2400">
                <a:latin typeface="Courier New" panose="02070309020205020404" pitchFamily="49" charset="0"/>
                <a:cs typeface="Courier New" panose="02070309020205020404" pitchFamily="49" charset="0"/>
              </a:rPr>
              <a:t>For key, value in d.items():</a:t>
            </a:r>
          </a:p>
          <a:p>
            <a:pPr marL="0" indent="0">
              <a:lnSpc>
                <a:spcPct val="70000"/>
              </a:lnSpc>
              <a:buNone/>
            </a:pPr>
            <a:r>
              <a:rPr lang="en-US" sz="2400">
                <a:latin typeface="Courier New" panose="02070309020205020404" pitchFamily="49" charset="0"/>
                <a:cs typeface="Courier New" panose="02070309020205020404" pitchFamily="49" charset="0"/>
              </a:rPr>
              <a:t>	print((key, value))</a:t>
            </a:r>
            <a:endParaRPr lang="en-US" sz="2400" dirty="0">
              <a:latin typeface="Courier New" panose="02070309020205020404" pitchFamily="49" charset="0"/>
              <a:cs typeface="Courier New" panose="02070309020205020404" pitchFamily="49" charset="0"/>
            </a:endParaRPr>
          </a:p>
          <a:p>
            <a:r>
              <a:rPr lang="en-US" dirty="0"/>
              <a:t>Sao </a:t>
            </a:r>
            <a:r>
              <a:rPr lang="en-US" dirty="0" err="1"/>
              <a:t>chép</a:t>
            </a:r>
            <a:r>
              <a:rPr lang="en-US" dirty="0"/>
              <a:t> </a:t>
            </a:r>
            <a:r>
              <a:rPr lang="en-US" dirty="0" err="1"/>
              <a:t>từ</a:t>
            </a:r>
            <a:r>
              <a:rPr lang="en-US" dirty="0"/>
              <a:t> </a:t>
            </a:r>
            <a:r>
              <a:rPr lang="en-US" dirty="0" err="1"/>
              <a:t>điển</a:t>
            </a:r>
            <a:r>
              <a:rPr lang="en-US" dirty="0"/>
              <a:t>:</a:t>
            </a:r>
          </a:p>
          <a:p>
            <a:pPr marL="0" lvl="1" indent="0">
              <a:lnSpc>
                <a:spcPct val="80000"/>
              </a:lnSpc>
              <a:spcBef>
                <a:spcPts val="1000"/>
              </a:spcBef>
              <a:buNone/>
            </a:pPr>
            <a:r>
              <a:rPr lang="en-US" dirty="0">
                <a:latin typeface="Courier New" panose="02070309020205020404" pitchFamily="49" charset="0"/>
                <a:cs typeface="Courier New" panose="02070309020205020404" pitchFamily="49" charset="0"/>
              </a:rPr>
              <a:t>	d2=</a:t>
            </a:r>
            <a:r>
              <a:rPr lang="en-US" dirty="0" err="1">
                <a:latin typeface="Courier New" panose="02070309020205020404" pitchFamily="49" charset="0"/>
                <a:cs typeface="Courier New" panose="02070309020205020404" pitchFamily="49" charset="0"/>
              </a:rPr>
              <a:t>d.copy</a:t>
            </a:r>
            <a:r>
              <a:rPr lang="en-US" dirty="0">
                <a:latin typeface="Courier New" panose="02070309020205020404" pitchFamily="49" charset="0"/>
                <a:cs typeface="Courier New" panose="02070309020205020404" pitchFamily="49" charset="0"/>
              </a:rPr>
              <a:t>()</a:t>
            </a:r>
          </a:p>
          <a:p>
            <a:r>
              <a:rPr lang="en-US" dirty="0" err="1"/>
              <a:t>Toán</a:t>
            </a:r>
            <a:r>
              <a:rPr lang="en-US" dirty="0"/>
              <a:t> </a:t>
            </a:r>
            <a:r>
              <a:rPr lang="en-US" dirty="0" err="1"/>
              <a:t>tử</a:t>
            </a:r>
            <a:r>
              <a:rPr lang="en-US" dirty="0"/>
              <a:t> </a:t>
            </a:r>
            <a:r>
              <a:rPr lang="en-US" b="1" dirty="0"/>
              <a:t>in</a:t>
            </a:r>
          </a:p>
          <a:p>
            <a:pPr marL="0" indent="0">
              <a:lnSpc>
                <a:spcPct val="80000"/>
              </a:lnSpc>
              <a:buNone/>
            </a:pPr>
            <a:r>
              <a:rPr lang="it-IT" sz="2400" dirty="0">
                <a:latin typeface="Courier New" panose="02070309020205020404" pitchFamily="49" charset="0"/>
                <a:cs typeface="Courier New" panose="02070309020205020404" pitchFamily="49" charset="0"/>
              </a:rPr>
              <a:t>d = {"CAM":100, "BUOI":200,"CHANH":50}</a:t>
            </a:r>
            <a:endParaRPr lang="en-US" sz="2400" dirty="0">
              <a:latin typeface="Courier New" panose="02070309020205020404" pitchFamily="49" charset="0"/>
              <a:cs typeface="Courier New" panose="02070309020205020404" pitchFamily="49" charset="0"/>
            </a:endParaRPr>
          </a:p>
          <a:p>
            <a:pPr marL="0" indent="0">
              <a:lnSpc>
                <a:spcPct val="80000"/>
              </a:lnSpc>
              <a:buNone/>
            </a:pPr>
            <a:r>
              <a:rPr lang="en-US" sz="2400" dirty="0" err="1">
                <a:latin typeface="Courier New" panose="02070309020205020404" pitchFamily="49" charset="0"/>
                <a:cs typeface="Courier New" panose="02070309020205020404" pitchFamily="49" charset="0"/>
              </a:rPr>
              <a:t>tc</a:t>
            </a:r>
            <a:r>
              <a:rPr lang="en-US" sz="2400" dirty="0">
                <a:latin typeface="Courier New" panose="02070309020205020404" pitchFamily="49" charset="0"/>
                <a:cs typeface="Courier New" panose="02070309020205020404" pitchFamily="49" charset="0"/>
              </a:rPr>
              <a:t> = input(‘</a:t>
            </a:r>
            <a:r>
              <a:rPr lang="en-US" sz="2400" dirty="0" err="1">
                <a:latin typeface="Courier New" panose="02070309020205020404" pitchFamily="49" charset="0"/>
                <a:cs typeface="Courier New" panose="02070309020205020404" pitchFamily="49" charset="0"/>
              </a:rPr>
              <a:t>Nhập</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tên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trái</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cây</a:t>
            </a:r>
            <a:r>
              <a:rPr lang="en-US" sz="2400" dirty="0">
                <a:latin typeface="Courier New" panose="02070309020205020404" pitchFamily="49" charset="0"/>
                <a:cs typeface="Courier New" panose="02070309020205020404" pitchFamily="49" charset="0"/>
              </a:rPr>
              <a:t>: ')</a:t>
            </a:r>
          </a:p>
          <a:p>
            <a:pPr marL="0" indent="0">
              <a:lnSpc>
                <a:spcPct val="80000"/>
              </a:lnSpc>
              <a:buNone/>
            </a:pPr>
            <a:r>
              <a:rPr lang="en-US" sz="2400" dirty="0">
                <a:latin typeface="Courier New" panose="02070309020205020404" pitchFamily="49" charset="0"/>
                <a:cs typeface="Courier New" panose="02070309020205020404" pitchFamily="49" charset="0"/>
              </a:rPr>
              <a:t>if </a:t>
            </a:r>
            <a:r>
              <a:rPr lang="en-US" sz="2400" dirty="0" err="1">
                <a:latin typeface="Courier New" panose="02070309020205020404" pitchFamily="49" charset="0"/>
                <a:cs typeface="Courier New" panose="02070309020205020404" pitchFamily="49" charset="0"/>
              </a:rPr>
              <a:t>tc</a:t>
            </a:r>
            <a:r>
              <a:rPr lang="en-US" sz="2400" dirty="0">
                <a:latin typeface="Courier New" panose="02070309020205020404" pitchFamily="49" charset="0"/>
                <a:cs typeface="Courier New" panose="02070309020205020404" pitchFamily="49" charset="0"/>
              </a:rPr>
              <a:t> in d:</a:t>
            </a:r>
          </a:p>
          <a:p>
            <a:pPr marL="0" indent="0">
              <a:lnSpc>
                <a:spcPct val="80000"/>
              </a:lnSpc>
              <a:buNone/>
            </a:pPr>
            <a:r>
              <a:rPr lang="en-US" sz="2400" dirty="0">
                <a:latin typeface="Courier New" panose="02070309020205020404" pitchFamily="49" charset="0"/>
                <a:cs typeface="Courier New" panose="02070309020205020404" pitchFamily="49" charset="0"/>
              </a:rPr>
              <a:t>	print('</a:t>
            </a:r>
            <a:r>
              <a:rPr lang="en-US" sz="2400" dirty="0" err="1">
                <a:latin typeface="Courier New" panose="02070309020205020404" pitchFamily="49" charset="0"/>
                <a:cs typeface="Courier New" panose="02070309020205020404" pitchFamily="49" charset="0"/>
              </a:rPr>
              <a:t>Giá</a:t>
            </a:r>
            <a:r>
              <a:rPr lang="en-US" sz="2400" dirty="0">
                <a:latin typeface="Courier New" panose="02070309020205020404" pitchFamily="49" charset="0"/>
                <a:cs typeface="Courier New" panose="02070309020205020404" pitchFamily="49" charset="0"/>
              </a:rPr>
              <a:t>:', d[</a:t>
            </a:r>
            <a:r>
              <a:rPr lang="en-US" sz="2400" dirty="0" err="1">
                <a:latin typeface="Courier New" panose="02070309020205020404" pitchFamily="49" charset="0"/>
                <a:cs typeface="Courier New" panose="02070309020205020404" pitchFamily="49" charset="0"/>
              </a:rPr>
              <a:t>tc</a:t>
            </a:r>
            <a:r>
              <a:rPr lang="en-US" sz="2400" dirty="0">
                <a:latin typeface="Courier New" panose="02070309020205020404" pitchFamily="49" charset="0"/>
                <a:cs typeface="Courier New" panose="02070309020205020404" pitchFamily="49" charset="0"/>
              </a:rPr>
              <a:t>])</a:t>
            </a:r>
          </a:p>
          <a:p>
            <a:pPr marL="0" indent="0">
              <a:lnSpc>
                <a:spcPct val="80000"/>
              </a:lnSpc>
              <a:buNone/>
            </a:pPr>
            <a:r>
              <a:rPr lang="en-US" sz="2400" dirty="0">
                <a:latin typeface="Courier New" panose="02070309020205020404" pitchFamily="49" charset="0"/>
                <a:cs typeface="Courier New" panose="02070309020205020404" pitchFamily="49" charset="0"/>
              </a:rPr>
              <a:t>else:</a:t>
            </a:r>
          </a:p>
          <a:p>
            <a:pPr marL="0" indent="0">
              <a:lnSpc>
                <a:spcPct val="80000"/>
              </a:lnSpc>
              <a:buNone/>
            </a:pPr>
            <a:r>
              <a:rPr lang="en-US" sz="2400" dirty="0">
                <a:latin typeface="Courier New" panose="02070309020205020404" pitchFamily="49" charset="0"/>
                <a:cs typeface="Courier New" panose="02070309020205020404" pitchFamily="49" charset="0"/>
              </a:rPr>
              <a:t>	print(‘</a:t>
            </a:r>
            <a:r>
              <a:rPr lang="en-US" sz="2400" dirty="0" err="1">
                <a:latin typeface="Courier New" panose="02070309020205020404" pitchFamily="49" charset="0"/>
                <a:cs typeface="Courier New" panose="02070309020205020404" pitchFamily="49" charset="0"/>
              </a:rPr>
              <a:t>Không</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có</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trong</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từ</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điển</a:t>
            </a:r>
            <a:r>
              <a:rPr lang="en-US" sz="2400" dirty="0">
                <a:latin typeface="Courier New" panose="02070309020205020404" pitchFamily="49" charset="0"/>
                <a:cs typeface="Courier New" panose="02070309020205020404" pitchFamily="49" charset="0"/>
              </a:rPr>
              <a:t>')</a:t>
            </a:r>
          </a:p>
          <a:p>
            <a:pPr marL="0" indent="0">
              <a:lnSpc>
                <a:spcPct val="70000"/>
              </a:lnSpc>
              <a:buNone/>
            </a:pPr>
            <a:endParaRPr lang="en-US" sz="24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46</a:t>
            </a:fld>
            <a:endParaRPr lang="en-US"/>
          </a:p>
        </p:txBody>
      </p:sp>
    </p:spTree>
    <p:extLst>
      <p:ext uri="{BB962C8B-B14F-4D97-AF65-F5344CB8AC3E}">
        <p14:creationId xmlns:p14="http://schemas.microsoft.com/office/powerpoint/2010/main" val="38304379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70487"/>
            <a:ext cx="7886700" cy="1087754"/>
          </a:xfrm>
        </p:spPr>
        <p:txBody>
          <a:bodyPr/>
          <a:lstStyle/>
          <a:p>
            <a:r>
              <a:rPr lang="en-US" dirty="0" err="1"/>
              <a:t>Kiểu</a:t>
            </a:r>
            <a:r>
              <a:rPr lang="en-US" dirty="0"/>
              <a:t> </a:t>
            </a:r>
            <a:r>
              <a:rPr lang="en-US" dirty="0" err="1"/>
              <a:t>từ</a:t>
            </a:r>
            <a:r>
              <a:rPr lang="en-US" dirty="0"/>
              <a:t> </a:t>
            </a:r>
            <a:r>
              <a:rPr lang="en-US" dirty="0" err="1"/>
              <a:t>điển</a:t>
            </a:r>
            <a:endParaRPr lang="en-US" dirty="0"/>
          </a:p>
        </p:txBody>
      </p:sp>
      <p:sp>
        <p:nvSpPr>
          <p:cNvPr id="3" name="Content Placeholder 2"/>
          <p:cNvSpPr>
            <a:spLocks noGrp="1"/>
          </p:cNvSpPr>
          <p:nvPr>
            <p:ph idx="1"/>
          </p:nvPr>
        </p:nvSpPr>
        <p:spPr>
          <a:xfrm>
            <a:off x="628650" y="1275081"/>
            <a:ext cx="7886700" cy="4902200"/>
          </a:xfrm>
        </p:spPr>
        <p:txBody>
          <a:bodyPr>
            <a:normAutofit/>
          </a:bodyPr>
          <a:lstStyle/>
          <a:p>
            <a:pPr>
              <a:lnSpc>
                <a:spcPct val="70000"/>
              </a:lnSpc>
            </a:pPr>
            <a:r>
              <a:rPr lang="en-US" sz="2600"/>
              <a:t>Sắp xếp từ điển:</a:t>
            </a:r>
          </a:p>
          <a:p>
            <a:pPr lvl="1">
              <a:lnSpc>
                <a:spcPct val="70000"/>
              </a:lnSpc>
            </a:pPr>
            <a:r>
              <a:rPr lang="en-US" sz="2200"/>
              <a:t>Theo key</a:t>
            </a:r>
          </a:p>
          <a:p>
            <a:pPr lvl="1">
              <a:lnSpc>
                <a:spcPct val="70000"/>
              </a:lnSpc>
            </a:pPr>
            <a:endParaRPr lang="en-US" sz="2200"/>
          </a:p>
          <a:p>
            <a:pPr marL="457200" lvl="1" indent="0">
              <a:lnSpc>
                <a:spcPct val="70000"/>
              </a:lnSpc>
              <a:buNone/>
            </a:pPr>
            <a:endParaRPr lang="en-US" sz="2200"/>
          </a:p>
          <a:p>
            <a:pPr marL="457200" lvl="1" indent="0">
              <a:lnSpc>
                <a:spcPct val="70000"/>
              </a:lnSpc>
              <a:buNone/>
            </a:pPr>
            <a:endParaRPr lang="en-US" sz="2200"/>
          </a:p>
          <a:p>
            <a:pPr lvl="1">
              <a:lnSpc>
                <a:spcPct val="70000"/>
              </a:lnSpc>
            </a:pPr>
            <a:r>
              <a:rPr lang="en-US" sz="2200"/>
              <a:t>Theo value</a:t>
            </a:r>
          </a:p>
          <a:p>
            <a:pPr lvl="1">
              <a:lnSpc>
                <a:spcPct val="70000"/>
              </a:lnSpc>
            </a:pPr>
            <a:endParaRPr lang="en-US" sz="2200"/>
          </a:p>
          <a:p>
            <a:pPr marL="0" indent="0">
              <a:lnSpc>
                <a:spcPct val="70000"/>
              </a:lnSpc>
              <a:buNone/>
            </a:pPr>
            <a:endParaRPr lang="en-US" sz="24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47</a:t>
            </a:fld>
            <a:endParaRPr lang="en-US"/>
          </a:p>
        </p:txBody>
      </p:sp>
      <p:sp>
        <p:nvSpPr>
          <p:cNvPr id="6" name="Rectangle 1">
            <a:extLst>
              <a:ext uri="{FF2B5EF4-FFF2-40B4-BE49-F238E27FC236}">
                <a16:creationId xmlns:a16="http://schemas.microsoft.com/office/drawing/2014/main" id="{7521C069-BB47-55A7-1F81-DBBA7419D153}"/>
              </a:ext>
            </a:extLst>
          </p:cNvPr>
          <p:cNvSpPr>
            <a:spLocks noChangeArrowheads="1"/>
          </p:cNvSpPr>
          <p:nvPr/>
        </p:nvSpPr>
        <p:spPr bwMode="auto">
          <a:xfrm>
            <a:off x="1306657" y="2034941"/>
            <a:ext cx="7523018" cy="5078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700">
                <a:solidFill>
                  <a:srgbClr val="333333"/>
                </a:solidFill>
                <a:latin typeface="JetBrains Mono"/>
              </a:rPr>
              <a:t>Key_</a:t>
            </a:r>
            <a:r>
              <a:rPr kumimoji="0" lang="en-US" altLang="en-US" sz="2700" b="0" i="0" u="none" strike="noStrike" cap="none" normalizeH="0" baseline="0">
                <a:ln>
                  <a:noFill/>
                </a:ln>
                <a:solidFill>
                  <a:srgbClr val="333333"/>
                </a:solidFill>
                <a:effectLst/>
                <a:latin typeface="JetBrains Mono"/>
              </a:rPr>
              <a:t>based </a:t>
            </a:r>
            <a:r>
              <a:rPr kumimoji="0" lang="en-US" altLang="en-US" sz="2700" b="0" i="0" u="none" strike="noStrike" cap="none" normalizeH="0" baseline="0">
                <a:ln>
                  <a:noFill/>
                </a:ln>
                <a:solidFill>
                  <a:srgbClr val="A71D5D"/>
                </a:solidFill>
                <a:effectLst/>
                <a:latin typeface="JetBrains Mono"/>
              </a:rPr>
              <a:t>= </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k</a:t>
            </a:r>
            <a:r>
              <a:rPr kumimoji="0" lang="en-US" altLang="en-US" sz="2700" b="0" i="0" u="none" strike="noStrike" cap="none" normalizeH="0" baseline="0">
                <a:ln>
                  <a:noFill/>
                </a:ln>
                <a:solidFill>
                  <a:srgbClr val="A71D5D"/>
                </a:solidFill>
                <a:effectLst/>
                <a:latin typeface="JetBrains Mono"/>
              </a:rPr>
              <a:t>:</a:t>
            </a:r>
            <a:r>
              <a:rPr kumimoji="0" lang="en-US" altLang="en-US" sz="2700" b="0" i="0" u="none" strike="noStrike" cap="none" normalizeH="0" baseline="0">
                <a:ln>
                  <a:noFill/>
                </a:ln>
                <a:solidFill>
                  <a:srgbClr val="333333"/>
                </a:solidFill>
                <a:effectLst/>
                <a:latin typeface="JetBrains Mono"/>
              </a:rPr>
              <a:t>v </a:t>
            </a:r>
            <a:r>
              <a:rPr kumimoji="0" lang="en-US" altLang="en-US" sz="2700" b="0" i="0" u="none" strike="noStrike" cap="none" normalizeH="0" baseline="0">
                <a:ln>
                  <a:noFill/>
                </a:ln>
                <a:solidFill>
                  <a:srgbClr val="A71D5D"/>
                </a:solidFill>
                <a:effectLst/>
                <a:latin typeface="JetBrains Mono"/>
              </a:rPr>
              <a:t>for </a:t>
            </a:r>
            <a:r>
              <a:rPr kumimoji="0" lang="en-US" altLang="en-US" sz="2700" b="0" i="0" u="none" strike="noStrike" cap="none" normalizeH="0" baseline="0">
                <a:ln>
                  <a:noFill/>
                </a:ln>
                <a:solidFill>
                  <a:srgbClr val="333333"/>
                </a:solidFill>
                <a:effectLst/>
                <a:latin typeface="JetBrains Mono"/>
              </a:rPr>
              <a:t>k</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v </a:t>
            </a:r>
            <a:r>
              <a:rPr kumimoji="0" lang="en-US" altLang="en-US" sz="2700" b="0" i="0" u="none" strike="noStrike" cap="none" normalizeH="0" baseline="0">
                <a:ln>
                  <a:noFill/>
                </a:ln>
                <a:solidFill>
                  <a:srgbClr val="A71D5D"/>
                </a:solidFill>
                <a:effectLst/>
                <a:latin typeface="JetBrains Mono"/>
              </a:rPr>
              <a:t>in </a:t>
            </a:r>
            <a:r>
              <a:rPr kumimoji="0" lang="en-US" altLang="en-US" sz="2700" b="0" i="0" u="none" strike="noStrike" cap="none" normalizeH="0" baseline="0">
                <a:ln>
                  <a:noFill/>
                </a:ln>
                <a:solidFill>
                  <a:srgbClr val="0086B3"/>
                </a:solidFill>
                <a:effectLst/>
                <a:latin typeface="JetBrains Mono"/>
              </a:rPr>
              <a:t>sorted</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d</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0086B3"/>
                </a:solidFill>
                <a:effectLst/>
                <a:latin typeface="JetBrains Mono"/>
              </a:rPr>
              <a:t>items</a:t>
            </a:r>
            <a:r>
              <a:rPr kumimoji="0" lang="en-US" altLang="en-US" sz="2700" b="0" i="0" u="none" strike="noStrike" cap="none" normalizeH="0" baseline="0">
                <a:ln>
                  <a:noFill/>
                </a:ln>
                <a:solidFill>
                  <a:srgbClr val="63A35C"/>
                </a:solidFill>
                <a:effectLst/>
                <a:latin typeface="JetBrains Mono"/>
              </a:rPr>
              <a:t>())}</a:t>
            </a:r>
            <a:endParaRPr kumimoji="0" lang="en-US" altLang="en-US" sz="27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3FA4016-7D78-E24B-E2F0-F1104E88FAD8}"/>
              </a:ext>
            </a:extLst>
          </p:cNvPr>
          <p:cNvSpPr>
            <a:spLocks noChangeArrowheads="1"/>
          </p:cNvSpPr>
          <p:nvPr/>
        </p:nvSpPr>
        <p:spPr bwMode="auto">
          <a:xfrm>
            <a:off x="1306656" y="3429000"/>
            <a:ext cx="7837343"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700" b="0" i="0" u="none" strike="noStrike" cap="none" normalizeH="0" baseline="0">
                <a:ln>
                  <a:noFill/>
                </a:ln>
                <a:solidFill>
                  <a:srgbClr val="333333"/>
                </a:solidFill>
                <a:effectLst/>
                <a:latin typeface="JetBrains Mono"/>
              </a:rPr>
              <a:t>Valued_based </a:t>
            </a:r>
            <a:r>
              <a:rPr kumimoji="0" lang="en-US" altLang="en-US" sz="2700" b="0" i="0" u="none" strike="noStrike" cap="none" normalizeH="0" baseline="0">
                <a:ln>
                  <a:noFill/>
                </a:ln>
                <a:solidFill>
                  <a:srgbClr val="A71D5D"/>
                </a:solidFill>
                <a:effectLst/>
                <a:latin typeface="JetBrains Mono"/>
              </a:rPr>
              <a:t>= </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k</a:t>
            </a:r>
            <a:r>
              <a:rPr kumimoji="0" lang="en-US" altLang="en-US" sz="2700" b="0" i="0" u="none" strike="noStrike" cap="none" normalizeH="0" baseline="0">
                <a:ln>
                  <a:noFill/>
                </a:ln>
                <a:solidFill>
                  <a:srgbClr val="A71D5D"/>
                </a:solidFill>
                <a:effectLst/>
                <a:latin typeface="JetBrains Mono"/>
              </a:rPr>
              <a:t>:</a:t>
            </a:r>
            <a:r>
              <a:rPr kumimoji="0" lang="en-US" altLang="en-US" sz="2700" b="0" i="0" u="none" strike="noStrike" cap="none" normalizeH="0" baseline="0">
                <a:ln>
                  <a:noFill/>
                </a:ln>
                <a:solidFill>
                  <a:srgbClr val="333333"/>
                </a:solidFill>
                <a:effectLst/>
                <a:latin typeface="JetBrains Mono"/>
              </a:rPr>
              <a:t>v </a:t>
            </a:r>
            <a:r>
              <a:rPr kumimoji="0" lang="en-US" altLang="en-US" sz="2700" b="0" i="0" u="none" strike="noStrike" cap="none" normalizeH="0" baseline="0">
                <a:ln>
                  <a:noFill/>
                </a:ln>
                <a:solidFill>
                  <a:srgbClr val="A71D5D"/>
                </a:solidFill>
                <a:effectLst/>
                <a:latin typeface="JetBrains Mono"/>
              </a:rPr>
              <a:t>for </a:t>
            </a:r>
            <a:r>
              <a:rPr kumimoji="0" lang="en-US" altLang="en-US" sz="2700" b="0" i="0" u="none" strike="noStrike" cap="none" normalizeH="0" baseline="0">
                <a:ln>
                  <a:noFill/>
                </a:ln>
                <a:solidFill>
                  <a:srgbClr val="333333"/>
                </a:solidFill>
                <a:effectLst/>
                <a:latin typeface="JetBrains Mono"/>
              </a:rPr>
              <a:t>k</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v </a:t>
            </a:r>
            <a:r>
              <a:rPr kumimoji="0" lang="en-US" altLang="en-US" sz="2700" b="0" i="0" u="none" strike="noStrike" cap="none" normalizeH="0" baseline="0">
                <a:ln>
                  <a:noFill/>
                </a:ln>
                <a:solidFill>
                  <a:srgbClr val="A71D5D"/>
                </a:solidFill>
                <a:effectLst/>
                <a:latin typeface="JetBrains Mono"/>
              </a:rPr>
              <a:t>in </a:t>
            </a:r>
            <a:r>
              <a:rPr kumimoji="0" lang="en-US" altLang="en-US" sz="2700" b="0" i="0" u="none" strike="noStrike" cap="none" normalizeH="0" baseline="0">
                <a:ln>
                  <a:noFill/>
                </a:ln>
                <a:solidFill>
                  <a:srgbClr val="0086B3"/>
                </a:solidFill>
                <a:effectLst/>
                <a:latin typeface="JetBrains Mono"/>
              </a:rPr>
              <a:t>sorted</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333333"/>
                </a:solidFill>
                <a:effectLst/>
                <a:latin typeface="JetBrains Mono"/>
              </a:rPr>
              <a:t>d</a:t>
            </a:r>
            <a:r>
              <a:rPr kumimoji="0" lang="en-US" altLang="en-US" sz="2700" b="0" i="0" u="none" strike="noStrike" cap="none" normalizeH="0" baseline="0">
                <a:ln>
                  <a:noFill/>
                </a:ln>
                <a:solidFill>
                  <a:srgbClr val="63A35C"/>
                </a:solidFill>
                <a:effectLst/>
                <a:latin typeface="JetBrains Mono"/>
              </a:rPr>
              <a:t>.</a:t>
            </a:r>
            <a:r>
              <a:rPr kumimoji="0" lang="en-US" altLang="en-US" sz="2700" b="0" i="0" u="none" strike="noStrike" cap="none" normalizeH="0" baseline="0">
                <a:ln>
                  <a:noFill/>
                </a:ln>
                <a:solidFill>
                  <a:srgbClr val="0086B3"/>
                </a:solidFill>
                <a:effectLst/>
                <a:latin typeface="JetBrains Mono"/>
              </a:rPr>
              <a:t>items</a:t>
            </a:r>
            <a:r>
              <a:rPr kumimoji="0" lang="en-US" altLang="en-US" sz="2700" b="0" i="0" u="none" strike="noStrike" cap="none" normalizeH="0" baseline="0">
                <a:ln>
                  <a:noFill/>
                </a:ln>
                <a:solidFill>
                  <a:srgbClr val="63A35C"/>
                </a:solidFill>
                <a:effectLst/>
                <a:latin typeface="JetBrains Mono"/>
              </a:rPr>
              <a:t>(), key = lambda item: item[1], reverse=</a:t>
            </a:r>
            <a:r>
              <a:rPr lang="en-US" altLang="en-US" sz="2700">
                <a:solidFill>
                  <a:srgbClr val="63A35C"/>
                </a:solidFill>
                <a:latin typeface="JetBrains Mono"/>
              </a:rPr>
              <a:t>F</a:t>
            </a:r>
            <a:r>
              <a:rPr kumimoji="0" lang="en-US" altLang="en-US" sz="2700" b="0" i="0" u="none" strike="noStrike" cap="none" normalizeH="0" baseline="0">
                <a:ln>
                  <a:noFill/>
                </a:ln>
                <a:solidFill>
                  <a:srgbClr val="63A35C"/>
                </a:solidFill>
                <a:effectLst/>
                <a:latin typeface="JetBrains Mono"/>
              </a:rPr>
              <a:t>alse)}</a:t>
            </a:r>
            <a:endParaRPr kumimoji="0" lang="en-US" altLang="en-US" sz="27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2262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48287"/>
            <a:ext cx="7886700" cy="569594"/>
          </a:xfrm>
        </p:spPr>
        <p:txBody>
          <a:bodyPr>
            <a:normAutofit fontScale="90000"/>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899160"/>
            <a:ext cx="7886700" cy="5457191"/>
          </a:xfrm>
        </p:spPr>
        <p:txBody>
          <a:bodyPr>
            <a:normAutofit fontScale="85000" lnSpcReduction="10000"/>
          </a:bodyPr>
          <a:lstStyle/>
          <a:p>
            <a:pPr marL="514350" indent="-514350">
              <a:buFont typeface="+mj-lt"/>
              <a:buAutoNum type="arabicPeriod"/>
            </a:pPr>
            <a:r>
              <a:rPr lang="en-US" dirty="0" err="1"/>
              <a:t>Tạo</a:t>
            </a:r>
            <a:r>
              <a:rPr lang="en-US" dirty="0"/>
              <a:t> </a:t>
            </a:r>
            <a:r>
              <a:rPr lang="en-US" dirty="0" err="1"/>
              <a:t>một</a:t>
            </a:r>
            <a:r>
              <a:rPr lang="en-US" dirty="0"/>
              <a:t> list </a:t>
            </a:r>
            <a:r>
              <a:rPr lang="en-US" dirty="0" err="1"/>
              <a:t>chứa</a:t>
            </a:r>
            <a:r>
              <a:rPr lang="en-US" dirty="0"/>
              <a:t> 100 </a:t>
            </a:r>
            <a:r>
              <a:rPr lang="en-US" dirty="0" err="1"/>
              <a:t>số</a:t>
            </a:r>
            <a:r>
              <a:rPr lang="en-US" dirty="0"/>
              <a:t> </a:t>
            </a:r>
            <a:r>
              <a:rPr lang="en-US" dirty="0" err="1"/>
              <a:t>nguyên</a:t>
            </a:r>
            <a:r>
              <a:rPr lang="en-US" dirty="0"/>
              <a:t> </a:t>
            </a:r>
            <a:r>
              <a:rPr lang="en-US" dirty="0" err="1"/>
              <a:t>ngẫu</a:t>
            </a:r>
            <a:r>
              <a:rPr lang="en-US" dirty="0"/>
              <a:t> </a:t>
            </a:r>
            <a:r>
              <a:rPr lang="en-US" dirty="0" err="1"/>
              <a:t>nhiên</a:t>
            </a:r>
            <a:r>
              <a:rPr lang="en-US" dirty="0"/>
              <a:t> </a:t>
            </a:r>
            <a:r>
              <a:rPr lang="en-US" dirty="0" err="1"/>
              <a:t>trong</a:t>
            </a:r>
            <a:r>
              <a:rPr lang="en-US" dirty="0"/>
              <a:t> </a:t>
            </a:r>
            <a:r>
              <a:rPr lang="en-US" dirty="0" err="1"/>
              <a:t>khoảng</a:t>
            </a:r>
            <a:r>
              <a:rPr lang="en-US" dirty="0"/>
              <a:t> [1,9] </a:t>
            </a:r>
            <a:r>
              <a:rPr lang="en-US" dirty="0" err="1"/>
              <a:t>và</a:t>
            </a:r>
            <a:r>
              <a:rPr lang="en-US" dirty="0"/>
              <a:t> in </a:t>
            </a:r>
            <a:r>
              <a:rPr lang="en-US" dirty="0" err="1"/>
              <a:t>ra</a:t>
            </a:r>
            <a:r>
              <a:rPr lang="en-US" dirty="0"/>
              <a:t>:</a:t>
            </a:r>
          </a:p>
          <a:p>
            <a:pPr lvl="1"/>
            <a:r>
              <a:rPr lang="en-US" dirty="0" err="1"/>
              <a:t>Dãy</a:t>
            </a:r>
            <a:r>
              <a:rPr lang="en-US" dirty="0"/>
              <a:t> </a:t>
            </a:r>
            <a:r>
              <a:rPr lang="en-US" dirty="0" err="1"/>
              <a:t>số</a:t>
            </a:r>
            <a:r>
              <a:rPr lang="en-US" dirty="0"/>
              <a:t> </a:t>
            </a:r>
            <a:r>
              <a:rPr lang="en-US" dirty="0" err="1"/>
              <a:t>đó</a:t>
            </a:r>
            <a:endParaRPr lang="en-US" dirty="0"/>
          </a:p>
          <a:p>
            <a:pPr lvl="1"/>
            <a:r>
              <a:rPr lang="en-US" dirty="0" err="1"/>
              <a:t>Trung</a:t>
            </a:r>
            <a:r>
              <a:rPr lang="en-US" dirty="0"/>
              <a:t> </a:t>
            </a:r>
            <a:r>
              <a:rPr lang="en-US" dirty="0" err="1"/>
              <a:t>bình</a:t>
            </a:r>
            <a:r>
              <a:rPr lang="en-US" dirty="0"/>
              <a:t> </a:t>
            </a:r>
            <a:r>
              <a:rPr lang="en-US" dirty="0" err="1"/>
              <a:t>cộng</a:t>
            </a:r>
            <a:r>
              <a:rPr lang="en-US" dirty="0"/>
              <a:t> </a:t>
            </a:r>
            <a:r>
              <a:rPr lang="en-US" dirty="0" err="1"/>
              <a:t>dãy</a:t>
            </a:r>
            <a:r>
              <a:rPr lang="en-US" dirty="0"/>
              <a:t> </a:t>
            </a:r>
            <a:r>
              <a:rPr lang="en-US" dirty="0" err="1"/>
              <a:t>số</a:t>
            </a:r>
            <a:r>
              <a:rPr lang="en-US" dirty="0"/>
              <a:t> </a:t>
            </a:r>
          </a:p>
          <a:p>
            <a:pPr lvl="1"/>
            <a:r>
              <a:rPr lang="en-US" dirty="0" err="1"/>
              <a:t>Số</a:t>
            </a:r>
            <a:r>
              <a:rPr lang="en-US" dirty="0"/>
              <a:t> </a:t>
            </a:r>
            <a:r>
              <a:rPr lang="en-US" dirty="0" err="1"/>
              <a:t>lần</a:t>
            </a:r>
            <a:r>
              <a:rPr lang="en-US" dirty="0"/>
              <a:t> </a:t>
            </a:r>
            <a:r>
              <a:rPr lang="en-US" dirty="0" err="1"/>
              <a:t>xuất</a:t>
            </a:r>
            <a:r>
              <a:rPr lang="en-US" dirty="0"/>
              <a:t> </a:t>
            </a:r>
            <a:r>
              <a:rPr lang="en-US" dirty="0" err="1"/>
              <a:t>hiện</a:t>
            </a:r>
            <a:r>
              <a:rPr lang="en-US" dirty="0"/>
              <a:t> </a:t>
            </a:r>
            <a:r>
              <a:rPr lang="en-US" dirty="0" err="1"/>
              <a:t>tương</a:t>
            </a:r>
            <a:r>
              <a:rPr lang="en-US" dirty="0"/>
              <a:t> </a:t>
            </a:r>
            <a:r>
              <a:rPr lang="en-US" dirty="0" err="1"/>
              <a:t>ứng</a:t>
            </a:r>
            <a:r>
              <a:rPr lang="en-US" dirty="0"/>
              <a:t> </a:t>
            </a:r>
            <a:r>
              <a:rPr lang="en-US" dirty="0" err="1"/>
              <a:t>của</a:t>
            </a:r>
            <a:r>
              <a:rPr lang="en-US" dirty="0"/>
              <a:t> </a:t>
            </a:r>
            <a:r>
              <a:rPr lang="en-US" dirty="0" err="1"/>
              <a:t>các</a:t>
            </a:r>
            <a:r>
              <a:rPr lang="en-US" dirty="0"/>
              <a:t> </a:t>
            </a:r>
            <a:r>
              <a:rPr lang="en-US" dirty="0" err="1"/>
              <a:t>số</a:t>
            </a:r>
            <a:r>
              <a:rPr lang="en-US" dirty="0"/>
              <a:t> 1,2,…9</a:t>
            </a:r>
          </a:p>
          <a:p>
            <a:pPr marL="514350" indent="-514350">
              <a:buFont typeface="+mj-lt"/>
              <a:buAutoNum type="arabicPeriod"/>
            </a:pPr>
            <a:r>
              <a:rPr lang="en-US" dirty="0" err="1"/>
              <a:t>Nhập</a:t>
            </a:r>
            <a:r>
              <a:rPr lang="en-US" dirty="0"/>
              <a:t> </a:t>
            </a:r>
            <a:r>
              <a:rPr lang="en-US" dirty="0" err="1"/>
              <a:t>danh</a:t>
            </a:r>
            <a:r>
              <a:rPr lang="en-US" dirty="0"/>
              <a:t> </a:t>
            </a:r>
            <a:r>
              <a:rPr lang="en-US" dirty="0" err="1"/>
              <a:t>sách</a:t>
            </a:r>
            <a:r>
              <a:rPr lang="en-US" dirty="0"/>
              <a:t> </a:t>
            </a:r>
            <a:r>
              <a:rPr lang="en-US" err="1"/>
              <a:t>và</a:t>
            </a:r>
            <a:r>
              <a:rPr lang="en-US"/>
              <a:t> dùng vòng </a:t>
            </a:r>
            <a:r>
              <a:rPr lang="en-US" dirty="0" err="1"/>
              <a:t>lặp</a:t>
            </a:r>
            <a:r>
              <a:rPr lang="en-US" dirty="0"/>
              <a:t> </a:t>
            </a:r>
            <a:r>
              <a:rPr lang="en-US" dirty="0" err="1"/>
              <a:t>để</a:t>
            </a:r>
            <a:r>
              <a:rPr lang="en-US" dirty="0"/>
              <a:t> </a:t>
            </a:r>
            <a:r>
              <a:rPr lang="en-US" dirty="0" err="1"/>
              <a:t>sắp</a:t>
            </a:r>
            <a:r>
              <a:rPr lang="en-US" dirty="0"/>
              <a:t> </a:t>
            </a:r>
            <a:r>
              <a:rPr lang="en-US" dirty="0" err="1"/>
              <a:t>xếp</a:t>
            </a:r>
            <a:r>
              <a:rPr lang="en-US" dirty="0"/>
              <a:t> </a:t>
            </a:r>
            <a:r>
              <a:rPr lang="en-US" dirty="0" err="1"/>
              <a:t>tăng</a:t>
            </a:r>
            <a:r>
              <a:rPr lang="en-US" dirty="0"/>
              <a:t> </a:t>
            </a:r>
            <a:r>
              <a:rPr lang="en-US" dirty="0" err="1"/>
              <a:t>dần</a:t>
            </a:r>
            <a:r>
              <a:rPr lang="en-US" dirty="0"/>
              <a:t> (</a:t>
            </a:r>
            <a:r>
              <a:rPr lang="en-US" err="1"/>
              <a:t>không</a:t>
            </a:r>
            <a:r>
              <a:rPr lang="en-US"/>
              <a:t> dùng </a:t>
            </a:r>
            <a:r>
              <a:rPr lang="en-US" dirty="0" err="1"/>
              <a:t>hàm</a:t>
            </a:r>
            <a:r>
              <a:rPr lang="en-US" dirty="0"/>
              <a:t> sort)</a:t>
            </a:r>
          </a:p>
          <a:p>
            <a:pPr marL="514350" indent="-514350">
              <a:buFont typeface="+mj-lt"/>
              <a:buAutoNum type="arabicPeriod"/>
            </a:pPr>
            <a:r>
              <a:rPr lang="en-US" dirty="0" err="1"/>
              <a:t>Nhập</a:t>
            </a:r>
            <a:r>
              <a:rPr lang="en-US" dirty="0"/>
              <a:t> </a:t>
            </a:r>
            <a:r>
              <a:rPr lang="en-US" err="1"/>
              <a:t>danh</a:t>
            </a:r>
            <a:r>
              <a:rPr lang="en-US"/>
              <a:t> sách gồm n </a:t>
            </a:r>
            <a:r>
              <a:rPr lang="en-US" dirty="0"/>
              <a:t>SV </a:t>
            </a:r>
            <a:r>
              <a:rPr lang="en-US" err="1"/>
              <a:t>gồm</a:t>
            </a:r>
            <a:r>
              <a:rPr lang="en-US"/>
              <a:t> mã sv </a:t>
            </a:r>
            <a:r>
              <a:rPr lang="en-US" dirty="0" err="1"/>
              <a:t>và</a:t>
            </a:r>
            <a:r>
              <a:rPr lang="en-US" dirty="0"/>
              <a:t> </a:t>
            </a:r>
            <a:r>
              <a:rPr lang="en-US" err="1"/>
              <a:t>điểm</a:t>
            </a:r>
            <a:r>
              <a:rPr lang="en-US"/>
              <a:t> KT </a:t>
            </a:r>
            <a:r>
              <a:rPr lang="en-US" dirty="0"/>
              <a:t>( thang 10), </a:t>
            </a:r>
            <a:r>
              <a:rPr lang="en-US" dirty="0" err="1"/>
              <a:t>sau</a:t>
            </a:r>
            <a:r>
              <a:rPr lang="en-US" dirty="0"/>
              <a:t> </a:t>
            </a:r>
            <a:r>
              <a:rPr lang="en-US" dirty="0" err="1"/>
              <a:t>đó</a:t>
            </a:r>
            <a:r>
              <a:rPr lang="en-US" dirty="0"/>
              <a:t>:</a:t>
            </a:r>
          </a:p>
          <a:p>
            <a:pPr lvl="1"/>
            <a:r>
              <a:rPr lang="en-US" dirty="0"/>
              <a:t>In </a:t>
            </a:r>
            <a:r>
              <a:rPr lang="en-US" dirty="0" err="1"/>
              <a:t>ra</a:t>
            </a:r>
            <a:r>
              <a:rPr lang="en-US" dirty="0"/>
              <a:t> </a:t>
            </a:r>
            <a:r>
              <a:rPr lang="en-US" err="1"/>
              <a:t>danh</a:t>
            </a:r>
            <a:r>
              <a:rPr lang="en-US"/>
              <a:t> sách điểm </a:t>
            </a:r>
            <a:r>
              <a:rPr lang="en-US" dirty="0"/>
              <a:t>thang 4 (A,B,C,D,F) 	</a:t>
            </a:r>
          </a:p>
          <a:p>
            <a:pPr lvl="1"/>
            <a:r>
              <a:rPr lang="en-US" dirty="0"/>
              <a:t>In </a:t>
            </a:r>
            <a:r>
              <a:rPr lang="en-US" dirty="0" err="1"/>
              <a:t>danh</a:t>
            </a:r>
            <a:r>
              <a:rPr lang="en-US" dirty="0"/>
              <a:t> </a:t>
            </a:r>
            <a:r>
              <a:rPr lang="en-US" dirty="0" err="1"/>
              <a:t>sách</a:t>
            </a:r>
            <a:r>
              <a:rPr lang="en-US" dirty="0"/>
              <a:t> </a:t>
            </a:r>
            <a:r>
              <a:rPr lang="en-US" dirty="0" err="1"/>
              <a:t>theo</a:t>
            </a:r>
            <a:r>
              <a:rPr lang="en-US" dirty="0"/>
              <a:t> </a:t>
            </a:r>
            <a:r>
              <a:rPr lang="en-US" err="1"/>
              <a:t>điểm</a:t>
            </a:r>
            <a:r>
              <a:rPr lang="en-US"/>
              <a:t> KT giảm </a:t>
            </a:r>
            <a:r>
              <a:rPr lang="en-US" dirty="0" err="1"/>
              <a:t>dần</a:t>
            </a:r>
            <a:r>
              <a:rPr lang="en-US" dirty="0"/>
              <a:t> </a:t>
            </a:r>
          </a:p>
          <a:p>
            <a:pPr marL="514350" indent="-514350">
              <a:buFont typeface="+mj-lt"/>
              <a:buAutoNum type="arabicPeriod"/>
            </a:pPr>
            <a:r>
              <a:rPr lang="en-US"/>
              <a:t>Nhập hai ma </a:t>
            </a:r>
            <a:r>
              <a:rPr lang="en-US" dirty="0" err="1"/>
              <a:t>trận</a:t>
            </a:r>
            <a:r>
              <a:rPr lang="en-US" dirty="0"/>
              <a:t> </a:t>
            </a:r>
            <a:r>
              <a:rPr lang="en-US" dirty="0" err="1"/>
              <a:t>cùng</a:t>
            </a:r>
            <a:r>
              <a:rPr lang="en-US" dirty="0"/>
              <a:t> </a:t>
            </a:r>
            <a:r>
              <a:rPr lang="en-US" dirty="0" err="1"/>
              <a:t>kích</a:t>
            </a:r>
            <a:r>
              <a:rPr lang="en-US" dirty="0"/>
              <a:t> </a:t>
            </a:r>
            <a:r>
              <a:rPr lang="en-US" dirty="0" err="1"/>
              <a:t>thước</a:t>
            </a:r>
            <a:r>
              <a:rPr lang="en-US" dirty="0"/>
              <a:t> </a:t>
            </a:r>
            <a:r>
              <a:rPr lang="en-US" dirty="0" err="1"/>
              <a:t>và</a:t>
            </a:r>
            <a:r>
              <a:rPr lang="en-US" dirty="0"/>
              <a:t> in </a:t>
            </a:r>
            <a:r>
              <a:rPr lang="en-US" dirty="0" err="1"/>
              <a:t>ra</a:t>
            </a:r>
            <a:r>
              <a:rPr lang="en-US" dirty="0"/>
              <a:t> ma </a:t>
            </a:r>
            <a:r>
              <a:rPr lang="en-US" dirty="0" err="1"/>
              <a:t>trận</a:t>
            </a:r>
            <a:r>
              <a:rPr lang="en-US" dirty="0"/>
              <a:t> </a:t>
            </a:r>
            <a:r>
              <a:rPr lang="en-US" dirty="0" err="1"/>
              <a:t>tổng</a:t>
            </a:r>
            <a:endParaRPr lang="en-US" dirty="0"/>
          </a:p>
          <a:p>
            <a:pPr marL="514350" indent="-514350">
              <a:buFont typeface="+mj-lt"/>
              <a:buAutoNum type="arabicPeriod"/>
            </a:pPr>
            <a:r>
              <a:rPr lang="en-US" dirty="0" err="1"/>
              <a:t>Tạo</a:t>
            </a:r>
            <a:r>
              <a:rPr lang="en-US" dirty="0"/>
              <a:t> </a:t>
            </a:r>
            <a:r>
              <a:rPr lang="en-US" dirty="0" err="1"/>
              <a:t>một</a:t>
            </a:r>
            <a:r>
              <a:rPr lang="en-US" dirty="0"/>
              <a:t> </a:t>
            </a:r>
            <a:r>
              <a:rPr lang="en-US" dirty="0" err="1"/>
              <a:t>từ</a:t>
            </a:r>
            <a:r>
              <a:rPr lang="en-US" dirty="0"/>
              <a:t> </a:t>
            </a:r>
            <a:r>
              <a:rPr lang="en-US" dirty="0" err="1"/>
              <a:t>điển</a:t>
            </a:r>
            <a:r>
              <a:rPr lang="en-US" dirty="0"/>
              <a:t> </a:t>
            </a:r>
            <a:r>
              <a:rPr lang="en-US" dirty="0" err="1"/>
              <a:t>lưu</a:t>
            </a:r>
            <a:r>
              <a:rPr lang="en-US" dirty="0"/>
              <a:t> </a:t>
            </a:r>
            <a:r>
              <a:rPr lang="en-US" dirty="0" err="1"/>
              <a:t>số</a:t>
            </a:r>
            <a:r>
              <a:rPr lang="en-US" dirty="0"/>
              <a:t> </a:t>
            </a:r>
            <a:r>
              <a:rPr lang="en-US" dirty="0" err="1"/>
              <a:t>ngày</a:t>
            </a:r>
            <a:r>
              <a:rPr lang="en-US" dirty="0"/>
              <a:t> </a:t>
            </a:r>
            <a:r>
              <a:rPr lang="en-US" dirty="0" err="1"/>
              <a:t>ứng</a:t>
            </a:r>
            <a:r>
              <a:rPr lang="en-US" dirty="0"/>
              <a:t> </a:t>
            </a:r>
            <a:r>
              <a:rPr lang="en-US" dirty="0" err="1"/>
              <a:t>với</a:t>
            </a:r>
            <a:r>
              <a:rPr lang="en-US" dirty="0"/>
              <a:t> 12 </a:t>
            </a:r>
            <a:r>
              <a:rPr lang="en-US" dirty="0" err="1"/>
              <a:t>tháng</a:t>
            </a:r>
            <a:r>
              <a:rPr lang="en-US" dirty="0"/>
              <a:t> </a:t>
            </a:r>
            <a:r>
              <a:rPr lang="en-US" dirty="0" err="1"/>
              <a:t>của</a:t>
            </a:r>
            <a:r>
              <a:rPr lang="en-US" dirty="0"/>
              <a:t> </a:t>
            </a:r>
            <a:r>
              <a:rPr lang="en-US" err="1"/>
              <a:t>năm</a:t>
            </a:r>
            <a:r>
              <a:rPr lang="en-US"/>
              <a:t> 2025 </a:t>
            </a:r>
            <a:r>
              <a:rPr lang="en-US" dirty="0" err="1"/>
              <a:t>sau</a:t>
            </a:r>
            <a:r>
              <a:rPr lang="en-US" dirty="0"/>
              <a:t> </a:t>
            </a:r>
            <a:r>
              <a:rPr lang="en-US" dirty="0" err="1"/>
              <a:t>đó</a:t>
            </a:r>
            <a:r>
              <a:rPr lang="en-US" dirty="0"/>
              <a:t> </a:t>
            </a:r>
            <a:r>
              <a:rPr lang="en-US" dirty="0" err="1"/>
              <a:t>cho</a:t>
            </a:r>
            <a:r>
              <a:rPr lang="en-US" dirty="0"/>
              <a:t> </a:t>
            </a:r>
            <a:r>
              <a:rPr lang="en-US" dirty="0" err="1"/>
              <a:t>phép</a:t>
            </a:r>
            <a:r>
              <a:rPr lang="en-US" dirty="0"/>
              <a:t>:</a:t>
            </a:r>
          </a:p>
          <a:p>
            <a:pPr lvl="1"/>
            <a:r>
              <a:rPr lang="en-US" dirty="0"/>
              <a:t> In </a:t>
            </a:r>
            <a:r>
              <a:rPr lang="en-US" dirty="0" err="1"/>
              <a:t>ra</a:t>
            </a:r>
            <a:r>
              <a:rPr lang="en-US" dirty="0"/>
              <a:t> </a:t>
            </a:r>
            <a:r>
              <a:rPr lang="en-US" dirty="0" err="1"/>
              <a:t>các</a:t>
            </a:r>
            <a:r>
              <a:rPr lang="en-US" dirty="0"/>
              <a:t> </a:t>
            </a:r>
            <a:r>
              <a:rPr lang="en-US" dirty="0" err="1"/>
              <a:t>tháng</a:t>
            </a:r>
            <a:r>
              <a:rPr lang="en-US" dirty="0"/>
              <a:t> </a:t>
            </a:r>
            <a:r>
              <a:rPr lang="en-US" dirty="0" err="1"/>
              <a:t>có</a:t>
            </a:r>
            <a:r>
              <a:rPr lang="en-US" dirty="0"/>
              <a:t> 31 </a:t>
            </a:r>
            <a:r>
              <a:rPr lang="en-US" dirty="0" err="1"/>
              <a:t>ngày</a:t>
            </a:r>
            <a:r>
              <a:rPr lang="en-US" dirty="0"/>
              <a:t> </a:t>
            </a:r>
          </a:p>
          <a:p>
            <a:pPr lvl="1"/>
            <a:r>
              <a:rPr lang="en-US" dirty="0" err="1"/>
              <a:t>Nhập</a:t>
            </a:r>
            <a:r>
              <a:rPr lang="en-US" dirty="0"/>
              <a:t> </a:t>
            </a:r>
            <a:r>
              <a:rPr lang="en-US" dirty="0" err="1"/>
              <a:t>vào</a:t>
            </a:r>
            <a:r>
              <a:rPr lang="en-US" dirty="0"/>
              <a:t> </a:t>
            </a:r>
            <a:r>
              <a:rPr lang="en-US" dirty="0" err="1"/>
              <a:t>một</a:t>
            </a:r>
            <a:r>
              <a:rPr lang="en-US" dirty="0"/>
              <a:t> </a:t>
            </a:r>
            <a:r>
              <a:rPr lang="en-US" dirty="0" err="1"/>
              <a:t>tháng</a:t>
            </a:r>
            <a:r>
              <a:rPr lang="en-US" dirty="0"/>
              <a:t> </a:t>
            </a:r>
            <a:r>
              <a:rPr lang="en-US" dirty="0" err="1"/>
              <a:t>và</a:t>
            </a:r>
            <a:r>
              <a:rPr lang="en-US" dirty="0"/>
              <a:t> in </a:t>
            </a:r>
            <a:r>
              <a:rPr lang="en-US" dirty="0" err="1"/>
              <a:t>ra</a:t>
            </a:r>
            <a:r>
              <a:rPr lang="en-US" dirty="0"/>
              <a:t> </a:t>
            </a:r>
            <a:r>
              <a:rPr lang="en-US" dirty="0" err="1"/>
              <a:t>số</a:t>
            </a:r>
            <a:r>
              <a:rPr lang="en-US" dirty="0"/>
              <a:t> </a:t>
            </a:r>
            <a:r>
              <a:rPr lang="en-US" err="1"/>
              <a:t>ngày</a:t>
            </a:r>
            <a:r>
              <a:rPr lang="en-US"/>
              <a:t> của </a:t>
            </a:r>
            <a:r>
              <a:rPr lang="en-US" dirty="0" err="1"/>
              <a:t>tháng</a:t>
            </a:r>
            <a:r>
              <a:rPr lang="en-US" dirty="0"/>
              <a:t> </a:t>
            </a:r>
            <a:r>
              <a:rPr lang="en-US" dirty="0" err="1"/>
              <a:t>đó</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48</a:t>
            </a:fld>
            <a:endParaRPr lang="en-US"/>
          </a:p>
        </p:txBody>
      </p:sp>
    </p:spTree>
    <p:extLst>
      <p:ext uri="{BB962C8B-B14F-4D97-AF65-F5344CB8AC3E}">
        <p14:creationId xmlns:p14="http://schemas.microsoft.com/office/powerpoint/2010/main" val="456687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Hàm</a:t>
            </a:r>
            <a:endParaRPr lang="en-US" dirty="0"/>
          </a:p>
        </p:txBody>
      </p:sp>
      <p:sp>
        <p:nvSpPr>
          <p:cNvPr id="3" name="Content Placeholder 2"/>
          <p:cNvSpPr>
            <a:spLocks noGrp="1"/>
          </p:cNvSpPr>
          <p:nvPr>
            <p:ph idx="1"/>
          </p:nvPr>
        </p:nvSpPr>
        <p:spPr/>
        <p:txBody>
          <a:bodyPr/>
          <a:lstStyle/>
          <a:p>
            <a:r>
              <a:rPr lang="en-US" dirty="0" err="1"/>
              <a:t>Đoạn</a:t>
            </a:r>
            <a:r>
              <a:rPr lang="en-US" dirty="0"/>
              <a:t> </a:t>
            </a:r>
            <a:r>
              <a:rPr lang="en-US" dirty="0" err="1"/>
              <a:t>chương</a:t>
            </a:r>
            <a:r>
              <a:rPr lang="en-US" dirty="0"/>
              <a:t> </a:t>
            </a:r>
            <a:r>
              <a:rPr lang="en-US" dirty="0" err="1"/>
              <a:t>trình</a:t>
            </a:r>
            <a:r>
              <a:rPr lang="en-US" dirty="0"/>
              <a:t> </a:t>
            </a:r>
            <a:r>
              <a:rPr lang="en-US" dirty="0" err="1"/>
              <a:t>tách</a:t>
            </a:r>
            <a:r>
              <a:rPr lang="en-US" dirty="0"/>
              <a:t> </a:t>
            </a:r>
            <a:r>
              <a:rPr lang="en-US" dirty="0" err="1"/>
              <a:t>riêng</a:t>
            </a:r>
            <a:r>
              <a:rPr lang="en-US" dirty="0"/>
              <a:t> </a:t>
            </a:r>
            <a:r>
              <a:rPr lang="en-US" dirty="0" err="1"/>
              <a:t>độc</a:t>
            </a:r>
            <a:r>
              <a:rPr lang="en-US" dirty="0"/>
              <a:t> </a:t>
            </a:r>
            <a:r>
              <a:rPr lang="en-US" dirty="0" err="1"/>
              <a:t>lập</a:t>
            </a:r>
            <a:r>
              <a:rPr lang="en-US" dirty="0"/>
              <a:t> </a:t>
            </a:r>
            <a:r>
              <a:rPr lang="en-US" dirty="0" err="1"/>
              <a:t>thực</a:t>
            </a:r>
            <a:r>
              <a:rPr lang="en-US" dirty="0"/>
              <a:t> </a:t>
            </a:r>
            <a:r>
              <a:rPr lang="en-US" dirty="0" err="1"/>
              <a:t>hiện</a:t>
            </a:r>
            <a:r>
              <a:rPr lang="en-US" dirty="0"/>
              <a:t> </a:t>
            </a:r>
            <a:r>
              <a:rPr lang="en-US" dirty="0" err="1"/>
              <a:t>chức</a:t>
            </a:r>
            <a:r>
              <a:rPr lang="en-US" dirty="0"/>
              <a:t> </a:t>
            </a:r>
            <a:r>
              <a:rPr lang="en-US" dirty="0" err="1"/>
              <a:t>năng</a:t>
            </a:r>
            <a:r>
              <a:rPr lang="en-US" dirty="0"/>
              <a:t> </a:t>
            </a:r>
            <a:r>
              <a:rPr lang="en-US" dirty="0" err="1"/>
              <a:t>nào</a:t>
            </a:r>
            <a:r>
              <a:rPr lang="en-US" dirty="0"/>
              <a:t> </a:t>
            </a:r>
            <a:r>
              <a:rPr lang="en-US" dirty="0" err="1"/>
              <a:t>đó</a:t>
            </a:r>
            <a:endParaRPr lang="en-US" dirty="0"/>
          </a:p>
          <a:p>
            <a:r>
              <a:rPr lang="en-US" dirty="0" err="1"/>
              <a:t>Làm</a:t>
            </a:r>
            <a:r>
              <a:rPr lang="en-US" dirty="0"/>
              <a:t> </a:t>
            </a:r>
            <a:r>
              <a:rPr lang="en-US" dirty="0" err="1"/>
              <a:t>cho</a:t>
            </a:r>
            <a:r>
              <a:rPr lang="en-US" dirty="0"/>
              <a:t> </a:t>
            </a:r>
            <a:r>
              <a:rPr lang="en-US" dirty="0" err="1"/>
              <a:t>cấu</a:t>
            </a:r>
            <a:r>
              <a:rPr lang="en-US" dirty="0"/>
              <a:t> </a:t>
            </a:r>
            <a:r>
              <a:rPr lang="en-US" dirty="0" err="1"/>
              <a:t>trúc</a:t>
            </a:r>
            <a:r>
              <a:rPr lang="en-US" dirty="0"/>
              <a:t> </a:t>
            </a:r>
            <a:r>
              <a:rPr lang="en-US" dirty="0" err="1"/>
              <a:t>chương</a:t>
            </a:r>
            <a:r>
              <a:rPr lang="en-US" dirty="0"/>
              <a:t> </a:t>
            </a:r>
            <a:r>
              <a:rPr lang="en-US" dirty="0" err="1"/>
              <a:t>trình</a:t>
            </a:r>
            <a:r>
              <a:rPr lang="en-US" dirty="0"/>
              <a:t> </a:t>
            </a:r>
            <a:r>
              <a:rPr lang="en-US" dirty="0" err="1"/>
              <a:t>dễ</a:t>
            </a:r>
            <a:r>
              <a:rPr lang="en-US" dirty="0"/>
              <a:t> </a:t>
            </a:r>
            <a:r>
              <a:rPr lang="en-US" dirty="0" err="1"/>
              <a:t>đọc</a:t>
            </a:r>
            <a:r>
              <a:rPr lang="en-US" dirty="0"/>
              <a:t> </a:t>
            </a:r>
            <a:r>
              <a:rPr lang="en-US" dirty="0" err="1"/>
              <a:t>và</a:t>
            </a:r>
            <a:r>
              <a:rPr lang="en-US" dirty="0"/>
              <a:t> </a:t>
            </a:r>
            <a:r>
              <a:rPr lang="en-US" dirty="0" err="1"/>
              <a:t>bảo</a:t>
            </a:r>
            <a:r>
              <a:rPr lang="en-US" dirty="0"/>
              <a:t> </a:t>
            </a:r>
            <a:r>
              <a:rPr lang="en-US" dirty="0" err="1"/>
              <a:t>trì</a:t>
            </a:r>
            <a:endParaRPr lang="en-US" dirty="0"/>
          </a:p>
          <a:p>
            <a:r>
              <a:rPr lang="en-US" dirty="0" err="1"/>
              <a:t>Tái</a:t>
            </a:r>
            <a:r>
              <a:rPr lang="en-US" dirty="0"/>
              <a:t> </a:t>
            </a:r>
            <a:r>
              <a:rPr lang="en-US" dirty="0" err="1"/>
              <a:t>sử</a:t>
            </a:r>
            <a:r>
              <a:rPr lang="en-US" dirty="0"/>
              <a:t> </a:t>
            </a:r>
            <a:r>
              <a:rPr lang="en-US" dirty="0" err="1"/>
              <a:t>dụng</a:t>
            </a:r>
            <a:r>
              <a:rPr lang="en-US" dirty="0"/>
              <a:t> </a:t>
            </a:r>
            <a:r>
              <a:rPr lang="en-US" dirty="0" err="1"/>
              <a:t>nhiều</a:t>
            </a:r>
            <a:r>
              <a:rPr lang="en-US" dirty="0"/>
              <a:t> </a:t>
            </a:r>
            <a:r>
              <a:rPr lang="en-US" dirty="0" err="1"/>
              <a:t>lần</a:t>
            </a:r>
            <a:endParaRPr lang="en-US" dirty="0"/>
          </a:p>
          <a:p>
            <a:r>
              <a:rPr lang="en-US" dirty="0" err="1"/>
              <a:t>Hàm</a:t>
            </a:r>
            <a:r>
              <a:rPr lang="en-US" dirty="0"/>
              <a:t> </a:t>
            </a:r>
            <a:r>
              <a:rPr lang="en-US" dirty="0" err="1"/>
              <a:t>có</a:t>
            </a:r>
            <a:r>
              <a:rPr lang="en-US" dirty="0"/>
              <a:t> </a:t>
            </a:r>
            <a:r>
              <a:rPr lang="en-US" dirty="0" err="1"/>
              <a:t>thể</a:t>
            </a:r>
            <a:r>
              <a:rPr lang="en-US" dirty="0"/>
              <a:t> </a:t>
            </a:r>
            <a:r>
              <a:rPr lang="en-US" dirty="0" err="1"/>
              <a:t>trả</a:t>
            </a:r>
            <a:r>
              <a:rPr lang="en-US" dirty="0"/>
              <a:t> </a:t>
            </a:r>
            <a:r>
              <a:rPr lang="en-US" dirty="0" err="1"/>
              <a:t>về</a:t>
            </a:r>
            <a:r>
              <a:rPr lang="en-US" dirty="0"/>
              <a:t> </a:t>
            </a:r>
            <a:r>
              <a:rPr lang="en-US" dirty="0" err="1"/>
              <a:t>một</a:t>
            </a:r>
            <a:r>
              <a:rPr lang="en-US" dirty="0"/>
              <a:t> </a:t>
            </a:r>
            <a:r>
              <a:rPr lang="en-US" dirty="0" err="1"/>
              <a:t>giá</a:t>
            </a:r>
            <a:r>
              <a:rPr lang="en-US" dirty="0"/>
              <a:t> </a:t>
            </a:r>
            <a:r>
              <a:rPr lang="en-US" dirty="0" err="1"/>
              <a:t>trị</a:t>
            </a:r>
            <a:endParaRPr lang="en-US" dirty="0"/>
          </a:p>
          <a:p>
            <a:r>
              <a:rPr lang="en-US" dirty="0" err="1"/>
              <a:t>Hàm</a:t>
            </a:r>
            <a:r>
              <a:rPr lang="en-US" dirty="0"/>
              <a:t> </a:t>
            </a:r>
            <a:r>
              <a:rPr lang="en-US" dirty="0" err="1"/>
              <a:t>có</a:t>
            </a:r>
            <a:r>
              <a:rPr lang="en-US" dirty="0"/>
              <a:t> </a:t>
            </a:r>
            <a:r>
              <a:rPr lang="en-US" dirty="0" err="1"/>
              <a:t>sẵn</a:t>
            </a:r>
            <a:r>
              <a:rPr lang="en-US" dirty="0"/>
              <a:t> (built-in function) </a:t>
            </a:r>
            <a:r>
              <a:rPr lang="en-US" dirty="0" err="1"/>
              <a:t>và</a:t>
            </a:r>
            <a:r>
              <a:rPr lang="en-US" dirty="0"/>
              <a:t> </a:t>
            </a:r>
            <a:r>
              <a:rPr lang="en-US" dirty="0" err="1"/>
              <a:t>hàm</a:t>
            </a:r>
            <a:r>
              <a:rPr lang="en-US" dirty="0"/>
              <a:t> </a:t>
            </a:r>
            <a:r>
              <a:rPr lang="en-US" dirty="0" err="1"/>
              <a:t>tự</a:t>
            </a:r>
            <a:r>
              <a:rPr lang="en-US" dirty="0"/>
              <a:t> </a:t>
            </a:r>
            <a:r>
              <a:rPr lang="en-US" dirty="0" err="1"/>
              <a:t>định</a:t>
            </a:r>
            <a:r>
              <a:rPr lang="en-US" dirty="0"/>
              <a:t> </a:t>
            </a:r>
            <a:r>
              <a:rPr lang="en-US" dirty="0" err="1"/>
              <a:t>nghĩa</a:t>
            </a:r>
            <a:r>
              <a:rPr lang="en-US" dirty="0"/>
              <a:t> (user-defined function) </a:t>
            </a:r>
            <a:br>
              <a:rPr lang="en-US" dirty="0"/>
            </a:br>
            <a:r>
              <a:rPr lang="en-US" dirty="0"/>
              <a:t> </a:t>
            </a:r>
            <a:br>
              <a:rPr lang="en-US" dirty="0"/>
            </a:b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49</a:t>
            </a:fld>
            <a:endParaRPr lang="en-US"/>
          </a:p>
        </p:txBody>
      </p:sp>
    </p:spTree>
    <p:extLst>
      <p:ext uri="{BB962C8B-B14F-4D97-AF65-F5344CB8AC3E}">
        <p14:creationId xmlns:p14="http://schemas.microsoft.com/office/powerpoint/2010/main" val="31434145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Hàm</a:t>
            </a:r>
            <a:endParaRPr lang="en-US" dirty="0"/>
          </a:p>
        </p:txBody>
      </p:sp>
      <p:sp>
        <p:nvSpPr>
          <p:cNvPr id="3" name="Content Placeholder 2"/>
          <p:cNvSpPr>
            <a:spLocks noGrp="1"/>
          </p:cNvSpPr>
          <p:nvPr>
            <p:ph idx="1"/>
          </p:nvPr>
        </p:nvSpPr>
        <p:spPr/>
        <p:txBody>
          <a:bodyPr/>
          <a:lstStyle/>
          <a:p>
            <a:r>
              <a:rPr lang="en-US" dirty="0" err="1"/>
              <a:t>Đĩnh</a:t>
            </a:r>
            <a:r>
              <a:rPr lang="en-US" dirty="0"/>
              <a:t> </a:t>
            </a:r>
            <a:r>
              <a:rPr lang="en-US" dirty="0" err="1"/>
              <a:t>nghĩa</a:t>
            </a:r>
            <a:r>
              <a:rPr lang="en-US" dirty="0"/>
              <a:t> </a:t>
            </a:r>
            <a:r>
              <a:rPr lang="en-US" dirty="0" err="1"/>
              <a:t>hàm</a:t>
            </a:r>
            <a:endParaRPr lang="en-US" dirty="0"/>
          </a:p>
          <a:p>
            <a:pPr marL="0" indent="0">
              <a:buNone/>
            </a:pPr>
            <a:r>
              <a:rPr lang="en-US" dirty="0" err="1">
                <a:solidFill>
                  <a:srgbClr val="0070C0"/>
                </a:solidFill>
              </a:rPr>
              <a:t>def</a:t>
            </a:r>
            <a:r>
              <a:rPr lang="en-US" dirty="0">
                <a:solidFill>
                  <a:srgbClr val="0070C0"/>
                </a:solidFill>
              </a:rPr>
              <a:t> </a:t>
            </a:r>
            <a:r>
              <a:rPr lang="en-US" dirty="0" err="1">
                <a:solidFill>
                  <a:srgbClr val="0070C0"/>
                </a:solidFill>
              </a:rPr>
              <a:t>tên_hàm</a:t>
            </a:r>
            <a:r>
              <a:rPr lang="en-US" dirty="0">
                <a:solidFill>
                  <a:srgbClr val="0070C0"/>
                </a:solidFill>
              </a:rPr>
              <a:t> </a:t>
            </a:r>
            <a:r>
              <a:rPr lang="en-US">
                <a:solidFill>
                  <a:srgbClr val="0070C0"/>
                </a:solidFill>
              </a:rPr>
              <a:t>(các, tham, </a:t>
            </a:r>
            <a:r>
              <a:rPr lang="en-US" dirty="0" err="1">
                <a:solidFill>
                  <a:srgbClr val="0070C0"/>
                </a:solidFill>
              </a:rPr>
              <a:t>số</a:t>
            </a:r>
            <a:r>
              <a:rPr lang="en-US" dirty="0">
                <a:solidFill>
                  <a:srgbClr val="0070C0"/>
                </a:solidFill>
              </a:rPr>
              <a:t>):</a:t>
            </a:r>
          </a:p>
          <a:p>
            <a:pPr marL="0" indent="0">
              <a:buNone/>
            </a:pPr>
            <a:r>
              <a:rPr lang="en-US" dirty="0">
                <a:solidFill>
                  <a:srgbClr val="0070C0"/>
                </a:solidFill>
              </a:rPr>
              <a:t>	</a:t>
            </a:r>
            <a:r>
              <a:rPr lang="en-US" dirty="0" err="1">
                <a:solidFill>
                  <a:srgbClr val="0070C0"/>
                </a:solidFill>
              </a:rPr>
              <a:t>các</a:t>
            </a:r>
            <a:r>
              <a:rPr lang="en-US" dirty="0">
                <a:solidFill>
                  <a:srgbClr val="0070C0"/>
                </a:solidFill>
              </a:rPr>
              <a:t> </a:t>
            </a:r>
            <a:r>
              <a:rPr lang="en-US" dirty="0" err="1">
                <a:solidFill>
                  <a:srgbClr val="0070C0"/>
                </a:solidFill>
              </a:rPr>
              <a:t>lệnh</a:t>
            </a:r>
            <a:endParaRPr lang="en-US" dirty="0">
              <a:solidFill>
                <a:srgbClr val="0070C0"/>
              </a:solidFill>
            </a:endParaRPr>
          </a:p>
          <a:p>
            <a:r>
              <a:rPr lang="en-US" dirty="0" err="1"/>
              <a:t>Ví</a:t>
            </a:r>
            <a:r>
              <a:rPr lang="en-US" dirty="0"/>
              <a:t> </a:t>
            </a:r>
            <a:r>
              <a:rPr lang="en-US" dirty="0" err="1"/>
              <a:t>dụ</a:t>
            </a:r>
            <a:r>
              <a:rPr lang="en-US" dirty="0"/>
              <a:t> 1:</a:t>
            </a:r>
          </a:p>
          <a:p>
            <a:pPr marL="0" indent="0">
              <a:buNone/>
            </a:pPr>
            <a:r>
              <a:rPr lang="en-US" sz="2900" dirty="0" err="1">
                <a:latin typeface="Courier New" panose="02070309020205020404" pitchFamily="49" charset="0"/>
                <a:cs typeface="Courier New" panose="02070309020205020404" pitchFamily="49" charset="0"/>
              </a:rPr>
              <a:t>def</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chao</a:t>
            </a:r>
            <a:r>
              <a:rPr lang="en-US" sz="2900" dirty="0">
                <a:latin typeface="Courier New" panose="02070309020205020404" pitchFamily="49" charset="0"/>
                <a:cs typeface="Courier New" panose="02070309020205020404" pitchFamily="49" charset="0"/>
              </a:rPr>
              <a:t>():</a:t>
            </a:r>
          </a:p>
          <a:p>
            <a:pPr marL="0" indent="0">
              <a:buNone/>
            </a:pPr>
            <a:r>
              <a:rPr lang="en-US" sz="2900" dirty="0">
                <a:latin typeface="Courier New" panose="02070309020205020404" pitchFamily="49" charset="0"/>
                <a:cs typeface="Courier New" panose="02070309020205020404" pitchFamily="49" charset="0"/>
              </a:rPr>
              <a:t>	print(‘Hello!’)</a:t>
            </a:r>
          </a:p>
          <a:p>
            <a:pPr marL="0" indent="0">
              <a:buNone/>
            </a:pPr>
            <a:r>
              <a:rPr lang="en-US" sz="2900" dirty="0" err="1">
                <a:latin typeface="Courier New" panose="02070309020205020404" pitchFamily="49" charset="0"/>
                <a:cs typeface="Courier New" panose="02070309020205020404" pitchFamily="49" charset="0"/>
              </a:rPr>
              <a:t>chao</a:t>
            </a:r>
            <a:r>
              <a:rPr lang="en-US" sz="2900" dirty="0">
                <a:latin typeface="Courier New" panose="02070309020205020404" pitchFamily="49" charset="0"/>
                <a:cs typeface="Courier New" panose="02070309020205020404" pitchFamily="49" charset="0"/>
              </a:rPr>
              <a:t>() </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50</a:t>
            </a:fld>
            <a:endParaRPr lang="en-US"/>
          </a:p>
        </p:txBody>
      </p:sp>
    </p:spTree>
    <p:extLst>
      <p:ext uri="{BB962C8B-B14F-4D97-AF65-F5344CB8AC3E}">
        <p14:creationId xmlns:p14="http://schemas.microsoft.com/office/powerpoint/2010/main" val="24760906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254760"/>
            <a:ext cx="7886700" cy="5059680"/>
          </a:xfrm>
        </p:spPr>
        <p:txBody>
          <a:bodyPr>
            <a:normAutofit fontScale="92500" lnSpcReduction="10000"/>
          </a:bodyPr>
          <a:lstStyle/>
          <a:p>
            <a:r>
              <a:rPr lang="en-US" dirty="0" err="1"/>
              <a:t>Ví</a:t>
            </a:r>
            <a:r>
              <a:rPr lang="en-US" dirty="0"/>
              <a:t> </a:t>
            </a:r>
            <a:r>
              <a:rPr lang="en-US" dirty="0" err="1"/>
              <a:t>dụ</a:t>
            </a:r>
            <a:r>
              <a:rPr lang="en-US" dirty="0"/>
              <a:t> 2:</a:t>
            </a:r>
          </a:p>
          <a:p>
            <a:pPr marL="0" indent="0">
              <a:buNone/>
            </a:pPr>
            <a:r>
              <a:rPr lang="en-US" sz="2900" dirty="0" err="1">
                <a:latin typeface="Courier New" panose="02070309020205020404" pitchFamily="49" charset="0"/>
                <a:cs typeface="Courier New" panose="02070309020205020404" pitchFamily="49" charset="0"/>
              </a:rPr>
              <a:t>def</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chao</a:t>
            </a:r>
            <a:r>
              <a:rPr lang="en-US" sz="2900" dirty="0">
                <a:latin typeface="Courier New" panose="02070309020205020404" pitchFamily="49" charset="0"/>
                <a:cs typeface="Courier New" panose="02070309020205020404" pitchFamily="49" charset="0"/>
              </a:rPr>
              <a:t>(name):</a:t>
            </a:r>
          </a:p>
          <a:p>
            <a:pPr marL="0" indent="0">
              <a:buNone/>
            </a:pPr>
            <a:r>
              <a:rPr lang="en-US" sz="2900" dirty="0">
                <a:latin typeface="Courier New" panose="02070309020205020404" pitchFamily="49" charset="0"/>
                <a:cs typeface="Courier New" panose="02070309020205020404" pitchFamily="49" charset="0"/>
              </a:rPr>
              <a:t>	print(“Hello %s!” %name)</a:t>
            </a:r>
          </a:p>
          <a:p>
            <a:pPr marL="0" indent="0">
              <a:buNone/>
            </a:pPr>
            <a:r>
              <a:rPr lang="en-US" sz="2900" dirty="0" err="1">
                <a:latin typeface="Courier New" panose="02070309020205020404" pitchFamily="49" charset="0"/>
                <a:cs typeface="Courier New" panose="02070309020205020404" pitchFamily="49" charset="0"/>
              </a:rPr>
              <a:t>chao</a:t>
            </a:r>
            <a:r>
              <a:rPr lang="en-US" sz="2900" dirty="0">
                <a:latin typeface="Courier New" panose="02070309020205020404" pitchFamily="49" charset="0"/>
                <a:cs typeface="Courier New" panose="02070309020205020404" pitchFamily="49" charset="0"/>
              </a:rPr>
              <a:t>(“Nam”)</a:t>
            </a:r>
          </a:p>
          <a:p>
            <a:pPr marL="0" indent="0">
              <a:buNone/>
            </a:pPr>
            <a:r>
              <a:rPr lang="en-US" sz="2900" dirty="0">
                <a:latin typeface="Courier New" panose="02070309020205020404" pitchFamily="49" charset="0"/>
                <a:cs typeface="Courier New" panose="02070309020205020404" pitchFamily="49" charset="0"/>
              </a:rPr>
              <a:t>Chao(“Lan”) </a:t>
            </a:r>
          </a:p>
          <a:p>
            <a:pPr marL="0" indent="0">
              <a:buNone/>
            </a:pPr>
            <a:r>
              <a:rPr lang="en-US" sz="3200" dirty="0" err="1"/>
              <a:t>Ví</a:t>
            </a:r>
            <a:r>
              <a:rPr lang="en-US" sz="3200" dirty="0"/>
              <a:t> </a:t>
            </a:r>
            <a:r>
              <a:rPr lang="en-US" sz="3200" dirty="0" err="1"/>
              <a:t>dụ</a:t>
            </a:r>
            <a:r>
              <a:rPr lang="en-US" sz="3200" dirty="0"/>
              <a:t> 3:</a:t>
            </a:r>
          </a:p>
          <a:p>
            <a:pPr marL="0" indent="0">
              <a:buNone/>
            </a:pPr>
            <a:r>
              <a:rPr lang="en-US" sz="2900" dirty="0" err="1">
                <a:latin typeface="Courier New" panose="02070309020205020404" pitchFamily="49" charset="0"/>
                <a:cs typeface="Courier New" panose="02070309020205020404" pitchFamily="49" charset="0"/>
              </a:rPr>
              <a:t>def</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inTong</a:t>
            </a:r>
            <a:r>
              <a:rPr lang="en-US" sz="2900" dirty="0">
                <a:latin typeface="Courier New" panose="02070309020205020404" pitchFamily="49" charset="0"/>
                <a:cs typeface="Courier New" panose="02070309020205020404" pitchFamily="49" charset="0"/>
              </a:rPr>
              <a:t>(</a:t>
            </a:r>
            <a:r>
              <a:rPr lang="en-US" sz="2900" dirty="0" err="1">
                <a:latin typeface="Courier New" panose="02070309020205020404" pitchFamily="49" charset="0"/>
                <a:cs typeface="Courier New" panose="02070309020205020404" pitchFamily="49" charset="0"/>
              </a:rPr>
              <a:t>a,b</a:t>
            </a:r>
            <a:r>
              <a:rPr lang="en-US" sz="2900" dirty="0">
                <a:latin typeface="Courier New" panose="02070309020205020404" pitchFamily="49" charset="0"/>
                <a:cs typeface="Courier New" panose="02070309020205020404" pitchFamily="49" charset="0"/>
              </a:rPr>
              <a:t>):</a:t>
            </a:r>
          </a:p>
          <a:p>
            <a:pPr marL="0" indent="0">
              <a:buNone/>
            </a:pPr>
            <a:r>
              <a:rPr lang="en-US" sz="2900" dirty="0">
                <a:latin typeface="Courier New" panose="02070309020205020404" pitchFamily="49" charset="0"/>
                <a:cs typeface="Courier New" panose="02070309020205020404" pitchFamily="49" charset="0"/>
              </a:rPr>
              <a:t>	print(“</a:t>
            </a:r>
            <a:r>
              <a:rPr lang="en-US" sz="2900" dirty="0" err="1">
                <a:latin typeface="Courier New" panose="02070309020205020404" pitchFamily="49" charset="0"/>
                <a:cs typeface="Courier New" panose="02070309020205020404" pitchFamily="49" charset="0"/>
              </a:rPr>
              <a:t>Tổng</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a+b</a:t>
            </a:r>
            <a:r>
              <a:rPr lang="en-US" sz="2900" dirty="0">
                <a:latin typeface="Courier New" panose="02070309020205020404" pitchFamily="49" charset="0"/>
                <a:cs typeface="Courier New" panose="02070309020205020404" pitchFamily="49" charset="0"/>
              </a:rPr>
              <a:t>)</a:t>
            </a:r>
          </a:p>
          <a:p>
            <a:pPr marL="0" indent="0">
              <a:buNone/>
            </a:pPr>
            <a:r>
              <a:rPr lang="en-US" sz="2900" dirty="0" err="1">
                <a:latin typeface="Courier New" panose="02070309020205020404" pitchFamily="49" charset="0"/>
                <a:cs typeface="Courier New" panose="02070309020205020404" pitchFamily="49" charset="0"/>
              </a:rPr>
              <a:t>inTong</a:t>
            </a:r>
            <a:r>
              <a:rPr lang="en-US" sz="2900" dirty="0">
                <a:latin typeface="Courier New" panose="02070309020205020404" pitchFamily="49" charset="0"/>
                <a:cs typeface="Courier New" panose="02070309020205020404" pitchFamily="49" charset="0"/>
              </a:rPr>
              <a:t>(3,4)</a:t>
            </a:r>
          </a:p>
          <a:p>
            <a:pPr marL="0" indent="0">
              <a:buNone/>
            </a:pPr>
            <a:r>
              <a:rPr lang="en-US" sz="2900" dirty="0">
                <a:latin typeface="Courier New" panose="02070309020205020404" pitchFamily="49" charset="0"/>
                <a:cs typeface="Courier New" panose="02070309020205020404" pitchFamily="49" charset="0"/>
              </a:rPr>
              <a:t>x=12; y=45</a:t>
            </a:r>
          </a:p>
          <a:p>
            <a:pPr marL="0" indent="0">
              <a:buNone/>
            </a:pPr>
            <a:r>
              <a:rPr lang="en-US" sz="2900" dirty="0" err="1">
                <a:latin typeface="Courier New" panose="02070309020205020404" pitchFamily="49" charset="0"/>
                <a:cs typeface="Courier New" panose="02070309020205020404" pitchFamily="49" charset="0"/>
              </a:rPr>
              <a:t>inTong</a:t>
            </a:r>
            <a:r>
              <a:rPr lang="en-US" sz="2900" dirty="0">
                <a:latin typeface="Courier New" panose="02070309020205020404" pitchFamily="49" charset="0"/>
                <a:cs typeface="Courier New" panose="02070309020205020404" pitchFamily="49" charset="0"/>
              </a:rPr>
              <a:t>(</a:t>
            </a:r>
            <a:r>
              <a:rPr lang="en-US" sz="2900" dirty="0" err="1">
                <a:latin typeface="Courier New" panose="02070309020205020404" pitchFamily="49" charset="0"/>
                <a:cs typeface="Courier New" panose="02070309020205020404" pitchFamily="49" charset="0"/>
              </a:rPr>
              <a:t>x,y</a:t>
            </a:r>
            <a:r>
              <a:rPr lang="en-US" sz="2900" dirty="0">
                <a:latin typeface="Courier New" panose="02070309020205020404" pitchFamily="49" charset="0"/>
                <a:cs typeface="Courier New" panose="02070309020205020404" pitchFamily="49" charset="0"/>
              </a:rPr>
              <a:t>)</a:t>
            </a:r>
          </a:p>
          <a:p>
            <a:pPr marL="0" indent="0">
              <a:buNone/>
            </a:pPr>
            <a:endParaRPr lang="en-US" sz="29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51</a:t>
            </a:fld>
            <a:endParaRPr lang="en-US"/>
          </a:p>
        </p:txBody>
      </p:sp>
    </p:spTree>
    <p:extLst>
      <p:ext uri="{BB962C8B-B14F-4D97-AF65-F5344CB8AC3E}">
        <p14:creationId xmlns:p14="http://schemas.microsoft.com/office/powerpoint/2010/main" val="1947798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254760"/>
            <a:ext cx="7886700" cy="5059680"/>
          </a:xfrm>
        </p:spPr>
        <p:txBody>
          <a:bodyPr>
            <a:normAutofit fontScale="92500" lnSpcReduction="10000"/>
          </a:bodyPr>
          <a:lstStyle/>
          <a:p>
            <a:r>
              <a:rPr lang="en-US" dirty="0" err="1"/>
              <a:t>Lệnh</a:t>
            </a:r>
            <a:r>
              <a:rPr lang="en-US" dirty="0"/>
              <a:t> </a:t>
            </a:r>
            <a:r>
              <a:rPr lang="en-US" sz="2900" dirty="0">
                <a:latin typeface="Courier New" panose="02070309020205020404" pitchFamily="49" charset="0"/>
                <a:cs typeface="Courier New" panose="02070309020205020404" pitchFamily="49" charset="0"/>
              </a:rPr>
              <a:t>return: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của</a:t>
            </a:r>
            <a:r>
              <a:rPr lang="en-US" dirty="0"/>
              <a:t> </a:t>
            </a:r>
            <a:r>
              <a:rPr lang="en-US" dirty="0" err="1"/>
              <a:t>hàm</a:t>
            </a:r>
            <a:r>
              <a:rPr lang="en-US" dirty="0"/>
              <a:t>, </a:t>
            </a:r>
            <a:r>
              <a:rPr lang="en-US" dirty="0" err="1"/>
              <a:t>đồng</a:t>
            </a:r>
            <a:r>
              <a:rPr lang="en-US" dirty="0"/>
              <a:t> </a:t>
            </a:r>
            <a:r>
              <a:rPr lang="en-US" dirty="0" err="1"/>
              <a:t>thời</a:t>
            </a:r>
            <a:r>
              <a:rPr lang="en-US" dirty="0"/>
              <a:t> </a:t>
            </a:r>
            <a:r>
              <a:rPr lang="en-US" dirty="0" err="1"/>
              <a:t>thoát</a:t>
            </a:r>
            <a:r>
              <a:rPr lang="en-US" dirty="0"/>
              <a:t> </a:t>
            </a:r>
            <a:r>
              <a:rPr lang="en-US" dirty="0" err="1"/>
              <a:t>khỏi</a:t>
            </a:r>
            <a:r>
              <a:rPr lang="en-US" dirty="0"/>
              <a:t> </a:t>
            </a:r>
            <a:r>
              <a:rPr lang="en-US" dirty="0" err="1"/>
              <a:t>hàm</a:t>
            </a:r>
            <a:endParaRPr lang="en-US" dirty="0"/>
          </a:p>
          <a:p>
            <a:pPr marL="0" indent="0">
              <a:buNone/>
            </a:pPr>
            <a:r>
              <a:rPr lang="en-US" sz="2900" dirty="0" err="1">
                <a:latin typeface="Courier New" panose="02070309020205020404" pitchFamily="49" charset="0"/>
                <a:cs typeface="Courier New" panose="02070309020205020404" pitchFamily="49" charset="0"/>
              </a:rPr>
              <a:t>def</a:t>
            </a:r>
            <a:r>
              <a:rPr lang="en-US" sz="2900" dirty="0">
                <a:latin typeface="Courier New" panose="02070309020205020404" pitchFamily="49" charset="0"/>
                <a:cs typeface="Courier New" panose="02070309020205020404" pitchFamily="49" charset="0"/>
              </a:rPr>
              <a:t> max(</a:t>
            </a:r>
            <a:r>
              <a:rPr lang="en-US" sz="2900" dirty="0" err="1">
                <a:latin typeface="Courier New" panose="02070309020205020404" pitchFamily="49" charset="0"/>
                <a:cs typeface="Courier New" panose="02070309020205020404" pitchFamily="49" charset="0"/>
              </a:rPr>
              <a:t>a,b</a:t>
            </a:r>
            <a:r>
              <a:rPr lang="en-US" sz="2900" dirty="0">
                <a:latin typeface="Courier New" panose="02070309020205020404" pitchFamily="49" charset="0"/>
                <a:cs typeface="Courier New" panose="02070309020205020404" pitchFamily="49" charset="0"/>
              </a:rPr>
              <a:t>):</a:t>
            </a:r>
          </a:p>
          <a:p>
            <a:pPr marL="0" indent="0">
              <a:buNone/>
            </a:pPr>
            <a:r>
              <a:rPr lang="en-US" sz="2900" dirty="0">
                <a:latin typeface="Courier New" panose="02070309020205020404" pitchFamily="49" charset="0"/>
                <a:cs typeface="Courier New" panose="02070309020205020404" pitchFamily="49" charset="0"/>
              </a:rPr>
              <a:t>	if a&gt;b: return a</a:t>
            </a:r>
          </a:p>
          <a:p>
            <a:pPr marL="0" indent="0">
              <a:buNone/>
            </a:pPr>
            <a:r>
              <a:rPr lang="en-US" sz="2900" dirty="0">
                <a:latin typeface="Courier New" panose="02070309020205020404" pitchFamily="49" charset="0"/>
                <a:cs typeface="Courier New" panose="02070309020205020404" pitchFamily="49" charset="0"/>
              </a:rPr>
              <a:t>	return b 	</a:t>
            </a:r>
          </a:p>
          <a:p>
            <a:pPr marL="0" indent="0">
              <a:buNone/>
            </a:pPr>
            <a:r>
              <a:rPr lang="en-US" sz="2900" dirty="0">
                <a:latin typeface="Courier New" panose="02070309020205020404" pitchFamily="49" charset="0"/>
                <a:cs typeface="Courier New" panose="02070309020205020404" pitchFamily="49" charset="0"/>
              </a:rPr>
              <a:t>print(max(13,6))</a:t>
            </a:r>
          </a:p>
          <a:p>
            <a:pPr marL="0" indent="0">
              <a:buNone/>
            </a:pPr>
            <a:endParaRPr lang="en-US" sz="2900" dirty="0">
              <a:latin typeface="Courier New" panose="02070309020205020404" pitchFamily="49" charset="0"/>
              <a:cs typeface="Courier New" panose="02070309020205020404" pitchFamily="49" charset="0"/>
            </a:endParaRPr>
          </a:p>
          <a:p>
            <a:pPr marL="0" indent="0">
              <a:buNone/>
            </a:pPr>
            <a:r>
              <a:rPr lang="en-US" sz="2900" dirty="0">
                <a:latin typeface="Courier New" panose="02070309020205020404" pitchFamily="49" charset="0"/>
                <a:cs typeface="Courier New" panose="02070309020205020404" pitchFamily="49" charset="0"/>
              </a:rPr>
              <a:t>from math import pi</a:t>
            </a:r>
          </a:p>
          <a:p>
            <a:pPr marL="0" indent="0">
              <a:buNone/>
            </a:pPr>
            <a:r>
              <a:rPr lang="en-US" sz="2900" dirty="0" err="1">
                <a:latin typeface="Courier New" panose="02070309020205020404" pitchFamily="49" charset="0"/>
                <a:cs typeface="Courier New" panose="02070309020205020404" pitchFamily="49" charset="0"/>
              </a:rPr>
              <a:t>def</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dtHinhTron</a:t>
            </a:r>
            <a:r>
              <a:rPr lang="en-US" sz="2900" dirty="0">
                <a:latin typeface="Courier New" panose="02070309020205020404" pitchFamily="49" charset="0"/>
                <a:cs typeface="Courier New" panose="02070309020205020404" pitchFamily="49" charset="0"/>
              </a:rPr>
              <a:t>(r):</a:t>
            </a:r>
          </a:p>
          <a:p>
            <a:pPr marL="0" indent="0">
              <a:buNone/>
            </a:pPr>
            <a:r>
              <a:rPr lang="en-US" sz="2900" dirty="0">
                <a:latin typeface="Courier New" panose="02070309020205020404" pitchFamily="49" charset="0"/>
                <a:cs typeface="Courier New" panose="02070309020205020404" pitchFamily="49" charset="0"/>
              </a:rPr>
              <a:t>	return pi*r*r</a:t>
            </a:r>
          </a:p>
          <a:p>
            <a:pPr marL="0" indent="0">
              <a:buNone/>
            </a:pPr>
            <a:r>
              <a:rPr lang="en-US" sz="2900" dirty="0">
                <a:latin typeface="Courier New" panose="02070309020205020404" pitchFamily="49" charset="0"/>
                <a:cs typeface="Courier New" panose="02070309020205020404" pitchFamily="49" charset="0"/>
              </a:rPr>
              <a:t>print(“</a:t>
            </a:r>
            <a:r>
              <a:rPr lang="en-US" sz="2900" dirty="0" err="1">
                <a:latin typeface="Courier New" panose="02070309020205020404" pitchFamily="49" charset="0"/>
                <a:cs typeface="Courier New" panose="02070309020205020404" pitchFamily="49" charset="0"/>
              </a:rPr>
              <a:t>Diện</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tích</a:t>
            </a:r>
            <a:r>
              <a:rPr lang="en-US" sz="2900" dirty="0">
                <a:latin typeface="Courier New" panose="02070309020205020404" pitchFamily="49" charset="0"/>
                <a:cs typeface="Courier New" panose="02070309020205020404" pitchFamily="49" charset="0"/>
              </a:rPr>
              <a:t>:”, </a:t>
            </a:r>
            <a:r>
              <a:rPr lang="en-US" sz="2900" dirty="0" err="1">
                <a:latin typeface="Courier New" panose="02070309020205020404" pitchFamily="49" charset="0"/>
                <a:cs typeface="Courier New" panose="02070309020205020404" pitchFamily="49" charset="0"/>
              </a:rPr>
              <a:t>dtHinhTron</a:t>
            </a:r>
            <a:r>
              <a:rPr lang="en-US" sz="2900" dirty="0">
                <a:latin typeface="Courier New" panose="02070309020205020404" pitchFamily="49" charset="0"/>
                <a:cs typeface="Courier New" panose="02070309020205020404" pitchFamily="49" charset="0"/>
              </a:rPr>
              <a:t>(1))</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52</a:t>
            </a:fld>
            <a:endParaRPr lang="en-US"/>
          </a:p>
        </p:txBody>
      </p:sp>
    </p:spTree>
    <p:extLst>
      <p:ext uri="{BB962C8B-B14F-4D97-AF65-F5344CB8AC3E}">
        <p14:creationId xmlns:p14="http://schemas.microsoft.com/office/powerpoint/2010/main" val="25833688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254760"/>
            <a:ext cx="7886700" cy="5059680"/>
          </a:xfrm>
        </p:spPr>
        <p:txBody>
          <a:bodyPr>
            <a:normAutofit/>
          </a:bodyPr>
          <a:lstStyle/>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degreeCtoF</a:t>
            </a:r>
            <a:r>
              <a:rPr lang="fr-FR" sz="2900" dirty="0">
                <a:latin typeface="Courier New" panose="02070309020205020404" pitchFamily="49" charset="0"/>
                <a:cs typeface="Courier New" panose="02070309020205020404" pitchFamily="49" charset="0"/>
              </a:rPr>
              <a:t>(t):</a:t>
            </a:r>
          </a:p>
          <a:p>
            <a:pPr marL="0" indent="0">
              <a:buNone/>
            </a:pPr>
            <a:r>
              <a:rPr lang="fr-FR" sz="2900" dirty="0">
                <a:latin typeface="Courier New" panose="02070309020205020404" pitchFamily="49" charset="0"/>
                <a:cs typeface="Courier New" panose="02070309020205020404" pitchFamily="49" charset="0"/>
              </a:rPr>
              <a:t>	return t*9/5+32</a:t>
            </a:r>
          </a:p>
          <a:p>
            <a:pPr marL="0" indent="0">
              <a:buNone/>
            </a:pPr>
            <a:r>
              <a:rPr lang="fr-FR" sz="2900" dirty="0">
                <a:latin typeface="Courier New" panose="02070309020205020404" pitchFamily="49" charset="0"/>
                <a:cs typeface="Courier New" panose="02070309020205020404" pitchFamily="49" charset="0"/>
              </a:rPr>
              <a:t>C=</a:t>
            </a:r>
            <a:r>
              <a:rPr lang="fr-FR" sz="2900" dirty="0" err="1">
                <a:latin typeface="Courier New" panose="02070309020205020404" pitchFamily="49" charset="0"/>
                <a:cs typeface="Courier New" panose="02070309020205020404" pitchFamily="49" charset="0"/>
              </a:rPr>
              <a:t>float</a:t>
            </a:r>
            <a:r>
              <a:rPr lang="fr-FR" sz="2900" dirty="0">
                <a:latin typeface="Courier New" panose="02070309020205020404" pitchFamily="49" charset="0"/>
                <a:cs typeface="Courier New" panose="02070309020205020404" pitchFamily="49" charset="0"/>
              </a:rPr>
              <a:t>(input("</a:t>
            </a:r>
            <a:r>
              <a:rPr lang="fr-FR" sz="2900" dirty="0" err="1">
                <a:latin typeface="Courier New" panose="02070309020205020404" pitchFamily="49" charset="0"/>
                <a:cs typeface="Courier New" panose="02070309020205020404" pitchFamily="49" charset="0"/>
              </a:rPr>
              <a:t>Độ</a:t>
            </a:r>
            <a:r>
              <a:rPr lang="fr-FR" sz="2900" dirty="0">
                <a:latin typeface="Courier New" panose="02070309020205020404" pitchFamily="49" charset="0"/>
                <a:cs typeface="Courier New" panose="02070309020205020404" pitchFamily="49" charset="0"/>
              </a:rPr>
              <a:t> C:"))</a:t>
            </a:r>
          </a:p>
          <a:p>
            <a:pPr marL="0" indent="0">
              <a:buNone/>
            </a:pP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a:t>
            </a:r>
            <a:r>
              <a:rPr lang="fr-FR" sz="2900" dirty="0" err="1">
                <a:latin typeface="Courier New" panose="02070309020205020404" pitchFamily="49" charset="0"/>
                <a:cs typeface="Courier New" panose="02070309020205020404" pitchFamily="49" charset="0"/>
              </a:rPr>
              <a:t>Độ</a:t>
            </a:r>
            <a:r>
              <a:rPr lang="fr-FR" sz="2900" dirty="0">
                <a:latin typeface="Courier New" panose="02070309020205020404" pitchFamily="49" charset="0"/>
                <a:cs typeface="Courier New" panose="02070309020205020404" pitchFamily="49" charset="0"/>
              </a:rPr>
              <a:t> F:" , </a:t>
            </a:r>
            <a:r>
              <a:rPr lang="fr-FR" sz="2900" dirty="0" err="1">
                <a:latin typeface="Courier New" panose="02070309020205020404" pitchFamily="49" charset="0"/>
                <a:cs typeface="Courier New" panose="02070309020205020404" pitchFamily="49" charset="0"/>
              </a:rPr>
              <a:t>degreeCtoF</a:t>
            </a:r>
            <a:r>
              <a:rPr lang="fr-FR" sz="2900" dirty="0">
                <a:latin typeface="Courier New" panose="02070309020205020404" pitchFamily="49" charset="0"/>
                <a:cs typeface="Courier New" panose="02070309020205020404" pitchFamily="49" charset="0"/>
              </a:rPr>
              <a:t>(C))</a:t>
            </a:r>
            <a:endParaRPr lang="en-US" sz="29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53</a:t>
            </a:fld>
            <a:endParaRPr lang="en-US"/>
          </a:p>
        </p:txBody>
      </p:sp>
    </p:spTree>
    <p:extLst>
      <p:ext uri="{BB962C8B-B14F-4D97-AF65-F5344CB8AC3E}">
        <p14:creationId xmlns:p14="http://schemas.microsoft.com/office/powerpoint/2010/main" val="1645292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a:bodyPr>
          <a:lstStyle/>
          <a:p>
            <a:pPr>
              <a:lnSpc>
                <a:spcPct val="80000"/>
              </a:lnSpc>
            </a:pPr>
            <a:r>
              <a:rPr lang="fr-FR" sz="2600" dirty="0" err="1"/>
              <a:t>Đối</a:t>
            </a:r>
            <a:r>
              <a:rPr lang="fr-FR" sz="2600" dirty="0"/>
              <a:t> </a:t>
            </a:r>
            <a:r>
              <a:rPr lang="fr-FR" sz="2600" dirty="0" err="1"/>
              <a:t>số</a:t>
            </a:r>
            <a:r>
              <a:rPr lang="fr-FR" sz="2600" dirty="0"/>
              <a:t> </a:t>
            </a:r>
            <a:r>
              <a:rPr lang="fr-FR" sz="2600" dirty="0" err="1"/>
              <a:t>mặc</a:t>
            </a:r>
            <a:r>
              <a:rPr lang="fr-FR" sz="2600" dirty="0"/>
              <a:t> </a:t>
            </a:r>
            <a:r>
              <a:rPr lang="fr-FR" sz="2600" dirty="0" err="1"/>
              <a:t>định</a:t>
            </a:r>
            <a:endParaRPr lang="fr-FR" sz="2600" dirty="0"/>
          </a:p>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left</a:t>
            </a:r>
            <a:r>
              <a:rPr lang="fr-FR" sz="2900" dirty="0">
                <a:latin typeface="Courier New" panose="02070309020205020404" pitchFamily="49" charset="0"/>
                <a:cs typeface="Courier New" panose="02070309020205020404" pitchFamily="49" charset="0"/>
              </a:rPr>
              <a:t>(</a:t>
            </a:r>
            <a:r>
              <a:rPr lang="fr-FR" sz="2900" dirty="0" err="1">
                <a:latin typeface="Courier New" panose="02070309020205020404" pitchFamily="49" charset="0"/>
                <a:cs typeface="Courier New" panose="02070309020205020404" pitchFamily="49" charset="0"/>
              </a:rPr>
              <a:t>str</a:t>
            </a:r>
            <a:r>
              <a:rPr lang="fr-FR" sz="2900" dirty="0">
                <a:latin typeface="Courier New" panose="02070309020205020404" pitchFamily="49" charset="0"/>
                <a:cs typeface="Courier New" panose="02070309020205020404" pitchFamily="49" charset="0"/>
              </a:rPr>
              <a:t>, n=1):</a:t>
            </a:r>
          </a:p>
          <a:p>
            <a:pPr marL="0" indent="0">
              <a:buNone/>
            </a:pPr>
            <a:r>
              <a:rPr lang="fr-FR" sz="2900" dirty="0">
                <a:latin typeface="Courier New" panose="02070309020205020404" pitchFamily="49" charset="0"/>
                <a:cs typeface="Courier New" panose="02070309020205020404" pitchFamily="49" charset="0"/>
              </a:rPr>
              <a:t>	return </a:t>
            </a:r>
            <a:r>
              <a:rPr lang="fr-FR" sz="2900" dirty="0" err="1">
                <a:latin typeface="Courier New" panose="02070309020205020404" pitchFamily="49" charset="0"/>
                <a:cs typeface="Courier New" panose="02070309020205020404" pitchFamily="49" charset="0"/>
              </a:rPr>
              <a:t>str</a:t>
            </a:r>
            <a:r>
              <a:rPr lang="fr-FR" sz="2900" dirty="0">
                <a:latin typeface="Courier New" panose="02070309020205020404" pitchFamily="49" charset="0"/>
                <a:cs typeface="Courier New" panose="02070309020205020404" pitchFamily="49" charset="0"/>
              </a:rPr>
              <a:t>[:n]</a:t>
            </a:r>
          </a:p>
          <a:p>
            <a:pPr marL="0" indent="0">
              <a:buNone/>
            </a:pPr>
            <a:r>
              <a:rPr lang="fr-FR" sz="2900" dirty="0">
                <a:latin typeface="Courier New" panose="02070309020205020404" pitchFamily="49" charset="0"/>
                <a:cs typeface="Courier New" panose="02070309020205020404" pitchFamily="49" charset="0"/>
              </a:rPr>
              <a:t>s="ABCD" </a:t>
            </a:r>
          </a:p>
          <a:p>
            <a:pPr marL="0" indent="0">
              <a:buNone/>
            </a:pP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a:t>
            </a:r>
            <a:r>
              <a:rPr lang="fr-FR" sz="2900" dirty="0" err="1">
                <a:latin typeface="Courier New" panose="02070309020205020404" pitchFamily="49" charset="0"/>
                <a:cs typeface="Courier New" panose="02070309020205020404" pitchFamily="49" charset="0"/>
              </a:rPr>
              <a:t>left</a:t>
            </a:r>
            <a:r>
              <a:rPr lang="fr-FR" sz="2900" dirty="0">
                <a:latin typeface="Courier New" panose="02070309020205020404" pitchFamily="49" charset="0"/>
                <a:cs typeface="Courier New" panose="02070309020205020404" pitchFamily="49" charset="0"/>
              </a:rPr>
              <a:t>(s,2)) #</a:t>
            </a:r>
            <a:r>
              <a:rPr lang="fr-FR" sz="2900" dirty="0">
                <a:latin typeface="Courier New" panose="02070309020205020404" pitchFamily="49" charset="0"/>
                <a:cs typeface="Courier New" panose="02070309020205020404" pitchFamily="49" charset="0"/>
                <a:sym typeface="Wingdings" panose="05000000000000000000" pitchFamily="2" charset="2"/>
              </a:rPr>
              <a:t>in ra: AB</a:t>
            </a:r>
          </a:p>
          <a:p>
            <a:pPr marL="0" indent="0">
              <a:buNone/>
            </a:pP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a:t>
            </a:r>
            <a:r>
              <a:rPr lang="fr-FR" sz="2900" dirty="0" err="1">
                <a:latin typeface="Courier New" panose="02070309020205020404" pitchFamily="49" charset="0"/>
                <a:cs typeface="Courier New" panose="02070309020205020404" pitchFamily="49" charset="0"/>
              </a:rPr>
              <a:t>left</a:t>
            </a:r>
            <a:r>
              <a:rPr lang="fr-FR" sz="2900" dirty="0">
                <a:latin typeface="Courier New" panose="02070309020205020404" pitchFamily="49" charset="0"/>
                <a:cs typeface="Courier New" panose="02070309020205020404" pitchFamily="49" charset="0"/>
              </a:rPr>
              <a:t>(s)) #</a:t>
            </a:r>
            <a:r>
              <a:rPr lang="fr-FR" sz="2900" dirty="0">
                <a:latin typeface="Courier New" panose="02070309020205020404" pitchFamily="49" charset="0"/>
                <a:cs typeface="Courier New" panose="02070309020205020404" pitchFamily="49" charset="0"/>
                <a:sym typeface="Wingdings" panose="05000000000000000000" pitchFamily="2" charset="2"/>
              </a:rPr>
              <a:t>in ra: A</a:t>
            </a:r>
          </a:p>
          <a:p>
            <a:pPr>
              <a:lnSpc>
                <a:spcPct val="80000"/>
              </a:lnSpc>
            </a:pPr>
            <a:endParaRPr lang="fr-FR" sz="2600" dirty="0">
              <a:sym typeface="Wingdings" panose="05000000000000000000" pitchFamily="2" charset="2"/>
            </a:endParaRPr>
          </a:p>
          <a:p>
            <a:pPr>
              <a:lnSpc>
                <a:spcPct val="80000"/>
              </a:lnSpc>
            </a:pPr>
            <a:r>
              <a:rPr lang="fr-FR" sz="2600" dirty="0" err="1">
                <a:sym typeface="Wingdings" panose="05000000000000000000" pitchFamily="2" charset="2"/>
              </a:rPr>
              <a:t>Truyền</a:t>
            </a:r>
            <a:r>
              <a:rPr lang="fr-FR" sz="2600" dirty="0">
                <a:sym typeface="Wingdings" panose="05000000000000000000" pitchFamily="2" charset="2"/>
              </a:rPr>
              <a:t> </a:t>
            </a:r>
            <a:r>
              <a:rPr lang="fr-FR" sz="2600" dirty="0" err="1">
                <a:sym typeface="Wingdings" panose="05000000000000000000" pitchFamily="2" charset="2"/>
              </a:rPr>
              <a:t>tham</a:t>
            </a:r>
            <a:r>
              <a:rPr lang="fr-FR" sz="2600" dirty="0">
                <a:sym typeface="Wingdings" panose="05000000000000000000" pitchFamily="2" charset="2"/>
              </a:rPr>
              <a:t> </a:t>
            </a:r>
            <a:r>
              <a:rPr lang="fr-FR" sz="2600" dirty="0" err="1">
                <a:sym typeface="Wingdings" panose="05000000000000000000" pitchFamily="2" charset="2"/>
              </a:rPr>
              <a:t>số</a:t>
            </a:r>
            <a:r>
              <a:rPr lang="fr-FR" sz="2600" dirty="0">
                <a:sym typeface="Wingdings" panose="05000000000000000000" pitchFamily="2" charset="2"/>
              </a:rPr>
              <a:t> </a:t>
            </a:r>
            <a:r>
              <a:rPr lang="fr-FR" sz="2600" dirty="0" err="1">
                <a:sym typeface="Wingdings" panose="05000000000000000000" pitchFamily="2" charset="2"/>
              </a:rPr>
              <a:t>theo</a:t>
            </a:r>
            <a:r>
              <a:rPr lang="fr-FR" sz="2600" dirty="0">
                <a:sym typeface="Wingdings" panose="05000000000000000000" pitchFamily="2" charset="2"/>
              </a:rPr>
              <a:t> </a:t>
            </a:r>
            <a:r>
              <a:rPr lang="fr-FR" sz="2600" dirty="0" err="1">
                <a:sym typeface="Wingdings" panose="05000000000000000000" pitchFamily="2" charset="2"/>
              </a:rPr>
              <a:t>từ</a:t>
            </a:r>
            <a:r>
              <a:rPr lang="fr-FR" sz="2600" dirty="0">
                <a:sym typeface="Wingdings" panose="05000000000000000000" pitchFamily="2" charset="2"/>
              </a:rPr>
              <a:t> </a:t>
            </a:r>
            <a:r>
              <a:rPr lang="fr-FR" sz="2600" dirty="0" err="1">
                <a:sym typeface="Wingdings" panose="05000000000000000000" pitchFamily="2" charset="2"/>
              </a:rPr>
              <a:t>khóa</a:t>
            </a:r>
            <a:r>
              <a:rPr lang="fr-FR" sz="2600" dirty="0">
                <a:sym typeface="Wingdings" panose="05000000000000000000" pitchFamily="2" charset="2"/>
              </a:rPr>
              <a:t>:</a:t>
            </a:r>
          </a:p>
          <a:p>
            <a:pPr marL="0" indent="0">
              <a:buNone/>
            </a:pP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a:t>
            </a:r>
            <a:r>
              <a:rPr lang="fr-FR" sz="2900" dirty="0" err="1">
                <a:latin typeface="Courier New" panose="02070309020205020404" pitchFamily="49" charset="0"/>
                <a:cs typeface="Courier New" panose="02070309020205020404" pitchFamily="49" charset="0"/>
              </a:rPr>
              <a:t>left</a:t>
            </a:r>
            <a:r>
              <a:rPr lang="fr-FR" sz="2900" dirty="0">
                <a:latin typeface="Courier New" panose="02070309020205020404" pitchFamily="49" charset="0"/>
                <a:cs typeface="Courier New" panose="02070309020205020404" pitchFamily="49" charset="0"/>
              </a:rPr>
              <a:t>(n=3, </a:t>
            </a:r>
            <a:r>
              <a:rPr lang="fr-FR" sz="2900" dirty="0" err="1">
                <a:latin typeface="Courier New" panose="02070309020205020404" pitchFamily="49" charset="0"/>
                <a:cs typeface="Courier New" panose="02070309020205020404" pitchFamily="49" charset="0"/>
              </a:rPr>
              <a:t>str</a:t>
            </a:r>
            <a:r>
              <a:rPr lang="fr-FR" sz="2900" dirty="0">
                <a:latin typeface="Courier New" panose="02070309020205020404" pitchFamily="49" charset="0"/>
                <a:cs typeface="Courier New" panose="02070309020205020404" pitchFamily="49" charset="0"/>
              </a:rPr>
              <a:t>="ABCD")) </a:t>
            </a:r>
          </a:p>
          <a:p>
            <a:pPr marL="0" indent="0">
              <a:buNone/>
            </a:pPr>
            <a:r>
              <a:rPr lang="fr-FR" sz="2900" dirty="0">
                <a:latin typeface="Courier New" panose="02070309020205020404" pitchFamily="49" charset="0"/>
                <a:cs typeface="Courier New" panose="02070309020205020404" pitchFamily="49" charset="0"/>
              </a:rPr>
              <a:t>#</a:t>
            </a:r>
            <a:r>
              <a:rPr lang="fr-FR" sz="2900" dirty="0">
                <a:latin typeface="Courier New" panose="02070309020205020404" pitchFamily="49" charset="0"/>
                <a:cs typeface="Courier New" panose="02070309020205020404" pitchFamily="49" charset="0"/>
                <a:sym typeface="Wingdings" panose="05000000000000000000" pitchFamily="2" charset="2"/>
              </a:rPr>
              <a:t>in ra: ABC</a:t>
            </a:r>
          </a:p>
          <a:p>
            <a:pPr marL="0" indent="0">
              <a:buNone/>
            </a:pPr>
            <a:endParaRPr lang="fr-FR" sz="2900" dirty="0">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sz="29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54</a:t>
            </a:fld>
            <a:endParaRPr lang="en-US"/>
          </a:p>
        </p:txBody>
      </p:sp>
    </p:spTree>
    <p:extLst>
      <p:ext uri="{BB962C8B-B14F-4D97-AF65-F5344CB8AC3E}">
        <p14:creationId xmlns:p14="http://schemas.microsoft.com/office/powerpoint/2010/main" val="32634219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a:bodyPr>
          <a:lstStyle/>
          <a:p>
            <a:pPr>
              <a:lnSpc>
                <a:spcPct val="80000"/>
              </a:lnSpc>
            </a:pPr>
            <a:r>
              <a:rPr lang="fr-FR" sz="2600" dirty="0" err="1"/>
              <a:t>Biến</a:t>
            </a:r>
            <a:r>
              <a:rPr lang="fr-FR" sz="2600" dirty="0"/>
              <a:t> </a:t>
            </a:r>
            <a:r>
              <a:rPr lang="fr-FR" sz="2600" dirty="0" err="1"/>
              <a:t>cục</a:t>
            </a:r>
            <a:r>
              <a:rPr lang="fr-FR" sz="2600" dirty="0"/>
              <a:t> </a:t>
            </a:r>
            <a:r>
              <a:rPr lang="fr-FR" sz="2600" dirty="0" err="1"/>
              <a:t>bộ</a:t>
            </a:r>
            <a:endParaRPr lang="fr-FR" sz="2600" dirty="0"/>
          </a:p>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binhphuong</a:t>
            </a:r>
            <a:r>
              <a:rPr lang="fr-FR" sz="2900" dirty="0">
                <a:latin typeface="Courier New" panose="02070309020205020404" pitchFamily="49" charset="0"/>
                <a:cs typeface="Courier New" panose="02070309020205020404" pitchFamily="49" charset="0"/>
              </a:rPr>
              <a:t>(x):</a:t>
            </a:r>
          </a:p>
          <a:p>
            <a:pPr marL="0" indent="0">
              <a:buNone/>
            </a:pPr>
            <a:r>
              <a:rPr lang="fr-FR" sz="2900" dirty="0">
                <a:latin typeface="Courier New" panose="02070309020205020404" pitchFamily="49" charset="0"/>
                <a:cs typeface="Courier New" panose="02070309020205020404" pitchFamily="49" charset="0"/>
              </a:rPr>
              <a:t>	a=x*x;</a:t>
            </a:r>
          </a:p>
          <a:p>
            <a:pPr marL="0" indent="0">
              <a:buNone/>
            </a:pP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(a)</a:t>
            </a:r>
            <a:endParaRPr lang="fr-FR" sz="2900" dirty="0">
              <a:latin typeface="Courier New" panose="02070309020205020404" pitchFamily="49" charset="0"/>
              <a:cs typeface="Courier New" panose="02070309020205020404" pitchFamily="49" charset="0"/>
              <a:sym typeface="Wingdings" panose="05000000000000000000" pitchFamily="2" charset="2"/>
            </a:endParaRPr>
          </a:p>
          <a:p>
            <a:pPr marL="0" indent="0">
              <a:buNone/>
            </a:pPr>
            <a:r>
              <a:rPr lang="en-US" sz="2900" dirty="0">
                <a:latin typeface="Courier New" panose="02070309020205020404" pitchFamily="49" charset="0"/>
                <a:cs typeface="Courier New" panose="02070309020205020404" pitchFamily="49" charset="0"/>
              </a:rPr>
              <a:t>a=100</a:t>
            </a:r>
          </a:p>
          <a:p>
            <a:pPr marL="0" indent="0">
              <a:buNone/>
            </a:pPr>
            <a:r>
              <a:rPr lang="en-US" sz="2900">
                <a:latin typeface="Courier New" panose="02070309020205020404" pitchFamily="49" charset="0"/>
                <a:cs typeface="Courier New" panose="02070309020205020404" pitchFamily="49" charset="0"/>
              </a:rPr>
              <a:t>binhphuong(2</a:t>
            </a:r>
            <a:r>
              <a:rPr lang="en-US" sz="2900" dirty="0">
                <a:latin typeface="Courier New" panose="02070309020205020404" pitchFamily="49" charset="0"/>
                <a:cs typeface="Courier New" panose="02070309020205020404" pitchFamily="49" charset="0"/>
              </a:rPr>
              <a:t>)  # in </a:t>
            </a:r>
            <a:r>
              <a:rPr lang="en-US" sz="2900" dirty="0" err="1">
                <a:latin typeface="Courier New" panose="02070309020205020404" pitchFamily="49" charset="0"/>
                <a:cs typeface="Courier New" panose="02070309020205020404" pitchFamily="49" charset="0"/>
              </a:rPr>
              <a:t>ra</a:t>
            </a:r>
            <a:r>
              <a:rPr lang="en-US" sz="2900" dirty="0">
                <a:latin typeface="Courier New" panose="02070309020205020404" pitchFamily="49" charset="0"/>
                <a:cs typeface="Courier New" panose="02070309020205020404" pitchFamily="49" charset="0"/>
              </a:rPr>
              <a:t>: 4</a:t>
            </a:r>
          </a:p>
          <a:p>
            <a:pPr marL="0" indent="0">
              <a:buNone/>
            </a:pPr>
            <a:r>
              <a:rPr lang="en-US" sz="2900" dirty="0">
                <a:latin typeface="Courier New" panose="02070309020205020404" pitchFamily="49" charset="0"/>
                <a:cs typeface="Courier New" panose="02070309020205020404" pitchFamily="49" charset="0"/>
              </a:rPr>
              <a:t>print(a) # in </a:t>
            </a:r>
            <a:r>
              <a:rPr lang="en-US" sz="2900" dirty="0" err="1">
                <a:latin typeface="Courier New" panose="02070309020205020404" pitchFamily="49" charset="0"/>
                <a:cs typeface="Courier New" panose="02070309020205020404" pitchFamily="49" charset="0"/>
              </a:rPr>
              <a:t>ra</a:t>
            </a:r>
            <a:r>
              <a:rPr lang="en-US" sz="2900" dirty="0">
                <a:latin typeface="Courier New" panose="02070309020205020404" pitchFamily="49" charset="0"/>
                <a:cs typeface="Courier New" panose="02070309020205020404" pitchFamily="49" charset="0"/>
              </a:rPr>
              <a:t>: 100</a:t>
            </a:r>
          </a:p>
          <a:p>
            <a:pPr marL="0" indent="0">
              <a:lnSpc>
                <a:spcPct val="80000"/>
              </a:lnSpc>
              <a:buNone/>
            </a:pPr>
            <a:r>
              <a:rPr lang="en-US" sz="2900" dirty="0">
                <a:latin typeface="Courier New" panose="02070309020205020404" pitchFamily="49" charset="0"/>
                <a:cs typeface="Courier New" panose="02070309020205020404" pitchFamily="49" charset="0"/>
                <a:sym typeface="Wingdings" panose="05000000000000000000" pitchFamily="2" charset="2"/>
              </a:rPr>
              <a:t></a:t>
            </a:r>
            <a:r>
              <a:rPr lang="en-US" sz="2600" dirty="0">
                <a:sym typeface="Wingdings" panose="05000000000000000000" pitchFamily="2" charset="2"/>
              </a:rPr>
              <a:t>a </a:t>
            </a:r>
            <a:r>
              <a:rPr lang="en-US" sz="2600" dirty="0" err="1">
                <a:sym typeface="Wingdings" panose="05000000000000000000" pitchFamily="2" charset="2"/>
              </a:rPr>
              <a:t>là</a:t>
            </a:r>
            <a:r>
              <a:rPr lang="en-US" sz="2600" dirty="0">
                <a:sym typeface="Wingdings" panose="05000000000000000000" pitchFamily="2" charset="2"/>
              </a:rPr>
              <a:t> </a:t>
            </a:r>
            <a:r>
              <a:rPr lang="en-US" sz="2600" dirty="0" err="1">
                <a:sym typeface="Wingdings" panose="05000000000000000000" pitchFamily="2" charset="2"/>
              </a:rPr>
              <a:t>biến</a:t>
            </a:r>
            <a:r>
              <a:rPr lang="en-US" sz="2600" dirty="0">
                <a:sym typeface="Wingdings" panose="05000000000000000000" pitchFamily="2" charset="2"/>
              </a:rPr>
              <a:t> </a:t>
            </a:r>
            <a:r>
              <a:rPr lang="en-US" sz="2600" dirty="0" err="1">
                <a:sym typeface="Wingdings" panose="05000000000000000000" pitchFamily="2" charset="2"/>
              </a:rPr>
              <a:t>cục</a:t>
            </a:r>
            <a:r>
              <a:rPr lang="en-US" sz="2600" dirty="0">
                <a:sym typeface="Wingdings" panose="05000000000000000000" pitchFamily="2" charset="2"/>
              </a:rPr>
              <a:t> </a:t>
            </a:r>
            <a:r>
              <a:rPr lang="en-US" sz="2600" dirty="0" err="1">
                <a:sym typeface="Wingdings" panose="05000000000000000000" pitchFamily="2" charset="2"/>
              </a:rPr>
              <a:t>bộ</a:t>
            </a:r>
            <a:r>
              <a:rPr lang="en-US" sz="2600" dirty="0">
                <a:sym typeface="Wingdings" panose="05000000000000000000" pitchFamily="2" charset="2"/>
              </a:rPr>
              <a:t> </a:t>
            </a:r>
            <a:r>
              <a:rPr lang="en-US" sz="2600" dirty="0" err="1">
                <a:sym typeface="Wingdings" panose="05000000000000000000" pitchFamily="2" charset="2"/>
              </a:rPr>
              <a:t>của</a:t>
            </a:r>
            <a:r>
              <a:rPr lang="en-US" sz="2600" dirty="0">
                <a:sym typeface="Wingdings" panose="05000000000000000000" pitchFamily="2" charset="2"/>
              </a:rPr>
              <a:t> </a:t>
            </a:r>
            <a:r>
              <a:rPr lang="en-US" sz="2600" dirty="0" err="1">
                <a:sym typeface="Wingdings" panose="05000000000000000000" pitchFamily="2" charset="2"/>
              </a:rPr>
              <a:t>hàm</a:t>
            </a:r>
            <a:endParaRPr lang="en-US" sz="26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55</a:t>
            </a:fld>
            <a:endParaRPr lang="en-US"/>
          </a:p>
        </p:txBody>
      </p:sp>
    </p:spTree>
    <p:extLst>
      <p:ext uri="{BB962C8B-B14F-4D97-AF65-F5344CB8AC3E}">
        <p14:creationId xmlns:p14="http://schemas.microsoft.com/office/powerpoint/2010/main" val="21522625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fontScale="92500" lnSpcReduction="20000"/>
          </a:bodyPr>
          <a:lstStyle/>
          <a:p>
            <a:pPr>
              <a:lnSpc>
                <a:spcPct val="80000"/>
              </a:lnSpc>
            </a:pPr>
            <a:r>
              <a:rPr lang="fr-FR" sz="2600" dirty="0" err="1"/>
              <a:t>Biến</a:t>
            </a:r>
            <a:r>
              <a:rPr lang="fr-FR" sz="2600" dirty="0"/>
              <a:t> </a:t>
            </a:r>
            <a:r>
              <a:rPr lang="fr-FR" sz="2600" dirty="0" err="1"/>
              <a:t>toàn</a:t>
            </a:r>
            <a:r>
              <a:rPr lang="fr-FR" sz="2600" dirty="0"/>
              <a:t> </a:t>
            </a:r>
            <a:r>
              <a:rPr lang="fr-FR" sz="2600" dirty="0" err="1"/>
              <a:t>cục</a:t>
            </a:r>
            <a:endParaRPr lang="fr-FR" sz="2600" dirty="0"/>
          </a:p>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inc_time</a:t>
            </a:r>
            <a:r>
              <a:rPr lang="fr-FR" sz="2900" dirty="0">
                <a:latin typeface="Courier New" panose="02070309020205020404" pitchFamily="49" charset="0"/>
                <a:cs typeface="Courier New" panose="02070309020205020404" pitchFamily="49" charset="0"/>
              </a:rPr>
              <a:t>():</a:t>
            </a:r>
          </a:p>
          <a:p>
            <a:pPr marL="0" indent="0">
              <a:buNone/>
            </a:pPr>
            <a:r>
              <a:rPr lang="fr-FR" sz="2900" dirty="0">
                <a:latin typeface="Courier New" panose="02070309020205020404" pitchFamily="49" charset="0"/>
                <a:cs typeface="Courier New" panose="02070309020205020404" pitchFamily="49" charset="0"/>
              </a:rPr>
              <a:t>	</a:t>
            </a:r>
            <a:r>
              <a:rPr lang="fr-FR" sz="2900" dirty="0">
                <a:solidFill>
                  <a:schemeClr val="accent2">
                    <a:lumMod val="75000"/>
                  </a:schemeClr>
                </a:solidFill>
                <a:latin typeface="Courier New" panose="02070309020205020404" pitchFamily="49" charset="0"/>
                <a:cs typeface="Courier New" panose="02070309020205020404" pitchFamily="49" charset="0"/>
              </a:rPr>
              <a:t>global</a:t>
            </a:r>
            <a:r>
              <a:rPr lang="fr-FR" sz="2900" dirty="0">
                <a:latin typeface="Courier New" panose="02070309020205020404" pitchFamily="49" charset="0"/>
                <a:cs typeface="Courier New" panose="02070309020205020404" pitchFamily="49" charset="0"/>
              </a:rPr>
              <a:t> time</a:t>
            </a:r>
          </a:p>
          <a:p>
            <a:pPr marL="0" indent="0">
              <a:buNone/>
            </a:pPr>
            <a:r>
              <a:rPr lang="fr-FR" sz="2900" dirty="0">
                <a:latin typeface="Courier New" panose="02070309020205020404" pitchFamily="49" charset="0"/>
                <a:cs typeface="Courier New" panose="02070309020205020404" pitchFamily="49" charset="0"/>
              </a:rPr>
              <a:t>	time+=1</a:t>
            </a:r>
          </a:p>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show_time</a:t>
            </a:r>
            <a:r>
              <a:rPr lang="fr-FR" sz="2900" dirty="0">
                <a:latin typeface="Courier New" panose="02070309020205020404" pitchFamily="49" charset="0"/>
                <a:cs typeface="Courier New" panose="02070309020205020404" pitchFamily="49" charset="0"/>
              </a:rPr>
              <a:t>():</a:t>
            </a:r>
          </a:p>
          <a:p>
            <a:pPr marL="0" indent="0">
              <a:buNone/>
            </a:pP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print</a:t>
            </a:r>
            <a:r>
              <a:rPr lang="fr-FR" sz="2900" dirty="0">
                <a:latin typeface="Courier New" panose="02070309020205020404" pitchFamily="49" charset="0"/>
                <a:cs typeface="Courier New" panose="02070309020205020404" pitchFamily="49" charset="0"/>
              </a:rPr>
              <a:t>(time)</a:t>
            </a:r>
          </a:p>
          <a:p>
            <a:pPr marL="0" indent="0">
              <a:buNone/>
            </a:pPr>
            <a:r>
              <a:rPr lang="fr-FR" sz="2900" dirty="0">
                <a:latin typeface="Courier New" panose="02070309020205020404" pitchFamily="49" charset="0"/>
                <a:cs typeface="Courier New" panose="02070309020205020404" pitchFamily="49" charset="0"/>
              </a:rPr>
              <a:t>time=0</a:t>
            </a:r>
          </a:p>
          <a:p>
            <a:pPr marL="0" indent="0">
              <a:buNone/>
            </a:pPr>
            <a:r>
              <a:rPr lang="fr-FR" sz="2900" dirty="0" err="1">
                <a:latin typeface="Courier New" panose="02070309020205020404" pitchFamily="49" charset="0"/>
                <a:cs typeface="Courier New" panose="02070309020205020404" pitchFamily="49" charset="0"/>
              </a:rPr>
              <a:t>inc_time</a:t>
            </a:r>
            <a:r>
              <a:rPr lang="fr-FR" sz="2900" dirty="0">
                <a:latin typeface="Courier New" panose="02070309020205020404" pitchFamily="49" charset="0"/>
                <a:cs typeface="Courier New" panose="02070309020205020404" pitchFamily="49" charset="0"/>
              </a:rPr>
              <a:t>()</a:t>
            </a:r>
          </a:p>
          <a:p>
            <a:pPr marL="0" indent="0">
              <a:buNone/>
            </a:pPr>
            <a:r>
              <a:rPr lang="fr-FR" sz="2900" dirty="0" err="1">
                <a:latin typeface="Courier New" panose="02070309020205020404" pitchFamily="49" charset="0"/>
                <a:cs typeface="Courier New" panose="02070309020205020404" pitchFamily="49" charset="0"/>
              </a:rPr>
              <a:t>show_time</a:t>
            </a:r>
            <a:r>
              <a:rPr lang="fr-FR" sz="2900" dirty="0">
                <a:latin typeface="Courier New" panose="02070309020205020404" pitchFamily="49" charset="0"/>
                <a:cs typeface="Courier New" panose="02070309020205020404" pitchFamily="49" charset="0"/>
              </a:rPr>
              <a:t>()</a:t>
            </a:r>
            <a:r>
              <a:rPr lang="en-US" sz="2900" dirty="0">
                <a:latin typeface="Courier New" panose="02070309020205020404" pitchFamily="49" charset="0"/>
                <a:cs typeface="Courier New" panose="02070309020205020404" pitchFamily="49" charset="0"/>
              </a:rPr>
              <a:t> #in </a:t>
            </a:r>
            <a:r>
              <a:rPr lang="en-US" sz="2900" dirty="0" err="1">
                <a:latin typeface="Courier New" panose="02070309020205020404" pitchFamily="49" charset="0"/>
                <a:cs typeface="Courier New" panose="02070309020205020404" pitchFamily="49" charset="0"/>
              </a:rPr>
              <a:t>ra</a:t>
            </a:r>
            <a:r>
              <a:rPr lang="en-US" sz="2900" dirty="0">
                <a:latin typeface="Courier New" panose="02070309020205020404" pitchFamily="49" charset="0"/>
                <a:cs typeface="Courier New" panose="02070309020205020404" pitchFamily="49" charset="0"/>
              </a:rPr>
              <a:t>: 1</a:t>
            </a:r>
            <a:endParaRPr lang="fr-FR" sz="2900" dirty="0">
              <a:latin typeface="Courier New" panose="02070309020205020404" pitchFamily="49" charset="0"/>
              <a:cs typeface="Courier New" panose="02070309020205020404" pitchFamily="49" charset="0"/>
            </a:endParaRPr>
          </a:p>
          <a:p>
            <a:pPr marL="0" indent="0">
              <a:buNone/>
            </a:pPr>
            <a:r>
              <a:rPr lang="fr-FR" sz="2900" dirty="0" err="1">
                <a:latin typeface="Courier New" panose="02070309020205020404" pitchFamily="49" charset="0"/>
                <a:cs typeface="Courier New" panose="02070309020205020404" pitchFamily="49" charset="0"/>
              </a:rPr>
              <a:t>inc_time</a:t>
            </a:r>
            <a:r>
              <a:rPr lang="fr-FR" sz="2900" dirty="0">
                <a:latin typeface="Courier New" panose="02070309020205020404" pitchFamily="49" charset="0"/>
                <a:cs typeface="Courier New" panose="02070309020205020404" pitchFamily="49" charset="0"/>
              </a:rPr>
              <a:t>()</a:t>
            </a:r>
          </a:p>
          <a:p>
            <a:pPr marL="0" indent="0">
              <a:buNone/>
            </a:pPr>
            <a:r>
              <a:rPr lang="fr-FR" sz="2900" dirty="0" err="1">
                <a:latin typeface="Courier New" panose="02070309020205020404" pitchFamily="49" charset="0"/>
                <a:cs typeface="Courier New" panose="02070309020205020404" pitchFamily="49" charset="0"/>
              </a:rPr>
              <a:t>show_time</a:t>
            </a:r>
            <a:r>
              <a:rPr lang="fr-FR" sz="2900" dirty="0">
                <a:latin typeface="Courier New" panose="02070309020205020404" pitchFamily="49" charset="0"/>
                <a:cs typeface="Courier New" panose="02070309020205020404" pitchFamily="49" charset="0"/>
              </a:rPr>
              <a:t>()</a:t>
            </a:r>
            <a:r>
              <a:rPr lang="en-US" sz="2900" dirty="0">
                <a:latin typeface="Courier New" panose="02070309020205020404" pitchFamily="49" charset="0"/>
                <a:cs typeface="Courier New" panose="02070309020205020404" pitchFamily="49" charset="0"/>
              </a:rPr>
              <a:t> #in </a:t>
            </a:r>
            <a:r>
              <a:rPr lang="en-US" sz="2900" dirty="0" err="1">
                <a:latin typeface="Courier New" panose="02070309020205020404" pitchFamily="49" charset="0"/>
                <a:cs typeface="Courier New" panose="02070309020205020404" pitchFamily="49" charset="0"/>
              </a:rPr>
              <a:t>ra</a:t>
            </a:r>
            <a:r>
              <a:rPr lang="en-US" sz="2900" dirty="0">
                <a:latin typeface="Courier New" panose="02070309020205020404" pitchFamily="49" charset="0"/>
                <a:cs typeface="Courier New" panose="02070309020205020404" pitchFamily="49" charset="0"/>
              </a:rPr>
              <a:t>: 2</a:t>
            </a:r>
          </a:p>
          <a:p>
            <a:pPr marL="0" indent="0">
              <a:lnSpc>
                <a:spcPct val="80000"/>
              </a:lnSpc>
              <a:buNone/>
            </a:pPr>
            <a:r>
              <a:rPr lang="en-US" sz="2900" dirty="0">
                <a:latin typeface="Courier New" panose="02070309020205020404" pitchFamily="49" charset="0"/>
                <a:cs typeface="Courier New" panose="02070309020205020404" pitchFamily="49" charset="0"/>
                <a:sym typeface="Wingdings" panose="05000000000000000000" pitchFamily="2" charset="2"/>
              </a:rPr>
              <a:t></a:t>
            </a:r>
            <a:r>
              <a:rPr lang="en-US" sz="2600" dirty="0">
                <a:sym typeface="Wingdings" panose="05000000000000000000" pitchFamily="2" charset="2"/>
              </a:rPr>
              <a:t>time </a:t>
            </a:r>
            <a:r>
              <a:rPr lang="en-US" sz="2600" dirty="0" err="1">
                <a:sym typeface="Wingdings" panose="05000000000000000000" pitchFamily="2" charset="2"/>
              </a:rPr>
              <a:t>là</a:t>
            </a:r>
            <a:r>
              <a:rPr lang="en-US" sz="2600" dirty="0">
                <a:sym typeface="Wingdings" panose="05000000000000000000" pitchFamily="2" charset="2"/>
              </a:rPr>
              <a:t> </a:t>
            </a:r>
            <a:r>
              <a:rPr lang="en-US" sz="2600" dirty="0" err="1">
                <a:sym typeface="Wingdings" panose="05000000000000000000" pitchFamily="2" charset="2"/>
              </a:rPr>
              <a:t>biến</a:t>
            </a:r>
            <a:r>
              <a:rPr lang="en-US" sz="2600" dirty="0">
                <a:sym typeface="Wingdings" panose="05000000000000000000" pitchFamily="2" charset="2"/>
              </a:rPr>
              <a:t> </a:t>
            </a:r>
            <a:r>
              <a:rPr lang="en-US" sz="2600" dirty="0" err="1">
                <a:sym typeface="Wingdings" panose="05000000000000000000" pitchFamily="2" charset="2"/>
              </a:rPr>
              <a:t>toàn</a:t>
            </a:r>
            <a:r>
              <a:rPr lang="en-US" sz="2600" dirty="0">
                <a:sym typeface="Wingdings" panose="05000000000000000000" pitchFamily="2" charset="2"/>
              </a:rPr>
              <a:t> </a:t>
            </a:r>
            <a:r>
              <a:rPr lang="en-US" sz="2600" dirty="0" err="1">
                <a:sym typeface="Wingdings" panose="05000000000000000000" pitchFamily="2" charset="2"/>
              </a:rPr>
              <a:t>cục</a:t>
            </a:r>
            <a:r>
              <a:rPr lang="en-US" sz="2600" dirty="0">
                <a:sym typeface="Wingdings" panose="05000000000000000000" pitchFamily="2" charset="2"/>
              </a:rPr>
              <a:t> </a:t>
            </a:r>
            <a:r>
              <a:rPr lang="en-US" sz="2600" dirty="0" err="1">
                <a:sym typeface="Wingdings" panose="05000000000000000000" pitchFamily="2" charset="2"/>
              </a:rPr>
              <a:t>trong</a:t>
            </a:r>
            <a:r>
              <a:rPr lang="en-US" sz="2600" dirty="0">
                <a:sym typeface="Wingdings" panose="05000000000000000000" pitchFamily="2" charset="2"/>
              </a:rPr>
              <a:t> 2 </a:t>
            </a:r>
            <a:r>
              <a:rPr lang="en-US" sz="2600" dirty="0" err="1">
                <a:sym typeface="Wingdings" panose="05000000000000000000" pitchFamily="2" charset="2"/>
              </a:rPr>
              <a:t>trường</a:t>
            </a:r>
            <a:r>
              <a:rPr lang="en-US" sz="2600" dirty="0">
                <a:sym typeface="Wingdings" panose="05000000000000000000" pitchFamily="2" charset="2"/>
              </a:rPr>
              <a:t> </a:t>
            </a:r>
            <a:r>
              <a:rPr lang="en-US" sz="2600" dirty="0" err="1">
                <a:sym typeface="Wingdings" panose="05000000000000000000" pitchFamily="2" charset="2"/>
              </a:rPr>
              <a:t>hợp</a:t>
            </a:r>
            <a:r>
              <a:rPr lang="en-US" sz="2600" dirty="0">
                <a:sym typeface="Wingdings" panose="05000000000000000000" pitchFamily="2" charset="2"/>
              </a:rPr>
              <a:t> </a:t>
            </a:r>
            <a:r>
              <a:rPr lang="en-US" sz="2600" dirty="0" err="1">
                <a:sym typeface="Wingdings" panose="05000000000000000000" pitchFamily="2" charset="2"/>
              </a:rPr>
              <a:t>trên</a:t>
            </a:r>
            <a:endParaRPr lang="en-US" sz="26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56</a:t>
            </a:fld>
            <a:endParaRPr lang="en-US"/>
          </a:p>
        </p:txBody>
      </p:sp>
    </p:spTree>
    <p:extLst>
      <p:ext uri="{BB962C8B-B14F-4D97-AF65-F5344CB8AC3E}">
        <p14:creationId xmlns:p14="http://schemas.microsoft.com/office/powerpoint/2010/main" val="19818919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fontScale="92500"/>
          </a:bodyPr>
          <a:lstStyle/>
          <a:p>
            <a:pPr>
              <a:lnSpc>
                <a:spcPct val="80000"/>
              </a:lnSpc>
            </a:pPr>
            <a:r>
              <a:rPr lang="fr-FR" sz="2600" dirty="0" err="1"/>
              <a:t>Hàm</a:t>
            </a:r>
            <a:r>
              <a:rPr lang="fr-FR" sz="2600" dirty="0"/>
              <a:t> </a:t>
            </a:r>
            <a:r>
              <a:rPr lang="fr-FR" sz="2600" dirty="0" err="1"/>
              <a:t>đệ</a:t>
            </a:r>
            <a:r>
              <a:rPr lang="fr-FR" sz="2600" dirty="0"/>
              <a:t> </a:t>
            </a:r>
            <a:r>
              <a:rPr lang="fr-FR" sz="2600" dirty="0" err="1"/>
              <a:t>quy</a:t>
            </a:r>
            <a:r>
              <a:rPr lang="fr-FR" sz="2600" dirty="0"/>
              <a:t>: </a:t>
            </a:r>
            <a:r>
              <a:rPr lang="fr-FR" sz="2600" dirty="0" err="1"/>
              <a:t>hàm</a:t>
            </a:r>
            <a:r>
              <a:rPr lang="fr-FR" sz="2600" dirty="0"/>
              <a:t> </a:t>
            </a:r>
            <a:r>
              <a:rPr lang="fr-FR" sz="2600" dirty="0" err="1"/>
              <a:t>gọi</a:t>
            </a:r>
            <a:r>
              <a:rPr lang="fr-FR" sz="2600" dirty="0"/>
              <a:t> </a:t>
            </a:r>
            <a:r>
              <a:rPr lang="fr-FR" sz="2600" dirty="0" err="1"/>
              <a:t>lại</a:t>
            </a:r>
            <a:r>
              <a:rPr lang="fr-FR" sz="2600" dirty="0"/>
              <a:t> </a:t>
            </a:r>
            <a:r>
              <a:rPr lang="fr-FR" sz="2600" dirty="0" err="1"/>
              <a:t>chính</a:t>
            </a:r>
            <a:r>
              <a:rPr lang="fr-FR" sz="2600" dirty="0"/>
              <a:t> </a:t>
            </a:r>
            <a:r>
              <a:rPr lang="fr-FR" sz="2600" dirty="0" err="1"/>
              <a:t>nó</a:t>
            </a:r>
            <a:endParaRPr lang="fr-FR" sz="2600" dirty="0"/>
          </a:p>
          <a:p>
            <a:pPr marL="0" indent="0">
              <a:buNone/>
            </a:pPr>
            <a:r>
              <a:rPr lang="fr-FR" sz="2900" dirty="0" err="1">
                <a:latin typeface="Courier New" panose="02070309020205020404" pitchFamily="49" charset="0"/>
                <a:cs typeface="Courier New" panose="02070309020205020404" pitchFamily="49" charset="0"/>
              </a:rPr>
              <a:t>def</a:t>
            </a:r>
            <a:r>
              <a:rPr lang="fr-FR" sz="2900" dirty="0">
                <a:latin typeface="Courier New" panose="02070309020205020404" pitchFamily="49" charset="0"/>
                <a:cs typeface="Courier New" panose="02070309020205020404" pitchFamily="49" charset="0"/>
              </a:rPr>
              <a:t> </a:t>
            </a:r>
            <a:r>
              <a:rPr lang="fr-FR" sz="2900" dirty="0" err="1">
                <a:latin typeface="Courier New" panose="02070309020205020404" pitchFamily="49" charset="0"/>
                <a:cs typeface="Courier New" panose="02070309020205020404" pitchFamily="49" charset="0"/>
              </a:rPr>
              <a:t>giaiThua</a:t>
            </a:r>
            <a:r>
              <a:rPr lang="fr-FR" sz="2900" dirty="0">
                <a:latin typeface="Courier New" panose="02070309020205020404" pitchFamily="49" charset="0"/>
                <a:cs typeface="Courier New" panose="02070309020205020404" pitchFamily="49" charset="0"/>
              </a:rPr>
              <a:t>(n):</a:t>
            </a:r>
          </a:p>
          <a:p>
            <a:pPr marL="0" indent="0">
              <a:buNone/>
            </a:pPr>
            <a:r>
              <a:rPr lang="fr-FR" sz="2900" dirty="0">
                <a:latin typeface="Courier New" panose="02070309020205020404" pitchFamily="49" charset="0"/>
                <a:cs typeface="Courier New" panose="02070309020205020404" pitchFamily="49" charset="0"/>
              </a:rPr>
              <a:t>	if n==0: </a:t>
            </a:r>
          </a:p>
          <a:p>
            <a:pPr marL="0" indent="0">
              <a:buNone/>
            </a:pPr>
            <a:r>
              <a:rPr lang="fr-FR" sz="2900" dirty="0">
                <a:latin typeface="Courier New" panose="02070309020205020404" pitchFamily="49" charset="0"/>
                <a:cs typeface="Courier New" panose="02070309020205020404" pitchFamily="49" charset="0"/>
              </a:rPr>
              <a:t>		return 1</a:t>
            </a:r>
          </a:p>
          <a:p>
            <a:pPr marL="0" indent="0">
              <a:buNone/>
            </a:pPr>
            <a:r>
              <a:rPr lang="fr-FR" sz="2900" dirty="0">
                <a:latin typeface="Courier New" panose="02070309020205020404" pitchFamily="49" charset="0"/>
                <a:cs typeface="Courier New" panose="02070309020205020404" pitchFamily="49" charset="0"/>
              </a:rPr>
              <a:t>	return </a:t>
            </a:r>
            <a:r>
              <a:rPr lang="fr-FR" sz="2900" dirty="0" err="1">
                <a:latin typeface="Courier New" panose="02070309020205020404" pitchFamily="49" charset="0"/>
                <a:cs typeface="Courier New" panose="02070309020205020404" pitchFamily="49" charset="0"/>
              </a:rPr>
              <a:t>giaiThua</a:t>
            </a:r>
            <a:r>
              <a:rPr lang="fr-FR" sz="2900" dirty="0">
                <a:latin typeface="Courier New" panose="02070309020205020404" pitchFamily="49" charset="0"/>
                <a:cs typeface="Courier New" panose="02070309020205020404" pitchFamily="49" charset="0"/>
              </a:rPr>
              <a:t>(n-1)*n</a:t>
            </a:r>
          </a:p>
          <a:p>
            <a:pPr>
              <a:buFont typeface="Wingdings" panose="05000000000000000000" pitchFamily="2" charset="2"/>
              <a:buChar char="@"/>
            </a:pPr>
            <a:r>
              <a:rPr lang="fr-FR" sz="2600" dirty="0" err="1">
                <a:sym typeface="Wingdings" panose="05000000000000000000" pitchFamily="2" charset="2"/>
              </a:rPr>
              <a:t>Điều</a:t>
            </a:r>
            <a:r>
              <a:rPr lang="fr-FR" sz="2600" dirty="0">
                <a:sym typeface="Wingdings" panose="05000000000000000000" pitchFamily="2" charset="2"/>
              </a:rPr>
              <a:t> </a:t>
            </a:r>
            <a:r>
              <a:rPr lang="fr-FR" sz="2600" dirty="0" err="1">
                <a:sym typeface="Wingdings" panose="05000000000000000000" pitchFamily="2" charset="2"/>
              </a:rPr>
              <a:t>kiện</a:t>
            </a:r>
            <a:r>
              <a:rPr lang="fr-FR" sz="2600" dirty="0">
                <a:sym typeface="Wingdings" panose="05000000000000000000" pitchFamily="2" charset="2"/>
              </a:rPr>
              <a:t> n=0 </a:t>
            </a:r>
            <a:r>
              <a:rPr lang="fr-FR" sz="2600" dirty="0" err="1">
                <a:sym typeface="Wingdings" panose="05000000000000000000" pitchFamily="2" charset="2"/>
              </a:rPr>
              <a:t>gọi</a:t>
            </a:r>
            <a:r>
              <a:rPr lang="fr-FR" sz="2600" dirty="0">
                <a:sym typeface="Wingdings" panose="05000000000000000000" pitchFamily="2" charset="2"/>
              </a:rPr>
              <a:t> là </a:t>
            </a:r>
            <a:r>
              <a:rPr lang="fr-FR" sz="2600" dirty="0" err="1">
                <a:sym typeface="Wingdings" panose="05000000000000000000" pitchFamily="2" charset="2"/>
              </a:rPr>
              <a:t>điều</a:t>
            </a:r>
            <a:r>
              <a:rPr lang="fr-FR" sz="2600" dirty="0">
                <a:sym typeface="Wingdings" panose="05000000000000000000" pitchFamily="2" charset="2"/>
              </a:rPr>
              <a:t> </a:t>
            </a:r>
            <a:r>
              <a:rPr lang="fr-FR" sz="2600" dirty="0" err="1">
                <a:sym typeface="Wingdings" panose="05000000000000000000" pitchFamily="2" charset="2"/>
              </a:rPr>
              <a:t>kiện</a:t>
            </a:r>
            <a:r>
              <a:rPr lang="fr-FR" sz="2600" dirty="0">
                <a:sym typeface="Wingdings" panose="05000000000000000000" pitchFamily="2" charset="2"/>
              </a:rPr>
              <a:t> </a:t>
            </a:r>
            <a:r>
              <a:rPr lang="fr-FR" sz="2600" dirty="0" err="1">
                <a:sym typeface="Wingdings" panose="05000000000000000000" pitchFamily="2" charset="2"/>
              </a:rPr>
              <a:t>suy</a:t>
            </a:r>
            <a:r>
              <a:rPr lang="fr-FR" sz="2600" dirty="0">
                <a:sym typeface="Wingdings" panose="05000000000000000000" pitchFamily="2" charset="2"/>
              </a:rPr>
              <a:t> </a:t>
            </a:r>
            <a:r>
              <a:rPr lang="fr-FR" sz="2600" dirty="0" err="1">
                <a:sym typeface="Wingdings" panose="05000000000000000000" pitchFamily="2" charset="2"/>
              </a:rPr>
              <a:t>biến</a:t>
            </a:r>
            <a:r>
              <a:rPr lang="fr-FR" sz="2600" dirty="0">
                <a:sym typeface="Wingdings" panose="05000000000000000000" pitchFamily="2" charset="2"/>
              </a:rPr>
              <a:t>. </a:t>
            </a:r>
            <a:r>
              <a:rPr lang="fr-FR" sz="2600" dirty="0" err="1">
                <a:sym typeface="Wingdings" panose="05000000000000000000" pitchFamily="2" charset="2"/>
              </a:rPr>
              <a:t>Lời</a:t>
            </a:r>
            <a:r>
              <a:rPr lang="fr-FR" sz="2600" dirty="0">
                <a:sym typeface="Wingdings" panose="05000000000000000000" pitchFamily="2" charset="2"/>
              </a:rPr>
              <a:t> </a:t>
            </a:r>
            <a:r>
              <a:rPr lang="fr-FR" sz="2600" dirty="0" err="1">
                <a:sym typeface="Wingdings" panose="05000000000000000000" pitchFamily="2" charset="2"/>
              </a:rPr>
              <a:t>gọi</a:t>
            </a:r>
            <a:r>
              <a:rPr lang="fr-FR" sz="2600" dirty="0">
                <a:sym typeface="Wingdings" panose="05000000000000000000" pitchFamily="2" charset="2"/>
              </a:rPr>
              <a:t> </a:t>
            </a:r>
            <a:r>
              <a:rPr lang="fr-FR" sz="2600" dirty="0" err="1">
                <a:sym typeface="Wingdings" panose="05000000000000000000" pitchFamily="2" charset="2"/>
              </a:rPr>
              <a:t>đệ</a:t>
            </a:r>
            <a:r>
              <a:rPr lang="fr-FR" sz="2600" dirty="0">
                <a:sym typeface="Wingdings" panose="05000000000000000000" pitchFamily="2" charset="2"/>
              </a:rPr>
              <a:t> </a:t>
            </a:r>
            <a:r>
              <a:rPr lang="fr-FR" sz="2600" dirty="0" err="1">
                <a:sym typeface="Wingdings" panose="05000000000000000000" pitchFamily="2" charset="2"/>
              </a:rPr>
              <a:t>quy</a:t>
            </a:r>
            <a:r>
              <a:rPr lang="fr-FR" sz="2600" dirty="0">
                <a:sym typeface="Wingdings" panose="05000000000000000000" pitchFamily="2" charset="2"/>
              </a:rPr>
              <a:t> </a:t>
            </a:r>
            <a:r>
              <a:rPr lang="fr-FR" sz="2600" dirty="0" err="1">
                <a:sym typeface="Wingdings" panose="05000000000000000000" pitchFamily="2" charset="2"/>
              </a:rPr>
              <a:t>phải</a:t>
            </a:r>
            <a:r>
              <a:rPr lang="fr-FR" sz="2600" dirty="0">
                <a:sym typeface="Wingdings" panose="05000000000000000000" pitchFamily="2" charset="2"/>
              </a:rPr>
              <a:t> </a:t>
            </a:r>
            <a:r>
              <a:rPr lang="fr-FR" sz="2600" dirty="0" err="1">
                <a:sym typeface="Wingdings" panose="05000000000000000000" pitchFamily="2" charset="2"/>
              </a:rPr>
              <a:t>dẫn</a:t>
            </a:r>
            <a:r>
              <a:rPr lang="fr-FR" sz="2600" dirty="0">
                <a:sym typeface="Wingdings" panose="05000000000000000000" pitchFamily="2" charset="2"/>
              </a:rPr>
              <a:t> </a:t>
            </a:r>
            <a:r>
              <a:rPr lang="fr-FR" sz="2600" dirty="0" err="1">
                <a:sym typeface="Wingdings" panose="05000000000000000000" pitchFamily="2" charset="2"/>
              </a:rPr>
              <a:t>đến</a:t>
            </a:r>
            <a:r>
              <a:rPr lang="fr-FR" sz="2600" dirty="0">
                <a:sym typeface="Wingdings" panose="05000000000000000000" pitchFamily="2" charset="2"/>
              </a:rPr>
              <a:t> </a:t>
            </a:r>
            <a:r>
              <a:rPr lang="fr-FR" sz="2600" dirty="0" err="1">
                <a:sym typeface="Wingdings" panose="05000000000000000000" pitchFamily="2" charset="2"/>
              </a:rPr>
              <a:t>điều</a:t>
            </a:r>
            <a:r>
              <a:rPr lang="fr-FR" sz="2600" dirty="0">
                <a:sym typeface="Wingdings" panose="05000000000000000000" pitchFamily="2" charset="2"/>
              </a:rPr>
              <a:t> </a:t>
            </a:r>
            <a:r>
              <a:rPr lang="fr-FR" sz="2600" dirty="0" err="1">
                <a:sym typeface="Wingdings" panose="05000000000000000000" pitchFamily="2" charset="2"/>
              </a:rPr>
              <a:t>kiện</a:t>
            </a:r>
            <a:r>
              <a:rPr lang="fr-FR" sz="2600" dirty="0">
                <a:sym typeface="Wingdings" panose="05000000000000000000" pitchFamily="2" charset="2"/>
              </a:rPr>
              <a:t> </a:t>
            </a:r>
            <a:r>
              <a:rPr lang="fr-FR" sz="2600" dirty="0" err="1">
                <a:sym typeface="Wingdings" panose="05000000000000000000" pitchFamily="2" charset="2"/>
              </a:rPr>
              <a:t>suy</a:t>
            </a:r>
            <a:r>
              <a:rPr lang="fr-FR" sz="2600" dirty="0">
                <a:sym typeface="Wingdings" panose="05000000000000000000" pitchFamily="2" charset="2"/>
              </a:rPr>
              <a:t> </a:t>
            </a:r>
            <a:r>
              <a:rPr lang="fr-FR" sz="2600" dirty="0" err="1">
                <a:sym typeface="Wingdings" panose="05000000000000000000" pitchFamily="2" charset="2"/>
              </a:rPr>
              <a:t>biến</a:t>
            </a:r>
            <a:r>
              <a:rPr lang="fr-FR" sz="2600" dirty="0">
                <a:sym typeface="Wingdings" panose="05000000000000000000" pitchFamily="2" charset="2"/>
              </a:rPr>
              <a:t> </a:t>
            </a:r>
            <a:r>
              <a:rPr lang="fr-FR" sz="2600" dirty="0" err="1">
                <a:sym typeface="Wingdings" panose="05000000000000000000" pitchFamily="2" charset="2"/>
              </a:rPr>
              <a:t>để</a:t>
            </a:r>
            <a:r>
              <a:rPr lang="fr-FR" sz="2600" dirty="0">
                <a:sym typeface="Wingdings" panose="05000000000000000000" pitchFamily="2" charset="2"/>
              </a:rPr>
              <a:t> </a:t>
            </a:r>
            <a:r>
              <a:rPr lang="fr-FR" sz="2600" dirty="0" err="1">
                <a:sym typeface="Wingdings" panose="05000000000000000000" pitchFamily="2" charset="2"/>
              </a:rPr>
              <a:t>hàm</a:t>
            </a:r>
            <a:r>
              <a:rPr lang="fr-FR" sz="2600" dirty="0">
                <a:sym typeface="Wingdings" panose="05000000000000000000" pitchFamily="2" charset="2"/>
              </a:rPr>
              <a:t> </a:t>
            </a:r>
            <a:r>
              <a:rPr lang="fr-FR" sz="2600" dirty="0" err="1">
                <a:sym typeface="Wingdings" panose="05000000000000000000" pitchFamily="2" charset="2"/>
              </a:rPr>
              <a:t>không</a:t>
            </a:r>
            <a:r>
              <a:rPr lang="fr-FR" sz="2600" dirty="0">
                <a:sym typeface="Wingdings" panose="05000000000000000000" pitchFamily="2" charset="2"/>
              </a:rPr>
              <a:t> </a:t>
            </a:r>
            <a:r>
              <a:rPr lang="fr-FR" sz="2600" dirty="0" err="1">
                <a:sym typeface="Wingdings" panose="05000000000000000000" pitchFamily="2" charset="2"/>
              </a:rPr>
              <a:t>chạy</a:t>
            </a:r>
            <a:r>
              <a:rPr lang="fr-FR" sz="2600" dirty="0">
                <a:sym typeface="Wingdings" panose="05000000000000000000" pitchFamily="2" charset="2"/>
              </a:rPr>
              <a:t> </a:t>
            </a:r>
            <a:r>
              <a:rPr lang="fr-FR" sz="2600" dirty="0" err="1">
                <a:sym typeface="Wingdings" panose="05000000000000000000" pitchFamily="2" charset="2"/>
              </a:rPr>
              <a:t>mãi</a:t>
            </a:r>
            <a:endParaRPr lang="fr-FR" sz="2600" dirty="0">
              <a:sym typeface="Wingdings" panose="05000000000000000000" pitchFamily="2" charset="2"/>
            </a:endParaRPr>
          </a:p>
          <a:p>
            <a:pPr marL="0" indent="0">
              <a:buNone/>
            </a:pPr>
            <a:r>
              <a:rPr lang="fr-FR" dirty="0" err="1">
                <a:latin typeface="Courier New" panose="02070309020205020404" pitchFamily="49" charset="0"/>
                <a:cs typeface="Courier New" panose="02070309020205020404" pitchFamily="49" charset="0"/>
              </a:rPr>
              <a:t>def</a:t>
            </a:r>
            <a:r>
              <a:rPr lang="fr-FR" dirty="0">
                <a:latin typeface="Courier New" panose="02070309020205020404" pitchFamily="49" charset="0"/>
                <a:cs typeface="Courier New" panose="02070309020205020404" pitchFamily="49" charset="0"/>
              </a:rPr>
              <a:t> USCLN(</a:t>
            </a:r>
            <a:r>
              <a:rPr lang="fr-FR" dirty="0" err="1">
                <a:latin typeface="Courier New" panose="02070309020205020404" pitchFamily="49" charset="0"/>
                <a:cs typeface="Courier New" panose="02070309020205020404" pitchFamily="49" charset="0"/>
              </a:rPr>
              <a:t>a,b</a:t>
            </a:r>
            <a:r>
              <a:rPr lang="fr-FR" dirty="0">
                <a:latin typeface="Courier New" panose="02070309020205020404" pitchFamily="49" charset="0"/>
                <a:cs typeface="Courier New" panose="02070309020205020404" pitchFamily="49" charset="0"/>
              </a:rPr>
              <a:t>):</a:t>
            </a:r>
          </a:p>
          <a:p>
            <a:pPr marL="0" indent="0">
              <a:buNone/>
            </a:pPr>
            <a:r>
              <a:rPr lang="fr-FR" dirty="0">
                <a:latin typeface="Courier New" panose="02070309020205020404" pitchFamily="49" charset="0"/>
                <a:cs typeface="Courier New" panose="02070309020205020404" pitchFamily="49" charset="0"/>
              </a:rPr>
              <a:t>	if a==b: return a</a:t>
            </a:r>
          </a:p>
          <a:p>
            <a:pPr marL="0" indent="0">
              <a:buNone/>
            </a:pPr>
            <a:r>
              <a:rPr lang="fr-FR" dirty="0">
                <a:latin typeface="Courier New" panose="02070309020205020404" pitchFamily="49" charset="0"/>
                <a:cs typeface="Courier New" panose="02070309020205020404" pitchFamily="49" charset="0"/>
              </a:rPr>
              <a:t>	if a&gt;b: </a:t>
            </a:r>
            <a:r>
              <a:rPr lang="fr-FR">
                <a:latin typeface="Courier New" panose="02070309020205020404" pitchFamily="49" charset="0"/>
                <a:cs typeface="Courier New" panose="02070309020205020404" pitchFamily="49" charset="0"/>
              </a:rPr>
              <a:t>return USCLN(a-b, b</a:t>
            </a:r>
            <a:r>
              <a:rPr lang="fr-FR" dirty="0">
                <a:latin typeface="Courier New" panose="02070309020205020404" pitchFamily="49" charset="0"/>
                <a:cs typeface="Courier New" panose="02070309020205020404" pitchFamily="49" charset="0"/>
              </a:rPr>
              <a:t>)</a:t>
            </a:r>
          </a:p>
          <a:p>
            <a:pPr marL="0" indent="0">
              <a:buNone/>
            </a:pPr>
            <a:r>
              <a:rPr lang="fr-FR" dirty="0">
                <a:latin typeface="Courier New" panose="02070309020205020404" pitchFamily="49" charset="0"/>
                <a:cs typeface="Courier New" panose="02070309020205020404" pitchFamily="49" charset="0"/>
              </a:rPr>
              <a:t>	</a:t>
            </a:r>
            <a:r>
              <a:rPr lang="fr-FR">
                <a:latin typeface="Courier New" panose="02070309020205020404" pitchFamily="49" charset="0"/>
                <a:cs typeface="Courier New" panose="02070309020205020404" pitchFamily="49" charset="0"/>
              </a:rPr>
              <a:t>return USCLN(a, </a:t>
            </a:r>
            <a:r>
              <a:rPr lang="fr-FR" dirty="0">
                <a:latin typeface="Courier New" panose="02070309020205020404" pitchFamily="49" charset="0"/>
                <a:cs typeface="Courier New" panose="02070309020205020404" pitchFamily="49" charset="0"/>
              </a:rPr>
              <a:t>b-a)</a:t>
            </a:r>
          </a:p>
          <a:p>
            <a:pPr marL="0" indent="0">
              <a:buNone/>
            </a:pPr>
            <a:endParaRPr lang="fr-FR" sz="26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57</a:t>
            </a:fld>
            <a:endParaRPr lang="en-US"/>
          </a:p>
        </p:txBody>
      </p:sp>
    </p:spTree>
    <p:extLst>
      <p:ext uri="{BB962C8B-B14F-4D97-AF65-F5344CB8AC3E}">
        <p14:creationId xmlns:p14="http://schemas.microsoft.com/office/powerpoint/2010/main" val="20314457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a:bodyPr>
          <a:lstStyle/>
          <a:p>
            <a:pPr>
              <a:lnSpc>
                <a:spcPct val="80000"/>
              </a:lnSpc>
            </a:pPr>
            <a:r>
              <a:rPr lang="fr-FR" sz="2600" dirty="0" err="1"/>
              <a:t>Hàm</a:t>
            </a:r>
            <a:r>
              <a:rPr lang="fr-FR" sz="2600" dirty="0"/>
              <a:t> </a:t>
            </a:r>
            <a:r>
              <a:rPr lang="fr-FR" sz="2600" dirty="0" err="1"/>
              <a:t>đệ</a:t>
            </a:r>
            <a:r>
              <a:rPr lang="fr-FR" sz="2600" dirty="0"/>
              <a:t> </a:t>
            </a:r>
            <a:r>
              <a:rPr lang="fr-FR" sz="2600" dirty="0" err="1"/>
              <a:t>quy</a:t>
            </a:r>
            <a:r>
              <a:rPr lang="fr-FR" sz="2600" dirty="0"/>
              <a:t>:</a:t>
            </a:r>
            <a:endParaRPr lang="fr-FR" sz="2600" dirty="0">
              <a:sym typeface="Wingdings" panose="05000000000000000000" pitchFamily="2" charset="2"/>
            </a:endParaRPr>
          </a:p>
          <a:p>
            <a:pPr marL="0" indent="0">
              <a:buNone/>
            </a:pPr>
            <a:r>
              <a:rPr lang="fr-FR" dirty="0" err="1">
                <a:latin typeface="Courier New" panose="02070309020205020404" pitchFamily="49" charset="0"/>
                <a:cs typeface="Courier New" panose="02070309020205020404" pitchFamily="49" charset="0"/>
              </a:rPr>
              <a:t>def</a:t>
            </a:r>
            <a:r>
              <a:rPr lang="fr-FR" dirty="0">
                <a:latin typeface="Courier New" panose="02070309020205020404" pitchFamily="49" charset="0"/>
                <a:cs typeface="Courier New" panose="02070309020205020404" pitchFamily="49" charset="0"/>
              </a:rPr>
              <a:t> UCLN(</a:t>
            </a:r>
            <a:r>
              <a:rPr lang="fr-FR" dirty="0" err="1">
                <a:latin typeface="Courier New" panose="02070309020205020404" pitchFamily="49" charset="0"/>
                <a:cs typeface="Courier New" panose="02070309020205020404" pitchFamily="49" charset="0"/>
              </a:rPr>
              <a:t>a,b</a:t>
            </a:r>
            <a:r>
              <a:rPr lang="fr-FR" dirty="0">
                <a:latin typeface="Courier New" panose="02070309020205020404" pitchFamily="49" charset="0"/>
                <a:cs typeface="Courier New" panose="02070309020205020404" pitchFamily="49" charset="0"/>
              </a:rPr>
              <a:t>):</a:t>
            </a:r>
          </a:p>
          <a:p>
            <a:pPr marL="0" indent="0">
              <a:buNone/>
            </a:pPr>
            <a:r>
              <a:rPr lang="fr-FR" dirty="0">
                <a:latin typeface="Courier New" panose="02070309020205020404" pitchFamily="49" charset="0"/>
                <a:cs typeface="Courier New" panose="02070309020205020404" pitchFamily="49" charset="0"/>
              </a:rPr>
              <a:t>	if a==b:</a:t>
            </a:r>
          </a:p>
          <a:p>
            <a:pPr marL="0" indent="0">
              <a:buNone/>
            </a:pPr>
            <a:r>
              <a:rPr lang="fr-FR" dirty="0">
                <a:latin typeface="Courier New" panose="02070309020205020404" pitchFamily="49" charset="0"/>
                <a:cs typeface="Courier New" panose="02070309020205020404" pitchFamily="49" charset="0"/>
              </a:rPr>
              <a:t>		return a</a:t>
            </a:r>
          </a:p>
          <a:p>
            <a:pPr marL="0" indent="0">
              <a:buNone/>
            </a:pPr>
            <a:r>
              <a:rPr lang="fr-FR" dirty="0">
                <a:latin typeface="Courier New" panose="02070309020205020404" pitchFamily="49" charset="0"/>
                <a:cs typeface="Courier New" panose="02070309020205020404" pitchFamily="49" charset="0"/>
              </a:rPr>
              <a:t>	if a&gt;b:</a:t>
            </a:r>
          </a:p>
          <a:p>
            <a:pPr marL="0" indent="0">
              <a:buNone/>
            </a:pPr>
            <a:r>
              <a:rPr lang="fr-FR" dirty="0">
                <a:latin typeface="Courier New" panose="02070309020205020404" pitchFamily="49" charset="0"/>
                <a:cs typeface="Courier New" panose="02070309020205020404" pitchFamily="49" charset="0"/>
              </a:rPr>
              <a:t>		return UCLN(a-</a:t>
            </a:r>
            <a:r>
              <a:rPr lang="fr-FR" dirty="0" err="1">
                <a:latin typeface="Courier New" panose="02070309020205020404" pitchFamily="49" charset="0"/>
                <a:cs typeface="Courier New" panose="02070309020205020404" pitchFamily="49" charset="0"/>
              </a:rPr>
              <a:t>b,b</a:t>
            </a:r>
            <a:r>
              <a:rPr lang="fr-FR" dirty="0">
                <a:latin typeface="Courier New" panose="02070309020205020404" pitchFamily="49" charset="0"/>
                <a:cs typeface="Courier New" panose="02070309020205020404" pitchFamily="49" charset="0"/>
              </a:rPr>
              <a:t>)</a:t>
            </a:r>
          </a:p>
          <a:p>
            <a:pPr marL="0" indent="0">
              <a:buNone/>
            </a:pPr>
            <a:r>
              <a:rPr lang="fr-FR" sz="2600" dirty="0">
                <a:latin typeface="Courier New" panose="02070309020205020404" pitchFamily="49" charset="0"/>
                <a:cs typeface="Courier New" panose="02070309020205020404" pitchFamily="49" charset="0"/>
              </a:rPr>
              <a:t>	</a:t>
            </a:r>
            <a:r>
              <a:rPr lang="fr-FR" sz="2400" dirty="0">
                <a:latin typeface="Courier New" panose="02070309020205020404" pitchFamily="49" charset="0"/>
                <a:cs typeface="Courier New" panose="02070309020205020404" pitchFamily="49" charset="0"/>
              </a:rPr>
              <a:t>return UCLN(</a:t>
            </a:r>
            <a:r>
              <a:rPr lang="fr-FR" sz="2400" dirty="0" err="1">
                <a:latin typeface="Courier New" panose="02070309020205020404" pitchFamily="49" charset="0"/>
                <a:cs typeface="Courier New" panose="02070309020205020404" pitchFamily="49" charset="0"/>
              </a:rPr>
              <a:t>a,b-a</a:t>
            </a:r>
            <a:r>
              <a:rPr lang="fr-FR" sz="2400" dirty="0">
                <a:latin typeface="Courier New" panose="02070309020205020404" pitchFamily="49" charset="0"/>
                <a:cs typeface="Courier New" panose="02070309020205020404" pitchFamily="49" charset="0"/>
              </a:rPr>
              <a:t>)</a:t>
            </a:r>
            <a:endParaRPr lang="fr-FR" sz="2600"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58</a:t>
            </a:fld>
            <a:endParaRPr lang="en-US"/>
          </a:p>
        </p:txBody>
      </p:sp>
    </p:spTree>
    <p:extLst>
      <p:ext uri="{BB962C8B-B14F-4D97-AF65-F5344CB8AC3E}">
        <p14:creationId xmlns:p14="http://schemas.microsoft.com/office/powerpoint/2010/main" val="834926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10246"/>
          </a:xfrm>
        </p:spPr>
        <p:txBody>
          <a:bodyPr/>
          <a:lstStyle/>
          <a:p>
            <a:r>
              <a:rPr lang="en-US" dirty="0" err="1"/>
              <a:t>Hàm</a:t>
            </a:r>
            <a:endParaRPr lang="en-US" dirty="0"/>
          </a:p>
        </p:txBody>
      </p:sp>
      <p:sp>
        <p:nvSpPr>
          <p:cNvPr id="3" name="Content Placeholder 2"/>
          <p:cNvSpPr>
            <a:spLocks noGrp="1"/>
          </p:cNvSpPr>
          <p:nvPr>
            <p:ph idx="1"/>
          </p:nvPr>
        </p:nvSpPr>
        <p:spPr>
          <a:xfrm>
            <a:off x="628650" y="1075373"/>
            <a:ext cx="7886700" cy="5239067"/>
          </a:xfrm>
        </p:spPr>
        <p:txBody>
          <a:bodyPr>
            <a:normAutofit/>
          </a:bodyPr>
          <a:lstStyle/>
          <a:p>
            <a:pPr>
              <a:lnSpc>
                <a:spcPct val="80000"/>
              </a:lnSpc>
            </a:pPr>
            <a:r>
              <a:rPr lang="fr-FR" sz="2600" dirty="0" err="1"/>
              <a:t>Đệ</a:t>
            </a:r>
            <a:r>
              <a:rPr lang="fr-FR" sz="2600" dirty="0"/>
              <a:t> </a:t>
            </a:r>
            <a:r>
              <a:rPr lang="fr-FR" sz="2600" dirty="0" err="1"/>
              <a:t>quy</a:t>
            </a:r>
            <a:r>
              <a:rPr lang="fr-FR" sz="2600" dirty="0"/>
              <a:t> </a:t>
            </a:r>
            <a:r>
              <a:rPr lang="fr-FR" sz="2600" dirty="0" err="1"/>
              <a:t>tương</a:t>
            </a:r>
            <a:r>
              <a:rPr lang="fr-FR" sz="2600" dirty="0"/>
              <a:t> </a:t>
            </a:r>
            <a:r>
              <a:rPr lang="fr-FR" sz="2600" dirty="0" err="1"/>
              <a:t>hỗ</a:t>
            </a:r>
            <a:r>
              <a:rPr lang="fr-FR" sz="2600" dirty="0"/>
              <a:t>:</a:t>
            </a:r>
            <a:endParaRPr lang="fr-FR" sz="2600" dirty="0">
              <a:sym typeface="Wingdings" panose="05000000000000000000" pitchFamily="2" charset="2"/>
            </a:endParaRPr>
          </a:p>
          <a:p>
            <a:pPr marL="0" indent="0">
              <a:buNone/>
            </a:pPr>
            <a:r>
              <a:rPr lang="fr-FR" dirty="0" err="1">
                <a:latin typeface="Courier New" panose="02070309020205020404" pitchFamily="49" charset="0"/>
                <a:cs typeface="Courier New" panose="02070309020205020404" pitchFamily="49" charset="0"/>
              </a:rPr>
              <a:t>def</a:t>
            </a: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even</a:t>
            </a:r>
            <a:r>
              <a:rPr lang="fr-FR" dirty="0">
                <a:latin typeface="Courier New" panose="02070309020205020404" pitchFamily="49" charset="0"/>
                <a:cs typeface="Courier New" panose="02070309020205020404" pitchFamily="49" charset="0"/>
              </a:rPr>
              <a:t>(n):</a:t>
            </a:r>
          </a:p>
          <a:p>
            <a:pPr marL="0" indent="0">
              <a:buNone/>
            </a:pPr>
            <a:r>
              <a:rPr lang="fr-FR" dirty="0">
                <a:latin typeface="Courier New" panose="02070309020205020404" pitchFamily="49" charset="0"/>
                <a:cs typeface="Courier New" panose="02070309020205020404" pitchFamily="49" charset="0"/>
              </a:rPr>
              <a:t>    if n==0:</a:t>
            </a:r>
          </a:p>
          <a:p>
            <a:pPr marL="0" indent="0">
              <a:buNone/>
            </a:pPr>
            <a:r>
              <a:rPr lang="fr-FR" dirty="0">
                <a:latin typeface="Courier New" panose="02070309020205020404" pitchFamily="49" charset="0"/>
                <a:cs typeface="Courier New" panose="02070309020205020404" pitchFamily="49" charset="0"/>
              </a:rPr>
              <a:t>        return </a:t>
            </a:r>
            <a:r>
              <a:rPr lang="fr-FR" dirty="0" err="1">
                <a:latin typeface="Courier New" panose="02070309020205020404" pitchFamily="49" charset="0"/>
                <a:cs typeface="Courier New" panose="02070309020205020404" pitchFamily="49" charset="0"/>
              </a:rPr>
              <a:t>True</a:t>
            </a:r>
            <a:endParaRPr lang="fr-FR" dirty="0">
              <a:latin typeface="Courier New" panose="02070309020205020404" pitchFamily="49" charset="0"/>
              <a:cs typeface="Courier New" panose="02070309020205020404" pitchFamily="49" charset="0"/>
            </a:endParaRPr>
          </a:p>
          <a:p>
            <a:pPr marL="0" indent="0">
              <a:buNone/>
            </a:pPr>
            <a:r>
              <a:rPr lang="fr-FR" dirty="0">
                <a:latin typeface="Courier New" panose="02070309020205020404" pitchFamily="49" charset="0"/>
                <a:cs typeface="Courier New" panose="02070309020205020404" pitchFamily="49" charset="0"/>
              </a:rPr>
              <a:t>    return </a:t>
            </a:r>
            <a:r>
              <a:rPr lang="fr-FR" dirty="0" err="1">
                <a:latin typeface="Courier New" panose="02070309020205020404" pitchFamily="49" charset="0"/>
                <a:cs typeface="Courier New" panose="02070309020205020404" pitchFamily="49" charset="0"/>
              </a:rPr>
              <a:t>odd</a:t>
            </a:r>
            <a:r>
              <a:rPr lang="fr-FR" dirty="0">
                <a:latin typeface="Courier New" panose="02070309020205020404" pitchFamily="49" charset="0"/>
                <a:cs typeface="Courier New" panose="02070309020205020404" pitchFamily="49" charset="0"/>
              </a:rPr>
              <a:t>(n-1)</a:t>
            </a:r>
          </a:p>
          <a:p>
            <a:pPr marL="0" indent="0">
              <a:buNone/>
            </a:pPr>
            <a:r>
              <a:rPr lang="fr-FR" dirty="0" err="1">
                <a:latin typeface="Courier New" panose="02070309020205020404" pitchFamily="49" charset="0"/>
                <a:cs typeface="Courier New" panose="02070309020205020404" pitchFamily="49" charset="0"/>
              </a:rPr>
              <a:t>def</a:t>
            </a:r>
            <a:r>
              <a:rPr lang="fr-FR" dirty="0">
                <a:latin typeface="Courier New" panose="02070309020205020404" pitchFamily="49" charset="0"/>
                <a:cs typeface="Courier New" panose="02070309020205020404" pitchFamily="49" charset="0"/>
              </a:rPr>
              <a:t> </a:t>
            </a:r>
            <a:r>
              <a:rPr lang="fr-FR" dirty="0" err="1">
                <a:latin typeface="Courier New" panose="02070309020205020404" pitchFamily="49" charset="0"/>
                <a:cs typeface="Courier New" panose="02070309020205020404" pitchFamily="49" charset="0"/>
              </a:rPr>
              <a:t>odd</a:t>
            </a:r>
            <a:r>
              <a:rPr lang="fr-FR" dirty="0">
                <a:latin typeface="Courier New" panose="02070309020205020404" pitchFamily="49" charset="0"/>
                <a:cs typeface="Courier New" panose="02070309020205020404" pitchFamily="49" charset="0"/>
              </a:rPr>
              <a:t>(n):</a:t>
            </a:r>
          </a:p>
          <a:p>
            <a:pPr marL="0" indent="0">
              <a:buNone/>
            </a:pPr>
            <a:r>
              <a:rPr lang="fr-FR" dirty="0">
                <a:latin typeface="Courier New" panose="02070309020205020404" pitchFamily="49" charset="0"/>
                <a:cs typeface="Courier New" panose="02070309020205020404" pitchFamily="49" charset="0"/>
              </a:rPr>
              <a:t>    if n==0:</a:t>
            </a:r>
          </a:p>
          <a:p>
            <a:pPr marL="0" indent="0">
              <a:buNone/>
            </a:pPr>
            <a:r>
              <a:rPr lang="fr-FR" dirty="0">
                <a:latin typeface="Courier New" panose="02070309020205020404" pitchFamily="49" charset="0"/>
                <a:cs typeface="Courier New" panose="02070309020205020404" pitchFamily="49" charset="0"/>
              </a:rPr>
              <a:t>        return False</a:t>
            </a:r>
          </a:p>
          <a:p>
            <a:pPr marL="0" indent="0">
              <a:buNone/>
            </a:pPr>
            <a:r>
              <a:rPr lang="fr-FR" dirty="0">
                <a:latin typeface="Courier New" panose="02070309020205020404" pitchFamily="49" charset="0"/>
                <a:cs typeface="Courier New" panose="02070309020205020404" pitchFamily="49" charset="0"/>
              </a:rPr>
              <a:t>    return </a:t>
            </a:r>
            <a:r>
              <a:rPr lang="fr-FR" dirty="0" err="1">
                <a:latin typeface="Courier New" panose="02070309020205020404" pitchFamily="49" charset="0"/>
                <a:cs typeface="Courier New" panose="02070309020205020404" pitchFamily="49" charset="0"/>
              </a:rPr>
              <a:t>even</a:t>
            </a:r>
            <a:r>
              <a:rPr lang="fr-FR" dirty="0">
                <a:latin typeface="Courier New" panose="02070309020205020404" pitchFamily="49" charset="0"/>
                <a:cs typeface="Courier New" panose="02070309020205020404" pitchFamily="49" charset="0"/>
              </a:rPr>
              <a:t>(n-1)</a:t>
            </a:r>
          </a:p>
          <a:p>
            <a:pPr marL="0" indent="0">
              <a:buNone/>
            </a:pPr>
            <a:r>
              <a:rPr lang="fr-FR" dirty="0" err="1">
                <a:latin typeface="Courier New" panose="02070309020205020404" pitchFamily="49" charset="0"/>
                <a:cs typeface="Courier New" panose="02070309020205020404" pitchFamily="49" charset="0"/>
              </a:rPr>
              <a:t>print</a:t>
            </a:r>
            <a:r>
              <a:rPr lang="fr-FR" dirty="0">
                <a:latin typeface="Courier New" panose="02070309020205020404" pitchFamily="49" charset="0"/>
                <a:cs typeface="Courier New" panose="02070309020205020404" pitchFamily="49" charset="0"/>
              </a:rPr>
              <a:t>(</a:t>
            </a:r>
            <a:r>
              <a:rPr lang="fr-FR" dirty="0" err="1">
                <a:latin typeface="Courier New" panose="02070309020205020404" pitchFamily="49" charset="0"/>
                <a:cs typeface="Courier New" panose="02070309020205020404" pitchFamily="49" charset="0"/>
              </a:rPr>
              <a:t>even</a:t>
            </a:r>
            <a:r>
              <a:rPr lang="fr-FR" dirty="0">
                <a:latin typeface="Courier New" panose="02070309020205020404" pitchFamily="49" charset="0"/>
                <a:cs typeface="Courier New" panose="02070309020205020404" pitchFamily="49" charset="0"/>
              </a:rPr>
              <a:t>(12)) #</a:t>
            </a:r>
            <a:r>
              <a:rPr lang="fr-FR" dirty="0" err="1">
                <a:latin typeface="Courier New" panose="02070309020205020404" pitchFamily="49" charset="0"/>
                <a:cs typeface="Courier New" panose="02070309020205020404" pitchFamily="49" charset="0"/>
              </a:rPr>
              <a:t>True</a:t>
            </a:r>
            <a:endParaRPr lang="fr-FR"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59</a:t>
            </a:fld>
            <a:endParaRPr lang="en-US"/>
          </a:p>
        </p:txBody>
      </p:sp>
    </p:spTree>
    <p:extLst>
      <p:ext uri="{BB962C8B-B14F-4D97-AF65-F5344CB8AC3E}">
        <p14:creationId xmlns:p14="http://schemas.microsoft.com/office/powerpoint/2010/main" val="11377028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7714"/>
          </a:xfrm>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280160"/>
            <a:ext cx="7886700" cy="4896803"/>
          </a:xfrm>
        </p:spPr>
        <p:txBody>
          <a:bodyPr>
            <a:normAutofit/>
          </a:bodyPr>
          <a:lstStyle/>
          <a:p>
            <a:pPr marL="514350" indent="-514350">
              <a:buFont typeface="+mj-lt"/>
              <a:buAutoNum type="arabicPeriod"/>
            </a:pPr>
            <a:r>
              <a:rPr lang="vi-VN" dirty="0"/>
              <a:t>Viết hàm </a:t>
            </a:r>
            <a:r>
              <a:rPr lang="vi-VN" i="1" dirty="0"/>
              <a:t>sum_digits</a:t>
            </a:r>
            <a:r>
              <a:rPr lang="vi-VN" dirty="0"/>
              <a:t> </a:t>
            </a:r>
            <a:r>
              <a:rPr lang="en-US" dirty="0" err="1"/>
              <a:t>nhận</a:t>
            </a:r>
            <a:r>
              <a:rPr lang="vi-VN" dirty="0"/>
              <a:t> </a:t>
            </a:r>
            <a:r>
              <a:rPr lang="en-US" dirty="0" err="1"/>
              <a:t>tham</a:t>
            </a:r>
            <a:r>
              <a:rPr lang="en-US" dirty="0"/>
              <a:t> </a:t>
            </a:r>
            <a:r>
              <a:rPr lang="en-US" dirty="0" err="1"/>
              <a:t>số</a:t>
            </a:r>
            <a:r>
              <a:rPr lang="en-US"/>
              <a:t> </a:t>
            </a:r>
            <a:r>
              <a:rPr lang="vi-VN" i="1"/>
              <a:t>num</a:t>
            </a:r>
            <a:r>
              <a:rPr lang="vi-VN"/>
              <a:t> </a:t>
            </a:r>
            <a:r>
              <a:rPr lang="vi-VN" dirty="0"/>
              <a:t>và trả về tổng các chữ số của </a:t>
            </a:r>
            <a:r>
              <a:rPr lang="vi-VN" i="1" dirty="0"/>
              <a:t>num</a:t>
            </a:r>
            <a:r>
              <a:rPr lang="vi-VN" dirty="0"/>
              <a:t>.</a:t>
            </a:r>
            <a:endParaRPr lang="en-US" dirty="0"/>
          </a:p>
          <a:p>
            <a:pPr marL="514350" indent="-514350">
              <a:buFont typeface="+mj-lt"/>
              <a:buAutoNum type="arabicPeriod"/>
            </a:pPr>
            <a:r>
              <a:rPr lang="en-US" dirty="0" err="1"/>
              <a:t>Viết</a:t>
            </a:r>
            <a:r>
              <a:rPr lang="en-US" dirty="0"/>
              <a:t> </a:t>
            </a:r>
            <a:r>
              <a:rPr lang="en-US" dirty="0" err="1"/>
              <a:t>hàm</a:t>
            </a:r>
            <a:r>
              <a:rPr lang="en-US" dirty="0"/>
              <a:t> </a:t>
            </a:r>
            <a:r>
              <a:rPr lang="en-US" dirty="0" err="1"/>
              <a:t>del_negative</a:t>
            </a:r>
            <a:r>
              <a:rPr lang="en-US" dirty="0"/>
              <a:t> </a:t>
            </a:r>
            <a:r>
              <a:rPr lang="en-US" dirty="0" err="1"/>
              <a:t>nhận</a:t>
            </a:r>
            <a:r>
              <a:rPr lang="en-US" dirty="0"/>
              <a:t> </a:t>
            </a:r>
            <a:r>
              <a:rPr lang="en-US" dirty="0" err="1"/>
              <a:t>vào</a:t>
            </a:r>
            <a:r>
              <a:rPr lang="en-US" dirty="0"/>
              <a:t> </a:t>
            </a:r>
            <a:r>
              <a:rPr lang="en-US" dirty="0" err="1"/>
              <a:t>một</a:t>
            </a:r>
            <a:r>
              <a:rPr lang="en-US" dirty="0"/>
              <a:t> list </a:t>
            </a:r>
            <a:r>
              <a:rPr lang="en-US" dirty="0" err="1"/>
              <a:t>các</a:t>
            </a:r>
            <a:r>
              <a:rPr lang="en-US" dirty="0"/>
              <a:t> </a:t>
            </a:r>
            <a:r>
              <a:rPr lang="en-US" dirty="0" err="1"/>
              <a:t>số</a:t>
            </a:r>
            <a:r>
              <a:rPr lang="en-US" dirty="0"/>
              <a:t> </a:t>
            </a:r>
            <a:r>
              <a:rPr lang="en-US" dirty="0" err="1"/>
              <a:t>và</a:t>
            </a:r>
            <a:r>
              <a:rPr lang="en-US" dirty="0"/>
              <a:t> </a:t>
            </a:r>
            <a:r>
              <a:rPr lang="en-US" dirty="0" err="1"/>
              <a:t>xóa</a:t>
            </a:r>
            <a:r>
              <a:rPr lang="en-US" dirty="0"/>
              <a:t> </a:t>
            </a:r>
            <a:r>
              <a:rPr lang="en-US" dirty="0" err="1"/>
              <a:t>đi</a:t>
            </a:r>
            <a:r>
              <a:rPr lang="en-US" dirty="0"/>
              <a:t> </a:t>
            </a:r>
            <a:r>
              <a:rPr lang="en-US" dirty="0" err="1"/>
              <a:t>các</a:t>
            </a:r>
            <a:r>
              <a:rPr lang="en-US" dirty="0"/>
              <a:t> </a:t>
            </a:r>
            <a:r>
              <a:rPr lang="en-US" dirty="0" err="1"/>
              <a:t>số</a:t>
            </a:r>
            <a:r>
              <a:rPr lang="en-US" dirty="0"/>
              <a:t> </a:t>
            </a:r>
            <a:r>
              <a:rPr lang="en-US" dirty="0" err="1"/>
              <a:t>âm</a:t>
            </a:r>
            <a:r>
              <a:rPr lang="en-US" dirty="0"/>
              <a:t> </a:t>
            </a:r>
            <a:r>
              <a:rPr lang="en-US" dirty="0" err="1"/>
              <a:t>trong</a:t>
            </a:r>
            <a:r>
              <a:rPr lang="en-US" dirty="0"/>
              <a:t> list </a:t>
            </a:r>
            <a:r>
              <a:rPr lang="en-US" dirty="0" err="1"/>
              <a:t>đó</a:t>
            </a:r>
            <a:r>
              <a:rPr lang="en-US" dirty="0"/>
              <a:t>.</a:t>
            </a:r>
          </a:p>
          <a:p>
            <a:pPr marL="514350" indent="-514350">
              <a:buFont typeface="+mj-lt"/>
              <a:buAutoNum type="arabicPeriod"/>
            </a:pPr>
            <a:r>
              <a:rPr lang="en-US" dirty="0" err="1"/>
              <a:t>Viết</a:t>
            </a:r>
            <a:r>
              <a:rPr lang="en-US" dirty="0"/>
              <a:t> </a:t>
            </a:r>
            <a:r>
              <a:rPr lang="en-US" dirty="0" err="1"/>
              <a:t>hàm</a:t>
            </a:r>
            <a:r>
              <a:rPr lang="en-US" dirty="0"/>
              <a:t> </a:t>
            </a:r>
            <a:r>
              <a:rPr lang="en-US" i="1" dirty="0"/>
              <a:t>comb</a:t>
            </a:r>
            <a:r>
              <a:rPr lang="en-US" dirty="0"/>
              <a:t> </a:t>
            </a:r>
            <a:r>
              <a:rPr lang="en-US" dirty="0" err="1"/>
              <a:t>nhận</a:t>
            </a:r>
            <a:r>
              <a:rPr lang="en-US" dirty="0"/>
              <a:t> </a:t>
            </a:r>
            <a:r>
              <a:rPr lang="en-US" dirty="0" err="1"/>
              <a:t>vào</a:t>
            </a:r>
            <a:r>
              <a:rPr lang="en-US" dirty="0"/>
              <a:t> </a:t>
            </a:r>
            <a:r>
              <a:rPr lang="en-US" dirty="0" err="1"/>
              <a:t>hai</a:t>
            </a:r>
            <a:r>
              <a:rPr lang="en-US" dirty="0"/>
              <a:t> </a:t>
            </a:r>
            <a:r>
              <a:rPr lang="en-US" dirty="0" err="1"/>
              <a:t>số</a:t>
            </a:r>
            <a:r>
              <a:rPr lang="en-US" dirty="0"/>
              <a:t> n </a:t>
            </a:r>
            <a:r>
              <a:rPr lang="en-US" dirty="0" err="1"/>
              <a:t>và</a:t>
            </a:r>
            <a:r>
              <a:rPr lang="en-US" dirty="0"/>
              <a:t> k </a:t>
            </a:r>
            <a:r>
              <a:rPr lang="en-US" dirty="0" err="1"/>
              <a:t>và</a:t>
            </a:r>
            <a:r>
              <a:rPr lang="en-US" dirty="0"/>
              <a:t> </a:t>
            </a:r>
            <a:r>
              <a:rPr lang="en-US" dirty="0" err="1"/>
              <a:t>trả</a:t>
            </a:r>
            <a:r>
              <a:rPr lang="en-US" dirty="0"/>
              <a:t> </a:t>
            </a:r>
            <a:r>
              <a:rPr lang="en-US" dirty="0" err="1"/>
              <a:t>về</a:t>
            </a:r>
            <a:r>
              <a:rPr lang="en-US" dirty="0"/>
              <a:t> </a:t>
            </a:r>
            <a:r>
              <a:rPr lang="en-US" dirty="0" err="1"/>
              <a:t>tổ</a:t>
            </a:r>
            <a:r>
              <a:rPr lang="en-US" dirty="0"/>
              <a:t> </a:t>
            </a:r>
            <a:r>
              <a:rPr lang="en-US" dirty="0" err="1"/>
              <a:t>hợp</a:t>
            </a:r>
            <a:r>
              <a:rPr lang="en-US" dirty="0"/>
              <a:t> </a:t>
            </a:r>
            <a:r>
              <a:rPr lang="en-US" dirty="0" err="1"/>
              <a:t>chập</a:t>
            </a:r>
            <a:r>
              <a:rPr lang="en-US" dirty="0"/>
              <a:t> k </a:t>
            </a:r>
            <a:r>
              <a:rPr lang="en-US" dirty="0" err="1"/>
              <a:t>của</a:t>
            </a:r>
            <a:r>
              <a:rPr lang="en-US" dirty="0"/>
              <a:t> n. </a:t>
            </a:r>
            <a:r>
              <a:rPr lang="en-US" dirty="0" err="1"/>
              <a:t>Giá</a:t>
            </a:r>
            <a:r>
              <a:rPr lang="en-US" dirty="0"/>
              <a:t> </a:t>
            </a:r>
            <a:r>
              <a:rPr lang="en-US" dirty="0" err="1"/>
              <a:t>trị</a:t>
            </a:r>
            <a:r>
              <a:rPr lang="en-US" dirty="0"/>
              <a:t> </a:t>
            </a:r>
            <a:r>
              <a:rPr lang="en-US" dirty="0" err="1"/>
              <a:t>mặc</a:t>
            </a:r>
            <a:r>
              <a:rPr lang="en-US" dirty="0"/>
              <a:t> </a:t>
            </a:r>
            <a:r>
              <a:rPr lang="en-US" dirty="0" err="1"/>
              <a:t>định</a:t>
            </a:r>
            <a:r>
              <a:rPr lang="en-US" dirty="0"/>
              <a:t> </a:t>
            </a:r>
            <a:r>
              <a:rPr lang="en-US" dirty="0" err="1"/>
              <a:t>của</a:t>
            </a:r>
            <a:r>
              <a:rPr lang="en-US" dirty="0"/>
              <a:t> k </a:t>
            </a:r>
            <a:r>
              <a:rPr lang="en-US" dirty="0" err="1"/>
              <a:t>là</a:t>
            </a:r>
            <a:r>
              <a:rPr lang="en-US" dirty="0"/>
              <a:t> 2.</a:t>
            </a:r>
            <a:endParaRPr lang="en-US" i="1" dirty="0"/>
          </a:p>
          <a:p>
            <a:pPr marL="514350" indent="-514350">
              <a:buFont typeface="+mj-lt"/>
              <a:buAutoNum type="arabicPeriod"/>
            </a:pPr>
            <a:r>
              <a:rPr lang="en-US" dirty="0" err="1"/>
              <a:t>Viết</a:t>
            </a:r>
            <a:r>
              <a:rPr lang="en-US" dirty="0"/>
              <a:t> </a:t>
            </a:r>
            <a:r>
              <a:rPr lang="en-US" dirty="0" err="1"/>
              <a:t>hàm</a:t>
            </a:r>
            <a:r>
              <a:rPr lang="en-US" dirty="0"/>
              <a:t> </a:t>
            </a:r>
            <a:r>
              <a:rPr lang="en-US" i="1" dirty="0" err="1"/>
              <a:t>uocso</a:t>
            </a:r>
            <a:r>
              <a:rPr lang="en-US" dirty="0"/>
              <a:t> </a:t>
            </a:r>
            <a:r>
              <a:rPr lang="en-US" dirty="0" err="1"/>
              <a:t>nhận</a:t>
            </a:r>
            <a:r>
              <a:rPr lang="en-US" dirty="0"/>
              <a:t> </a:t>
            </a:r>
            <a:r>
              <a:rPr lang="en-US" dirty="0" err="1"/>
              <a:t>một</a:t>
            </a:r>
            <a:r>
              <a:rPr lang="en-US" dirty="0"/>
              <a:t> </a:t>
            </a:r>
            <a:r>
              <a:rPr lang="en-US" dirty="0" err="1"/>
              <a:t>số</a:t>
            </a:r>
            <a:r>
              <a:rPr lang="en-US" dirty="0"/>
              <a:t> </a:t>
            </a:r>
            <a:r>
              <a:rPr lang="en-US" err="1"/>
              <a:t>nguyên</a:t>
            </a:r>
            <a:r>
              <a:rPr lang="en-US"/>
              <a:t> dương và </a:t>
            </a:r>
            <a:r>
              <a:rPr lang="en-US" dirty="0" err="1"/>
              <a:t>trả</a:t>
            </a:r>
            <a:r>
              <a:rPr lang="en-US" dirty="0"/>
              <a:t> </a:t>
            </a:r>
            <a:r>
              <a:rPr lang="en-US" dirty="0" err="1"/>
              <a:t>về</a:t>
            </a:r>
            <a:r>
              <a:rPr lang="en-US" dirty="0"/>
              <a:t> </a:t>
            </a:r>
            <a:r>
              <a:rPr lang="en-US" dirty="0" err="1"/>
              <a:t>danh</a:t>
            </a:r>
            <a:r>
              <a:rPr lang="en-US" dirty="0"/>
              <a:t> </a:t>
            </a:r>
            <a:r>
              <a:rPr lang="en-US" dirty="0" err="1"/>
              <a:t>sách</a:t>
            </a:r>
            <a:r>
              <a:rPr lang="en-US" dirty="0"/>
              <a:t> </a:t>
            </a:r>
            <a:r>
              <a:rPr lang="en-US" dirty="0" err="1"/>
              <a:t>các</a:t>
            </a:r>
            <a:r>
              <a:rPr lang="en-US" dirty="0"/>
              <a:t> </a:t>
            </a:r>
            <a:r>
              <a:rPr lang="en-US" dirty="0" err="1"/>
              <a:t>ước</a:t>
            </a:r>
            <a:r>
              <a:rPr lang="en-US" dirty="0"/>
              <a:t> </a:t>
            </a:r>
            <a:r>
              <a:rPr lang="en-US" dirty="0" err="1"/>
              <a:t>số</a:t>
            </a:r>
            <a:r>
              <a:rPr lang="en-US" dirty="0"/>
              <a:t> </a:t>
            </a:r>
            <a:r>
              <a:rPr lang="en-US" dirty="0" err="1"/>
              <a:t>của</a:t>
            </a:r>
            <a:r>
              <a:rPr lang="en-US" dirty="0"/>
              <a:t> </a:t>
            </a:r>
            <a:r>
              <a:rPr lang="en-US" dirty="0" err="1"/>
              <a:t>nó</a:t>
            </a:r>
            <a:r>
              <a:rPr lang="en-US" dirty="0"/>
              <a:t>.</a:t>
            </a:r>
          </a:p>
          <a:p>
            <a:pPr marL="514350" indent="-514350">
              <a:buFont typeface="+mj-lt"/>
              <a:buAutoNum type="arabicPeriod"/>
            </a:pPr>
            <a:r>
              <a:rPr lang="vi-VN" dirty="0"/>
              <a:t>Viết </a:t>
            </a:r>
            <a:r>
              <a:rPr lang="en-US" dirty="0" err="1"/>
              <a:t>hàm</a:t>
            </a:r>
            <a:r>
              <a:rPr lang="vi-VN" dirty="0"/>
              <a:t> </a:t>
            </a:r>
            <a:r>
              <a:rPr lang="vi-VN" i="1" dirty="0"/>
              <a:t>is_sorted</a:t>
            </a:r>
            <a:r>
              <a:rPr lang="vi-VN" dirty="0"/>
              <a:t> </a:t>
            </a:r>
            <a:r>
              <a:rPr lang="en-US" dirty="0" err="1"/>
              <a:t>nhận</a:t>
            </a:r>
            <a:r>
              <a:rPr lang="vi-VN" dirty="0"/>
              <a:t> một danh sách và trả về True nếu danh sách được sắp xếp và</a:t>
            </a:r>
            <a:r>
              <a:rPr lang="en-US" dirty="0"/>
              <a:t> </a:t>
            </a:r>
            <a:r>
              <a:rPr lang="vi-VN" dirty="0"/>
              <a:t>False </a:t>
            </a:r>
            <a:r>
              <a:rPr lang="en-US" dirty="0" err="1"/>
              <a:t>nếu</a:t>
            </a:r>
            <a:r>
              <a:rPr lang="en-US" dirty="0"/>
              <a:t> </a:t>
            </a:r>
            <a:r>
              <a:rPr lang="vi-VN" dirty="0"/>
              <a:t>ngược lại.</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60</a:t>
            </a:fld>
            <a:endParaRPr lang="en-US"/>
          </a:p>
        </p:txBody>
      </p:sp>
    </p:spTree>
    <p:extLst>
      <p:ext uri="{BB962C8B-B14F-4D97-AF65-F5344CB8AC3E}">
        <p14:creationId xmlns:p14="http://schemas.microsoft.com/office/powerpoint/2010/main" val="17958108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7714"/>
          </a:xfrm>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280160"/>
            <a:ext cx="7886700" cy="4896803"/>
          </a:xfrm>
        </p:spPr>
        <p:txBody>
          <a:bodyPr>
            <a:normAutofit/>
          </a:bodyPr>
          <a:lstStyle/>
          <a:p>
            <a:pPr marL="514350" indent="-514350">
              <a:buFont typeface="+mj-lt"/>
              <a:buAutoNum type="arabicPeriod"/>
            </a:pPr>
            <a:r>
              <a:rPr lang="vi-VN" dirty="0"/>
              <a:t>Cho Dãy Fibonacci được tính dựa trên công thức sau:</a:t>
            </a:r>
            <a:br>
              <a:rPr lang="vi-VN" dirty="0"/>
            </a:br>
            <a:r>
              <a:rPr lang="vi-VN" dirty="0"/>
              <a:t>f(n) </a:t>
            </a:r>
            <a:r>
              <a:rPr lang="vi-VN"/>
              <a:t>= </a:t>
            </a:r>
            <a:r>
              <a:rPr lang="en-US"/>
              <a:t>1</a:t>
            </a:r>
            <a:r>
              <a:rPr lang="vi-VN"/>
              <a:t> </a:t>
            </a:r>
            <a:r>
              <a:rPr lang="vi-VN" dirty="0"/>
              <a:t>nếu n </a:t>
            </a:r>
            <a:r>
              <a:rPr lang="vi-VN"/>
              <a:t>= </a:t>
            </a:r>
            <a:r>
              <a:rPr lang="en-US"/>
              <a:t>1</a:t>
            </a:r>
            <a:br>
              <a:rPr lang="vi-VN" dirty="0"/>
            </a:br>
            <a:r>
              <a:rPr lang="vi-VN" dirty="0"/>
              <a:t>f(n) </a:t>
            </a:r>
            <a:r>
              <a:rPr lang="vi-VN"/>
              <a:t>= </a:t>
            </a:r>
            <a:r>
              <a:rPr lang="en-US"/>
              <a:t>1</a:t>
            </a:r>
            <a:r>
              <a:rPr lang="vi-VN"/>
              <a:t> </a:t>
            </a:r>
            <a:r>
              <a:rPr lang="vi-VN" dirty="0"/>
              <a:t>nếu n </a:t>
            </a:r>
            <a:r>
              <a:rPr lang="vi-VN"/>
              <a:t>= </a:t>
            </a:r>
            <a:r>
              <a:rPr lang="en-US"/>
              <a:t>2</a:t>
            </a:r>
            <a:br>
              <a:rPr lang="vi-VN" dirty="0"/>
            </a:br>
            <a:r>
              <a:rPr lang="vi-VN" dirty="0"/>
              <a:t>f(n) = f(n-1) + f(n-2) </a:t>
            </a:r>
            <a:r>
              <a:rPr lang="vi-VN"/>
              <a:t>nếu n&gt;</a:t>
            </a:r>
            <a:r>
              <a:rPr lang="en-US"/>
              <a:t>2</a:t>
            </a:r>
            <a:br>
              <a:rPr lang="vi-VN" dirty="0"/>
            </a:br>
            <a:r>
              <a:rPr lang="vi-VN" dirty="0"/>
              <a:t>Hãy viết </a:t>
            </a:r>
            <a:r>
              <a:rPr lang="en-US" dirty="0" err="1"/>
              <a:t>hàm</a:t>
            </a:r>
            <a:r>
              <a:rPr lang="en-US" dirty="0"/>
              <a:t> </a:t>
            </a:r>
            <a:r>
              <a:rPr lang="en-US" dirty="0" err="1"/>
              <a:t>tính</a:t>
            </a:r>
            <a:r>
              <a:rPr lang="en-US" dirty="0"/>
              <a:t> </a:t>
            </a:r>
            <a:r>
              <a:rPr lang="vi-VN" dirty="0"/>
              <a:t>f(n) </a:t>
            </a:r>
            <a:r>
              <a:rPr lang="en-US" dirty="0" err="1"/>
              <a:t>theo</a:t>
            </a:r>
            <a:r>
              <a:rPr lang="en-US" dirty="0"/>
              <a:t> 2 cach </a:t>
            </a:r>
            <a:r>
              <a:rPr lang="en-US" dirty="0" err="1"/>
              <a:t>đệ</a:t>
            </a:r>
            <a:r>
              <a:rPr lang="en-US" dirty="0"/>
              <a:t> </a:t>
            </a:r>
            <a:r>
              <a:rPr lang="en-US" dirty="0" err="1"/>
              <a:t>quy</a:t>
            </a:r>
            <a:r>
              <a:rPr lang="en-US" dirty="0"/>
              <a:t> </a:t>
            </a:r>
            <a:r>
              <a:rPr lang="en-US" dirty="0" err="1"/>
              <a:t>và</a:t>
            </a:r>
            <a:r>
              <a:rPr lang="en-US" dirty="0"/>
              <a:t> </a:t>
            </a:r>
            <a:r>
              <a:rPr lang="en-US" dirty="0" err="1"/>
              <a:t>không</a:t>
            </a:r>
            <a:r>
              <a:rPr lang="en-US" dirty="0"/>
              <a:t> </a:t>
            </a:r>
            <a:r>
              <a:rPr lang="en-US" dirty="0" err="1"/>
              <a:t>đê</a:t>
            </a:r>
            <a:r>
              <a:rPr lang="en-US" dirty="0"/>
              <a:t> </a:t>
            </a:r>
            <a:r>
              <a:rPr lang="en-US" dirty="0" err="1"/>
              <a:t>quy</a:t>
            </a:r>
            <a:endParaRPr lang="en-US" dirty="0"/>
          </a:p>
          <a:p>
            <a:pPr marL="514350" indent="-514350">
              <a:buFont typeface="+mj-lt"/>
              <a:buAutoNum type="arabicPeriod"/>
            </a:pPr>
            <a:r>
              <a:rPr lang="vi-VN" dirty="0"/>
              <a:t>Viết </a:t>
            </a:r>
            <a:r>
              <a:rPr lang="en-US" dirty="0" err="1"/>
              <a:t>hàm</a:t>
            </a:r>
            <a:r>
              <a:rPr lang="en-US" dirty="0"/>
              <a:t> </a:t>
            </a:r>
            <a:r>
              <a:rPr lang="vi-VN" i="1" dirty="0"/>
              <a:t>first_diff</a:t>
            </a:r>
            <a:r>
              <a:rPr lang="vi-VN" dirty="0"/>
              <a:t> </a:t>
            </a:r>
            <a:r>
              <a:rPr lang="en-US" dirty="0" err="1">
                <a:latin typeface="Arial" panose="020B0604020202020204" pitchFamily="34" charset="0"/>
                <a:cs typeface="Arial" panose="020B0604020202020204" pitchFamily="34" charset="0"/>
              </a:rPr>
              <a:t>nhận</a:t>
            </a:r>
            <a:r>
              <a:rPr lang="vi-VN" dirty="0"/>
              <a:t> hai chuỗi và trả về vị trí đầu tiên </a:t>
            </a:r>
            <a:r>
              <a:rPr lang="vi-VN"/>
              <a:t>mà </a:t>
            </a:r>
            <a:r>
              <a:rPr lang="en-US">
                <a:latin typeface="Arial" panose="020B0604020202020204" pitchFamily="34" charset="0"/>
                <a:cs typeface="Arial" panose="020B0604020202020204" pitchFamily="34" charset="0"/>
              </a:rPr>
              <a:t>hai</a:t>
            </a:r>
            <a:r>
              <a:rPr lang="vi-VN">
                <a:latin typeface="Arial" panose="020B0604020202020204" pitchFamily="34" charset="0"/>
                <a:cs typeface="Arial" panose="020B0604020202020204" pitchFamily="34" charset="0"/>
              </a:rPr>
              <a:t> </a:t>
            </a:r>
            <a:r>
              <a:rPr lang="vi-VN" dirty="0"/>
              <a:t>chuỗi khác nhau. Nếu các chuỗi giống hệt nhau, nó sẽ trả về -1.</a:t>
            </a:r>
            <a:r>
              <a:rPr lang="en-US" dirty="0"/>
              <a:t> </a:t>
            </a:r>
            <a:r>
              <a:rPr lang="en-US" dirty="0" err="1">
                <a:latin typeface="Arial" panose="020B0604020202020204" pitchFamily="34" charset="0"/>
                <a:cs typeface="Arial" panose="020B0604020202020204" pitchFamily="34" charset="0"/>
              </a:rPr>
              <a:t>Viết</a:t>
            </a:r>
            <a:r>
              <a:rPr lang="en-US" dirty="0">
                <a:latin typeface="Arial" panose="020B0604020202020204" pitchFamily="34" charset="0"/>
                <a:cs typeface="Arial" panose="020B0604020202020204" pitchFamily="34" charset="0"/>
              </a:rPr>
              <a:t> ở </a:t>
            </a:r>
            <a:r>
              <a:rPr lang="en-US" dirty="0" err="1">
                <a:latin typeface="Arial" panose="020B0604020202020204" pitchFamily="34" charset="0"/>
                <a:cs typeface="Arial" panose="020B0604020202020204" pitchFamily="34" charset="0"/>
              </a:rPr>
              <a:t>hai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dạng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không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quy</a:t>
            </a:r>
            <a:endParaRPr lang="en-US"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61</a:t>
            </a:fld>
            <a:endParaRPr lang="en-US"/>
          </a:p>
        </p:txBody>
      </p:sp>
    </p:spTree>
    <p:extLst>
      <p:ext uri="{BB962C8B-B14F-4D97-AF65-F5344CB8AC3E}">
        <p14:creationId xmlns:p14="http://schemas.microsoft.com/office/powerpoint/2010/main" val="1615648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6652AB2-E3EA-426D-2372-36AEF43356CC}"/>
              </a:ext>
            </a:extLst>
          </p:cNvPr>
          <p:cNvGraphicFramePr>
            <a:graphicFrameLocks noGrp="1"/>
          </p:cNvGraphicFramePr>
          <p:nvPr>
            <p:ph idx="1"/>
            <p:extLst>
              <p:ext uri="{D42A27DB-BD31-4B8C-83A1-F6EECF244321}">
                <p14:modId xmlns:p14="http://schemas.microsoft.com/office/powerpoint/2010/main" val="2888967070"/>
              </p:ext>
            </p:extLst>
          </p:nvPr>
        </p:nvGraphicFramePr>
        <p:xfrm>
          <a:off x="1131499" y="3001390"/>
          <a:ext cx="6893385" cy="921068"/>
        </p:xfrm>
        <a:graphic>
          <a:graphicData uri="http://schemas.openxmlformats.org/drawingml/2006/table">
            <a:tbl>
              <a:tblPr bandRow="1">
                <a:tableStyleId>{5C22544A-7EE6-4342-B048-85BDC9FD1C3A}</a:tableStyleId>
              </a:tblPr>
              <a:tblGrid>
                <a:gridCol w="4662794">
                  <a:extLst>
                    <a:ext uri="{9D8B030D-6E8A-4147-A177-3AD203B41FA5}">
                      <a16:colId xmlns:a16="http://schemas.microsoft.com/office/drawing/2014/main" val="3945916791"/>
                    </a:ext>
                  </a:extLst>
                </a:gridCol>
                <a:gridCol w="2230591">
                  <a:extLst>
                    <a:ext uri="{9D8B030D-6E8A-4147-A177-3AD203B41FA5}">
                      <a16:colId xmlns:a16="http://schemas.microsoft.com/office/drawing/2014/main" val="2218891943"/>
                    </a:ext>
                  </a:extLst>
                </a:gridCol>
              </a:tblGrid>
              <a:tr h="0">
                <a:tc>
                  <a:txBody>
                    <a:bodyPr/>
                    <a:lstStyle/>
                    <a:p>
                      <a:pPr indent="22225" algn="ctr">
                        <a:lnSpc>
                          <a:spcPct val="115000"/>
                        </a:lnSpc>
                        <a:spcBef>
                          <a:spcPts val="600"/>
                        </a:spcBef>
                        <a:spcAft>
                          <a:spcPts val="600"/>
                        </a:spcAft>
                      </a:pPr>
                      <a:r>
                        <a:rPr lang="vi-VN" sz="2800" kern="100">
                          <a:effectLst/>
                        </a:rPr>
                        <a:t>Input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indent="22225" algn="ctr">
                        <a:lnSpc>
                          <a:spcPct val="115000"/>
                        </a:lnSpc>
                        <a:spcBef>
                          <a:spcPts val="600"/>
                        </a:spcBef>
                        <a:spcAft>
                          <a:spcPts val="600"/>
                        </a:spcAft>
                      </a:pPr>
                      <a:r>
                        <a:rPr lang="vi-VN" sz="2800" kern="100">
                          <a:effectLst/>
                        </a:rPr>
                        <a:t>Output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4384653"/>
                  </a:ext>
                </a:extLst>
              </a:tr>
              <a:tr h="0">
                <a:tc>
                  <a:txBody>
                    <a:bodyPr/>
                    <a:lstStyle/>
                    <a:p>
                      <a:pPr algn="just">
                        <a:lnSpc>
                          <a:spcPct val="107000"/>
                        </a:lnSpc>
                        <a:spcBef>
                          <a:spcPts val="600"/>
                        </a:spcBef>
                        <a:spcAft>
                          <a:spcPts val="600"/>
                        </a:spcAft>
                      </a:pPr>
                      <a:r>
                        <a:rPr lang="fr-FR" sz="2800" kern="100">
                          <a:effectLst/>
                        </a:rPr>
                        <a:t>#"do+mk&lt;!y8u;&lt;+847uv</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Bef>
                          <a:spcPts val="600"/>
                        </a:spcBef>
                        <a:spcAft>
                          <a:spcPts val="600"/>
                        </a:spcAft>
                      </a:pPr>
                      <a:r>
                        <a:rPr lang="en-US" sz="2800" kern="100">
                          <a:effectLst/>
                        </a:rPr>
                        <a:t>2</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4680659"/>
                  </a:ext>
                </a:extLst>
              </a:tr>
            </a:tbl>
          </a:graphicData>
        </a:graphic>
      </p:graphicFrame>
      <p:sp>
        <p:nvSpPr>
          <p:cNvPr id="4" name="Footer Placeholder 3">
            <a:extLst>
              <a:ext uri="{FF2B5EF4-FFF2-40B4-BE49-F238E27FC236}">
                <a16:creationId xmlns:a16="http://schemas.microsoft.com/office/drawing/2014/main" id="{24F3BD84-E24D-7834-8B19-66D1444E6D97}"/>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DBF4CAF9-64EE-C92F-B80C-9F144332FF94}"/>
              </a:ext>
            </a:extLst>
          </p:cNvPr>
          <p:cNvSpPr>
            <a:spLocks noGrp="1"/>
          </p:cNvSpPr>
          <p:nvPr>
            <p:ph type="sldNum" sz="quarter" idx="12"/>
          </p:nvPr>
        </p:nvSpPr>
        <p:spPr/>
        <p:txBody>
          <a:bodyPr/>
          <a:lstStyle/>
          <a:p>
            <a:fld id="{ADD32889-1A4F-4FED-AEC4-AD6BC7117F25}" type="slidenum">
              <a:rPr lang="en-US" smtClean="0"/>
              <a:t>62</a:t>
            </a:fld>
            <a:endParaRPr lang="en-US"/>
          </a:p>
        </p:txBody>
      </p:sp>
      <p:sp>
        <p:nvSpPr>
          <p:cNvPr id="8" name="Rectangle 1">
            <a:extLst>
              <a:ext uri="{FF2B5EF4-FFF2-40B4-BE49-F238E27FC236}">
                <a16:creationId xmlns:a16="http://schemas.microsoft.com/office/drawing/2014/main" id="{752F40F8-E3FA-F914-8B97-A25F33A257E3}"/>
              </a:ext>
            </a:extLst>
          </p:cNvPr>
          <p:cNvSpPr>
            <a:spLocks noChangeArrowheads="1"/>
          </p:cNvSpPr>
          <p:nvPr/>
        </p:nvSpPr>
        <p:spPr bwMode="auto">
          <a:xfrm>
            <a:off x="369342" y="475886"/>
            <a:ext cx="840531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22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225" algn="l" defTabSz="914400" rtl="0" eaLnBrk="0" fontAlgn="base" latinLnBrk="0" hangingPunct="0">
              <a:lnSpc>
                <a:spcPct val="100000"/>
              </a:lnSpc>
              <a:spcBef>
                <a:spcPct val="0"/>
              </a:spcBef>
              <a:spcAft>
                <a:spcPct val="0"/>
              </a:spcAft>
              <a:buClrTx/>
              <a:buSzTx/>
              <a:buFontTx/>
              <a:buNone/>
              <a:tabLst/>
            </a:pPr>
            <a:r>
              <a:rPr lang="fr-FR" altLang="en-US" sz="2800" b="1">
                <a:latin typeface="Tohoma"/>
                <a:ea typeface="Calibri" panose="020F0502020204030204" pitchFamily="34" charset="0"/>
                <a:cs typeface="Times New Roman" panose="02020603050405020304" pitchFamily="18" charset="0"/>
              </a:rPr>
              <a:t>3.</a:t>
            </a:r>
            <a:r>
              <a:rPr kumimoji="0" lang="fr-FR" altLang="en-US" sz="2800" b="0"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 Viết hàm đếm số lượng số trong một xâu kí tự. </a:t>
            </a:r>
            <a:endParaRPr kumimoji="0" lang="en-US" altLang="en-US" sz="2800" b="0" i="0" u="none" strike="noStrike" cap="none" normalizeH="0" baseline="0">
              <a:ln>
                <a:noFill/>
              </a:ln>
              <a:solidFill>
                <a:schemeClr val="tx1"/>
              </a:solidFill>
              <a:effectLst/>
              <a:latin typeface="Tohoma"/>
            </a:endParaRPr>
          </a:p>
          <a:p>
            <a:pPr marL="0" marR="0" lvl="0" indent="22225" algn="l" defTabSz="914400" rtl="0" eaLnBrk="0" fontAlgn="base" latinLnBrk="0" hangingPunct="0">
              <a:lnSpc>
                <a:spcPct val="100000"/>
              </a:lnSpc>
              <a:spcBef>
                <a:spcPct val="0"/>
              </a:spcBef>
              <a:spcAft>
                <a:spcPct val="0"/>
              </a:spcAft>
              <a:buClrTx/>
              <a:buSzTx/>
              <a:buFontTx/>
              <a:buNone/>
              <a:tabLst/>
            </a:pPr>
            <a:r>
              <a:rPr kumimoji="0" lang="fr-FR" altLang="en-US" sz="2800" b="1"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Input:</a:t>
            </a:r>
            <a:r>
              <a:rPr kumimoji="0" lang="fr-FR" altLang="en-US" sz="2800" b="0"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 Một xâu kí tự với độ dài không quá 100 kí tự.</a:t>
            </a:r>
            <a:endParaRPr kumimoji="0" lang="en-US" altLang="en-US" sz="2800" b="0" i="0" u="none" strike="noStrike" cap="none" normalizeH="0" baseline="0">
              <a:ln>
                <a:noFill/>
              </a:ln>
              <a:solidFill>
                <a:schemeClr val="tx1"/>
              </a:solidFill>
              <a:effectLst/>
              <a:latin typeface="Tohoma"/>
            </a:endParaRPr>
          </a:p>
          <a:p>
            <a:pPr marL="0" marR="0" lvl="0" indent="22225"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Output:</a:t>
            </a:r>
            <a:r>
              <a:rPr kumimoji="0" lang="en-US" altLang="en-US" sz="2800" b="0"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 In ra số lượng số có mặt trong xâu</a:t>
            </a:r>
            <a:endParaRPr kumimoji="0" lang="en-US" altLang="en-US" sz="2800" b="0" i="0" u="none" strike="noStrike" cap="none" normalizeH="0" baseline="0">
              <a:ln>
                <a:noFill/>
              </a:ln>
              <a:solidFill>
                <a:schemeClr val="tx1"/>
              </a:solidFill>
              <a:effectLst/>
              <a:latin typeface="Tohoma"/>
            </a:endParaRPr>
          </a:p>
          <a:p>
            <a:pPr marL="0" marR="0" lvl="0" indent="22225"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Samples</a:t>
            </a:r>
            <a:r>
              <a:rPr kumimoji="0" lang="en-US" altLang="en-US" sz="2800" b="0" i="0" u="none" strike="noStrike" cap="none" normalizeH="0" baseline="0">
                <a:ln>
                  <a:noFill/>
                </a:ln>
                <a:solidFill>
                  <a:schemeClr val="tx1"/>
                </a:solidFill>
                <a:effectLst/>
                <a:latin typeface="Tohoma"/>
                <a:ea typeface="Calibri" panose="020F0502020204030204" pitchFamily="34" charset="0"/>
                <a:cs typeface="Times New Roman" panose="02020603050405020304" pitchFamily="18" charset="0"/>
              </a:rPr>
              <a:t>:</a:t>
            </a:r>
            <a:endParaRPr kumimoji="0" lang="en-US" altLang="en-US" sz="2800" b="0" i="0" u="none" strike="noStrike" cap="none" normalizeH="0" baseline="0">
              <a:ln>
                <a:noFill/>
              </a:ln>
              <a:solidFill>
                <a:schemeClr val="tx1"/>
              </a:solidFill>
              <a:effectLst/>
              <a:latin typeface="Tohoma"/>
            </a:endParaRPr>
          </a:p>
          <a:p>
            <a:pPr marL="0" marR="0" lvl="0" indent="22225"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ohoma"/>
            </a:endParaRPr>
          </a:p>
        </p:txBody>
      </p:sp>
    </p:spTree>
    <p:extLst>
      <p:ext uri="{BB962C8B-B14F-4D97-AF65-F5344CB8AC3E}">
        <p14:creationId xmlns:p14="http://schemas.microsoft.com/office/powerpoint/2010/main" val="23062660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List comprehension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035" y="3200401"/>
            <a:ext cx="8745965" cy="3657599"/>
          </a:xfrm>
        </p:spPr>
      </p:pic>
      <p:sp>
        <p:nvSpPr>
          <p:cNvPr id="3" name="Footer Placeholder 2"/>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63</a:t>
            </a:fld>
            <a:endParaRPr lang="en-US"/>
          </a:p>
        </p:txBody>
      </p:sp>
      <p:sp>
        <p:nvSpPr>
          <p:cNvPr id="6" name="TextBox 5"/>
          <p:cNvSpPr txBox="1"/>
          <p:nvPr/>
        </p:nvSpPr>
        <p:spPr>
          <a:xfrm>
            <a:off x="605854" y="1416537"/>
            <a:ext cx="8745965" cy="1477328"/>
          </a:xfrm>
          <a:prstGeom prst="rect">
            <a:avLst/>
          </a:prstGeom>
          <a:noFill/>
        </p:spPr>
        <p:txBody>
          <a:bodyPr wrap="square" rtlCol="0">
            <a:spAutoFit/>
          </a:bodyPr>
          <a:lstStyle/>
          <a:p>
            <a:r>
              <a:rPr lang="vi-VN"/>
              <a:t>List-comprehension là một cú pháp cho phép lập trình viên nhanh chóng tạo ra một biến dữ liệu list mới từ một list cũ hoặc vòng lặp dạng in-line, kết hợp với các điều kiện cho trước.</a:t>
            </a:r>
            <a:endParaRPr lang="en-US"/>
          </a:p>
          <a:p>
            <a:endParaRPr lang="en-US"/>
          </a:p>
          <a:p>
            <a:endParaRPr lang="fr-FR"/>
          </a:p>
        </p:txBody>
      </p:sp>
      <p:sp>
        <p:nvSpPr>
          <p:cNvPr id="7" name="Rectangle 1"/>
          <p:cNvSpPr>
            <a:spLocks noChangeArrowheads="1"/>
          </p:cNvSpPr>
          <p:nvPr/>
        </p:nvSpPr>
        <p:spPr bwMode="auto">
          <a:xfrm>
            <a:off x="2566271" y="2477380"/>
            <a:ext cx="440949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500" b="0" i="0" u="none" strike="noStrike" cap="none" normalizeH="0" baseline="0">
                <a:ln>
                  <a:noFill/>
                </a:ln>
                <a:solidFill>
                  <a:schemeClr val="tx1"/>
                </a:solidFill>
                <a:effectLst/>
                <a:latin typeface="Courier New" panose="02070309020205020404" pitchFamily="49" charset="0"/>
                <a:cs typeface="Courier New" panose="02070309020205020404" pitchFamily="49" charset="0"/>
              </a:rPr>
              <a:t> [expression for item in iterable] </a:t>
            </a:r>
          </a:p>
        </p:txBody>
      </p:sp>
    </p:spTree>
    <p:extLst>
      <p:ext uri="{BB962C8B-B14F-4D97-AF65-F5344CB8AC3E}">
        <p14:creationId xmlns:p14="http://schemas.microsoft.com/office/powerpoint/2010/main" val="4106864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List comprehension - Ví dụ 1</a:t>
            </a:r>
          </a:p>
        </p:txBody>
      </p:sp>
      <p:sp>
        <p:nvSpPr>
          <p:cNvPr id="3" name="Content Placeholder 2"/>
          <p:cNvSpPr>
            <a:spLocks noGrp="1"/>
          </p:cNvSpPr>
          <p:nvPr>
            <p:ph idx="1"/>
          </p:nvPr>
        </p:nvSpPr>
        <p:spPr/>
        <p:txBody>
          <a:bodyPr/>
          <a:lstStyle/>
          <a:p>
            <a:r>
              <a:rPr lang="en-US"/>
              <a:t>Tạo list L gồm 50 số ngẫu nhiên trong khoảng [1, 100]</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64</a:t>
            </a:fld>
            <a:endParaRPr lang="en-US"/>
          </a:p>
        </p:txBody>
      </p:sp>
    </p:spTree>
    <p:extLst>
      <p:ext uri="{BB962C8B-B14F-4D97-AF65-F5344CB8AC3E}">
        <p14:creationId xmlns:p14="http://schemas.microsoft.com/office/powerpoint/2010/main" val="64854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List comprehension - Ví dụ 2</a:t>
            </a:r>
          </a:p>
        </p:txBody>
      </p:sp>
      <p:sp>
        <p:nvSpPr>
          <p:cNvPr id="3" name="Content Placeholder 2"/>
          <p:cNvSpPr>
            <a:spLocks noGrp="1"/>
          </p:cNvSpPr>
          <p:nvPr>
            <p:ph idx="1"/>
          </p:nvPr>
        </p:nvSpPr>
        <p:spPr/>
        <p:txBody>
          <a:bodyPr/>
          <a:lstStyle/>
          <a:p>
            <a:r>
              <a:rPr lang="en-US" dirty="0" err="1"/>
              <a:t>Thay</a:t>
            </a:r>
            <a:r>
              <a:rPr lang="en-US" dirty="0"/>
              <a:t> </a:t>
            </a:r>
            <a:r>
              <a:rPr lang="en-US" dirty="0" err="1"/>
              <a:t>thế</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trong</a:t>
            </a:r>
            <a:r>
              <a:rPr lang="en-US" dirty="0"/>
              <a:t> L </a:t>
            </a:r>
            <a:r>
              <a:rPr lang="en-US" dirty="0" err="1"/>
              <a:t>bằng</a:t>
            </a:r>
            <a:r>
              <a:rPr lang="en-US" dirty="0"/>
              <a:t> </a:t>
            </a:r>
            <a:r>
              <a:rPr lang="en-US" dirty="0" err="1"/>
              <a:t>bình</a:t>
            </a:r>
            <a:r>
              <a:rPr lang="en-US" dirty="0"/>
              <a:t> </a:t>
            </a:r>
            <a:r>
              <a:rPr lang="en-US" dirty="0" err="1"/>
              <a:t>phương</a:t>
            </a:r>
            <a:r>
              <a:rPr lang="en-US" dirty="0"/>
              <a:t> </a:t>
            </a:r>
            <a:r>
              <a:rPr lang="en-US" dirty="0" err="1"/>
              <a:t>của</a:t>
            </a:r>
            <a:r>
              <a:rPr lang="en-US" dirty="0"/>
              <a:t> </a:t>
            </a:r>
            <a:r>
              <a:rPr lang="en-US" dirty="0" err="1"/>
              <a:t>nó</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65</a:t>
            </a:fld>
            <a:endParaRPr lang="en-US"/>
          </a:p>
        </p:txBody>
      </p:sp>
    </p:spTree>
    <p:extLst>
      <p:ext uri="{BB962C8B-B14F-4D97-AF65-F5344CB8AC3E}">
        <p14:creationId xmlns:p14="http://schemas.microsoft.com/office/powerpoint/2010/main" val="7317532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List comprehension - Ví dụ 3</a:t>
            </a:r>
          </a:p>
        </p:txBody>
      </p:sp>
      <p:sp>
        <p:nvSpPr>
          <p:cNvPr id="3" name="Content Placeholder 2"/>
          <p:cNvSpPr>
            <a:spLocks noGrp="1"/>
          </p:cNvSpPr>
          <p:nvPr>
            <p:ph idx="1"/>
          </p:nvPr>
        </p:nvSpPr>
        <p:spPr/>
        <p:txBody>
          <a:bodyPr/>
          <a:lstStyle/>
          <a:p>
            <a:r>
              <a:rPr lang="en-US"/>
              <a:t>Đếm số phần tử trong L lớn hơn 50</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66</a:t>
            </a:fld>
            <a:endParaRPr lang="en-US"/>
          </a:p>
        </p:txBody>
      </p:sp>
    </p:spTree>
    <p:extLst>
      <p:ext uri="{BB962C8B-B14F-4D97-AF65-F5344CB8AC3E}">
        <p14:creationId xmlns:p14="http://schemas.microsoft.com/office/powerpoint/2010/main" val="3668601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Multiple fors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5253" y="2286000"/>
            <a:ext cx="8234002" cy="3124200"/>
          </a:xfrm>
        </p:spPr>
      </p:pic>
      <p:sp>
        <p:nvSpPr>
          <p:cNvPr id="3" name="Footer Placeholder 2"/>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67</a:t>
            </a:fld>
            <a:endParaRPr lang="en-US"/>
          </a:p>
        </p:txBody>
      </p:sp>
    </p:spTree>
    <p:extLst>
      <p:ext uri="{BB962C8B-B14F-4D97-AF65-F5344CB8AC3E}">
        <p14:creationId xmlns:p14="http://schemas.microsoft.com/office/powerpoint/2010/main" val="40559937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a:t>
            </a:r>
            <a:r>
              <a:rPr lang="en-US" dirty="0" err="1"/>
              <a:t>hai</a:t>
            </a:r>
            <a:r>
              <a:rPr lang="en-US" dirty="0"/>
              <a:t> </a:t>
            </a:r>
            <a:r>
              <a:rPr lang="en-US" dirty="0" err="1"/>
              <a:t>chiều</a:t>
            </a:r>
            <a:endParaRPr lang="en-US" dirty="0"/>
          </a:p>
        </p:txBody>
      </p:sp>
      <p:sp>
        <p:nvSpPr>
          <p:cNvPr id="3" name="Content Placeholder 2"/>
          <p:cNvSpPr>
            <a:spLocks noGrp="1"/>
          </p:cNvSpPr>
          <p:nvPr>
            <p:ph idx="1"/>
          </p:nvPr>
        </p:nvSpPr>
        <p:spPr/>
        <p:txBody>
          <a:bodyPr/>
          <a:lstStyle/>
          <a:p>
            <a:r>
              <a:rPr lang="en-US" dirty="0" err="1"/>
              <a:t>Khởi</a:t>
            </a:r>
            <a:r>
              <a:rPr lang="en-US" dirty="0"/>
              <a:t> </a:t>
            </a:r>
            <a:r>
              <a:rPr lang="en-US" dirty="0" err="1"/>
              <a:t>tạo</a:t>
            </a:r>
            <a:r>
              <a:rPr lang="en-US" dirty="0"/>
              <a:t>:</a:t>
            </a:r>
          </a:p>
          <a:p>
            <a:endParaRPr lang="en-US" dirty="0"/>
          </a:p>
          <a:p>
            <a:endParaRPr lang="en-US" dirty="0"/>
          </a:p>
          <a:p>
            <a:r>
              <a:rPr lang="en-US" dirty="0"/>
              <a:t>Indexing:</a:t>
            </a:r>
          </a:p>
          <a:p>
            <a:endParaRPr lang="en-US" dirty="0"/>
          </a:p>
          <a:p>
            <a:r>
              <a:rPr lang="en-US" dirty="0"/>
              <a:t>Printing: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676400"/>
            <a:ext cx="3518450" cy="13716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429000"/>
            <a:ext cx="1960311" cy="50007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0729" y="4662055"/>
            <a:ext cx="6383216" cy="1600200"/>
          </a:xfrm>
          <a:prstGeom prst="rect">
            <a:avLst/>
          </a:prstGeom>
        </p:spPr>
      </p:pic>
      <p:sp>
        <p:nvSpPr>
          <p:cNvPr id="7" name="Footer Placeholder 6"/>
          <p:cNvSpPr>
            <a:spLocks noGrp="1"/>
          </p:cNvSpPr>
          <p:nvPr>
            <p:ph type="ftr" sz="quarter" idx="11"/>
          </p:nvPr>
        </p:nvSpPr>
        <p:spPr/>
        <p:txBody>
          <a:bodyPr/>
          <a:lstStyle/>
          <a:p>
            <a:r>
              <a:rPr lang="en-US"/>
              <a:t>Lập trình căn bản với  Python</a:t>
            </a:r>
          </a:p>
        </p:txBody>
      </p:sp>
      <p:sp>
        <p:nvSpPr>
          <p:cNvPr id="8" name="Slide Number Placeholder 7"/>
          <p:cNvSpPr>
            <a:spLocks noGrp="1"/>
          </p:cNvSpPr>
          <p:nvPr>
            <p:ph type="sldNum" sz="quarter" idx="12"/>
          </p:nvPr>
        </p:nvSpPr>
        <p:spPr/>
        <p:txBody>
          <a:bodyPr/>
          <a:lstStyle/>
          <a:p>
            <a:fld id="{ADD32889-1A4F-4FED-AEC4-AD6BC7117F25}" type="slidenum">
              <a:rPr lang="en-US" smtClean="0"/>
              <a:t>68</a:t>
            </a:fld>
            <a:endParaRPr lang="en-US"/>
          </a:p>
        </p:txBody>
      </p:sp>
    </p:spTree>
    <p:extLst>
      <p:ext uri="{BB962C8B-B14F-4D97-AF65-F5344CB8AC3E}">
        <p14:creationId xmlns:p14="http://schemas.microsoft.com/office/powerpoint/2010/main" val="26074725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Two-dimensional lists</a:t>
            </a:r>
            <a:endParaRPr lang="en-US" dirty="0"/>
          </a:p>
        </p:txBody>
      </p:sp>
      <p:sp>
        <p:nvSpPr>
          <p:cNvPr id="3" name="Content Placeholder 2"/>
          <p:cNvSpPr>
            <a:spLocks noGrp="1"/>
          </p:cNvSpPr>
          <p:nvPr>
            <p:ph idx="1"/>
          </p:nvPr>
        </p:nvSpPr>
        <p:spPr/>
        <p:txBody>
          <a:bodyPr/>
          <a:lstStyle/>
          <a:p>
            <a:r>
              <a:rPr lang="en-US"/>
              <a:t>Khởi tạo:</a:t>
            </a:r>
          </a:p>
          <a:p>
            <a:endParaRPr lang="en-US"/>
          </a:p>
          <a:p>
            <a:endParaRPr lang="en-US"/>
          </a:p>
          <a:p>
            <a:r>
              <a:rPr lang="en-US"/>
              <a:t>Indexing:</a:t>
            </a:r>
          </a:p>
          <a:p>
            <a:endParaRPr lang="en-US"/>
          </a:p>
          <a:p>
            <a:r>
              <a:rPr lang="en-US"/>
              <a:t>Printing: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676400"/>
            <a:ext cx="3518450" cy="13716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3429000"/>
            <a:ext cx="1960311" cy="500079"/>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4600" y="4724400"/>
            <a:ext cx="6122506" cy="914400"/>
          </a:xfrm>
          <a:prstGeom prst="rect">
            <a:avLst/>
          </a:prstGeom>
        </p:spPr>
      </p:pic>
      <p:sp>
        <p:nvSpPr>
          <p:cNvPr id="6" name="Footer Placeholder 5"/>
          <p:cNvSpPr>
            <a:spLocks noGrp="1"/>
          </p:cNvSpPr>
          <p:nvPr>
            <p:ph type="ftr" sz="quarter" idx="11"/>
          </p:nvPr>
        </p:nvSpPr>
        <p:spPr/>
        <p:txBody>
          <a:bodyPr/>
          <a:lstStyle/>
          <a:p>
            <a:r>
              <a:rPr lang="en-US"/>
              <a:t>Lập trình căn bản với  Python</a:t>
            </a:r>
          </a:p>
        </p:txBody>
      </p:sp>
      <p:sp>
        <p:nvSpPr>
          <p:cNvPr id="8" name="Slide Number Placeholder 7"/>
          <p:cNvSpPr>
            <a:spLocks noGrp="1"/>
          </p:cNvSpPr>
          <p:nvPr>
            <p:ph type="sldNum" sz="quarter" idx="12"/>
          </p:nvPr>
        </p:nvSpPr>
        <p:spPr/>
        <p:txBody>
          <a:bodyPr/>
          <a:lstStyle/>
          <a:p>
            <a:fld id="{ADD32889-1A4F-4FED-AEC4-AD6BC7117F25}" type="slidenum">
              <a:rPr lang="en-US" smtClean="0"/>
              <a:t>69</a:t>
            </a:fld>
            <a:endParaRPr lang="en-US"/>
          </a:p>
        </p:txBody>
      </p:sp>
    </p:spTree>
    <p:extLst>
      <p:ext uri="{BB962C8B-B14F-4D97-AF65-F5344CB8AC3E}">
        <p14:creationId xmlns:p14="http://schemas.microsoft.com/office/powerpoint/2010/main" val="27676589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Two-dimensional lists</a:t>
            </a:r>
          </a:p>
        </p:txBody>
      </p:sp>
      <p:sp>
        <p:nvSpPr>
          <p:cNvPr id="3" name="Content Placeholder 2"/>
          <p:cNvSpPr>
            <a:spLocks noGrp="1"/>
          </p:cNvSpPr>
          <p:nvPr>
            <p:ph idx="1"/>
          </p:nvPr>
        </p:nvSpPr>
        <p:spPr/>
        <p:txBody>
          <a:bodyPr/>
          <a:lstStyle/>
          <a:p>
            <a:r>
              <a:rPr lang="en-US"/>
              <a:t>Khởi tạo:</a:t>
            </a:r>
          </a:p>
          <a:p>
            <a:endParaRPr lang="en-US"/>
          </a:p>
          <a:p>
            <a:endParaRPr lang="en-US"/>
          </a:p>
          <a:p>
            <a:r>
              <a:rPr lang="en-US"/>
              <a:t>Chọn hàng:</a:t>
            </a:r>
          </a:p>
          <a:p>
            <a:endParaRPr lang="en-US"/>
          </a:p>
          <a:p>
            <a:r>
              <a:rPr lang="en-US"/>
              <a:t>Chọn cột:</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349870"/>
            <a:ext cx="7696200" cy="46953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7643" y="3429000"/>
            <a:ext cx="1118093" cy="404827"/>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5410200"/>
            <a:ext cx="6821712" cy="381000"/>
          </a:xfrm>
          <a:prstGeom prst="rect">
            <a:avLst/>
          </a:prstGeom>
        </p:spPr>
      </p:pic>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70</a:t>
            </a:fld>
            <a:endParaRPr lang="en-US"/>
          </a:p>
        </p:txBody>
      </p:sp>
    </p:spTree>
    <p:extLst>
      <p:ext uri="{BB962C8B-B14F-4D97-AF65-F5344CB8AC3E}">
        <p14:creationId xmlns:p14="http://schemas.microsoft.com/office/powerpoint/2010/main" val="26961181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Chuyển</a:t>
            </a:r>
            <a:r>
              <a:rPr lang="en-US" dirty="0"/>
              <a:t> List 2chiều </a:t>
            </a:r>
            <a:r>
              <a:rPr lang="en-US" dirty="0" err="1"/>
              <a:t>thành</a:t>
            </a:r>
            <a:r>
              <a:rPr lang="en-US" dirty="0"/>
              <a:t> 1 </a:t>
            </a:r>
            <a:r>
              <a:rPr lang="en-US" dirty="0" err="1"/>
              <a:t>chiều</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6394" y="2057400"/>
            <a:ext cx="6121206" cy="462771"/>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799" y="3252741"/>
            <a:ext cx="2671937" cy="116685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799" y="4953000"/>
            <a:ext cx="5455234" cy="381000"/>
          </a:xfrm>
          <a:prstGeom prst="rect">
            <a:avLst/>
          </a:prstGeom>
        </p:spPr>
      </p:pic>
      <p:sp>
        <p:nvSpPr>
          <p:cNvPr id="3" name="Footer Placeholder 2"/>
          <p:cNvSpPr>
            <a:spLocks noGrp="1"/>
          </p:cNvSpPr>
          <p:nvPr>
            <p:ph type="ftr" sz="quarter" idx="11"/>
          </p:nvPr>
        </p:nvSpPr>
        <p:spPr/>
        <p:txBody>
          <a:bodyPr/>
          <a:lstStyle/>
          <a:p>
            <a:r>
              <a:rPr lang="en-US"/>
              <a:t>Lập trình căn bản với  Python</a:t>
            </a:r>
          </a:p>
        </p:txBody>
      </p:sp>
      <p:sp>
        <p:nvSpPr>
          <p:cNvPr id="7" name="Slide Number Placeholder 6"/>
          <p:cNvSpPr>
            <a:spLocks noGrp="1"/>
          </p:cNvSpPr>
          <p:nvPr>
            <p:ph type="sldNum" sz="quarter" idx="12"/>
          </p:nvPr>
        </p:nvSpPr>
        <p:spPr/>
        <p:txBody>
          <a:bodyPr/>
          <a:lstStyle/>
          <a:p>
            <a:fld id="{ADD32889-1A4F-4FED-AEC4-AD6BC7117F25}" type="slidenum">
              <a:rPr lang="en-US" smtClean="0"/>
              <a:t>71</a:t>
            </a:fld>
            <a:endParaRPr lang="en-US"/>
          </a:p>
        </p:txBody>
      </p:sp>
    </p:spTree>
    <p:extLst>
      <p:ext uri="{BB962C8B-B14F-4D97-AF65-F5344CB8AC3E}">
        <p14:creationId xmlns:p14="http://schemas.microsoft.com/office/powerpoint/2010/main" val="37784652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a:t>
            </a:r>
          </a:p>
        </p:txBody>
      </p:sp>
      <p:sp>
        <p:nvSpPr>
          <p:cNvPr id="3" name="Content Placeholder 2"/>
          <p:cNvSpPr>
            <a:spLocks noGrp="1"/>
          </p:cNvSpPr>
          <p:nvPr>
            <p:ph idx="1"/>
          </p:nvPr>
        </p:nvSpPr>
        <p:spPr/>
        <p:txBody>
          <a:bodyPr/>
          <a:lstStyle/>
          <a:p>
            <a:r>
              <a:rPr lang="en-US" dirty="0" err="1"/>
              <a:t>Khởi</a:t>
            </a:r>
            <a:r>
              <a:rPr lang="en-US" dirty="0"/>
              <a:t> </a:t>
            </a:r>
            <a:r>
              <a:rPr lang="en-US" dirty="0" err="1"/>
              <a:t>tạo</a:t>
            </a:r>
            <a:r>
              <a:rPr lang="en-US" dirty="0"/>
              <a:t> ma </a:t>
            </a:r>
            <a:r>
              <a:rPr lang="en-US" dirty="0" err="1"/>
              <a:t>trận</a:t>
            </a:r>
            <a:r>
              <a:rPr lang="en-US" dirty="0"/>
              <a:t> M </a:t>
            </a:r>
            <a:r>
              <a:rPr lang="en-US" dirty="0" err="1"/>
              <a:t>kích</a:t>
            </a:r>
            <a:r>
              <a:rPr lang="en-US" dirty="0"/>
              <a:t> </a:t>
            </a:r>
            <a:r>
              <a:rPr lang="en-US" dirty="0" err="1"/>
              <a:t>thước</a:t>
            </a:r>
            <a:r>
              <a:rPr lang="en-US" dirty="0"/>
              <a:t> 10x5</a:t>
            </a:r>
          </a:p>
          <a:p>
            <a:r>
              <a:rPr lang="en-US" dirty="0" err="1"/>
              <a:t>Đếm</a:t>
            </a:r>
            <a:r>
              <a:rPr lang="en-US" dirty="0"/>
              <a:t> </a:t>
            </a:r>
            <a:r>
              <a:rPr lang="en-US" dirty="0" err="1"/>
              <a:t>xem</a:t>
            </a:r>
            <a:r>
              <a:rPr lang="en-US" dirty="0"/>
              <a:t> M </a:t>
            </a:r>
            <a:r>
              <a:rPr lang="en-US" dirty="0" err="1"/>
              <a:t>có</a:t>
            </a:r>
            <a:r>
              <a:rPr lang="en-US" dirty="0"/>
              <a:t> </a:t>
            </a:r>
            <a:r>
              <a:rPr lang="en-US" dirty="0" err="1"/>
              <a:t>bao</a:t>
            </a:r>
            <a:r>
              <a:rPr lang="en-US" dirty="0"/>
              <a:t> </a:t>
            </a:r>
            <a:r>
              <a:rPr lang="en-US" dirty="0" err="1"/>
              <a:t>nhiêu</a:t>
            </a:r>
            <a:r>
              <a:rPr lang="en-US" dirty="0"/>
              <a:t> </a:t>
            </a:r>
            <a:r>
              <a:rPr lang="en-US" dirty="0" err="1"/>
              <a:t>số</a:t>
            </a:r>
            <a:r>
              <a:rPr lang="en-US" dirty="0"/>
              <a:t> </a:t>
            </a:r>
            <a:r>
              <a:rPr lang="en-US" dirty="0" err="1"/>
              <a:t>chẵn</a:t>
            </a:r>
            <a:endParaRPr lang="en-US" dirty="0"/>
          </a:p>
          <a:p>
            <a:r>
              <a:rPr lang="en-US" dirty="0" err="1"/>
              <a:t>Viết</a:t>
            </a:r>
            <a:r>
              <a:rPr lang="en-US" dirty="0"/>
              <a:t> </a:t>
            </a:r>
            <a:r>
              <a:rPr lang="en-US" dirty="0" err="1"/>
              <a:t>chương</a:t>
            </a:r>
            <a:r>
              <a:rPr lang="en-US" dirty="0"/>
              <a:t> </a:t>
            </a:r>
            <a:r>
              <a:rPr lang="en-US" dirty="0" err="1"/>
              <a:t>trình</a:t>
            </a:r>
            <a:r>
              <a:rPr lang="en-US" dirty="0"/>
              <a:t> </a:t>
            </a:r>
            <a:r>
              <a:rPr lang="en-US" dirty="0" err="1"/>
              <a:t>tạo</a:t>
            </a:r>
            <a:r>
              <a:rPr lang="en-US" dirty="0"/>
              <a:t> </a:t>
            </a:r>
            <a:r>
              <a:rPr lang="en-US" dirty="0" err="1"/>
              <a:t>ngẫu</a:t>
            </a:r>
            <a:r>
              <a:rPr lang="en-US" dirty="0"/>
              <a:t> </a:t>
            </a:r>
            <a:r>
              <a:rPr lang="en-US" dirty="0" err="1"/>
              <a:t>nhiên</a:t>
            </a:r>
            <a:r>
              <a:rPr lang="en-US" dirty="0"/>
              <a:t> </a:t>
            </a:r>
            <a:r>
              <a:rPr lang="en-US" dirty="0" err="1"/>
              <a:t>hai</a:t>
            </a:r>
            <a:r>
              <a:rPr lang="en-US" dirty="0"/>
              <a:t> ma </a:t>
            </a:r>
            <a:r>
              <a:rPr lang="en-US" dirty="0" err="1"/>
              <a:t>trận</a:t>
            </a:r>
            <a:r>
              <a:rPr lang="en-US" dirty="0"/>
              <a:t> </a:t>
            </a:r>
            <a:r>
              <a:rPr lang="en-US" dirty="0" err="1"/>
              <a:t>kích</a:t>
            </a:r>
            <a:r>
              <a:rPr lang="en-US" dirty="0"/>
              <a:t> </a:t>
            </a:r>
            <a:r>
              <a:rPr lang="en-US" dirty="0" err="1"/>
              <a:t>thước</a:t>
            </a:r>
            <a:r>
              <a:rPr lang="en-US" dirty="0"/>
              <a:t> </a:t>
            </a:r>
            <a:r>
              <a:rPr lang="en-US" dirty="0" err="1"/>
              <a:t>mxn</a:t>
            </a:r>
            <a:r>
              <a:rPr lang="en-US" dirty="0"/>
              <a:t> (m, </a:t>
            </a:r>
            <a:r>
              <a:rPr lang="en-US"/>
              <a:t>n được </a:t>
            </a:r>
            <a:r>
              <a:rPr lang="en-US" dirty="0" err="1"/>
              <a:t>nhập</a:t>
            </a:r>
            <a:r>
              <a:rPr lang="en-US" dirty="0"/>
              <a:t> </a:t>
            </a:r>
            <a:r>
              <a:rPr lang="en-US" dirty="0" err="1"/>
              <a:t>vào</a:t>
            </a:r>
            <a:r>
              <a:rPr lang="en-US" dirty="0"/>
              <a:t>) </a:t>
            </a:r>
            <a:r>
              <a:rPr lang="en-US" dirty="0" err="1"/>
              <a:t>và</a:t>
            </a:r>
            <a:r>
              <a:rPr lang="en-US" dirty="0"/>
              <a:t> </a:t>
            </a:r>
            <a:r>
              <a:rPr lang="en-US" err="1"/>
              <a:t>tính</a:t>
            </a:r>
            <a:r>
              <a:rPr lang="en-US"/>
              <a:t> tổng, tích của </a:t>
            </a:r>
            <a:r>
              <a:rPr lang="en-US" dirty="0" err="1"/>
              <a:t>chúng</a:t>
            </a: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72</a:t>
            </a:fld>
            <a:endParaRPr lang="en-US"/>
          </a:p>
        </p:txBody>
      </p:sp>
    </p:spTree>
    <p:extLst>
      <p:ext uri="{BB962C8B-B14F-4D97-AF65-F5344CB8AC3E}">
        <p14:creationId xmlns:p14="http://schemas.microsoft.com/office/powerpoint/2010/main" val="2410277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Thư</a:t>
            </a:r>
            <a:r>
              <a:rPr lang="en-US" dirty="0"/>
              <a:t> </a:t>
            </a:r>
            <a:r>
              <a:rPr lang="en-US" dirty="0" err="1"/>
              <a:t>viện</a:t>
            </a:r>
            <a:r>
              <a:rPr lang="en-US" dirty="0"/>
              <a:t> </a:t>
            </a:r>
            <a:r>
              <a:rPr lang="en-US" dirty="0" err="1"/>
              <a:t>Numpy</a:t>
            </a:r>
            <a:endParaRPr lang="en-US" dirty="0"/>
          </a:p>
        </p:txBody>
      </p:sp>
      <p:sp>
        <p:nvSpPr>
          <p:cNvPr id="3" name="Content Placeholder 2"/>
          <p:cNvSpPr>
            <a:spLocks noGrp="1"/>
          </p:cNvSpPr>
          <p:nvPr>
            <p:ph idx="1"/>
          </p:nvPr>
        </p:nvSpPr>
        <p:spPr/>
        <p:txBody>
          <a:bodyPr>
            <a:normAutofit lnSpcReduction="10000"/>
          </a:bodyPr>
          <a:lstStyle/>
          <a:p>
            <a:r>
              <a:rPr lang="vi-VN" dirty="0"/>
              <a:t>Numpy (Numeric Python): thư viện </a:t>
            </a:r>
            <a:r>
              <a:rPr lang="en-US" dirty="0" err="1"/>
              <a:t>làm</a:t>
            </a:r>
            <a:r>
              <a:rPr lang="en-US" dirty="0"/>
              <a:t> </a:t>
            </a:r>
            <a:r>
              <a:rPr lang="en-US" dirty="0" err="1"/>
              <a:t>việc</a:t>
            </a:r>
            <a:r>
              <a:rPr lang="en-US" dirty="0"/>
              <a:t> </a:t>
            </a:r>
            <a:r>
              <a:rPr lang="en-US" dirty="0" err="1"/>
              <a:t>với</a:t>
            </a:r>
            <a:r>
              <a:rPr lang="en-US" dirty="0"/>
              <a:t> </a:t>
            </a:r>
            <a:r>
              <a:rPr lang="en-US" dirty="0" err="1"/>
              <a:t>mảng</a:t>
            </a:r>
            <a:r>
              <a:rPr lang="vi-VN" dirty="0"/>
              <a:t>. </a:t>
            </a:r>
            <a:endParaRPr lang="en-US" dirty="0"/>
          </a:p>
          <a:p>
            <a:r>
              <a:rPr lang="en-US" dirty="0" err="1"/>
              <a:t>Các</a:t>
            </a:r>
            <a:r>
              <a:rPr lang="en-US" dirty="0"/>
              <a:t> </a:t>
            </a:r>
            <a:r>
              <a:rPr lang="en-US" dirty="0" err="1"/>
              <a:t>hàm</a:t>
            </a:r>
            <a:r>
              <a:rPr lang="en-US" dirty="0"/>
              <a:t> </a:t>
            </a:r>
            <a:r>
              <a:rPr lang="en-US" dirty="0" err="1"/>
              <a:t>về</a:t>
            </a:r>
            <a:r>
              <a:rPr lang="en-US" dirty="0"/>
              <a:t> </a:t>
            </a:r>
            <a:r>
              <a:rPr lang="en-US" dirty="0" err="1"/>
              <a:t>đại</a:t>
            </a:r>
            <a:r>
              <a:rPr lang="en-US" dirty="0"/>
              <a:t> </a:t>
            </a:r>
            <a:r>
              <a:rPr lang="en-US" dirty="0" err="1"/>
              <a:t>số</a:t>
            </a:r>
            <a:r>
              <a:rPr lang="en-US" dirty="0"/>
              <a:t> </a:t>
            </a:r>
            <a:r>
              <a:rPr lang="en-US" dirty="0" err="1"/>
              <a:t>tuyến</a:t>
            </a:r>
            <a:r>
              <a:rPr lang="en-US" dirty="0"/>
              <a:t> </a:t>
            </a:r>
            <a:r>
              <a:rPr lang="en-US" dirty="0" err="1"/>
              <a:t>tính</a:t>
            </a:r>
            <a:r>
              <a:rPr lang="en-US" dirty="0"/>
              <a:t>, </a:t>
            </a:r>
            <a:r>
              <a:rPr lang="en-US" dirty="0" err="1"/>
              <a:t>biến</a:t>
            </a:r>
            <a:r>
              <a:rPr lang="en-US" dirty="0"/>
              <a:t> </a:t>
            </a:r>
            <a:r>
              <a:rPr lang="en-US" dirty="0" err="1"/>
              <a:t>đổi</a:t>
            </a:r>
            <a:r>
              <a:rPr lang="en-US" dirty="0"/>
              <a:t> </a:t>
            </a:r>
            <a:r>
              <a:rPr lang="en-US" dirty="0" err="1"/>
              <a:t>fourier</a:t>
            </a:r>
            <a:r>
              <a:rPr lang="en-US" dirty="0"/>
              <a:t> </a:t>
            </a:r>
            <a:r>
              <a:rPr lang="en-US" dirty="0" err="1"/>
              <a:t>và</a:t>
            </a:r>
            <a:r>
              <a:rPr lang="en-US" dirty="0"/>
              <a:t> ma </a:t>
            </a:r>
            <a:r>
              <a:rPr lang="en-US" dirty="0" err="1"/>
              <a:t>trận</a:t>
            </a:r>
            <a:r>
              <a:rPr lang="en-US" dirty="0"/>
              <a:t>.</a:t>
            </a:r>
          </a:p>
          <a:p>
            <a:r>
              <a:rPr lang="en-US" dirty="0"/>
              <a:t>C</a:t>
            </a:r>
            <a:r>
              <a:rPr lang="vi-VN" dirty="0"/>
              <a:t>ác hàm số đã được tối ưu, hiệu quả với ma trận và mảng, tốc độ xử lý nhanh.</a:t>
            </a:r>
            <a:endParaRPr lang="en-US" dirty="0"/>
          </a:p>
          <a:p>
            <a:endParaRPr lang="en-US" dirty="0"/>
          </a:p>
          <a:p>
            <a:r>
              <a:rPr lang="en-US" dirty="0" err="1"/>
              <a:t>Cài</a:t>
            </a:r>
            <a:r>
              <a:rPr lang="en-US" dirty="0"/>
              <a:t> </a:t>
            </a:r>
            <a:r>
              <a:rPr lang="en-US" dirty="0" err="1"/>
              <a:t>thư</a:t>
            </a:r>
            <a:r>
              <a:rPr lang="en-US" dirty="0"/>
              <a:t> </a:t>
            </a:r>
            <a:r>
              <a:rPr lang="en-US" dirty="0" err="1"/>
              <a:t>viện</a:t>
            </a:r>
            <a:r>
              <a:rPr lang="en-US" dirty="0"/>
              <a:t> </a:t>
            </a:r>
            <a:r>
              <a:rPr lang="en-US" dirty="0" err="1"/>
              <a:t>numpy</a:t>
            </a:r>
            <a:r>
              <a:rPr lang="en-US" dirty="0"/>
              <a:t> </a:t>
            </a:r>
            <a:r>
              <a:rPr lang="en-US" dirty="0" err="1"/>
              <a:t>trên</a:t>
            </a:r>
            <a:r>
              <a:rPr lang="en-US" dirty="0"/>
              <a:t> Windows:</a:t>
            </a:r>
          </a:p>
          <a:p>
            <a:pPr lvl="1"/>
            <a:r>
              <a:rPr lang="en-US" dirty="0"/>
              <a:t> </a:t>
            </a:r>
            <a:r>
              <a:rPr lang="en-US" dirty="0" err="1"/>
              <a:t>Mở</a:t>
            </a:r>
            <a:r>
              <a:rPr lang="en-US" dirty="0"/>
              <a:t> </a:t>
            </a:r>
            <a:r>
              <a:rPr lang="en-US" dirty="0" err="1"/>
              <a:t>cửa</a:t>
            </a:r>
            <a:r>
              <a:rPr lang="en-US" dirty="0"/>
              <a:t> </a:t>
            </a:r>
            <a:r>
              <a:rPr lang="en-US" dirty="0" err="1"/>
              <a:t>sổ</a:t>
            </a:r>
            <a:r>
              <a:rPr lang="en-US" dirty="0"/>
              <a:t> </a:t>
            </a:r>
            <a:r>
              <a:rPr lang="en-US" dirty="0" err="1"/>
              <a:t>lệnh</a:t>
            </a:r>
            <a:r>
              <a:rPr lang="en-US" dirty="0"/>
              <a:t> Command prompt</a:t>
            </a:r>
          </a:p>
          <a:p>
            <a:pPr lvl="1"/>
            <a:r>
              <a:rPr lang="en-US" dirty="0" err="1"/>
              <a:t>Thực</a:t>
            </a:r>
            <a:r>
              <a:rPr lang="en-US" dirty="0"/>
              <a:t> </a:t>
            </a:r>
            <a:r>
              <a:rPr lang="en-US" dirty="0" err="1"/>
              <a:t>hiện</a:t>
            </a:r>
            <a:r>
              <a:rPr lang="en-US" dirty="0"/>
              <a:t> </a:t>
            </a:r>
            <a:r>
              <a:rPr lang="en-US" dirty="0" err="1"/>
              <a:t>lệnh</a:t>
            </a:r>
            <a:r>
              <a:rPr lang="en-US" dirty="0"/>
              <a:t>: </a:t>
            </a:r>
            <a:r>
              <a:rPr lang="en-US" i="1" dirty="0"/>
              <a:t>pip install </a:t>
            </a:r>
            <a:r>
              <a:rPr lang="en-US" i="1" dirty="0" err="1"/>
              <a:t>numpy</a:t>
            </a:r>
            <a:endParaRPr lang="en-US" i="1"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73</a:t>
            </a:fld>
            <a:endParaRPr lang="en-US"/>
          </a:p>
        </p:txBody>
      </p:sp>
    </p:spTree>
    <p:extLst>
      <p:ext uri="{BB962C8B-B14F-4D97-AF65-F5344CB8AC3E}">
        <p14:creationId xmlns:p14="http://schemas.microsoft.com/office/powerpoint/2010/main" val="8373070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Mảng</a:t>
            </a:r>
            <a:r>
              <a:rPr lang="en-US" dirty="0"/>
              <a:t> (</a:t>
            </a:r>
            <a:r>
              <a:rPr lang="en-US" dirty="0" err="1"/>
              <a:t>Numpy</a:t>
            </a:r>
            <a:r>
              <a:rPr lang="en-US" dirty="0"/>
              <a:t> array)</a:t>
            </a:r>
          </a:p>
        </p:txBody>
      </p:sp>
      <p:sp>
        <p:nvSpPr>
          <p:cNvPr id="3" name="Content Placeholder 2"/>
          <p:cNvSpPr>
            <a:spLocks noGrp="1"/>
          </p:cNvSpPr>
          <p:nvPr>
            <p:ph idx="1"/>
          </p:nvPr>
        </p:nvSpPr>
        <p:spPr/>
        <p:txBody>
          <a:bodyPr>
            <a:normAutofit/>
          </a:bodyPr>
          <a:lstStyle/>
          <a:p>
            <a:r>
              <a:rPr lang="en-US" dirty="0" err="1"/>
              <a:t>Kiểu</a:t>
            </a:r>
            <a:r>
              <a:rPr lang="en-US" dirty="0"/>
              <a:t> </a:t>
            </a:r>
            <a:r>
              <a:rPr lang="en-US" dirty="0" err="1"/>
              <a:t>mảng</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cùng</a:t>
            </a:r>
            <a:r>
              <a:rPr lang="en-US" dirty="0"/>
              <a:t> </a:t>
            </a:r>
            <a:r>
              <a:rPr lang="en-US" dirty="0" err="1"/>
              <a:t>kiểu</a:t>
            </a:r>
            <a:r>
              <a:rPr lang="en-US" dirty="0"/>
              <a:t> </a:t>
            </a:r>
            <a:r>
              <a:rPr lang="en-US" dirty="0" err="1"/>
              <a:t>và</a:t>
            </a:r>
            <a:r>
              <a:rPr lang="en-US" dirty="0"/>
              <a:t> </a:t>
            </a:r>
            <a:r>
              <a:rPr lang="en-US" dirty="0" err="1"/>
              <a:t>liên</a:t>
            </a:r>
            <a:r>
              <a:rPr lang="en-US" dirty="0"/>
              <a:t> </a:t>
            </a:r>
            <a:r>
              <a:rPr lang="en-US" dirty="0" err="1"/>
              <a:t>tiếp</a:t>
            </a:r>
            <a:r>
              <a:rPr lang="en-US" dirty="0"/>
              <a:t> </a:t>
            </a:r>
            <a:r>
              <a:rPr lang="en-US" dirty="0" err="1"/>
              <a:t>nhau</a:t>
            </a:r>
            <a:r>
              <a:rPr lang="en-US" dirty="0"/>
              <a:t> </a:t>
            </a:r>
            <a:r>
              <a:rPr lang="en-US" dirty="0" err="1"/>
              <a:t>trong</a:t>
            </a:r>
            <a:r>
              <a:rPr lang="en-US" dirty="0"/>
              <a:t> </a:t>
            </a:r>
            <a:r>
              <a:rPr lang="en-US" dirty="0" err="1"/>
              <a:t>bộ</a:t>
            </a:r>
            <a:r>
              <a:rPr lang="en-US" dirty="0"/>
              <a:t> </a:t>
            </a:r>
            <a:r>
              <a:rPr lang="en-US" dirty="0" err="1"/>
              <a:t>nhớ</a:t>
            </a:r>
            <a:r>
              <a:rPr lang="en-US" dirty="0" err="1">
                <a:sym typeface="Wingdings" panose="05000000000000000000" pitchFamily="2" charset="2"/>
              </a:rPr>
              <a:t>truy</a:t>
            </a:r>
            <a:r>
              <a:rPr lang="en-US" dirty="0">
                <a:sym typeface="Wingdings" panose="05000000000000000000" pitchFamily="2" charset="2"/>
              </a:rPr>
              <a:t> </a:t>
            </a:r>
            <a:r>
              <a:rPr lang="en-US" dirty="0" err="1">
                <a:sym typeface="Wingdings" panose="05000000000000000000" pitchFamily="2" charset="2"/>
              </a:rPr>
              <a:t>xuất</a:t>
            </a:r>
            <a:r>
              <a:rPr lang="en-US" dirty="0">
                <a:sym typeface="Wingdings" panose="05000000000000000000" pitchFamily="2" charset="2"/>
              </a:rPr>
              <a:t> </a:t>
            </a:r>
            <a:r>
              <a:rPr lang="en-US" dirty="0" err="1">
                <a:sym typeface="Wingdings" panose="05000000000000000000" pitchFamily="2" charset="2"/>
              </a:rPr>
              <a:t>nhanh</a:t>
            </a:r>
            <a:endParaRPr lang="en-US" dirty="0">
              <a:sym typeface="Wingdings" panose="05000000000000000000" pitchFamily="2" charset="2"/>
            </a:endParaRPr>
          </a:p>
          <a:p>
            <a:r>
              <a:rPr lang="en-US" b="1" dirty="0" err="1">
                <a:sym typeface="Wingdings" panose="05000000000000000000" pitchFamily="2" charset="2"/>
              </a:rPr>
              <a:t>Tạo</a:t>
            </a:r>
            <a:r>
              <a:rPr lang="en-US" b="1" dirty="0">
                <a:sym typeface="Wingdings" panose="05000000000000000000" pitchFamily="2" charset="2"/>
              </a:rPr>
              <a:t> </a:t>
            </a:r>
            <a:r>
              <a:rPr lang="en-US" b="1" err="1">
                <a:sym typeface="Wingdings" panose="05000000000000000000" pitchFamily="2" charset="2"/>
              </a:rPr>
              <a:t>mảng</a:t>
            </a:r>
            <a:r>
              <a:rPr lang="en-US" b="1">
                <a:sym typeface="Wingdings" panose="05000000000000000000" pitchFamily="2" charset="2"/>
              </a:rPr>
              <a:t> 1 chiều</a:t>
            </a:r>
            <a:r>
              <a:rPr lang="en-US" b="1" dirty="0">
                <a:sym typeface="Wingdings" panose="05000000000000000000" pitchFamily="2" charset="2"/>
              </a:rPr>
              <a:t>:</a:t>
            </a:r>
          </a:p>
          <a:p>
            <a:pPr marL="0" indent="0">
              <a:lnSpc>
                <a:spcPct val="80000"/>
              </a:lnSpc>
              <a:buNone/>
            </a:pPr>
            <a:r>
              <a:rPr lang="en-US" sz="2200" dirty="0">
                <a:latin typeface="Courier New" panose="02070309020205020404" pitchFamily="49" charset="0"/>
                <a:cs typeface="Courier New" panose="02070309020205020404" pitchFamily="49" charset="0"/>
                <a:sym typeface="Wingdings" panose="05000000000000000000" pitchFamily="2" charset="2"/>
              </a:rPr>
              <a:t>import </a:t>
            </a:r>
            <a:r>
              <a:rPr lang="en-US" sz="2200" dirty="0" err="1">
                <a:latin typeface="Courier New" panose="02070309020205020404" pitchFamily="49" charset="0"/>
                <a:cs typeface="Courier New" panose="02070309020205020404" pitchFamily="49" charset="0"/>
                <a:sym typeface="Wingdings" panose="05000000000000000000" pitchFamily="2" charset="2"/>
              </a:rPr>
              <a:t>numpy</a:t>
            </a:r>
            <a:r>
              <a:rPr lang="en-US" sz="2200" dirty="0">
                <a:latin typeface="Courier New" panose="02070309020205020404" pitchFamily="49" charset="0"/>
                <a:cs typeface="Courier New" panose="02070309020205020404" pitchFamily="49" charset="0"/>
                <a:sym typeface="Wingdings" panose="05000000000000000000" pitchFamily="2" charset="2"/>
              </a:rPr>
              <a:t> as np</a:t>
            </a:r>
          </a:p>
          <a:p>
            <a:pPr marL="0" indent="0">
              <a:lnSpc>
                <a:spcPct val="80000"/>
              </a:lnSpc>
              <a:buNone/>
            </a:pPr>
            <a:r>
              <a:rPr lang="en-US" sz="2200" dirty="0">
                <a:latin typeface="Courier New" panose="02070309020205020404" pitchFamily="49" charset="0"/>
                <a:cs typeface="Courier New" panose="02070309020205020404" pitchFamily="49" charset="0"/>
                <a:sym typeface="Wingdings" panose="05000000000000000000" pitchFamily="2" charset="2"/>
              </a:rPr>
              <a:t>a=</a:t>
            </a:r>
            <a:r>
              <a:rPr lang="en-US" sz="2200" dirty="0" err="1">
                <a:latin typeface="Courier New" panose="02070309020205020404" pitchFamily="49" charset="0"/>
                <a:cs typeface="Courier New" panose="02070309020205020404" pitchFamily="49" charset="0"/>
                <a:sym typeface="Wingdings" panose="05000000000000000000" pitchFamily="2" charset="2"/>
              </a:rPr>
              <a:t>np.array</a:t>
            </a:r>
            <a:r>
              <a:rPr lang="en-US" sz="2200" dirty="0">
                <a:latin typeface="Courier New" panose="02070309020205020404" pitchFamily="49" charset="0"/>
                <a:cs typeface="Courier New" panose="02070309020205020404" pitchFamily="49" charset="0"/>
                <a:sym typeface="Wingdings" panose="05000000000000000000" pitchFamily="2" charset="2"/>
              </a:rPr>
              <a:t>([1,3,6])</a:t>
            </a:r>
          </a:p>
          <a:p>
            <a:pPr marL="0" indent="0">
              <a:lnSpc>
                <a:spcPct val="80000"/>
              </a:lnSpc>
              <a:buNone/>
            </a:pPr>
            <a:r>
              <a:rPr lang="en-US" sz="2200" dirty="0">
                <a:latin typeface="Courier New" panose="02070309020205020404" pitchFamily="49" charset="0"/>
                <a:cs typeface="Courier New" panose="02070309020205020404" pitchFamily="49" charset="0"/>
                <a:sym typeface="Wingdings" panose="05000000000000000000" pitchFamily="2" charset="2"/>
              </a:rPr>
              <a:t>print(a) #[1 3 6]</a:t>
            </a:r>
          </a:p>
          <a:p>
            <a:r>
              <a:rPr lang="en-US" b="1" dirty="0" err="1"/>
              <a:t>Mảng</a:t>
            </a:r>
            <a:r>
              <a:rPr lang="en-US" b="1" dirty="0"/>
              <a:t> 2 </a:t>
            </a:r>
            <a:r>
              <a:rPr lang="en-US" b="1" dirty="0" err="1"/>
              <a:t>chiều</a:t>
            </a:r>
            <a:r>
              <a:rPr lang="en-US" b="1" dirty="0"/>
              <a:t>:</a:t>
            </a:r>
          </a:p>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a2=</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([[1,3,6], [</a:t>
            </a:r>
            <a:r>
              <a:rPr lang="en-US">
                <a:latin typeface="Courier New" panose="02070309020205020404" pitchFamily="49" charset="0"/>
                <a:cs typeface="Courier New" panose="02070309020205020404" pitchFamily="49" charset="0"/>
                <a:sym typeface="Wingdings" panose="05000000000000000000" pitchFamily="2" charset="2"/>
              </a:rPr>
              <a:t>2,1,3]])</a:t>
            </a:r>
            <a:endParaRPr lang="en-US" dirty="0">
              <a:latin typeface="Courier New" panose="02070309020205020404" pitchFamily="49" charset="0"/>
              <a:cs typeface="Courier New" panose="02070309020205020404" pitchFamily="49" charset="0"/>
              <a:sym typeface="Wingdings" panose="05000000000000000000" pitchFamily="2" charset="2"/>
            </a:endParaRPr>
          </a:p>
          <a:p>
            <a:pPr marL="0" indent="0">
              <a:buNone/>
            </a:pPr>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74</a:t>
            </a:fld>
            <a:endParaRPr lang="en-US"/>
          </a:p>
        </p:txBody>
      </p:sp>
    </p:spTree>
    <p:extLst>
      <p:ext uri="{BB962C8B-B14F-4D97-AF65-F5344CB8AC3E}">
        <p14:creationId xmlns:p14="http://schemas.microsoft.com/office/powerpoint/2010/main" val="8242121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Mảng</a:t>
            </a:r>
            <a:r>
              <a:rPr lang="en-US" dirty="0"/>
              <a:t> (</a:t>
            </a:r>
            <a:r>
              <a:rPr lang="en-US" dirty="0" err="1"/>
              <a:t>Numpy</a:t>
            </a:r>
            <a:r>
              <a:rPr lang="en-US" dirty="0"/>
              <a:t> array)</a:t>
            </a:r>
          </a:p>
        </p:txBody>
      </p:sp>
      <p:sp>
        <p:nvSpPr>
          <p:cNvPr id="3" name="Content Placeholder 2"/>
          <p:cNvSpPr>
            <a:spLocks noGrp="1"/>
          </p:cNvSpPr>
          <p:nvPr>
            <p:ph idx="1"/>
          </p:nvPr>
        </p:nvSpPr>
        <p:spPr/>
        <p:txBody>
          <a:bodyPr>
            <a:normAutofit/>
          </a:bodyPr>
          <a:lstStyle/>
          <a:p>
            <a:r>
              <a:rPr lang="en-US" b="1">
                <a:latin typeface="Courier New" panose="02070309020205020404" pitchFamily="49" charset="0"/>
                <a:cs typeface="Courier New" panose="02070309020205020404" pitchFamily="49" charset="0"/>
                <a:sym typeface="Wingdings" panose="05000000000000000000" pitchFamily="2" charset="2"/>
              </a:rPr>
              <a:t>Mảng 3 chiều</a:t>
            </a:r>
          </a:p>
          <a:p>
            <a:pPr marL="0" indent="0">
              <a:buNone/>
            </a:pPr>
            <a:endParaRPr lang="en-US" dirty="0">
              <a:latin typeface="Courier New" panose="02070309020205020404" pitchFamily="49" charset="0"/>
              <a:cs typeface="Courier New" panose="02070309020205020404" pitchFamily="49" charset="0"/>
              <a:sym typeface="Wingdings" panose="05000000000000000000" pitchFamily="2" charset="2"/>
            </a:endParaRPr>
          </a:p>
          <a:p>
            <a:pPr marL="0" indent="0">
              <a:buNone/>
            </a:pPr>
            <a:r>
              <a:rPr lang="en-US" sz="2200">
                <a:latin typeface="Courier New" panose="02070309020205020404" pitchFamily="49" charset="0"/>
                <a:cs typeface="Courier New" panose="02070309020205020404" pitchFamily="49" charset="0"/>
              </a:rPr>
              <a:t>a = np.array([[[1, 2, 3, 4], [1, 0, 0, 0]],</a:t>
            </a:r>
          </a:p>
          <a:p>
            <a:pPr marL="0" indent="0">
              <a:buNone/>
            </a:pPr>
            <a:r>
              <a:rPr lang="en-US" sz="2200">
                <a:latin typeface="Courier New" panose="02070309020205020404" pitchFamily="49" charset="0"/>
                <a:cs typeface="Courier New" panose="02070309020205020404" pitchFamily="49" charset="0"/>
              </a:rPr>
              <a:t>              [[1, 1, 0, 5], [1, 1, 1, 2]],</a:t>
            </a:r>
          </a:p>
          <a:p>
            <a:pPr marL="0" indent="0">
              <a:buNone/>
            </a:pPr>
            <a:r>
              <a:rPr lang="en-US" sz="2200">
                <a:latin typeface="Courier New" panose="02070309020205020404" pitchFamily="49" charset="0"/>
                <a:cs typeface="Courier New" panose="02070309020205020404" pitchFamily="49" charset="0"/>
              </a:rPr>
              <a:t>              [[5, 8, 6, 4], [1, 4, 6, 8]]])</a:t>
            </a:r>
            <a:endParaRPr lang="en-US" sz="2200"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75</a:t>
            </a:fld>
            <a:endParaRPr lang="en-US"/>
          </a:p>
        </p:txBody>
      </p:sp>
      <p:pic>
        <p:nvPicPr>
          <p:cNvPr id="6" name="Picture 5"/>
          <p:cNvPicPr>
            <a:picLocks noChangeAspect="1"/>
          </p:cNvPicPr>
          <p:nvPr/>
        </p:nvPicPr>
        <p:blipFill>
          <a:blip r:embed="rId2"/>
          <a:stretch>
            <a:fillRect/>
          </a:stretch>
        </p:blipFill>
        <p:spPr>
          <a:xfrm>
            <a:off x="838199" y="4731040"/>
            <a:ext cx="8305801" cy="523540"/>
          </a:xfrm>
          <a:prstGeom prst="rect">
            <a:avLst/>
          </a:prstGeom>
        </p:spPr>
      </p:pic>
    </p:spTree>
    <p:extLst>
      <p:ext uri="{BB962C8B-B14F-4D97-AF65-F5344CB8AC3E}">
        <p14:creationId xmlns:p14="http://schemas.microsoft.com/office/powerpoint/2010/main" val="1448771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(Numpy array) – Khởi tạo với các hàm có sẵn</a:t>
            </a:r>
            <a:endParaRPr lang="fr-FR"/>
          </a:p>
        </p:txBody>
      </p:sp>
      <p:sp>
        <p:nvSpPr>
          <p:cNvPr id="3" name="Content Placeholder 2"/>
          <p:cNvSpPr>
            <a:spLocks noGrp="1"/>
          </p:cNvSpPr>
          <p:nvPr>
            <p:ph idx="1"/>
          </p:nvPr>
        </p:nvSpPr>
        <p:spPr>
          <a:xfrm>
            <a:off x="628650" y="1825625"/>
            <a:ext cx="8373682" cy="4351338"/>
          </a:xfrm>
        </p:spPr>
        <p:txBody>
          <a:bodyPr>
            <a:normAutofit fontScale="62500" lnSpcReduction="20000"/>
          </a:bodyPr>
          <a:lstStyle/>
          <a:p>
            <a:pPr>
              <a:lnSpc>
                <a:spcPct val="170000"/>
              </a:lnSpc>
              <a:spcAft>
                <a:spcPts val="600"/>
              </a:spcAft>
            </a:pPr>
            <a:r>
              <a:rPr lang="vi-VN" sz="2500" b="1"/>
              <a:t>np.zeros((3,4), dtype = int)</a:t>
            </a:r>
            <a:r>
              <a:rPr lang="vi-VN" sz="2500"/>
              <a:t>: Tạo mảng hai chiều các phần tử 0 với kích thước 3x4.</a:t>
            </a:r>
          </a:p>
          <a:p>
            <a:pPr>
              <a:lnSpc>
                <a:spcPct val="170000"/>
              </a:lnSpc>
              <a:spcAft>
                <a:spcPts val="600"/>
              </a:spcAft>
            </a:pPr>
            <a:r>
              <a:rPr lang="vi-VN" sz="2500" b="1"/>
              <a:t>np.ones((2,3,4), dtype = int)</a:t>
            </a:r>
            <a:r>
              <a:rPr lang="vi-VN" sz="2500"/>
              <a:t>: Tạo mảng 3 chiều các phần tử 1 với kích thước 2x3x4.</a:t>
            </a:r>
          </a:p>
          <a:p>
            <a:pPr>
              <a:lnSpc>
                <a:spcPct val="170000"/>
              </a:lnSpc>
              <a:spcAft>
                <a:spcPts val="600"/>
              </a:spcAft>
            </a:pPr>
            <a:r>
              <a:rPr lang="vi-VN" sz="2500" b="1"/>
              <a:t>np.arange(1,7,2)</a:t>
            </a:r>
            <a:r>
              <a:rPr lang="vi-VN" sz="2500"/>
              <a:t>: Tạo mảng với các phần tử từ 1 -</a:t>
            </a:r>
            <a:r>
              <a:rPr lang="en-US" sz="2500"/>
              <a:t>&gt;</a:t>
            </a:r>
            <a:r>
              <a:rPr lang="vi-VN" sz="2500"/>
              <a:t> 6 với bước nhảy là 2.</a:t>
            </a:r>
          </a:p>
          <a:p>
            <a:pPr>
              <a:lnSpc>
                <a:spcPct val="170000"/>
              </a:lnSpc>
              <a:spcAft>
                <a:spcPts val="600"/>
              </a:spcAft>
            </a:pPr>
            <a:r>
              <a:rPr lang="vi-VN" sz="2500" b="1"/>
              <a:t>np.full((2,3),5)</a:t>
            </a:r>
            <a:r>
              <a:rPr lang="vi-VN" sz="2500"/>
              <a:t>: Tạo mảng 2 chiều các phần tử 5 với kích thước 2x3.</a:t>
            </a:r>
          </a:p>
          <a:p>
            <a:pPr>
              <a:lnSpc>
                <a:spcPct val="170000"/>
              </a:lnSpc>
              <a:spcAft>
                <a:spcPts val="600"/>
              </a:spcAft>
            </a:pPr>
            <a:r>
              <a:rPr lang="vi-VN" sz="2500" b="1"/>
              <a:t>np.eye(4, dtype=int)</a:t>
            </a:r>
            <a:r>
              <a:rPr lang="vi-VN" sz="2500"/>
              <a:t>: Tạo ma trận đơn vị với kích thước là 4x4.</a:t>
            </a:r>
          </a:p>
          <a:p>
            <a:pPr>
              <a:lnSpc>
                <a:spcPct val="170000"/>
              </a:lnSpc>
              <a:spcAft>
                <a:spcPts val="600"/>
              </a:spcAft>
            </a:pPr>
            <a:r>
              <a:rPr lang="vi-VN" sz="2500" b="1"/>
              <a:t>np.random.random((2,3))</a:t>
            </a:r>
            <a:r>
              <a:rPr lang="vi-VN" sz="2500"/>
              <a:t>: Tạo ma trận các phần tử ngẫu nhiên với kích thước 2x3.</a:t>
            </a:r>
            <a:endParaRPr lang="en-US" sz="2500"/>
          </a:p>
          <a:p>
            <a:pPr>
              <a:lnSpc>
                <a:spcPct val="170000"/>
              </a:lnSpc>
              <a:spcAft>
                <a:spcPts val="600"/>
              </a:spcAft>
            </a:pPr>
            <a:r>
              <a:rPr lang="en-US" sz="2600" b="1"/>
              <a:t>Np.random.randint(1, 100, (2, 3)): </a:t>
            </a:r>
            <a:r>
              <a:rPr lang="en-US" sz="2500"/>
              <a:t>Tạo ma trận các phần tử ngẫu nhiên trong [1, 100] với kích thước 2x3</a:t>
            </a:r>
            <a:endParaRPr lang="vi-VN" sz="2500"/>
          </a:p>
          <a:p>
            <a:endParaRPr lang="fr-F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76</a:t>
            </a:fld>
            <a:endParaRPr lang="en-US"/>
          </a:p>
        </p:txBody>
      </p:sp>
    </p:spTree>
    <p:extLst>
      <p:ext uri="{BB962C8B-B14F-4D97-AF65-F5344CB8AC3E}">
        <p14:creationId xmlns:p14="http://schemas.microsoft.com/office/powerpoint/2010/main" val="29960531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(Numpy array) – Thao tác với mảng</a:t>
            </a:r>
            <a:endParaRPr lang="fr-FR"/>
          </a:p>
        </p:txBody>
      </p:sp>
      <p:sp>
        <p:nvSpPr>
          <p:cNvPr id="3" name="Content Placeholder 2"/>
          <p:cNvSpPr>
            <a:spLocks noGrp="1"/>
          </p:cNvSpPr>
          <p:nvPr>
            <p:ph idx="1"/>
          </p:nvPr>
        </p:nvSpPr>
        <p:spPr>
          <a:xfrm>
            <a:off x="628650" y="1825625"/>
            <a:ext cx="8373682" cy="4351338"/>
          </a:xfrm>
        </p:spPr>
        <p:txBody>
          <a:bodyPr>
            <a:normAutofit/>
          </a:bodyPr>
          <a:lstStyle/>
          <a:p>
            <a:r>
              <a:rPr lang="vi-VN" sz="2400" b="1"/>
              <a:t>dtype</a:t>
            </a:r>
            <a:r>
              <a:rPr lang="vi-VN" sz="2400"/>
              <a:t>: Kiểu dữ liệu của phần tử trong mảng.</a:t>
            </a:r>
          </a:p>
          <a:p>
            <a:r>
              <a:rPr lang="vi-VN" sz="2400" b="1"/>
              <a:t>shape</a:t>
            </a:r>
            <a:r>
              <a:rPr lang="vi-VN" sz="2400"/>
              <a:t>: Kích thước của mảng.</a:t>
            </a:r>
          </a:p>
          <a:p>
            <a:r>
              <a:rPr lang="vi-VN" sz="2400" b="1"/>
              <a:t>size</a:t>
            </a:r>
            <a:r>
              <a:rPr lang="vi-VN" sz="2400"/>
              <a:t>: Số phần tử trong mảng.</a:t>
            </a:r>
          </a:p>
          <a:p>
            <a:r>
              <a:rPr lang="vi-VN" sz="2400" b="1"/>
              <a:t>ndim</a:t>
            </a:r>
            <a:r>
              <a:rPr lang="vi-VN" sz="2400"/>
              <a:t>: Số chiều của mảng.</a:t>
            </a:r>
          </a:p>
          <a:p>
            <a:endParaRPr lang="fr-F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77</a:t>
            </a:fld>
            <a:endParaRPr lang="en-US"/>
          </a:p>
        </p:txBody>
      </p:sp>
      <p:sp>
        <p:nvSpPr>
          <p:cNvPr id="6" name="TextBox 5"/>
          <p:cNvSpPr txBox="1"/>
          <p:nvPr/>
        </p:nvSpPr>
        <p:spPr>
          <a:xfrm>
            <a:off x="628650" y="3773510"/>
            <a:ext cx="4419868" cy="2403453"/>
          </a:xfrm>
          <a:prstGeom prst="rect">
            <a:avLst/>
          </a:prstGeom>
          <a:noFill/>
        </p:spPr>
        <p:txBody>
          <a:bodyPr wrap="square" rtlCol="0">
            <a:spAutoFit/>
          </a:bodyPr>
          <a:lstStyle/>
          <a:p>
            <a:endParaRPr lang="fr-FR"/>
          </a:p>
        </p:txBody>
      </p:sp>
      <p:pic>
        <p:nvPicPr>
          <p:cNvPr id="8" name="Picture 7"/>
          <p:cNvPicPr>
            <a:picLocks noChangeAspect="1"/>
          </p:cNvPicPr>
          <p:nvPr/>
        </p:nvPicPr>
        <p:blipFill>
          <a:blip r:embed="rId2"/>
          <a:stretch>
            <a:fillRect/>
          </a:stretch>
        </p:blipFill>
        <p:spPr>
          <a:xfrm>
            <a:off x="819417" y="3721705"/>
            <a:ext cx="6534420" cy="1474338"/>
          </a:xfrm>
          <a:prstGeom prst="rect">
            <a:avLst/>
          </a:prstGeom>
        </p:spPr>
      </p:pic>
      <p:pic>
        <p:nvPicPr>
          <p:cNvPr id="9" name="Picture 8"/>
          <p:cNvPicPr>
            <a:picLocks noChangeAspect="1"/>
          </p:cNvPicPr>
          <p:nvPr/>
        </p:nvPicPr>
        <p:blipFill>
          <a:blip r:embed="rId3"/>
          <a:stretch>
            <a:fillRect/>
          </a:stretch>
        </p:blipFill>
        <p:spPr>
          <a:xfrm>
            <a:off x="856846" y="5325850"/>
            <a:ext cx="4687473" cy="851113"/>
          </a:xfrm>
          <a:prstGeom prst="rect">
            <a:avLst/>
          </a:prstGeom>
        </p:spPr>
      </p:pic>
    </p:spTree>
    <p:extLst>
      <p:ext uri="{BB962C8B-B14F-4D97-AF65-F5344CB8AC3E}">
        <p14:creationId xmlns:p14="http://schemas.microsoft.com/office/powerpoint/2010/main" val="24362113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(Numpy array) – Thao tác với mảng</a:t>
            </a:r>
            <a:endParaRPr lang="fr-FR"/>
          </a:p>
        </p:txBody>
      </p:sp>
      <p:sp>
        <p:nvSpPr>
          <p:cNvPr id="3" name="Content Placeholder 2"/>
          <p:cNvSpPr>
            <a:spLocks noGrp="1"/>
          </p:cNvSpPr>
          <p:nvPr>
            <p:ph idx="1"/>
          </p:nvPr>
        </p:nvSpPr>
        <p:spPr>
          <a:xfrm>
            <a:off x="628650" y="1825625"/>
            <a:ext cx="8373682" cy="4351338"/>
          </a:xfrm>
        </p:spPr>
        <p:txBody>
          <a:bodyPr>
            <a:normAutofit/>
          </a:bodyPr>
          <a:lstStyle/>
          <a:p>
            <a:r>
              <a:rPr lang="vi-VN" sz="2400" b="1"/>
              <a:t>dtype</a:t>
            </a:r>
            <a:r>
              <a:rPr lang="vi-VN" sz="2400"/>
              <a:t>: Kiểu dữ liệu của phần tử trong mảng.</a:t>
            </a:r>
          </a:p>
          <a:p>
            <a:r>
              <a:rPr lang="vi-VN" sz="2400" b="1"/>
              <a:t>shape</a:t>
            </a:r>
            <a:r>
              <a:rPr lang="vi-VN" sz="2400"/>
              <a:t>: Kích thước của mảng.</a:t>
            </a:r>
          </a:p>
          <a:p>
            <a:r>
              <a:rPr lang="vi-VN" sz="2400" b="1"/>
              <a:t>size</a:t>
            </a:r>
            <a:r>
              <a:rPr lang="vi-VN" sz="2400"/>
              <a:t>: Số phần tử trong mảng.</a:t>
            </a:r>
          </a:p>
          <a:p>
            <a:r>
              <a:rPr lang="vi-VN" sz="2400" b="1"/>
              <a:t>ndim</a:t>
            </a:r>
            <a:r>
              <a:rPr lang="vi-VN" sz="2400"/>
              <a:t>: Số chiều của mảng.</a:t>
            </a:r>
          </a:p>
          <a:p>
            <a:endParaRPr lang="fr-F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78</a:t>
            </a:fld>
            <a:endParaRPr lang="en-US"/>
          </a:p>
        </p:txBody>
      </p:sp>
      <p:sp>
        <p:nvSpPr>
          <p:cNvPr id="6" name="TextBox 5"/>
          <p:cNvSpPr txBox="1"/>
          <p:nvPr/>
        </p:nvSpPr>
        <p:spPr>
          <a:xfrm>
            <a:off x="628650" y="3773510"/>
            <a:ext cx="4419868" cy="2403453"/>
          </a:xfrm>
          <a:prstGeom prst="rect">
            <a:avLst/>
          </a:prstGeom>
          <a:noFill/>
        </p:spPr>
        <p:txBody>
          <a:bodyPr wrap="square" rtlCol="0">
            <a:spAutoFit/>
          </a:bodyPr>
          <a:lstStyle/>
          <a:p>
            <a:endParaRPr lang="fr-FR"/>
          </a:p>
        </p:txBody>
      </p:sp>
      <p:pic>
        <p:nvPicPr>
          <p:cNvPr id="7" name="Picture 6"/>
          <p:cNvPicPr>
            <a:picLocks noChangeAspect="1"/>
          </p:cNvPicPr>
          <p:nvPr/>
        </p:nvPicPr>
        <p:blipFill>
          <a:blip r:embed="rId2"/>
          <a:stretch>
            <a:fillRect/>
          </a:stretch>
        </p:blipFill>
        <p:spPr>
          <a:xfrm>
            <a:off x="819418" y="3773510"/>
            <a:ext cx="4229100" cy="1323975"/>
          </a:xfrm>
          <a:prstGeom prst="rect">
            <a:avLst/>
          </a:prstGeom>
        </p:spPr>
      </p:pic>
      <p:pic>
        <p:nvPicPr>
          <p:cNvPr id="10" name="Picture 9"/>
          <p:cNvPicPr>
            <a:picLocks noChangeAspect="1"/>
          </p:cNvPicPr>
          <p:nvPr/>
        </p:nvPicPr>
        <p:blipFill>
          <a:blip r:embed="rId3"/>
          <a:stretch>
            <a:fillRect/>
          </a:stretch>
        </p:blipFill>
        <p:spPr>
          <a:xfrm>
            <a:off x="819418" y="5489901"/>
            <a:ext cx="4319252" cy="619125"/>
          </a:xfrm>
          <a:prstGeom prst="rect">
            <a:avLst/>
          </a:prstGeom>
        </p:spPr>
      </p:pic>
    </p:spTree>
    <p:extLst>
      <p:ext uri="{BB962C8B-B14F-4D97-AF65-F5344CB8AC3E}">
        <p14:creationId xmlns:p14="http://schemas.microsoft.com/office/powerpoint/2010/main" val="16532522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6250"/>
          </a:xfrm>
        </p:spPr>
        <p:txBody>
          <a:bodyPr/>
          <a:lstStyle/>
          <a:p>
            <a:r>
              <a:rPr lang="en-US" dirty="0" err="1"/>
              <a:t>Truy</a:t>
            </a:r>
            <a:r>
              <a:rPr lang="en-US" dirty="0"/>
              <a:t> </a:t>
            </a:r>
            <a:r>
              <a:rPr lang="en-US" dirty="0" err="1"/>
              <a:t>xuất</a:t>
            </a:r>
            <a:r>
              <a:rPr lang="en-US" dirty="0"/>
              <a:t> </a:t>
            </a:r>
            <a:r>
              <a:rPr lang="en-US" dirty="0" err="1"/>
              <a:t>mảng</a:t>
            </a:r>
            <a:r>
              <a:rPr lang="en-US" dirty="0"/>
              <a:t> (Index </a:t>
            </a:r>
            <a:r>
              <a:rPr lang="en-US" dirty="0" err="1"/>
              <a:t>và</a:t>
            </a:r>
            <a:r>
              <a:rPr lang="en-US" dirty="0"/>
              <a:t> Slicing)</a:t>
            </a:r>
          </a:p>
        </p:txBody>
      </p:sp>
      <p:sp>
        <p:nvSpPr>
          <p:cNvPr id="3" name="Content Placeholder 2"/>
          <p:cNvSpPr>
            <a:spLocks noGrp="1"/>
          </p:cNvSpPr>
          <p:nvPr>
            <p:ph idx="1"/>
          </p:nvPr>
        </p:nvSpPr>
        <p:spPr>
          <a:xfrm>
            <a:off x="628650" y="1379349"/>
            <a:ext cx="7886700" cy="4797614"/>
          </a:xfrm>
        </p:spPr>
        <p:txBody>
          <a:bodyPr>
            <a:normAutofit/>
          </a:bodyPr>
          <a:lstStyle/>
          <a:p>
            <a:r>
              <a:rPr lang="en-US" dirty="0" err="1"/>
              <a:t>Chỉ</a:t>
            </a:r>
            <a:r>
              <a:rPr lang="en-US" dirty="0"/>
              <a:t> </a:t>
            </a:r>
            <a:r>
              <a:rPr lang="en-US" dirty="0" err="1"/>
              <a:t>mục</a:t>
            </a:r>
            <a:r>
              <a:rPr lang="en-US" dirty="0"/>
              <a:t>:</a:t>
            </a:r>
          </a:p>
          <a:p>
            <a:pPr marL="114300" indent="0">
              <a:lnSpc>
                <a:spcPct val="80000"/>
              </a:lnSpc>
              <a:buNone/>
            </a:pPr>
            <a:r>
              <a:rPr lang="en-US" sz="2200" dirty="0">
                <a:latin typeface="Courier New" panose="02070309020205020404" pitchFamily="49" charset="0"/>
                <a:cs typeface="Courier New" panose="02070309020205020404" pitchFamily="49" charset="0"/>
              </a:rPr>
              <a:t>import </a:t>
            </a:r>
            <a:r>
              <a:rPr lang="en-US" sz="2200" dirty="0" err="1">
                <a:latin typeface="Courier New" panose="02070309020205020404" pitchFamily="49" charset="0"/>
                <a:cs typeface="Courier New" panose="02070309020205020404" pitchFamily="49" charset="0"/>
              </a:rPr>
              <a:t>numpy</a:t>
            </a:r>
            <a:r>
              <a:rPr lang="en-US" sz="2200" dirty="0">
                <a:latin typeface="Courier New" panose="02070309020205020404" pitchFamily="49" charset="0"/>
                <a:cs typeface="Courier New" panose="02070309020205020404" pitchFamily="49" charset="0"/>
              </a:rPr>
              <a:t> as np</a:t>
            </a:r>
          </a:p>
          <a:p>
            <a:pPr marL="114300" indent="0">
              <a:lnSpc>
                <a:spcPct val="80000"/>
              </a:lnSpc>
              <a:buNone/>
            </a:pPr>
            <a:r>
              <a:rPr lang="en-US" sz="2200" dirty="0">
                <a:latin typeface="Courier New" panose="02070309020205020404" pitchFamily="49" charset="0"/>
                <a:cs typeface="Courier New" panose="02070309020205020404" pitchFamily="49" charset="0"/>
              </a:rPr>
              <a:t>a=</a:t>
            </a:r>
            <a:r>
              <a:rPr lang="en-US" sz="2200" dirty="0" err="1">
                <a:latin typeface="Courier New" panose="02070309020205020404" pitchFamily="49" charset="0"/>
                <a:cs typeface="Courier New" panose="02070309020205020404" pitchFamily="49" charset="0"/>
              </a:rPr>
              <a:t>np.array</a:t>
            </a:r>
            <a:r>
              <a:rPr lang="en-US" sz="2200" dirty="0">
                <a:latin typeface="Courier New" panose="02070309020205020404" pitchFamily="49" charset="0"/>
                <a:cs typeface="Courier New" panose="02070309020205020404" pitchFamily="49" charset="0"/>
              </a:rPr>
              <a:t>([1,2,3,4,5,6,7]) </a:t>
            </a:r>
          </a:p>
          <a:p>
            <a:pPr marL="114300" indent="0">
              <a:lnSpc>
                <a:spcPct val="80000"/>
              </a:lnSpc>
              <a:buNone/>
            </a:pPr>
            <a:r>
              <a:rPr lang="en-US" sz="2200" dirty="0">
                <a:latin typeface="Courier New" panose="02070309020205020404" pitchFamily="49" charset="0"/>
                <a:cs typeface="Courier New" panose="02070309020205020404" pitchFamily="49" charset="0"/>
              </a:rPr>
              <a:t>a2 = </a:t>
            </a:r>
            <a:r>
              <a:rPr lang="en-US" sz="2200" dirty="0" err="1">
                <a:latin typeface="Courier New" panose="02070309020205020404" pitchFamily="49" charset="0"/>
                <a:cs typeface="Courier New" panose="02070309020205020404" pitchFamily="49" charset="0"/>
              </a:rPr>
              <a:t>np.array</a:t>
            </a:r>
            <a:r>
              <a:rPr lang="en-US" sz="2200" dirty="0">
                <a:latin typeface="Courier New" panose="02070309020205020404" pitchFamily="49" charset="0"/>
                <a:cs typeface="Courier New" panose="02070309020205020404" pitchFamily="49" charset="0"/>
              </a:rPr>
              <a:t>([[1,2,3,4,5], [6,7,8,9,10]])</a:t>
            </a:r>
          </a:p>
          <a:p>
            <a:pPr marL="114300" indent="0">
              <a:lnSpc>
                <a:spcPct val="80000"/>
              </a:lnSpc>
              <a:buNone/>
            </a:pPr>
            <a:r>
              <a:rPr lang="en-US" sz="2200" dirty="0">
                <a:latin typeface="Courier New" panose="02070309020205020404" pitchFamily="49" charset="0"/>
                <a:cs typeface="Courier New" panose="02070309020205020404" pitchFamily="49" charset="0"/>
              </a:rPr>
              <a:t>print(a[2]) 	#</a:t>
            </a:r>
            <a:r>
              <a:rPr lang="en-US" sz="2200" dirty="0">
                <a:latin typeface="Courier New" panose="02070309020205020404" pitchFamily="49" charset="0"/>
                <a:cs typeface="Courier New" panose="02070309020205020404" pitchFamily="49" charset="0"/>
                <a:sym typeface="Wingdings" panose="05000000000000000000" pitchFamily="2" charset="2"/>
              </a:rPr>
              <a:t>3</a:t>
            </a:r>
          </a:p>
          <a:p>
            <a:pPr marL="114300" indent="0">
              <a:lnSpc>
                <a:spcPct val="80000"/>
              </a:lnSpc>
              <a:buNone/>
            </a:pPr>
            <a:r>
              <a:rPr lang="en-US" sz="2200" dirty="0">
                <a:latin typeface="Courier New" panose="02070309020205020404" pitchFamily="49" charset="0"/>
                <a:cs typeface="Courier New" panose="02070309020205020404" pitchFamily="49" charset="0"/>
                <a:sym typeface="Wingdings" panose="05000000000000000000" pitchFamily="2" charset="2"/>
              </a:rPr>
              <a:t>print(a2[0,1] 	# 2</a:t>
            </a:r>
          </a:p>
          <a:p>
            <a:pPr>
              <a:lnSpc>
                <a:spcPct val="80000"/>
              </a:lnSpc>
            </a:pPr>
            <a:r>
              <a:rPr lang="en-US" dirty="0">
                <a:sym typeface="Wingdings" panose="05000000000000000000" pitchFamily="2" charset="2"/>
              </a:rPr>
              <a:t>Slicing</a:t>
            </a:r>
            <a:endParaRPr lang="en-US" sz="2200" dirty="0">
              <a:latin typeface="Courier New" panose="02070309020205020404" pitchFamily="49" charset="0"/>
              <a:cs typeface="Courier New" panose="02070309020205020404" pitchFamily="49" charset="0"/>
              <a:sym typeface="Wingdings" panose="05000000000000000000" pitchFamily="2" charset="2"/>
            </a:endParaRPr>
          </a:p>
          <a:p>
            <a:pPr marL="114300" indent="0">
              <a:lnSpc>
                <a:spcPct val="80000"/>
              </a:lnSpc>
              <a:buNone/>
            </a:pPr>
            <a:r>
              <a:rPr lang="en-US" sz="2200" dirty="0">
                <a:latin typeface="Courier New" panose="02070309020205020404" pitchFamily="49" charset="0"/>
                <a:cs typeface="Courier New" panose="02070309020205020404" pitchFamily="49" charset="0"/>
              </a:rPr>
              <a:t>print(a[1:5])	#</a:t>
            </a:r>
            <a:r>
              <a:rPr lang="en-US" sz="2200" dirty="0">
                <a:latin typeface="Courier New" panose="02070309020205020404" pitchFamily="49" charset="0"/>
                <a:cs typeface="Courier New" panose="02070309020205020404" pitchFamily="49" charset="0"/>
                <a:sym typeface="Wingdings" panose="05000000000000000000" pitchFamily="2" charset="2"/>
              </a:rPr>
              <a:t></a:t>
            </a:r>
            <a:r>
              <a:rPr lang="en-US" sz="2200" dirty="0">
                <a:latin typeface="Courier New" panose="02070309020205020404" pitchFamily="49" charset="0"/>
                <a:cs typeface="Courier New" panose="02070309020205020404" pitchFamily="49" charset="0"/>
              </a:rPr>
              <a:t>[2 3 4 5]</a:t>
            </a:r>
          </a:p>
          <a:p>
            <a:pPr marL="114300" indent="0">
              <a:lnSpc>
                <a:spcPct val="80000"/>
              </a:lnSpc>
              <a:buNone/>
            </a:pPr>
            <a:r>
              <a:rPr lang="en-US" sz="2200" dirty="0">
                <a:latin typeface="Courier New" panose="02070309020205020404" pitchFamily="49" charset="0"/>
                <a:cs typeface="Courier New" panose="02070309020205020404" pitchFamily="49" charset="0"/>
              </a:rPr>
              <a:t>print(a[:4])	#</a:t>
            </a:r>
            <a:r>
              <a:rPr lang="en-US" sz="2200" dirty="0">
                <a:latin typeface="Courier New" panose="02070309020205020404" pitchFamily="49" charset="0"/>
                <a:cs typeface="Courier New" panose="02070309020205020404" pitchFamily="49" charset="0"/>
                <a:sym typeface="Wingdings" panose="05000000000000000000" pitchFamily="2" charset="2"/>
              </a:rPr>
              <a:t></a:t>
            </a:r>
            <a:r>
              <a:rPr lang="en-US" sz="2200" dirty="0">
                <a:latin typeface="Courier New" panose="02070309020205020404" pitchFamily="49" charset="0"/>
                <a:cs typeface="Courier New" panose="02070309020205020404" pitchFamily="49" charset="0"/>
              </a:rPr>
              <a:t> [1 2 3 4]</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79</a:t>
            </a:fld>
            <a:endParaRPr lang="en-US"/>
          </a:p>
        </p:txBody>
      </p:sp>
    </p:spTree>
    <p:extLst>
      <p:ext uri="{BB962C8B-B14F-4D97-AF65-F5344CB8AC3E}">
        <p14:creationId xmlns:p14="http://schemas.microsoft.com/office/powerpoint/2010/main" val="30161334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9D0D-4DED-B5DE-B401-D490C51C86CA}"/>
              </a:ext>
            </a:extLst>
          </p:cNvPr>
          <p:cNvSpPr>
            <a:spLocks noGrp="1"/>
          </p:cNvSpPr>
          <p:nvPr>
            <p:ph type="title"/>
          </p:nvPr>
        </p:nvSpPr>
        <p:spPr/>
        <p:txBody>
          <a:bodyPr/>
          <a:lstStyle/>
          <a:p>
            <a:r>
              <a:rPr lang="en-US"/>
              <a:t>Tìm kiếm trên mảng: where</a:t>
            </a:r>
          </a:p>
        </p:txBody>
      </p:sp>
      <p:sp>
        <p:nvSpPr>
          <p:cNvPr id="4" name="Footer Placeholder 3">
            <a:extLst>
              <a:ext uri="{FF2B5EF4-FFF2-40B4-BE49-F238E27FC236}">
                <a16:creationId xmlns:a16="http://schemas.microsoft.com/office/drawing/2014/main" id="{EBFB0089-8D71-8A2A-B0F8-2B782D68A0D9}"/>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B029A5EC-FC6A-0C40-880E-282DB0D27EBE}"/>
              </a:ext>
            </a:extLst>
          </p:cNvPr>
          <p:cNvSpPr>
            <a:spLocks noGrp="1"/>
          </p:cNvSpPr>
          <p:nvPr>
            <p:ph type="sldNum" sz="quarter" idx="12"/>
          </p:nvPr>
        </p:nvSpPr>
        <p:spPr/>
        <p:txBody>
          <a:bodyPr/>
          <a:lstStyle/>
          <a:p>
            <a:fld id="{ADD32889-1A4F-4FED-AEC4-AD6BC7117F25}" type="slidenum">
              <a:rPr lang="en-US" smtClean="0"/>
              <a:t>80</a:t>
            </a:fld>
            <a:endParaRPr lang="en-US"/>
          </a:p>
        </p:txBody>
      </p:sp>
      <p:sp>
        <p:nvSpPr>
          <p:cNvPr id="8" name="Content Placeholder 7">
            <a:extLst>
              <a:ext uri="{FF2B5EF4-FFF2-40B4-BE49-F238E27FC236}">
                <a16:creationId xmlns:a16="http://schemas.microsoft.com/office/drawing/2014/main" id="{96CDD830-8F38-CFF7-74A8-CFB6975FA3A5}"/>
              </a:ext>
            </a:extLst>
          </p:cNvPr>
          <p:cNvSpPr>
            <a:spLocks noGrp="1"/>
          </p:cNvSpPr>
          <p:nvPr>
            <p:ph idx="1"/>
          </p:nvPr>
        </p:nvSpPr>
        <p:spPr>
          <a:xfrm>
            <a:off x="628650" y="1825625"/>
            <a:ext cx="8626186" cy="4351338"/>
          </a:xfrm>
        </p:spPr>
        <p:txBody>
          <a:bodyPr/>
          <a:lstStyle/>
          <a:p>
            <a:pPr marL="0" indent="0">
              <a:buNone/>
            </a:pPr>
            <a:r>
              <a:rPr lang="en-US">
                <a:latin typeface="Courier New" panose="02070309020205020404" pitchFamily="49" charset="0"/>
                <a:cs typeface="Courier New" panose="02070309020205020404" pitchFamily="49" charset="0"/>
              </a:rPr>
              <a:t>import numpy as np</a:t>
            </a:r>
          </a:p>
          <a:p>
            <a:pPr marL="0" indent="0">
              <a:buNone/>
            </a:pPr>
            <a:r>
              <a:rPr lang="en-US">
                <a:latin typeface="Courier New" panose="02070309020205020404" pitchFamily="49" charset="0"/>
                <a:cs typeface="Courier New" panose="02070309020205020404" pitchFamily="49" charset="0"/>
              </a:rPr>
              <a:t>arr = np.array([1, 2, 3, 4, 5, 4, 4])</a:t>
            </a:r>
          </a:p>
          <a:p>
            <a:pPr marL="0" indent="0">
              <a:buNone/>
            </a:pPr>
            <a:r>
              <a:rPr lang="en-US">
                <a:latin typeface="Courier New" panose="02070309020205020404" pitchFamily="49" charset="0"/>
                <a:cs typeface="Courier New" panose="02070309020205020404" pitchFamily="49" charset="0"/>
              </a:rPr>
              <a:t>x = </a:t>
            </a:r>
            <a:r>
              <a:rPr lang="en-US" b="1">
                <a:solidFill>
                  <a:srgbClr val="0070C0"/>
                </a:solidFill>
                <a:latin typeface="Courier New" panose="02070309020205020404" pitchFamily="49" charset="0"/>
                <a:cs typeface="Courier New" panose="02070309020205020404" pitchFamily="49" charset="0"/>
              </a:rPr>
              <a:t>np.where(arr == 4)</a:t>
            </a:r>
          </a:p>
          <a:p>
            <a:pPr marL="0" indent="0">
              <a:buNone/>
            </a:pPr>
            <a:r>
              <a:rPr lang="en-US">
                <a:latin typeface="Courier New" panose="02070309020205020404" pitchFamily="49" charset="0"/>
                <a:cs typeface="Courier New" panose="02070309020205020404" pitchFamily="49" charset="0"/>
              </a:rPr>
              <a:t>print(x)</a:t>
            </a:r>
          </a:p>
          <a:p>
            <a:pPr marL="0" indent="0">
              <a:buNone/>
            </a:pPr>
            <a:r>
              <a:rPr lang="en-US">
                <a:latin typeface="Courier New" panose="02070309020205020404" pitchFamily="49" charset="0"/>
                <a:cs typeface="Courier New" panose="02070309020205020404" pitchFamily="49" charset="0"/>
              </a:rPr>
              <a:t>print(x[0])</a:t>
            </a:r>
          </a:p>
          <a:p>
            <a:pPr>
              <a:buFont typeface="Symbol" panose="05050102010706020507" pitchFamily="18" charset="2"/>
              <a:buChar char="Þ"/>
            </a:pPr>
            <a:r>
              <a:rPr lang="en-US">
                <a:latin typeface="Courier New" panose="02070309020205020404" pitchFamily="49" charset="0"/>
                <a:cs typeface="Courier New" panose="02070309020205020404" pitchFamily="49" charset="0"/>
              </a:rPr>
              <a:t>(array([3, 5, 6]),) </a:t>
            </a:r>
          </a:p>
          <a:p>
            <a:pPr>
              <a:buFont typeface="Symbol" panose="05050102010706020507" pitchFamily="18" charset="2"/>
              <a:buChar char="Þ"/>
            </a:pPr>
            <a:r>
              <a:rPr lang="en-US">
                <a:latin typeface="Courier New" panose="02070309020205020404" pitchFamily="49" charset="0"/>
                <a:cs typeface="Courier New" panose="02070309020205020404" pitchFamily="49" charset="0"/>
              </a:rPr>
              <a:t>[3, 5, 6]</a:t>
            </a:r>
          </a:p>
        </p:txBody>
      </p:sp>
    </p:spTree>
    <p:extLst>
      <p:ext uri="{BB962C8B-B14F-4D97-AF65-F5344CB8AC3E}">
        <p14:creationId xmlns:p14="http://schemas.microsoft.com/office/powerpoint/2010/main" val="25851421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9D0D-4DED-B5DE-B401-D490C51C86CA}"/>
              </a:ext>
            </a:extLst>
          </p:cNvPr>
          <p:cNvSpPr>
            <a:spLocks noGrp="1"/>
          </p:cNvSpPr>
          <p:nvPr>
            <p:ph type="title"/>
          </p:nvPr>
        </p:nvSpPr>
        <p:spPr/>
        <p:txBody>
          <a:bodyPr/>
          <a:lstStyle/>
          <a:p>
            <a:r>
              <a:rPr lang="en-US"/>
              <a:t>Tìm kiếm trên mảng: where</a:t>
            </a:r>
          </a:p>
        </p:txBody>
      </p:sp>
      <p:sp>
        <p:nvSpPr>
          <p:cNvPr id="4" name="Footer Placeholder 3">
            <a:extLst>
              <a:ext uri="{FF2B5EF4-FFF2-40B4-BE49-F238E27FC236}">
                <a16:creationId xmlns:a16="http://schemas.microsoft.com/office/drawing/2014/main" id="{EBFB0089-8D71-8A2A-B0F8-2B782D68A0D9}"/>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B029A5EC-FC6A-0C40-880E-282DB0D27EBE}"/>
              </a:ext>
            </a:extLst>
          </p:cNvPr>
          <p:cNvSpPr>
            <a:spLocks noGrp="1"/>
          </p:cNvSpPr>
          <p:nvPr>
            <p:ph type="sldNum" sz="quarter" idx="12"/>
          </p:nvPr>
        </p:nvSpPr>
        <p:spPr/>
        <p:txBody>
          <a:bodyPr/>
          <a:lstStyle/>
          <a:p>
            <a:fld id="{ADD32889-1A4F-4FED-AEC4-AD6BC7117F25}" type="slidenum">
              <a:rPr lang="en-US" smtClean="0"/>
              <a:t>81</a:t>
            </a:fld>
            <a:endParaRPr lang="en-US"/>
          </a:p>
        </p:txBody>
      </p:sp>
      <p:sp>
        <p:nvSpPr>
          <p:cNvPr id="8" name="Content Placeholder 7">
            <a:extLst>
              <a:ext uri="{FF2B5EF4-FFF2-40B4-BE49-F238E27FC236}">
                <a16:creationId xmlns:a16="http://schemas.microsoft.com/office/drawing/2014/main" id="{96CDD830-8F38-CFF7-74A8-CFB6975FA3A5}"/>
              </a:ext>
            </a:extLst>
          </p:cNvPr>
          <p:cNvSpPr>
            <a:spLocks noGrp="1"/>
          </p:cNvSpPr>
          <p:nvPr>
            <p:ph idx="1"/>
          </p:nvPr>
        </p:nvSpPr>
        <p:spPr>
          <a:xfrm>
            <a:off x="512624" y="1825625"/>
            <a:ext cx="8839200" cy="4351338"/>
          </a:xfrm>
        </p:spPr>
        <p:txBody>
          <a:bodyPr/>
          <a:lstStyle/>
          <a:p>
            <a:pPr marL="0" indent="0">
              <a:buNone/>
            </a:pPr>
            <a:r>
              <a:rPr lang="en-US" sz="2400">
                <a:latin typeface="Courier New" panose="02070309020205020404" pitchFamily="49" charset="0"/>
                <a:cs typeface="Courier New" panose="02070309020205020404" pitchFamily="49" charset="0"/>
              </a:rPr>
              <a:t>import numpy as np</a:t>
            </a:r>
          </a:p>
          <a:p>
            <a:pPr marL="0" indent="0">
              <a:buNone/>
            </a:pPr>
            <a:r>
              <a:rPr lang="en-US" sz="2400">
                <a:latin typeface="Courier New" panose="02070309020205020404" pitchFamily="49" charset="0"/>
                <a:cs typeface="Courier New" panose="02070309020205020404" pitchFamily="49" charset="0"/>
              </a:rPr>
              <a:t>arr = np.array([[1, 2, 3, 4],[4, 5, 6, 4]])</a:t>
            </a:r>
          </a:p>
          <a:p>
            <a:pPr marL="0" indent="0">
              <a:buNone/>
            </a:pPr>
            <a:r>
              <a:rPr lang="en-US" sz="2400">
                <a:latin typeface="Courier New" panose="02070309020205020404" pitchFamily="49" charset="0"/>
                <a:cs typeface="Courier New" panose="02070309020205020404" pitchFamily="49" charset="0"/>
              </a:rPr>
              <a:t>x = </a:t>
            </a:r>
            <a:r>
              <a:rPr lang="en-US" sz="2400">
                <a:solidFill>
                  <a:srgbClr val="0070C0"/>
                </a:solidFill>
                <a:latin typeface="Courier New" panose="02070309020205020404" pitchFamily="49" charset="0"/>
                <a:cs typeface="Courier New" panose="02070309020205020404" pitchFamily="49" charset="0"/>
              </a:rPr>
              <a:t>list(zip(*np.where(arr == 4)))</a:t>
            </a:r>
          </a:p>
          <a:p>
            <a:pPr marL="0" indent="0">
              <a:buNone/>
            </a:pPr>
            <a:r>
              <a:rPr lang="en-US" sz="2400">
                <a:latin typeface="Courier New" panose="02070309020205020404" pitchFamily="49" charset="0"/>
                <a:cs typeface="Courier New" panose="02070309020205020404" pitchFamily="49" charset="0"/>
              </a:rPr>
              <a:t>print(x)</a:t>
            </a:r>
          </a:p>
          <a:p>
            <a:pPr marL="0" indent="0">
              <a:buNone/>
            </a:pPr>
            <a:r>
              <a:rPr lang="en-US" sz="2400">
                <a:latin typeface="Courier New" panose="02070309020205020404" pitchFamily="49" charset="0"/>
                <a:cs typeface="Courier New" panose="02070309020205020404" pitchFamily="49" charset="0"/>
              </a:rPr>
              <a:t>=&gt; [(0, 3), (1, 0), (1, 3)]</a:t>
            </a:r>
            <a:endParaRPr lang="en-US">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321262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BD82E-2FFF-BAE2-686F-2275355B2A57}"/>
              </a:ext>
            </a:extLst>
          </p:cNvPr>
          <p:cNvSpPr>
            <a:spLocks noGrp="1"/>
          </p:cNvSpPr>
          <p:nvPr>
            <p:ph type="title"/>
          </p:nvPr>
        </p:nvSpPr>
        <p:spPr/>
        <p:txBody>
          <a:bodyPr/>
          <a:lstStyle/>
          <a:p>
            <a:r>
              <a:rPr lang="en-US"/>
              <a:t>Numpy Array Sort</a:t>
            </a:r>
          </a:p>
        </p:txBody>
      </p:sp>
      <p:sp>
        <p:nvSpPr>
          <p:cNvPr id="3" name="Content Placeholder 2">
            <a:extLst>
              <a:ext uri="{FF2B5EF4-FFF2-40B4-BE49-F238E27FC236}">
                <a16:creationId xmlns:a16="http://schemas.microsoft.com/office/drawing/2014/main" id="{E9E3B688-A4AE-C62F-E8D1-845C92CFD79B}"/>
              </a:ext>
            </a:extLst>
          </p:cNvPr>
          <p:cNvSpPr>
            <a:spLocks noGrp="1"/>
          </p:cNvSpPr>
          <p:nvPr>
            <p:ph idx="1"/>
          </p:nvPr>
        </p:nvSpPr>
        <p:spPr/>
        <p:txBody>
          <a:bodyPr>
            <a:normAutofit/>
          </a:bodyPr>
          <a:lstStyle/>
          <a:p>
            <a:pPr marL="0" indent="0">
              <a:buNone/>
            </a:pPr>
            <a:r>
              <a:rPr lang="en-US">
                <a:solidFill>
                  <a:srgbClr val="0000CD"/>
                </a:solidFill>
                <a:effectLst/>
                <a:latin typeface="Courier New" panose="02070309020205020404" pitchFamily="49" charset="0"/>
                <a:cs typeface="Courier New" panose="02070309020205020404" pitchFamily="49" charset="0"/>
              </a:rPr>
              <a:t>import</a:t>
            </a:r>
            <a:r>
              <a:rPr lang="en-US">
                <a:solidFill>
                  <a:srgbClr val="000000"/>
                </a:solidFill>
                <a:effectLst/>
                <a:latin typeface="Courier New" panose="02070309020205020404" pitchFamily="49" charset="0"/>
                <a:cs typeface="Courier New" panose="02070309020205020404" pitchFamily="49" charset="0"/>
              </a:rPr>
              <a:t> numpy </a:t>
            </a:r>
            <a:r>
              <a:rPr lang="en-US">
                <a:solidFill>
                  <a:srgbClr val="0000CD"/>
                </a:solidFill>
                <a:effectLst/>
                <a:latin typeface="Courier New" panose="02070309020205020404" pitchFamily="49" charset="0"/>
                <a:cs typeface="Courier New" panose="02070309020205020404" pitchFamily="49" charset="0"/>
              </a:rPr>
              <a:t>as</a:t>
            </a:r>
            <a:r>
              <a:rPr lang="en-US">
                <a:solidFill>
                  <a:srgbClr val="000000"/>
                </a:solidFill>
                <a:effectLst/>
                <a:latin typeface="Courier New" panose="02070309020205020404" pitchFamily="49" charset="0"/>
                <a:cs typeface="Courier New" panose="02070309020205020404" pitchFamily="49" charset="0"/>
              </a:rPr>
              <a:t> np</a:t>
            </a:r>
            <a:br>
              <a:rPr lang="en-US">
                <a:solidFill>
                  <a:srgbClr val="000000"/>
                </a:solidFill>
                <a:effectLst/>
                <a:latin typeface="Courier New" panose="02070309020205020404" pitchFamily="49" charset="0"/>
                <a:cs typeface="Courier New" panose="02070309020205020404" pitchFamily="49" charset="0"/>
              </a:rPr>
            </a:br>
            <a:br>
              <a:rPr lang="en-US">
                <a:solidFill>
                  <a:srgbClr val="000000"/>
                </a:solidFill>
                <a:effectLst/>
                <a:latin typeface="Courier New" panose="02070309020205020404" pitchFamily="49" charset="0"/>
                <a:cs typeface="Courier New" panose="02070309020205020404" pitchFamily="49" charset="0"/>
              </a:rPr>
            </a:br>
            <a:r>
              <a:rPr lang="en-US">
                <a:solidFill>
                  <a:srgbClr val="000000"/>
                </a:solidFill>
                <a:effectLst/>
                <a:latin typeface="Courier New" panose="02070309020205020404" pitchFamily="49" charset="0"/>
                <a:cs typeface="Courier New" panose="02070309020205020404" pitchFamily="49" charset="0"/>
              </a:rPr>
              <a:t>arr = np.array([</a:t>
            </a:r>
            <a:r>
              <a:rPr lang="en-US">
                <a:solidFill>
                  <a:srgbClr val="FF0000"/>
                </a:solidFill>
                <a:effectLst/>
                <a:latin typeface="Courier New" panose="02070309020205020404" pitchFamily="49" charset="0"/>
                <a:cs typeface="Courier New" panose="02070309020205020404" pitchFamily="49" charset="0"/>
              </a:rPr>
              <a:t>3</a:t>
            </a:r>
            <a:r>
              <a:rPr lang="en-US">
                <a:solidFill>
                  <a:srgbClr val="000000"/>
                </a:solidFill>
                <a:effectLst/>
                <a:latin typeface="Courier New" panose="02070309020205020404" pitchFamily="49" charset="0"/>
                <a:cs typeface="Courier New" panose="02070309020205020404" pitchFamily="49" charset="0"/>
              </a:rPr>
              <a:t>, </a:t>
            </a:r>
            <a:r>
              <a:rPr lang="en-US">
                <a:solidFill>
                  <a:srgbClr val="FF0000"/>
                </a:solidFill>
                <a:effectLst/>
                <a:latin typeface="Courier New" panose="02070309020205020404" pitchFamily="49" charset="0"/>
                <a:cs typeface="Courier New" panose="02070309020205020404" pitchFamily="49" charset="0"/>
              </a:rPr>
              <a:t>2</a:t>
            </a:r>
            <a:r>
              <a:rPr lang="en-US">
                <a:solidFill>
                  <a:srgbClr val="000000"/>
                </a:solidFill>
                <a:effectLst/>
                <a:latin typeface="Courier New" panose="02070309020205020404" pitchFamily="49" charset="0"/>
                <a:cs typeface="Courier New" panose="02070309020205020404" pitchFamily="49" charset="0"/>
              </a:rPr>
              <a:t>, </a:t>
            </a:r>
            <a:r>
              <a:rPr lang="en-US">
                <a:solidFill>
                  <a:srgbClr val="FF0000"/>
                </a:solidFill>
                <a:effectLst/>
                <a:latin typeface="Courier New" panose="02070309020205020404" pitchFamily="49" charset="0"/>
                <a:cs typeface="Courier New" panose="02070309020205020404" pitchFamily="49" charset="0"/>
              </a:rPr>
              <a:t>0</a:t>
            </a:r>
            <a:r>
              <a:rPr lang="en-US">
                <a:solidFill>
                  <a:srgbClr val="000000"/>
                </a:solidFill>
                <a:effectLst/>
                <a:latin typeface="Courier New" panose="02070309020205020404" pitchFamily="49" charset="0"/>
                <a:cs typeface="Courier New" panose="02070309020205020404" pitchFamily="49" charset="0"/>
              </a:rPr>
              <a:t>, </a:t>
            </a:r>
            <a:r>
              <a:rPr lang="en-US">
                <a:solidFill>
                  <a:srgbClr val="FF0000"/>
                </a:solidFill>
                <a:effectLst/>
                <a:latin typeface="Courier New" panose="02070309020205020404" pitchFamily="49" charset="0"/>
                <a:cs typeface="Courier New" panose="02070309020205020404" pitchFamily="49" charset="0"/>
              </a:rPr>
              <a:t>1</a:t>
            </a:r>
            <a:r>
              <a:rPr lang="en-US">
                <a:solidFill>
                  <a:srgbClr val="000000"/>
                </a:solidFill>
                <a:effectLst/>
                <a:latin typeface="Courier New" panose="02070309020205020404" pitchFamily="49" charset="0"/>
                <a:cs typeface="Courier New" panose="02070309020205020404" pitchFamily="49" charset="0"/>
              </a:rPr>
              <a:t>])</a:t>
            </a:r>
            <a:br>
              <a:rPr lang="en-US">
                <a:solidFill>
                  <a:srgbClr val="000000"/>
                </a:solidFill>
                <a:effectLst/>
                <a:latin typeface="Courier New" panose="02070309020205020404" pitchFamily="49" charset="0"/>
                <a:cs typeface="Courier New" panose="02070309020205020404" pitchFamily="49" charset="0"/>
              </a:rPr>
            </a:br>
            <a:br>
              <a:rPr lang="en-US">
                <a:solidFill>
                  <a:srgbClr val="000000"/>
                </a:solidFill>
                <a:effectLst/>
                <a:latin typeface="Courier New" panose="02070309020205020404" pitchFamily="49" charset="0"/>
                <a:cs typeface="Courier New" panose="02070309020205020404" pitchFamily="49" charset="0"/>
              </a:rPr>
            </a:br>
            <a:r>
              <a:rPr lang="en-US">
                <a:solidFill>
                  <a:srgbClr val="0000CD"/>
                </a:solidFill>
                <a:effectLst/>
                <a:latin typeface="Courier New" panose="02070309020205020404" pitchFamily="49" charset="0"/>
                <a:cs typeface="Courier New" panose="02070309020205020404" pitchFamily="49" charset="0"/>
              </a:rPr>
              <a:t>print</a:t>
            </a:r>
            <a:r>
              <a:rPr lang="en-US">
                <a:solidFill>
                  <a:srgbClr val="000000"/>
                </a:solidFill>
                <a:effectLst/>
                <a:latin typeface="Courier New" panose="02070309020205020404" pitchFamily="49" charset="0"/>
                <a:cs typeface="Courier New" panose="02070309020205020404" pitchFamily="49" charset="0"/>
              </a:rPr>
              <a:t>(np.sort(arr)) </a:t>
            </a: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print(np.sort(arr)[::-1]) </a:t>
            </a:r>
          </a:p>
        </p:txBody>
      </p:sp>
      <p:sp>
        <p:nvSpPr>
          <p:cNvPr id="4" name="Footer Placeholder 3">
            <a:extLst>
              <a:ext uri="{FF2B5EF4-FFF2-40B4-BE49-F238E27FC236}">
                <a16:creationId xmlns:a16="http://schemas.microsoft.com/office/drawing/2014/main" id="{412D6FE2-F0A0-4F11-0618-9B3170CB320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15FA1433-F09C-C657-7CFB-C98B0D4B2213}"/>
              </a:ext>
            </a:extLst>
          </p:cNvPr>
          <p:cNvSpPr>
            <a:spLocks noGrp="1"/>
          </p:cNvSpPr>
          <p:nvPr>
            <p:ph type="sldNum" sz="quarter" idx="12"/>
          </p:nvPr>
        </p:nvSpPr>
        <p:spPr/>
        <p:txBody>
          <a:bodyPr/>
          <a:lstStyle/>
          <a:p>
            <a:fld id="{ADD32889-1A4F-4FED-AEC4-AD6BC7117F25}" type="slidenum">
              <a:rPr lang="en-US" smtClean="0"/>
              <a:t>82</a:t>
            </a:fld>
            <a:endParaRPr lang="en-US"/>
          </a:p>
        </p:txBody>
      </p:sp>
    </p:spTree>
    <p:extLst>
      <p:ext uri="{BB962C8B-B14F-4D97-AF65-F5344CB8AC3E}">
        <p14:creationId xmlns:p14="http://schemas.microsoft.com/office/powerpoint/2010/main" val="40433348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56E66-235A-C2CF-A71E-DA908024364F}"/>
              </a:ext>
            </a:extLst>
          </p:cNvPr>
          <p:cNvSpPr>
            <a:spLocks noGrp="1"/>
          </p:cNvSpPr>
          <p:nvPr>
            <p:ph type="title"/>
          </p:nvPr>
        </p:nvSpPr>
        <p:spPr/>
        <p:txBody>
          <a:bodyPr/>
          <a:lstStyle/>
          <a:p>
            <a:r>
              <a:rPr lang="en-US"/>
              <a:t>Numpy array filter</a:t>
            </a:r>
          </a:p>
        </p:txBody>
      </p:sp>
      <p:sp>
        <p:nvSpPr>
          <p:cNvPr id="3" name="Content Placeholder 2">
            <a:extLst>
              <a:ext uri="{FF2B5EF4-FFF2-40B4-BE49-F238E27FC236}">
                <a16:creationId xmlns:a16="http://schemas.microsoft.com/office/drawing/2014/main" id="{A76ED3AE-EDFE-31C4-0905-6477153F20DD}"/>
              </a:ext>
            </a:extLst>
          </p:cNvPr>
          <p:cNvSpPr>
            <a:spLocks noGrp="1"/>
          </p:cNvSpPr>
          <p:nvPr>
            <p:ph idx="1"/>
          </p:nvPr>
        </p:nvSpPr>
        <p:spPr>
          <a:xfrm>
            <a:off x="628649" y="1825625"/>
            <a:ext cx="8182841" cy="4351338"/>
          </a:xfrm>
        </p:spPr>
        <p:txBody>
          <a:bodyPr/>
          <a:lstStyle/>
          <a:p>
            <a:pPr marL="0" indent="0">
              <a:buNone/>
            </a:pPr>
            <a:r>
              <a:rPr lang="en-US">
                <a:latin typeface="Courier New" panose="02070309020205020404" pitchFamily="49" charset="0"/>
                <a:cs typeface="Courier New" panose="02070309020205020404" pitchFamily="49" charset="0"/>
              </a:rPr>
              <a:t>import numpy as np</a:t>
            </a:r>
          </a:p>
          <a:p>
            <a:pPr marL="0" indent="0">
              <a:buNone/>
            </a:pPr>
            <a:r>
              <a:rPr lang="en-US">
                <a:latin typeface="Courier New" panose="02070309020205020404" pitchFamily="49" charset="0"/>
                <a:cs typeface="Courier New" panose="02070309020205020404" pitchFamily="49" charset="0"/>
              </a:rPr>
              <a:t>arr = np.array([1, 2, 3, 4, 5, 6, 7])</a:t>
            </a:r>
          </a:p>
          <a:p>
            <a:pPr marL="0" indent="0">
              <a:buNone/>
            </a:pPr>
            <a:r>
              <a:rPr lang="en-US">
                <a:latin typeface="Courier New" panose="02070309020205020404" pitchFamily="49" charset="0"/>
                <a:cs typeface="Courier New" panose="02070309020205020404" pitchFamily="49" charset="0"/>
              </a:rPr>
              <a:t>newarr = </a:t>
            </a:r>
            <a:r>
              <a:rPr lang="en-US">
                <a:solidFill>
                  <a:srgbClr val="0070C0"/>
                </a:solidFill>
                <a:latin typeface="Courier New" panose="02070309020205020404" pitchFamily="49" charset="0"/>
                <a:cs typeface="Courier New" panose="02070309020205020404" pitchFamily="49" charset="0"/>
              </a:rPr>
              <a:t>arr[arr %2 == 0]</a:t>
            </a:r>
          </a:p>
          <a:p>
            <a:pPr marL="0" indent="0">
              <a:buNone/>
            </a:pPr>
            <a:r>
              <a:rPr lang="en-US">
                <a:latin typeface="Courier New" panose="02070309020205020404" pitchFamily="49" charset="0"/>
                <a:cs typeface="Courier New" panose="02070309020205020404" pitchFamily="49" charset="0"/>
              </a:rPr>
              <a:t>print(newarr) </a:t>
            </a:r>
          </a:p>
        </p:txBody>
      </p:sp>
      <p:sp>
        <p:nvSpPr>
          <p:cNvPr id="4" name="Footer Placeholder 3">
            <a:extLst>
              <a:ext uri="{FF2B5EF4-FFF2-40B4-BE49-F238E27FC236}">
                <a16:creationId xmlns:a16="http://schemas.microsoft.com/office/drawing/2014/main" id="{373DCB46-558A-CE16-187E-BBF3C5A3A1E3}"/>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63268AD-F1BD-654B-9AFA-B7451659FE8B}"/>
              </a:ext>
            </a:extLst>
          </p:cNvPr>
          <p:cNvSpPr>
            <a:spLocks noGrp="1"/>
          </p:cNvSpPr>
          <p:nvPr>
            <p:ph type="sldNum" sz="quarter" idx="12"/>
          </p:nvPr>
        </p:nvSpPr>
        <p:spPr/>
        <p:txBody>
          <a:bodyPr/>
          <a:lstStyle/>
          <a:p>
            <a:fld id="{ADD32889-1A4F-4FED-AEC4-AD6BC7117F25}" type="slidenum">
              <a:rPr lang="en-US" smtClean="0"/>
              <a:t>83</a:t>
            </a:fld>
            <a:endParaRPr lang="en-US"/>
          </a:p>
        </p:txBody>
      </p:sp>
    </p:spTree>
    <p:extLst>
      <p:ext uri="{BB962C8B-B14F-4D97-AF65-F5344CB8AC3E}">
        <p14:creationId xmlns:p14="http://schemas.microsoft.com/office/powerpoint/2010/main" val="34726246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Các</a:t>
            </a:r>
            <a:r>
              <a:rPr lang="en-US" b="1" dirty="0"/>
              <a:t> </a:t>
            </a:r>
            <a:r>
              <a:rPr lang="en-US" b="1" dirty="0" err="1"/>
              <a:t>phép</a:t>
            </a:r>
            <a:r>
              <a:rPr lang="en-US" b="1" dirty="0"/>
              <a:t> </a:t>
            </a:r>
            <a:r>
              <a:rPr lang="en-US" b="1" dirty="0" err="1"/>
              <a:t>toán</a:t>
            </a:r>
            <a:r>
              <a:rPr lang="en-US" b="1" dirty="0"/>
              <a:t> </a:t>
            </a:r>
            <a:r>
              <a:rPr lang="en-US" b="1" dirty="0" err="1"/>
              <a:t>với</a:t>
            </a:r>
            <a:r>
              <a:rPr lang="en-US" b="1" dirty="0"/>
              <a:t> </a:t>
            </a:r>
            <a:r>
              <a:rPr lang="en-US" b="1" dirty="0" err="1"/>
              <a:t>mảng</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a:t>Có</a:t>
            </a:r>
            <a:r>
              <a:rPr lang="en-US" dirty="0"/>
              <a:t> </a:t>
            </a:r>
            <a:r>
              <a:rPr lang="en-US" dirty="0" err="1"/>
              <a:t>thể</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phép</a:t>
            </a:r>
            <a:r>
              <a:rPr lang="en-US" dirty="0"/>
              <a:t> </a:t>
            </a:r>
            <a:r>
              <a:rPr lang="en-US" dirty="0" err="1"/>
              <a:t>tính</a:t>
            </a:r>
            <a:r>
              <a:rPr lang="en-US" dirty="0"/>
              <a:t> +,-,*,/ **… </a:t>
            </a:r>
            <a:r>
              <a:rPr lang="en-US" dirty="0" err="1"/>
              <a:t>trên</a:t>
            </a:r>
            <a:r>
              <a:rPr lang="en-US" dirty="0"/>
              <a:t> </a:t>
            </a:r>
            <a:r>
              <a:rPr lang="en-US" dirty="0" err="1"/>
              <a:t>hai</a:t>
            </a:r>
            <a:r>
              <a:rPr lang="en-US" dirty="0"/>
              <a:t> </a:t>
            </a:r>
            <a:r>
              <a:rPr lang="en-US" dirty="0" err="1"/>
              <a:t>mảng</a:t>
            </a:r>
            <a:r>
              <a:rPr lang="en-US" dirty="0" err="1">
                <a:sym typeface="Wingdings" panose="05000000000000000000" pitchFamily="2" charset="2"/>
              </a:rPr>
              <a:t>numpy</a:t>
            </a:r>
            <a:r>
              <a:rPr lang="en-US" dirty="0">
                <a:sym typeface="Wingdings" panose="05000000000000000000" pitchFamily="2" charset="2"/>
              </a:rPr>
              <a:t> </a:t>
            </a:r>
            <a:r>
              <a:rPr lang="en-US" dirty="0" err="1">
                <a:sym typeface="Wingdings" panose="05000000000000000000" pitchFamily="2" charset="2"/>
              </a:rPr>
              <a:t>thực</a:t>
            </a:r>
            <a:r>
              <a:rPr lang="en-US" dirty="0">
                <a:sym typeface="Wingdings" panose="05000000000000000000" pitchFamily="2" charset="2"/>
              </a:rPr>
              <a:t> </a:t>
            </a:r>
            <a:r>
              <a:rPr lang="en-US" dirty="0" err="1">
                <a:sym typeface="Wingdings" panose="05000000000000000000" pitchFamily="2" charset="2"/>
              </a:rPr>
              <a:t>hiện</a:t>
            </a:r>
            <a:r>
              <a:rPr lang="en-US" dirty="0">
                <a:sym typeface="Wingdings" panose="05000000000000000000" pitchFamily="2" charset="2"/>
              </a:rPr>
              <a:t> </a:t>
            </a:r>
            <a:r>
              <a:rPr lang="en-US" dirty="0" err="1">
                <a:sym typeface="Wingdings" panose="05000000000000000000" pitchFamily="2" charset="2"/>
              </a:rPr>
              <a:t>trên</a:t>
            </a:r>
            <a:r>
              <a:rPr lang="en-US" dirty="0">
                <a:sym typeface="Wingdings" panose="05000000000000000000" pitchFamily="2" charset="2"/>
              </a:rPr>
              <a:t> </a:t>
            </a:r>
            <a:r>
              <a:rPr lang="en-US" dirty="0" err="1">
                <a:sym typeface="Wingdings" panose="05000000000000000000" pitchFamily="2" charset="2"/>
              </a:rPr>
              <a:t>các</a:t>
            </a:r>
            <a:r>
              <a:rPr lang="en-US" dirty="0">
                <a:sym typeface="Wingdings" panose="05000000000000000000" pitchFamily="2" charset="2"/>
              </a:rPr>
              <a:t> </a:t>
            </a:r>
            <a:r>
              <a:rPr lang="en-US" dirty="0" err="1">
                <a:sym typeface="Wingdings" panose="05000000000000000000" pitchFamily="2" charset="2"/>
              </a:rPr>
              <a:t>phần</a:t>
            </a:r>
            <a:r>
              <a:rPr lang="en-US" dirty="0">
                <a:sym typeface="Wingdings" panose="05000000000000000000" pitchFamily="2" charset="2"/>
              </a:rPr>
              <a:t> </a:t>
            </a:r>
            <a:r>
              <a:rPr lang="en-US" dirty="0" err="1">
                <a:sym typeface="Wingdings" panose="05000000000000000000" pitchFamily="2" charset="2"/>
              </a:rPr>
              <a:t>tử</a:t>
            </a:r>
            <a:endParaRPr lang="en-US" dirty="0">
              <a:sym typeface="Wingdings" panose="05000000000000000000" pitchFamily="2" charset="2"/>
            </a:endParaRPr>
          </a:p>
          <a:p>
            <a:pPr marL="0" indent="0">
              <a:buNone/>
            </a:pPr>
            <a:r>
              <a:rPr lang="en-US" dirty="0" err="1">
                <a:sym typeface="Wingdings" panose="05000000000000000000" pitchFamily="2" charset="2"/>
              </a:rPr>
              <a:t>Với</a:t>
            </a:r>
            <a:r>
              <a:rPr lang="en-US" dirty="0">
                <a:sym typeface="Wingdings" panose="05000000000000000000" pitchFamily="2" charset="2"/>
              </a:rPr>
              <a:t> </a:t>
            </a:r>
          </a:p>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x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([[1,2],[3,4]])</a:t>
            </a:r>
          </a:p>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y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([[5,6],[7,8]])</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Tổng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của</a:t>
            </a:r>
            <a:r>
              <a:rPr lang="en-US" dirty="0">
                <a:latin typeface="Courier New" panose="02070309020205020404" pitchFamily="49" charset="0"/>
                <a:cs typeface="Courier New" panose="02070309020205020404" pitchFamily="49" charset="0"/>
              </a:rPr>
              <a:t> 2 </a:t>
            </a:r>
            <a:r>
              <a:rPr lang="en-US" dirty="0" err="1">
                <a:latin typeface="Courier New" panose="02070309020205020404" pitchFamily="49" charset="0"/>
                <a:cs typeface="Courier New" panose="02070309020205020404" pitchFamily="49" charset="0"/>
              </a:rPr>
              <a:t>mảng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cả</a:t>
            </a:r>
            <a:r>
              <a:rPr lang="en-US" dirty="0">
                <a:latin typeface="Courier New" panose="02070309020205020404" pitchFamily="49" charset="0"/>
                <a:cs typeface="Courier New" panose="02070309020205020404" pitchFamily="49" charset="0"/>
              </a:rPr>
              <a:t> 2 </a:t>
            </a:r>
            <a:r>
              <a:rPr lang="en-US" dirty="0" err="1">
                <a:latin typeface="Courier New" panose="02070309020205020404" pitchFamily="49" charset="0"/>
                <a:cs typeface="Courier New" panose="02070309020205020404" pitchFamily="49" charset="0"/>
              </a:rPr>
              <a:t>cách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cùng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một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kết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quả</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print(x + y)</a:t>
            </a:r>
          </a:p>
          <a:p>
            <a:pPr marL="0" indent="0">
              <a:buNone/>
            </a:pPr>
            <a:r>
              <a:rPr lang="en-US" dirty="0">
                <a:latin typeface="Courier New" panose="02070309020205020404" pitchFamily="49" charset="0"/>
                <a:cs typeface="Courier New" panose="02070309020205020404" pitchFamily="49" charset="0"/>
              </a:rPr>
              <a:t># [[ 6  8]</a:t>
            </a:r>
          </a:p>
          <a:p>
            <a:pPr marL="0" indent="0">
              <a:buNone/>
            </a:pPr>
            <a:r>
              <a:rPr lang="en-US" dirty="0">
                <a:latin typeface="Courier New" panose="02070309020205020404" pitchFamily="49" charset="0"/>
                <a:cs typeface="Courier New" panose="02070309020205020404" pitchFamily="49" charset="0"/>
              </a:rPr>
              <a:t>#  [10 12]]</a:t>
            </a:r>
          </a:p>
          <a:p>
            <a:pPr marL="0"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np.add</a:t>
            </a:r>
            <a:r>
              <a:rPr lang="en-US" dirty="0">
                <a:latin typeface="Courier New" panose="02070309020205020404" pitchFamily="49" charset="0"/>
                <a:cs typeface="Courier New" panose="02070309020205020404" pitchFamily="49" charset="0"/>
              </a:rPr>
              <a:t>(x, y))</a:t>
            </a:r>
          </a:p>
          <a:p>
            <a:pPr marL="0" indent="0">
              <a:buNone/>
            </a:pPr>
            <a:r>
              <a:rPr lang="en-US" dirty="0">
                <a:latin typeface="Courier New" panose="02070309020205020404" pitchFamily="49" charset="0"/>
                <a:cs typeface="Courier New" panose="02070309020205020404" pitchFamily="49" charset="0"/>
              </a:rPr>
              <a:t># [[ 6  8]</a:t>
            </a:r>
          </a:p>
          <a:p>
            <a:pPr marL="0" indent="0">
              <a:buNone/>
            </a:pPr>
            <a:r>
              <a:rPr lang="en-US" dirty="0">
                <a:latin typeface="Courier New" panose="02070309020205020404" pitchFamily="49" charset="0"/>
                <a:cs typeface="Courier New" panose="02070309020205020404" pitchFamily="49" charset="0"/>
              </a:rPr>
              <a:t>#  [10 12]]</a:t>
            </a: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84</a:t>
            </a:fld>
            <a:endParaRPr lang="en-US"/>
          </a:p>
        </p:txBody>
      </p:sp>
    </p:spTree>
    <p:extLst>
      <p:ext uri="{BB962C8B-B14F-4D97-AF65-F5344CB8AC3E}">
        <p14:creationId xmlns:p14="http://schemas.microsoft.com/office/powerpoint/2010/main" val="10668563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Các</a:t>
            </a:r>
            <a:r>
              <a:rPr lang="en-US" b="1" dirty="0"/>
              <a:t> </a:t>
            </a:r>
            <a:r>
              <a:rPr lang="en-US" b="1" dirty="0" err="1"/>
              <a:t>phép</a:t>
            </a:r>
            <a:r>
              <a:rPr lang="en-US" b="1" dirty="0"/>
              <a:t> </a:t>
            </a:r>
            <a:r>
              <a:rPr lang="en-US" b="1" dirty="0" err="1"/>
              <a:t>toán</a:t>
            </a:r>
            <a:r>
              <a:rPr lang="en-US" b="1" dirty="0"/>
              <a:t> </a:t>
            </a:r>
            <a:r>
              <a:rPr lang="en-US" b="1" dirty="0" err="1"/>
              <a:t>với</a:t>
            </a:r>
            <a:r>
              <a:rPr lang="en-US" b="1" dirty="0"/>
              <a:t> </a:t>
            </a:r>
            <a:r>
              <a:rPr lang="en-US" b="1" dirty="0" err="1"/>
              <a:t>mảng</a:t>
            </a:r>
            <a:endParaRPr lang="en-US" dirty="0"/>
          </a:p>
        </p:txBody>
      </p:sp>
      <p:sp>
        <p:nvSpPr>
          <p:cNvPr id="3" name="Content Placeholder 2"/>
          <p:cNvSpPr>
            <a:spLocks noGrp="1"/>
          </p:cNvSpPr>
          <p:nvPr>
            <p:ph idx="1"/>
          </p:nvPr>
        </p:nvSpPr>
        <p:spPr>
          <a:xfrm>
            <a:off x="628650" y="1377043"/>
            <a:ext cx="8321386" cy="4799920"/>
          </a:xfrm>
        </p:spPr>
        <p:txBody>
          <a:bodyPr>
            <a:normAutofit fontScale="62500" lnSpcReduction="20000"/>
          </a:bodyPr>
          <a:lstStyle/>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x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([[1,2],[3,4]])</a:t>
            </a:r>
          </a:p>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y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([[5,6],[7,8]])</a:t>
            </a:r>
          </a:p>
          <a:p>
            <a:pPr marL="0" indent="0">
              <a:buNone/>
            </a:pPr>
            <a:endParaRPr lang="es-ES" dirty="0">
              <a:latin typeface="Courier New" panose="02070309020205020404" pitchFamily="49" charset="0"/>
              <a:cs typeface="Courier New" panose="02070309020205020404" pitchFamily="49" charset="0"/>
            </a:endParaRPr>
          </a:p>
          <a:p>
            <a:pPr marL="0" indent="0">
              <a:buNone/>
            </a:pP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Hiệu</a:t>
            </a:r>
            <a:r>
              <a:rPr lang="es-ES" dirty="0">
                <a:latin typeface="Courier New" panose="02070309020205020404" pitchFamily="49" charset="0"/>
                <a:cs typeface="Courier New" panose="02070309020205020404" pitchFamily="49" charset="0"/>
              </a:rPr>
              <a:t> 2 </a:t>
            </a:r>
            <a:r>
              <a:rPr lang="es-ES" dirty="0" err="1">
                <a:latin typeface="Courier New" panose="02070309020205020404" pitchFamily="49" charset="0"/>
                <a:cs typeface="Courier New" panose="02070309020205020404" pitchFamily="49" charset="0"/>
              </a:rPr>
              <a:t>mảng</a:t>
            </a:r>
            <a:endParaRPr lang="es-ES" dirty="0">
              <a:latin typeface="Courier New" panose="02070309020205020404" pitchFamily="49" charset="0"/>
              <a:cs typeface="Courier New" panose="02070309020205020404" pitchFamily="49" charset="0"/>
            </a:endParaRPr>
          </a:p>
          <a:p>
            <a:pPr marL="0" indent="0">
              <a:buNone/>
            </a:pPr>
            <a:r>
              <a:rPr lang="es-ES" dirty="0" err="1">
                <a:latin typeface="Courier New" panose="02070309020205020404" pitchFamily="49" charset="0"/>
                <a:cs typeface="Courier New" panose="02070309020205020404" pitchFamily="49" charset="0"/>
              </a:rPr>
              <a:t>print</a:t>
            </a:r>
            <a:r>
              <a:rPr lang="es-ES" dirty="0">
                <a:latin typeface="Courier New" panose="02070309020205020404" pitchFamily="49" charset="0"/>
                <a:cs typeface="Courier New" panose="02070309020205020404" pitchFamily="49" charset="0"/>
              </a:rPr>
              <a:t>(x - y)</a:t>
            </a:r>
          </a:p>
          <a:p>
            <a:pPr marL="0" indent="0">
              <a:buNone/>
            </a:pPr>
            <a:r>
              <a:rPr lang="es-ES" dirty="0">
                <a:latin typeface="Courier New" panose="02070309020205020404" pitchFamily="49" charset="0"/>
                <a:cs typeface="Courier New" panose="02070309020205020404" pitchFamily="49" charset="0"/>
              </a:rPr>
              <a:t># [[-4.0 -4.0]</a:t>
            </a:r>
          </a:p>
          <a:p>
            <a:pPr marL="0" indent="0">
              <a:buNone/>
            </a:pPr>
            <a:r>
              <a:rPr lang="es-ES" dirty="0">
                <a:latin typeface="Courier New" panose="02070309020205020404" pitchFamily="49" charset="0"/>
                <a:cs typeface="Courier New" panose="02070309020205020404" pitchFamily="49" charset="0"/>
              </a:rPr>
              <a:t>#  [-4.0 -4.0]]</a:t>
            </a:r>
          </a:p>
          <a:p>
            <a:pPr marL="0" indent="0">
              <a:buNone/>
            </a:pPr>
            <a:r>
              <a:rPr lang="en-US" dirty="0">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Tính</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tích</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từng</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phần</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tử</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của</a:t>
            </a:r>
            <a:r>
              <a:rPr lang="en-US" dirty="0">
                <a:solidFill>
                  <a:srgbClr val="0070C0"/>
                </a:solidFill>
                <a:latin typeface="Courier New" panose="02070309020205020404" pitchFamily="49" charset="0"/>
                <a:cs typeface="Courier New" panose="02070309020205020404" pitchFamily="49" charset="0"/>
              </a:rPr>
              <a:t> x </a:t>
            </a:r>
            <a:r>
              <a:rPr lang="en-US" dirty="0" err="1">
                <a:solidFill>
                  <a:srgbClr val="0070C0"/>
                </a:solidFill>
                <a:latin typeface="Courier New" panose="02070309020205020404" pitchFamily="49" charset="0"/>
                <a:cs typeface="Courier New" panose="02070309020205020404" pitchFamily="49" charset="0"/>
              </a:rPr>
              <a:t>nhân</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với</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từng</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phần</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tử</a:t>
            </a:r>
            <a:r>
              <a:rPr lang="en-US" dirty="0">
                <a:solidFill>
                  <a:srgbClr val="0070C0"/>
                </a:solidFill>
                <a:latin typeface="Courier New" panose="02070309020205020404" pitchFamily="49" charset="0"/>
                <a:cs typeface="Courier New" panose="02070309020205020404" pitchFamily="49" charset="0"/>
              </a:rPr>
              <a:t> </a:t>
            </a:r>
            <a:r>
              <a:rPr lang="en-US" dirty="0" err="1">
                <a:solidFill>
                  <a:srgbClr val="0070C0"/>
                </a:solidFill>
                <a:latin typeface="Courier New" panose="02070309020205020404" pitchFamily="49" charset="0"/>
                <a:cs typeface="Courier New" panose="02070309020205020404" pitchFamily="49" charset="0"/>
              </a:rPr>
              <a:t>của</a:t>
            </a:r>
            <a:r>
              <a:rPr lang="en-US" dirty="0">
                <a:solidFill>
                  <a:srgbClr val="0070C0"/>
                </a:solidFill>
                <a:latin typeface="Courier New" panose="02070309020205020404" pitchFamily="49" charset="0"/>
                <a:cs typeface="Courier New" panose="02070309020205020404" pitchFamily="49" charset="0"/>
              </a:rPr>
              <a:t> y</a:t>
            </a:r>
          </a:p>
          <a:p>
            <a:pPr marL="0" indent="0">
              <a:buNone/>
            </a:pPr>
            <a:r>
              <a:rPr lang="en-US" dirty="0">
                <a:latin typeface="Courier New" panose="02070309020205020404" pitchFamily="49" charset="0"/>
                <a:cs typeface="Courier New" panose="02070309020205020404" pitchFamily="49" charset="0"/>
              </a:rPr>
              <a:t>print(x * y)</a:t>
            </a:r>
          </a:p>
          <a:p>
            <a:pPr marL="0" indent="0">
              <a:buNone/>
            </a:pPr>
            <a:r>
              <a:rPr lang="en-US" dirty="0">
                <a:latin typeface="Courier New" panose="02070309020205020404" pitchFamily="49" charset="0"/>
                <a:cs typeface="Courier New" panose="02070309020205020404" pitchFamily="49" charset="0"/>
              </a:rPr>
              <a:t># [[ 5.0 12.0]</a:t>
            </a:r>
          </a:p>
          <a:p>
            <a:pPr marL="0" indent="0">
              <a:buNone/>
            </a:pPr>
            <a:r>
              <a:rPr lang="en-US" dirty="0">
                <a:latin typeface="Courier New" panose="02070309020205020404" pitchFamily="49" charset="0"/>
                <a:cs typeface="Courier New" panose="02070309020205020404" pitchFamily="49" charset="0"/>
              </a:rPr>
              <a:t>#  [21.0 </a:t>
            </a:r>
            <a:r>
              <a:rPr lang="en-US">
                <a:latin typeface="Courier New" panose="02070309020205020404" pitchFamily="49" charset="0"/>
                <a:cs typeface="Courier New" panose="02070309020205020404" pitchFamily="49" charset="0"/>
              </a:rPr>
              <a:t>32.0]]</a:t>
            </a:r>
          </a:p>
          <a:p>
            <a:pPr marL="0" indent="0">
              <a:buNone/>
            </a:pPr>
            <a:r>
              <a:rPr lang="en-US">
                <a:solidFill>
                  <a:srgbClr val="0070C0"/>
                </a:solidFill>
                <a:latin typeface="Courier New" panose="02070309020205020404" pitchFamily="49" charset="0"/>
                <a:cs typeface="Courier New" panose="02070309020205020404" pitchFamily="49" charset="0"/>
              </a:rPr>
              <a:t>Tính tích hai ma trận:</a:t>
            </a: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x.dot(y)</a:t>
            </a:r>
          </a:p>
          <a:p>
            <a:pPr marL="0" indent="0">
              <a:buNone/>
            </a:pPr>
            <a:r>
              <a:rPr lang="en-US">
                <a:latin typeface="Courier New" panose="02070309020205020404" pitchFamily="49" charset="0"/>
                <a:cs typeface="Courier New" panose="02070309020205020404" pitchFamily="49" charset="0"/>
              </a:rPr>
              <a:t>#[[19 22]</a:t>
            </a:r>
          </a:p>
          <a:p>
            <a:pPr marL="0" indent="0">
              <a:buNone/>
            </a:pPr>
            <a:r>
              <a:rPr lang="en-US">
                <a:latin typeface="Courier New" panose="02070309020205020404" pitchFamily="49" charset="0"/>
                <a:cs typeface="Courier New" panose="02070309020205020404" pitchFamily="49" charset="0"/>
              </a:rPr>
              <a:t># [43 50]]</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85</a:t>
            </a:fld>
            <a:endParaRPr lang="en-US"/>
          </a:p>
        </p:txBody>
      </p:sp>
    </p:spTree>
    <p:extLst>
      <p:ext uri="{BB962C8B-B14F-4D97-AF65-F5344CB8AC3E}">
        <p14:creationId xmlns:p14="http://schemas.microsoft.com/office/powerpoint/2010/main" val="36060384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147412"/>
            <a:ext cx="7886700" cy="968374"/>
          </a:xfrm>
        </p:spPr>
        <p:txBody>
          <a:bodyPr/>
          <a:lstStyle/>
          <a:p>
            <a:r>
              <a:rPr lang="en-US" b="1" dirty="0" err="1"/>
              <a:t>Các</a:t>
            </a:r>
            <a:r>
              <a:rPr lang="en-US" b="1" dirty="0"/>
              <a:t> </a:t>
            </a:r>
            <a:r>
              <a:rPr lang="en-US" b="1" dirty="0" err="1"/>
              <a:t>phép</a:t>
            </a:r>
            <a:r>
              <a:rPr lang="en-US" b="1" dirty="0"/>
              <a:t> </a:t>
            </a:r>
            <a:r>
              <a:rPr lang="en-US" b="1" dirty="0" err="1"/>
              <a:t>toán</a:t>
            </a:r>
            <a:r>
              <a:rPr lang="en-US" b="1" dirty="0"/>
              <a:t> </a:t>
            </a:r>
            <a:r>
              <a:rPr lang="en-US" b="1" dirty="0" err="1"/>
              <a:t>với</a:t>
            </a:r>
            <a:r>
              <a:rPr lang="en-US" b="1" dirty="0"/>
              <a:t> </a:t>
            </a:r>
            <a:r>
              <a:rPr lang="en-US" b="1" dirty="0" err="1"/>
              <a:t>mảng</a:t>
            </a:r>
            <a:endParaRPr lang="en-US" dirty="0"/>
          </a:p>
        </p:txBody>
      </p:sp>
      <p:sp>
        <p:nvSpPr>
          <p:cNvPr id="3" name="Content Placeholder 2"/>
          <p:cNvSpPr>
            <a:spLocks noGrp="1"/>
          </p:cNvSpPr>
          <p:nvPr>
            <p:ph idx="1"/>
          </p:nvPr>
        </p:nvSpPr>
        <p:spPr>
          <a:xfrm>
            <a:off x="628650" y="1377043"/>
            <a:ext cx="7886700" cy="4799920"/>
          </a:xfrm>
        </p:spPr>
        <p:txBody>
          <a:bodyPr>
            <a:normAutofit fontScale="77500" lnSpcReduction="20000"/>
          </a:bodyPr>
          <a:lstStyle/>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x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([[1,2],[3,4]])</a:t>
            </a:r>
          </a:p>
          <a:p>
            <a:pPr marL="0" indent="0">
              <a:buNone/>
            </a:pPr>
            <a:r>
              <a:rPr lang="en-US" dirty="0">
                <a:latin typeface="Courier New" panose="02070309020205020404" pitchFamily="49" charset="0"/>
                <a:cs typeface="Courier New" panose="02070309020205020404" pitchFamily="49" charset="0"/>
                <a:sym typeface="Wingdings" panose="05000000000000000000" pitchFamily="2" charset="2"/>
              </a:rPr>
              <a:t>y = </a:t>
            </a:r>
            <a:r>
              <a:rPr lang="en-US" dirty="0" err="1">
                <a:latin typeface="Courier New" panose="02070309020205020404" pitchFamily="49" charset="0"/>
                <a:cs typeface="Courier New" panose="02070309020205020404" pitchFamily="49" charset="0"/>
                <a:sym typeface="Wingdings" panose="05000000000000000000" pitchFamily="2" charset="2"/>
              </a:rPr>
              <a:t>np.array</a:t>
            </a:r>
            <a:r>
              <a:rPr lang="en-US" dirty="0">
                <a:latin typeface="Courier New" panose="02070309020205020404" pitchFamily="49" charset="0"/>
                <a:cs typeface="Courier New" panose="02070309020205020404" pitchFamily="49" charset="0"/>
                <a:sym typeface="Wingdings" panose="05000000000000000000" pitchFamily="2" charset="2"/>
              </a:rPr>
              <a:t>([[5,6],[7,8]])</a:t>
            </a:r>
          </a:p>
          <a:p>
            <a:pPr marL="0" indent="0">
              <a:buNone/>
            </a:pPr>
            <a:r>
              <a:rPr lang="es-ES" dirty="0" err="1">
                <a:latin typeface="Courier New" panose="02070309020205020404" pitchFamily="49" charset="0"/>
                <a:cs typeface="Courier New" panose="02070309020205020404" pitchFamily="49" charset="0"/>
              </a:rPr>
              <a:t>print</a:t>
            </a:r>
            <a:r>
              <a:rPr lang="es-ES" dirty="0">
                <a:latin typeface="Courier New" panose="02070309020205020404" pitchFamily="49" charset="0"/>
                <a:cs typeface="Courier New" panose="02070309020205020404" pitchFamily="49" charset="0"/>
              </a:rPr>
              <a:t>(x / y)</a:t>
            </a:r>
          </a:p>
          <a:p>
            <a:pPr marL="0" indent="0">
              <a:buNone/>
            </a:pPr>
            <a:r>
              <a:rPr lang="es-ES" dirty="0">
                <a:latin typeface="Courier New" panose="02070309020205020404" pitchFamily="49" charset="0"/>
                <a:cs typeface="Courier New" panose="02070309020205020404" pitchFamily="49" charset="0"/>
              </a:rPr>
              <a:t># [[ 0.2         0.33333333]</a:t>
            </a:r>
          </a:p>
          <a:p>
            <a:pPr marL="0" indent="0">
              <a:buNone/>
            </a:pPr>
            <a:r>
              <a:rPr lang="es-ES" dirty="0">
                <a:latin typeface="Courier New" panose="02070309020205020404" pitchFamily="49" charset="0"/>
                <a:cs typeface="Courier New" panose="02070309020205020404" pitchFamily="49" charset="0"/>
              </a:rPr>
              <a:t>#  [ 0.42857143  0.5       ]]</a:t>
            </a:r>
          </a:p>
          <a:p>
            <a:pPr marL="0" indent="0">
              <a:buNone/>
            </a:pPr>
            <a:endParaRPr lang="es-ES" dirty="0">
              <a:latin typeface="Courier New" panose="02070309020205020404" pitchFamily="49" charset="0"/>
              <a:cs typeface="Courier New" panose="02070309020205020404" pitchFamily="49" charset="0"/>
            </a:endParaRPr>
          </a:p>
          <a:p>
            <a:pPr marL="0" indent="0">
              <a:buNone/>
            </a:pPr>
            <a:r>
              <a:rPr lang="es-ES" dirty="0" err="1">
                <a:latin typeface="Courier New" panose="02070309020205020404" pitchFamily="49" charset="0"/>
                <a:cs typeface="Courier New" panose="02070309020205020404" pitchFamily="49" charset="0"/>
              </a:rPr>
              <a:t>print</a:t>
            </a:r>
            <a:r>
              <a:rPr lang="es-ES" dirty="0">
                <a:latin typeface="Courier New" panose="02070309020205020404" pitchFamily="49" charset="0"/>
                <a:cs typeface="Courier New" panose="02070309020205020404" pitchFamily="49" charset="0"/>
              </a:rPr>
              <a:t>(x ** y)</a:t>
            </a:r>
          </a:p>
          <a:p>
            <a:pPr marL="0" indent="0">
              <a:buNone/>
            </a:pPr>
            <a:r>
              <a:rPr lang="en-US" dirty="0">
                <a:latin typeface="Courier New" panose="02070309020205020404" pitchFamily="49" charset="0"/>
                <a:cs typeface="Courier New" panose="02070309020205020404" pitchFamily="49" charset="0"/>
              </a:rPr>
              <a:t>#[[    1    64]</a:t>
            </a:r>
          </a:p>
          <a:p>
            <a:pPr marL="0" indent="0">
              <a:buNone/>
            </a:pPr>
            <a:r>
              <a:rPr lang="en-US" dirty="0">
                <a:latin typeface="Courier New" panose="02070309020205020404" pitchFamily="49" charset="0"/>
                <a:cs typeface="Courier New" panose="02070309020205020404" pitchFamily="49" charset="0"/>
              </a:rPr>
              <a:t># [ 2187 65536]]</a:t>
            </a:r>
          </a:p>
          <a:p>
            <a:pPr marL="0" indent="0">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căn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bậc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hai</a:t>
            </a:r>
            <a:endParaRPr lang="en-US" dirty="0">
              <a:latin typeface="Courier New" panose="02070309020205020404" pitchFamily="49" charset="0"/>
              <a:cs typeface="Courier New" panose="02070309020205020404" pitchFamily="49" charset="0"/>
            </a:endParaRPr>
          </a:p>
          <a:p>
            <a:pPr marL="0" indent="0">
              <a:buNone/>
            </a:pPr>
            <a:r>
              <a:rPr lang="fr-FR" dirty="0" err="1">
                <a:latin typeface="Courier New" panose="02070309020205020404" pitchFamily="49" charset="0"/>
                <a:cs typeface="Courier New" panose="02070309020205020404" pitchFamily="49" charset="0"/>
              </a:rPr>
              <a:t>print</a:t>
            </a:r>
            <a:r>
              <a:rPr lang="fr-FR" dirty="0">
                <a:latin typeface="Courier New" panose="02070309020205020404" pitchFamily="49" charset="0"/>
                <a:cs typeface="Courier New" panose="02070309020205020404" pitchFamily="49" charset="0"/>
              </a:rPr>
              <a:t>(</a:t>
            </a:r>
            <a:r>
              <a:rPr lang="fr-FR" dirty="0" err="1">
                <a:latin typeface="Courier New" panose="02070309020205020404" pitchFamily="49" charset="0"/>
                <a:cs typeface="Courier New" panose="02070309020205020404" pitchFamily="49" charset="0"/>
              </a:rPr>
              <a:t>np.sqrt</a:t>
            </a:r>
            <a:r>
              <a:rPr lang="fr-FR" dirty="0">
                <a:latin typeface="Courier New" panose="02070309020205020404" pitchFamily="49" charset="0"/>
                <a:cs typeface="Courier New" panose="02070309020205020404" pitchFamily="49" charset="0"/>
              </a:rPr>
              <a:t>(x))</a:t>
            </a:r>
          </a:p>
          <a:p>
            <a:pPr marL="0" indent="0">
              <a:buNone/>
            </a:pPr>
            <a:r>
              <a:rPr lang="fr-FR" dirty="0">
                <a:latin typeface="Courier New" panose="02070309020205020404" pitchFamily="49" charset="0"/>
                <a:cs typeface="Courier New" panose="02070309020205020404" pitchFamily="49" charset="0"/>
              </a:rPr>
              <a:t># [[ 1.          1.41421356]</a:t>
            </a:r>
          </a:p>
          <a:p>
            <a:pPr marL="0" indent="0">
              <a:buNone/>
            </a:pPr>
            <a:r>
              <a:rPr lang="fr-FR" dirty="0">
                <a:latin typeface="Courier New" panose="02070309020205020404" pitchFamily="49" charset="0"/>
                <a:cs typeface="Courier New" panose="02070309020205020404" pitchFamily="49" charset="0"/>
              </a:rPr>
              <a:t>#  [ 1.73205081  2.        ]]</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86</a:t>
            </a:fld>
            <a:endParaRPr lang="en-US"/>
          </a:p>
        </p:txBody>
      </p:sp>
    </p:spTree>
    <p:extLst>
      <p:ext uri="{BB962C8B-B14F-4D97-AF65-F5344CB8AC3E}">
        <p14:creationId xmlns:p14="http://schemas.microsoft.com/office/powerpoint/2010/main" val="11173647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369017"/>
            <a:ext cx="7886700" cy="4807946"/>
          </a:xfrm>
        </p:spPr>
        <p:txBody>
          <a:bodyPr>
            <a:normAutofit/>
          </a:bodyPr>
          <a:lstStyle/>
          <a:p>
            <a:pPr marL="514350" indent="-514350">
              <a:buFont typeface="+mj-lt"/>
              <a:buAutoNum type="arabicPeriod"/>
            </a:pPr>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a:t>
            </a:r>
            <a:r>
              <a:rPr lang="en-US" dirty="0" err="1"/>
              <a:t>số</a:t>
            </a:r>
            <a:r>
              <a:rPr lang="en-US" dirty="0"/>
              <a:t> </a:t>
            </a:r>
            <a:r>
              <a:rPr lang="en-US" dirty="0" err="1"/>
              <a:t>nguyên</a:t>
            </a:r>
            <a:r>
              <a:rPr lang="en-US" dirty="0"/>
              <a:t> n </a:t>
            </a:r>
            <a:r>
              <a:rPr lang="en-US" dirty="0" err="1"/>
              <a:t>và</a:t>
            </a:r>
            <a:r>
              <a:rPr lang="en-US" dirty="0"/>
              <a:t>:</a:t>
            </a:r>
          </a:p>
          <a:p>
            <a:pPr lvl="1"/>
            <a:r>
              <a:rPr lang="en-US" dirty="0"/>
              <a:t> </a:t>
            </a:r>
            <a:r>
              <a:rPr lang="en-US" dirty="0" err="1"/>
              <a:t>Tạo</a:t>
            </a:r>
            <a:r>
              <a:rPr lang="en-US" dirty="0"/>
              <a:t> 2 ma </a:t>
            </a:r>
            <a:r>
              <a:rPr lang="en-US" dirty="0" err="1"/>
              <a:t>trận</a:t>
            </a:r>
            <a:r>
              <a:rPr lang="en-US" dirty="0"/>
              <a:t> </a:t>
            </a:r>
            <a:r>
              <a:rPr lang="en-US" dirty="0" err="1"/>
              <a:t>vuông</a:t>
            </a:r>
            <a:r>
              <a:rPr lang="en-US" dirty="0"/>
              <a:t> </a:t>
            </a:r>
            <a:r>
              <a:rPr lang="en-US" dirty="0" err="1"/>
              <a:t>kích</a:t>
            </a:r>
            <a:r>
              <a:rPr lang="en-US" dirty="0"/>
              <a:t> </a:t>
            </a:r>
            <a:r>
              <a:rPr lang="en-US" dirty="0" err="1"/>
              <a:t>thước</a:t>
            </a:r>
            <a:r>
              <a:rPr lang="en-US" dirty="0"/>
              <a:t> n </a:t>
            </a:r>
            <a:r>
              <a:rPr lang="en-US" dirty="0" err="1"/>
              <a:t>ngẫu</a:t>
            </a:r>
            <a:r>
              <a:rPr lang="en-US" dirty="0"/>
              <a:t> </a:t>
            </a:r>
            <a:r>
              <a:rPr lang="en-US" dirty="0" err="1"/>
              <a:t>nhiên</a:t>
            </a:r>
            <a:r>
              <a:rPr lang="en-US" dirty="0"/>
              <a:t>, </a:t>
            </a:r>
            <a:r>
              <a:rPr lang="en-US" dirty="0" err="1"/>
              <a:t>chứa</a:t>
            </a:r>
            <a:r>
              <a:rPr lang="en-US" dirty="0"/>
              <a:t> </a:t>
            </a:r>
            <a:r>
              <a:rPr lang="en-US" dirty="0" err="1"/>
              <a:t>trong</a:t>
            </a:r>
            <a:r>
              <a:rPr lang="en-US" dirty="0"/>
              <a:t> </a:t>
            </a:r>
            <a:r>
              <a:rPr lang="en-US" dirty="0" err="1"/>
              <a:t>kiểu</a:t>
            </a:r>
            <a:r>
              <a:rPr lang="en-US" dirty="0"/>
              <a:t> list. </a:t>
            </a:r>
          </a:p>
          <a:p>
            <a:pPr lvl="1"/>
            <a:r>
              <a:rPr lang="en-US" dirty="0" err="1"/>
              <a:t>Viết</a:t>
            </a:r>
            <a:r>
              <a:rPr lang="en-US" dirty="0"/>
              <a:t> </a:t>
            </a:r>
            <a:r>
              <a:rPr lang="en-US" dirty="0" err="1"/>
              <a:t>hàm</a:t>
            </a:r>
            <a:r>
              <a:rPr lang="en-US" dirty="0"/>
              <a:t> </a:t>
            </a:r>
            <a:r>
              <a:rPr lang="en-US" dirty="0" err="1"/>
              <a:t>nhân</a:t>
            </a:r>
            <a:r>
              <a:rPr lang="en-US" dirty="0"/>
              <a:t> </a:t>
            </a:r>
            <a:r>
              <a:rPr lang="en-US" dirty="0" err="1"/>
              <a:t>hai</a:t>
            </a:r>
            <a:r>
              <a:rPr lang="en-US" dirty="0"/>
              <a:t> ma </a:t>
            </a:r>
            <a:r>
              <a:rPr lang="en-US" dirty="0" err="1"/>
              <a:t>trận</a:t>
            </a:r>
            <a:r>
              <a:rPr lang="en-US" dirty="0"/>
              <a:t> </a:t>
            </a:r>
            <a:r>
              <a:rPr lang="en-US" dirty="0" err="1"/>
              <a:t>trên</a:t>
            </a:r>
            <a:r>
              <a:rPr lang="en-US" dirty="0"/>
              <a:t> </a:t>
            </a:r>
            <a:r>
              <a:rPr lang="en-US" dirty="0" err="1"/>
              <a:t>kiểu</a:t>
            </a:r>
            <a:r>
              <a:rPr lang="en-US" dirty="0"/>
              <a:t> list</a:t>
            </a:r>
          </a:p>
          <a:p>
            <a:pPr lvl="1"/>
            <a:r>
              <a:rPr lang="en-US" dirty="0" err="1"/>
              <a:t>Chuyển</a:t>
            </a:r>
            <a:r>
              <a:rPr lang="en-US" dirty="0"/>
              <a:t> 2 ma </a:t>
            </a:r>
            <a:r>
              <a:rPr lang="en-US" dirty="0" err="1"/>
              <a:t>trận</a:t>
            </a:r>
            <a:r>
              <a:rPr lang="en-US" dirty="0"/>
              <a:t> </a:t>
            </a:r>
            <a:r>
              <a:rPr lang="en-US" dirty="0" err="1"/>
              <a:t>về</a:t>
            </a:r>
            <a:r>
              <a:rPr lang="en-US" dirty="0"/>
              <a:t> </a:t>
            </a:r>
            <a:r>
              <a:rPr lang="en-US" dirty="0" err="1"/>
              <a:t>kiểu</a:t>
            </a:r>
            <a:r>
              <a:rPr lang="en-US" dirty="0"/>
              <a:t> array </a:t>
            </a:r>
            <a:r>
              <a:rPr lang="en-US" dirty="0" err="1"/>
              <a:t>của</a:t>
            </a:r>
            <a:r>
              <a:rPr lang="en-US" dirty="0"/>
              <a:t> </a:t>
            </a:r>
            <a:r>
              <a:rPr lang="en-US" dirty="0" err="1"/>
              <a:t>numpy</a:t>
            </a:r>
            <a:r>
              <a:rPr lang="en-US" dirty="0"/>
              <a:t> </a:t>
            </a:r>
            <a:r>
              <a:rPr lang="en-US" err="1"/>
              <a:t>và</a:t>
            </a:r>
            <a:r>
              <a:rPr lang="en-US"/>
              <a:t> thực </a:t>
            </a:r>
            <a:r>
              <a:rPr lang="en-US" dirty="0" err="1"/>
              <a:t>hiện</a:t>
            </a:r>
            <a:r>
              <a:rPr lang="en-US" dirty="0"/>
              <a:t> </a:t>
            </a:r>
            <a:r>
              <a:rPr lang="en-US" dirty="0" err="1"/>
              <a:t>phếp</a:t>
            </a:r>
            <a:r>
              <a:rPr lang="en-US" dirty="0"/>
              <a:t> </a:t>
            </a:r>
            <a:r>
              <a:rPr lang="en-US" dirty="0" err="1"/>
              <a:t>nhân</a:t>
            </a:r>
            <a:r>
              <a:rPr lang="en-US" dirty="0"/>
              <a:t>. So </a:t>
            </a:r>
            <a:r>
              <a:rPr lang="en-US" dirty="0" err="1"/>
              <a:t>sánh</a:t>
            </a:r>
            <a:r>
              <a:rPr lang="en-US" dirty="0"/>
              <a:t> </a:t>
            </a:r>
            <a:r>
              <a:rPr lang="en-US" dirty="0" err="1"/>
              <a:t>kết</a:t>
            </a:r>
            <a:r>
              <a:rPr lang="en-US" dirty="0"/>
              <a:t> </a:t>
            </a:r>
            <a:r>
              <a:rPr lang="en-US" dirty="0" err="1"/>
              <a:t>quả</a:t>
            </a:r>
            <a:r>
              <a:rPr lang="en-US" dirty="0"/>
              <a:t>, </a:t>
            </a:r>
            <a:r>
              <a:rPr lang="en-US" dirty="0" err="1"/>
              <a:t>nhập</a:t>
            </a:r>
            <a:r>
              <a:rPr lang="en-US" dirty="0"/>
              <a:t> n </a:t>
            </a:r>
            <a:r>
              <a:rPr lang="en-US" dirty="0" err="1"/>
              <a:t>lớn</a:t>
            </a:r>
            <a:r>
              <a:rPr lang="en-US" dirty="0"/>
              <a:t> </a:t>
            </a:r>
            <a:r>
              <a:rPr lang="en-US" dirty="0" err="1"/>
              <a:t>dần</a:t>
            </a:r>
            <a:r>
              <a:rPr lang="en-US" dirty="0"/>
              <a:t> </a:t>
            </a:r>
            <a:r>
              <a:rPr lang="en-US" dirty="0" err="1"/>
              <a:t>và</a:t>
            </a:r>
            <a:r>
              <a:rPr lang="en-US" dirty="0"/>
              <a:t> so </a:t>
            </a:r>
            <a:r>
              <a:rPr lang="en-US" dirty="0" err="1"/>
              <a:t>sánh</a:t>
            </a:r>
            <a:r>
              <a:rPr lang="en-US" dirty="0"/>
              <a:t> </a:t>
            </a:r>
            <a:r>
              <a:rPr lang="en-US" dirty="0" err="1"/>
              <a:t>thời</a:t>
            </a:r>
            <a:r>
              <a:rPr lang="en-US" dirty="0"/>
              <a:t> </a:t>
            </a:r>
            <a:r>
              <a:rPr lang="en-US" dirty="0" err="1"/>
              <a:t>gian</a:t>
            </a:r>
            <a:r>
              <a:rPr lang="en-US" dirty="0"/>
              <a:t> </a:t>
            </a:r>
            <a:r>
              <a:rPr lang="en-US" dirty="0" err="1"/>
              <a:t>thực</a:t>
            </a:r>
            <a:r>
              <a:rPr lang="en-US" dirty="0"/>
              <a:t> </a:t>
            </a:r>
            <a:r>
              <a:rPr lang="en-US" dirty="0" err="1"/>
              <a:t>hiện</a:t>
            </a:r>
            <a:endParaRPr lang="en-US" dirty="0"/>
          </a:p>
          <a:p>
            <a:pPr marL="514350" indent="-514350">
              <a:buFont typeface="+mj-lt"/>
              <a:buAutoNum type="arabicPeriod"/>
            </a:pPr>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a:t>
            </a:r>
            <a:r>
              <a:rPr lang="en-US" dirty="0" err="1"/>
              <a:t>vào</a:t>
            </a:r>
            <a:r>
              <a:rPr lang="en-US" dirty="0"/>
              <a:t> </a:t>
            </a:r>
            <a:r>
              <a:rPr lang="en-US" dirty="0" err="1"/>
              <a:t>hai</a:t>
            </a:r>
            <a:r>
              <a:rPr lang="en-US" dirty="0"/>
              <a:t> vector </a:t>
            </a:r>
            <a:r>
              <a:rPr lang="en-US" dirty="0" err="1"/>
              <a:t>trong</a:t>
            </a:r>
            <a:r>
              <a:rPr lang="en-US" dirty="0"/>
              <a:t> </a:t>
            </a:r>
            <a:r>
              <a:rPr lang="en-US" dirty="0" err="1"/>
              <a:t>độ</a:t>
            </a:r>
            <a:r>
              <a:rPr lang="en-US" dirty="0"/>
              <a:t> </a:t>
            </a:r>
            <a:r>
              <a:rPr lang="en-US" err="1"/>
              <a:t>Đề-các</a:t>
            </a:r>
            <a:r>
              <a:rPr lang="en-US"/>
              <a:t> 3D </a:t>
            </a:r>
            <a:r>
              <a:rPr lang="en-US" dirty="0" err="1"/>
              <a:t>và</a:t>
            </a:r>
            <a:r>
              <a:rPr lang="en-US" dirty="0"/>
              <a:t> </a:t>
            </a:r>
            <a:r>
              <a:rPr lang="en-US" dirty="0" err="1"/>
              <a:t>tính</a:t>
            </a:r>
            <a:r>
              <a:rPr lang="en-US" dirty="0"/>
              <a:t>:</a:t>
            </a:r>
          </a:p>
          <a:p>
            <a:pPr lvl="1"/>
            <a:r>
              <a:rPr lang="en-US" dirty="0" err="1"/>
              <a:t>Tích</a:t>
            </a:r>
            <a:r>
              <a:rPr lang="en-US" dirty="0"/>
              <a:t> </a:t>
            </a:r>
            <a:r>
              <a:rPr lang="en-US" dirty="0" err="1"/>
              <a:t>vô</a:t>
            </a:r>
            <a:r>
              <a:rPr lang="en-US" dirty="0"/>
              <a:t> </a:t>
            </a:r>
            <a:r>
              <a:rPr lang="en-US" dirty="0" err="1"/>
              <a:t>hướng</a:t>
            </a:r>
            <a:r>
              <a:rPr lang="en-US" dirty="0"/>
              <a:t> 2 vector</a:t>
            </a:r>
          </a:p>
          <a:p>
            <a:pPr lvl="1"/>
            <a:r>
              <a:rPr lang="en-US" dirty="0" err="1"/>
              <a:t>Gốc</a:t>
            </a:r>
            <a:r>
              <a:rPr lang="en-US" dirty="0"/>
              <a:t> </a:t>
            </a:r>
            <a:r>
              <a:rPr lang="en-US" dirty="0" err="1"/>
              <a:t>giữa</a:t>
            </a:r>
            <a:r>
              <a:rPr lang="en-US" dirty="0"/>
              <a:t> </a:t>
            </a:r>
            <a:r>
              <a:rPr lang="en-US" dirty="0" err="1"/>
              <a:t>hai</a:t>
            </a:r>
            <a:r>
              <a:rPr lang="en-US" dirty="0"/>
              <a:t> vector </a:t>
            </a:r>
          </a:p>
          <a:p>
            <a:pPr lvl="1"/>
            <a:r>
              <a:rPr lang="en-US" err="1"/>
              <a:t>Hình</a:t>
            </a:r>
            <a:r>
              <a:rPr lang="en-US"/>
              <a:t> chiếu </a:t>
            </a:r>
            <a:r>
              <a:rPr lang="en-US" dirty="0" err="1"/>
              <a:t>của</a:t>
            </a:r>
            <a:r>
              <a:rPr lang="en-US" dirty="0"/>
              <a:t> vector </a:t>
            </a:r>
            <a:r>
              <a:rPr lang="en-US" dirty="0" err="1"/>
              <a:t>này</a:t>
            </a:r>
            <a:r>
              <a:rPr lang="en-US" dirty="0"/>
              <a:t> </a:t>
            </a:r>
            <a:r>
              <a:rPr lang="en-US" dirty="0" err="1"/>
              <a:t>lên</a:t>
            </a:r>
            <a:r>
              <a:rPr lang="en-US" dirty="0"/>
              <a:t> vector </a:t>
            </a:r>
            <a:r>
              <a:rPr lang="en-US" dirty="0" err="1"/>
              <a:t>kia</a:t>
            </a:r>
            <a:r>
              <a:rPr lang="en-US" dirty="0"/>
              <a:t> </a:t>
            </a:r>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87</a:t>
            </a:fld>
            <a:endParaRPr lang="en-US"/>
          </a:p>
        </p:txBody>
      </p:sp>
      <p:pic>
        <p:nvPicPr>
          <p:cNvPr id="1026" name="Picture 2" descr="công thức tính góc giữa 2 vect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2601" y="156882"/>
            <a:ext cx="6464478" cy="944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9352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endParaRPr lang="en-US" dirty="0"/>
          </a:p>
        </p:txBody>
      </p:sp>
      <p:sp>
        <p:nvSpPr>
          <p:cNvPr id="3" name="Content Placeholder 2"/>
          <p:cNvSpPr>
            <a:spLocks noGrp="1"/>
          </p:cNvSpPr>
          <p:nvPr>
            <p:ph idx="1"/>
          </p:nvPr>
        </p:nvSpPr>
        <p:spPr>
          <a:xfrm>
            <a:off x="628650" y="1369017"/>
            <a:ext cx="7886700" cy="4807946"/>
          </a:xfrm>
        </p:spPr>
        <p:txBody>
          <a:bodyPr>
            <a:normAutofit/>
          </a:bodyPr>
          <a:lstStyle/>
          <a:p>
            <a:pPr marL="0" indent="0">
              <a:buNone/>
            </a:pPr>
            <a:r>
              <a:rPr lang="en-US"/>
              <a:t>2. Viết </a:t>
            </a:r>
            <a:r>
              <a:rPr lang="en-US" dirty="0" err="1"/>
              <a:t>chương</a:t>
            </a:r>
            <a:r>
              <a:rPr lang="en-US" dirty="0"/>
              <a:t> </a:t>
            </a:r>
            <a:r>
              <a:rPr lang="en-US" dirty="0" err="1"/>
              <a:t>trình</a:t>
            </a:r>
            <a:r>
              <a:rPr lang="en-US" dirty="0"/>
              <a:t> </a:t>
            </a:r>
            <a:r>
              <a:rPr lang="en-US" dirty="0" err="1"/>
              <a:t>nhập</a:t>
            </a:r>
            <a:r>
              <a:rPr lang="en-US" dirty="0"/>
              <a:t> </a:t>
            </a:r>
            <a:r>
              <a:rPr lang="en-US" dirty="0" err="1"/>
              <a:t>vào</a:t>
            </a:r>
            <a:r>
              <a:rPr lang="en-US" dirty="0"/>
              <a:t> </a:t>
            </a:r>
            <a:r>
              <a:rPr lang="en-US" dirty="0" err="1"/>
              <a:t>hai</a:t>
            </a:r>
            <a:r>
              <a:rPr lang="en-US" dirty="0"/>
              <a:t> vector </a:t>
            </a:r>
            <a:r>
              <a:rPr lang="en-US" dirty="0" err="1"/>
              <a:t>trong</a:t>
            </a:r>
            <a:r>
              <a:rPr lang="en-US" dirty="0"/>
              <a:t> </a:t>
            </a:r>
            <a:r>
              <a:rPr lang="en-US" dirty="0" err="1"/>
              <a:t>độ</a:t>
            </a:r>
            <a:r>
              <a:rPr lang="en-US" dirty="0"/>
              <a:t> </a:t>
            </a:r>
            <a:r>
              <a:rPr lang="en-US" err="1"/>
              <a:t>Đề-các</a:t>
            </a:r>
            <a:r>
              <a:rPr lang="en-US"/>
              <a:t> 3D </a:t>
            </a:r>
            <a:r>
              <a:rPr lang="en-US" dirty="0" err="1"/>
              <a:t>và</a:t>
            </a:r>
            <a:r>
              <a:rPr lang="en-US" dirty="0"/>
              <a:t> </a:t>
            </a:r>
            <a:r>
              <a:rPr lang="en-US" dirty="0" err="1"/>
              <a:t>tính</a:t>
            </a:r>
            <a:r>
              <a:rPr lang="en-US" dirty="0"/>
              <a:t>:</a:t>
            </a:r>
          </a:p>
          <a:p>
            <a:pPr lvl="1"/>
            <a:r>
              <a:rPr lang="en-US" dirty="0" err="1"/>
              <a:t>Tích</a:t>
            </a:r>
            <a:r>
              <a:rPr lang="en-US" dirty="0"/>
              <a:t> </a:t>
            </a:r>
            <a:r>
              <a:rPr lang="en-US" dirty="0" err="1"/>
              <a:t>vô</a:t>
            </a:r>
            <a:r>
              <a:rPr lang="en-US" dirty="0"/>
              <a:t> </a:t>
            </a:r>
            <a:r>
              <a:rPr lang="en-US" dirty="0" err="1"/>
              <a:t>hướng</a:t>
            </a:r>
            <a:r>
              <a:rPr lang="en-US" dirty="0"/>
              <a:t> 2 vector</a:t>
            </a:r>
          </a:p>
          <a:p>
            <a:pPr lvl="1"/>
            <a:r>
              <a:rPr lang="en-US" dirty="0" err="1"/>
              <a:t>Gốc</a:t>
            </a:r>
            <a:r>
              <a:rPr lang="en-US" dirty="0"/>
              <a:t> </a:t>
            </a:r>
            <a:r>
              <a:rPr lang="en-US" dirty="0" err="1"/>
              <a:t>giữa</a:t>
            </a:r>
            <a:r>
              <a:rPr lang="en-US" dirty="0"/>
              <a:t> </a:t>
            </a:r>
            <a:r>
              <a:rPr lang="en-US" dirty="0" err="1"/>
              <a:t>hai</a:t>
            </a:r>
            <a:r>
              <a:rPr lang="en-US" dirty="0"/>
              <a:t> vector </a:t>
            </a:r>
          </a:p>
          <a:p>
            <a:pPr lvl="1"/>
            <a:r>
              <a:rPr lang="en-US" err="1"/>
              <a:t>Hình</a:t>
            </a:r>
            <a:r>
              <a:rPr lang="en-US"/>
              <a:t> chiếu </a:t>
            </a:r>
            <a:r>
              <a:rPr lang="en-US" dirty="0" err="1"/>
              <a:t>của</a:t>
            </a:r>
            <a:r>
              <a:rPr lang="en-US" dirty="0"/>
              <a:t> vector </a:t>
            </a:r>
            <a:r>
              <a:rPr lang="en-US" dirty="0" err="1"/>
              <a:t>này</a:t>
            </a:r>
            <a:r>
              <a:rPr lang="en-US" dirty="0"/>
              <a:t> </a:t>
            </a:r>
            <a:r>
              <a:rPr lang="en-US" dirty="0" err="1"/>
              <a:t>lên</a:t>
            </a:r>
            <a:r>
              <a:rPr lang="en-US" dirty="0"/>
              <a:t> vector </a:t>
            </a:r>
            <a:r>
              <a:rPr lang="en-US" dirty="0" err="1"/>
              <a:t>kia</a:t>
            </a:r>
            <a:r>
              <a:rPr lang="en-US" dirty="0"/>
              <a:t> </a:t>
            </a:r>
          </a:p>
          <a:p>
            <a:endParaRPr lang="en-US" dirty="0"/>
          </a:p>
          <a:p>
            <a:endParaRPr lang="en-US" dirty="0"/>
          </a:p>
        </p:txBody>
      </p:sp>
      <p:sp>
        <p:nvSpPr>
          <p:cNvPr id="4" name="Footer Placeholder 3"/>
          <p:cNvSpPr>
            <a:spLocks noGrp="1"/>
          </p:cNvSpPr>
          <p:nvPr>
            <p:ph type="ftr" sz="quarter" idx="11"/>
          </p:nvPr>
        </p:nvSpPr>
        <p:spPr/>
        <p:txBody>
          <a:bodyPr/>
          <a:lstStyle/>
          <a:p>
            <a:r>
              <a:rPr lang="en-US"/>
              <a:t>Lập trình căn bản với  Python</a:t>
            </a:r>
          </a:p>
        </p:txBody>
      </p:sp>
      <p:sp>
        <p:nvSpPr>
          <p:cNvPr id="5" name="Slide Number Placeholder 4"/>
          <p:cNvSpPr>
            <a:spLocks noGrp="1"/>
          </p:cNvSpPr>
          <p:nvPr>
            <p:ph type="sldNum" sz="quarter" idx="12"/>
          </p:nvPr>
        </p:nvSpPr>
        <p:spPr/>
        <p:txBody>
          <a:bodyPr/>
          <a:lstStyle/>
          <a:p>
            <a:fld id="{ADD32889-1A4F-4FED-AEC4-AD6BC7117F25}" type="slidenum">
              <a:rPr lang="en-US" smtClean="0"/>
              <a:t>88</a:t>
            </a:fld>
            <a:endParaRPr lang="en-US"/>
          </a:p>
        </p:txBody>
      </p:sp>
      <p:pic>
        <p:nvPicPr>
          <p:cNvPr id="1026" name="Picture 2" descr="công thức tính góc giữa 2 vect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6691" y="138740"/>
            <a:ext cx="6464478" cy="9441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6392794" y="1828072"/>
            <a:ext cx="2751206" cy="2546329"/>
          </a:xfrm>
          <a:prstGeom prst="rect">
            <a:avLst/>
          </a:prstGeom>
        </p:spPr>
      </p:pic>
      <p:sp>
        <p:nvSpPr>
          <p:cNvPr id="7" name="TextBox 6"/>
          <p:cNvSpPr txBox="1"/>
          <p:nvPr/>
        </p:nvSpPr>
        <p:spPr>
          <a:xfrm>
            <a:off x="628650" y="3630634"/>
            <a:ext cx="4935023" cy="923330"/>
          </a:xfrm>
          <a:prstGeom prst="rect">
            <a:avLst/>
          </a:prstGeom>
          <a:noFill/>
        </p:spPr>
        <p:txBody>
          <a:bodyPr wrap="square" rtlCol="0">
            <a:spAutoFit/>
          </a:bodyPr>
          <a:lstStyle/>
          <a:p>
            <a:r>
              <a:rPr lang="vi-VN"/>
              <a:t>Để </a:t>
            </a:r>
            <a:r>
              <a:rPr lang="vi-VN" b="1"/>
              <a:t>tìm hình chiếu của vector</a:t>
            </a:r>
            <a:r>
              <a:rPr lang="vi-VN"/>
              <a:t> b lên vector a bằng cách sử dụng </a:t>
            </a:r>
            <a:r>
              <a:rPr lang="vi-VN" i="1"/>
              <a:t>tích vô hướng</a:t>
            </a:r>
            <a:r>
              <a:rPr lang="vi-VN"/>
              <a:t> (</a:t>
            </a:r>
            <a:r>
              <a:rPr lang="vi-VN" b="1"/>
              <a:t>dot product</a:t>
            </a:r>
            <a:r>
              <a:rPr lang="vi-VN"/>
              <a:t>) theo công thức sau:</a:t>
            </a:r>
            <a:endParaRPr lang="fr-FR"/>
          </a:p>
        </p:txBody>
      </p:sp>
      <p:pic>
        <p:nvPicPr>
          <p:cNvPr id="8" name="Picture 7"/>
          <p:cNvPicPr>
            <a:picLocks noChangeAspect="1"/>
          </p:cNvPicPr>
          <p:nvPr/>
        </p:nvPicPr>
        <p:blipFill>
          <a:blip r:embed="rId4"/>
          <a:stretch>
            <a:fillRect/>
          </a:stretch>
        </p:blipFill>
        <p:spPr>
          <a:xfrm>
            <a:off x="1049243" y="4565362"/>
            <a:ext cx="7132504" cy="1243009"/>
          </a:xfrm>
          <a:prstGeom prst="rect">
            <a:avLst/>
          </a:prstGeom>
        </p:spPr>
      </p:pic>
    </p:spTree>
    <p:extLst>
      <p:ext uri="{BB962C8B-B14F-4D97-AF65-F5344CB8AC3E}">
        <p14:creationId xmlns:p14="http://schemas.microsoft.com/office/powerpoint/2010/main" val="31423499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1825625"/>
            <a:ext cx="8626186" cy="4351338"/>
          </a:xfrm>
        </p:spPr>
        <p:txBody>
          <a:bodyPr/>
          <a:lstStyle/>
          <a:p>
            <a:pPr marL="0" indent="0">
              <a:buNone/>
            </a:pPr>
            <a:r>
              <a:rPr lang="en-US" b="1"/>
              <a:t>1. Mở file</a:t>
            </a:r>
          </a:p>
          <a:p>
            <a:pPr marL="0" indent="0">
              <a:buNone/>
            </a:pPr>
            <a:r>
              <a:rPr lang="en-US"/>
              <a:t>Cú pháp:</a:t>
            </a:r>
          </a:p>
          <a:p>
            <a:pPr marL="0" indent="0">
              <a:buNone/>
            </a:pPr>
            <a:r>
              <a:rPr lang="en-US">
                <a:solidFill>
                  <a:srgbClr val="0070C0"/>
                </a:solidFill>
                <a:latin typeface="Arial" panose="020B0604020202020204" pitchFamily="34" charset="0"/>
                <a:cs typeface="Arial" panose="020B0604020202020204" pitchFamily="34" charset="0"/>
              </a:rPr>
              <a:t>fileobject = open(file_name [, access_mode])</a:t>
            </a:r>
          </a:p>
          <a:p>
            <a:r>
              <a:rPr lang="vi-VN"/>
              <a:t>filename: chuỗi chứa tên của file muốn truy cập.</a:t>
            </a:r>
            <a:endParaRPr lang="en-US"/>
          </a:p>
          <a:p>
            <a:r>
              <a:rPr lang="vi-VN"/>
              <a:t>access_mode: chế độ của file được mở ra như read, write, append,... </a:t>
            </a: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89</a:t>
            </a:fld>
            <a:endParaRPr lang="en-US"/>
          </a:p>
        </p:txBody>
      </p:sp>
    </p:spTree>
    <p:extLst>
      <p:ext uri="{BB962C8B-B14F-4D97-AF65-F5344CB8AC3E}">
        <p14:creationId xmlns:p14="http://schemas.microsoft.com/office/powerpoint/2010/main" val="25841192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p:txBody>
          <a:bodyPr/>
          <a:lstStyle/>
          <a:p>
            <a:r>
              <a:rPr lang="en-US" b="1"/>
              <a:t>Thao tác với File</a:t>
            </a:r>
          </a:p>
        </p:txBody>
      </p:sp>
      <p:graphicFrame>
        <p:nvGraphicFramePr>
          <p:cNvPr id="6" name="Content Placeholder 5">
            <a:extLst>
              <a:ext uri="{FF2B5EF4-FFF2-40B4-BE49-F238E27FC236}">
                <a16:creationId xmlns:a16="http://schemas.microsoft.com/office/drawing/2014/main" id="{20023482-FA82-8E09-8382-2C2376DE4797}"/>
              </a:ext>
            </a:extLst>
          </p:cNvPr>
          <p:cNvGraphicFramePr>
            <a:graphicFrameLocks noGrp="1"/>
          </p:cNvGraphicFramePr>
          <p:nvPr>
            <p:ph idx="1"/>
            <p:extLst>
              <p:ext uri="{D42A27DB-BD31-4B8C-83A1-F6EECF244321}">
                <p14:modId xmlns:p14="http://schemas.microsoft.com/office/powerpoint/2010/main" val="2391418908"/>
              </p:ext>
            </p:extLst>
          </p:nvPr>
        </p:nvGraphicFramePr>
        <p:xfrm>
          <a:off x="628650" y="1825625"/>
          <a:ext cx="7886700" cy="3134360"/>
        </p:xfrm>
        <a:graphic>
          <a:graphicData uri="http://schemas.openxmlformats.org/drawingml/2006/table">
            <a:tbl>
              <a:tblPr firstRow="1" bandRow="1">
                <a:tableStyleId>{5C22544A-7EE6-4342-B048-85BDC9FD1C3A}</a:tableStyleId>
              </a:tblPr>
              <a:tblGrid>
                <a:gridCol w="1103168">
                  <a:extLst>
                    <a:ext uri="{9D8B030D-6E8A-4147-A177-3AD203B41FA5}">
                      <a16:colId xmlns:a16="http://schemas.microsoft.com/office/drawing/2014/main" val="1513813912"/>
                    </a:ext>
                  </a:extLst>
                </a:gridCol>
                <a:gridCol w="6783532">
                  <a:extLst>
                    <a:ext uri="{9D8B030D-6E8A-4147-A177-3AD203B41FA5}">
                      <a16:colId xmlns:a16="http://schemas.microsoft.com/office/drawing/2014/main" val="1114875337"/>
                    </a:ext>
                  </a:extLst>
                </a:gridCol>
              </a:tblGrid>
              <a:tr h="370840">
                <a:tc>
                  <a:txBody>
                    <a:bodyPr/>
                    <a:lstStyle/>
                    <a:p>
                      <a:r>
                        <a:rPr lang="en-US"/>
                        <a:t>Chế độ</a:t>
                      </a:r>
                    </a:p>
                  </a:txBody>
                  <a:tcPr/>
                </a:tc>
                <a:tc>
                  <a:txBody>
                    <a:bodyPr/>
                    <a:lstStyle/>
                    <a:p>
                      <a:r>
                        <a:rPr lang="en-US"/>
                        <a:t>Mô tả</a:t>
                      </a:r>
                    </a:p>
                  </a:txBody>
                  <a:tcPr/>
                </a:tc>
                <a:extLst>
                  <a:ext uri="{0D108BD9-81ED-4DB2-BD59-A6C34878D82A}">
                    <a16:rowId xmlns:a16="http://schemas.microsoft.com/office/drawing/2014/main" val="3496157898"/>
                  </a:ext>
                </a:extLst>
              </a:tr>
              <a:tr h="370840">
                <a:tc>
                  <a:txBody>
                    <a:bodyPr/>
                    <a:lstStyle/>
                    <a:p>
                      <a:r>
                        <a:rPr lang="en-US"/>
                        <a:t>r</a:t>
                      </a:r>
                    </a:p>
                  </a:txBody>
                  <a:tcPr/>
                </a:tc>
                <a:tc>
                  <a:txBody>
                    <a:bodyPr/>
                    <a:lstStyle/>
                    <a:p>
                      <a:r>
                        <a:rPr lang="en-US"/>
                        <a:t>Mở file để đọc</a:t>
                      </a:r>
                    </a:p>
                  </a:txBody>
                  <a:tcPr/>
                </a:tc>
                <a:extLst>
                  <a:ext uri="{0D108BD9-81ED-4DB2-BD59-A6C34878D82A}">
                    <a16:rowId xmlns:a16="http://schemas.microsoft.com/office/drawing/2014/main" val="3868651793"/>
                  </a:ext>
                </a:extLst>
              </a:tr>
              <a:tr h="370840">
                <a:tc>
                  <a:txBody>
                    <a:bodyPr/>
                    <a:lstStyle/>
                    <a:p>
                      <a:r>
                        <a:rPr lang="en-US"/>
                        <a:t>r+</a:t>
                      </a:r>
                    </a:p>
                  </a:txBody>
                  <a:tcPr/>
                </a:tc>
                <a:tc>
                  <a:txBody>
                    <a:bodyPr/>
                    <a:lstStyle/>
                    <a:p>
                      <a:r>
                        <a:rPr lang="en-US"/>
                        <a:t>Mở file để đọc và ghi</a:t>
                      </a:r>
                    </a:p>
                  </a:txBody>
                  <a:tcPr/>
                </a:tc>
                <a:extLst>
                  <a:ext uri="{0D108BD9-81ED-4DB2-BD59-A6C34878D82A}">
                    <a16:rowId xmlns:a16="http://schemas.microsoft.com/office/drawing/2014/main" val="3860560679"/>
                  </a:ext>
                </a:extLst>
              </a:tr>
              <a:tr h="370840">
                <a:tc>
                  <a:txBody>
                    <a:bodyPr/>
                    <a:lstStyle/>
                    <a:p>
                      <a:r>
                        <a:rPr lang="en-US"/>
                        <a:t>w</a:t>
                      </a:r>
                    </a:p>
                  </a:txBody>
                  <a:tcPr/>
                </a:tc>
                <a:tc>
                  <a:txBody>
                    <a:bodyPr/>
                    <a:lstStyle/>
                    <a:p>
                      <a:r>
                        <a:rPr lang="en-US"/>
                        <a:t>Mở file để ghi, nếu file đã tồn tại thì sẽ bị ghi mới</a:t>
                      </a:r>
                    </a:p>
                  </a:txBody>
                  <a:tcPr/>
                </a:tc>
                <a:extLst>
                  <a:ext uri="{0D108BD9-81ED-4DB2-BD59-A6C34878D82A}">
                    <a16:rowId xmlns:a16="http://schemas.microsoft.com/office/drawing/2014/main" val="2745599400"/>
                  </a:ext>
                </a:extLst>
              </a:tr>
              <a:tr h="370840">
                <a:tc>
                  <a:txBody>
                    <a:bodyPr/>
                    <a:lstStyle/>
                    <a:p>
                      <a:r>
                        <a:rPr lang="en-US"/>
                        <a:t>w+</a:t>
                      </a:r>
                    </a:p>
                  </a:txBody>
                  <a:tcPr/>
                </a:tc>
                <a:tc>
                  <a:txBody>
                    <a:bodyPr/>
                    <a:lstStyle/>
                    <a:p>
                      <a:r>
                        <a:rPr lang="en-US"/>
                        <a:t>Tạo một file mới để đọc và ghi, nếu file tồn tại thì sẽ bị ghi mới</a:t>
                      </a:r>
                    </a:p>
                  </a:txBody>
                  <a:tcPr/>
                </a:tc>
                <a:extLst>
                  <a:ext uri="{0D108BD9-81ED-4DB2-BD59-A6C34878D82A}">
                    <a16:rowId xmlns:a16="http://schemas.microsoft.com/office/drawing/2014/main" val="2621241370"/>
                  </a:ext>
                </a:extLst>
              </a:tr>
              <a:tr h="370840">
                <a:tc>
                  <a:txBody>
                    <a:bodyPr/>
                    <a:lstStyle/>
                    <a:p>
                      <a:r>
                        <a:rPr lang="en-US"/>
                        <a:t>a</a:t>
                      </a:r>
                    </a:p>
                  </a:txBody>
                  <a:tcPr/>
                </a:tc>
                <a:tc>
                  <a:txBody>
                    <a:bodyPr/>
                    <a:lstStyle/>
                    <a:p>
                      <a:r>
                        <a:rPr lang="en-US"/>
                        <a:t>Mở file để ghi thêm vào cuối file, nếu không tìm thấy file sẽ tạo mới một file để ghi mới</a:t>
                      </a:r>
                    </a:p>
                  </a:txBody>
                  <a:tcPr/>
                </a:tc>
                <a:extLst>
                  <a:ext uri="{0D108BD9-81ED-4DB2-BD59-A6C34878D82A}">
                    <a16:rowId xmlns:a16="http://schemas.microsoft.com/office/drawing/2014/main" val="2235253549"/>
                  </a:ext>
                </a:extLst>
              </a:tr>
              <a:tr h="370840">
                <a:tc>
                  <a:txBody>
                    <a:bodyPr/>
                    <a:lstStyle/>
                    <a:p>
                      <a:r>
                        <a:rPr lang="en-US"/>
                        <a:t>a+</a:t>
                      </a:r>
                    </a:p>
                  </a:txBody>
                  <a:tcPr/>
                </a:tc>
                <a:tc>
                  <a:txBody>
                    <a:bodyPr/>
                    <a:lstStyle/>
                    <a:p>
                      <a:r>
                        <a:rPr lang="en-US"/>
                        <a:t>Mở file để đọc và ghi thêm vào cuối file, nếu không tìm thấy file sẽ tạo mới một file để đọc và ghi mới</a:t>
                      </a:r>
                    </a:p>
                  </a:txBody>
                  <a:tcPr/>
                </a:tc>
                <a:extLst>
                  <a:ext uri="{0D108BD9-81ED-4DB2-BD59-A6C34878D82A}">
                    <a16:rowId xmlns:a16="http://schemas.microsoft.com/office/drawing/2014/main" val="2762395306"/>
                  </a:ext>
                </a:extLst>
              </a:tr>
            </a:tbl>
          </a:graphicData>
        </a:graphic>
      </p:graphicFrame>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90</a:t>
            </a:fld>
            <a:endParaRPr lang="en-US"/>
          </a:p>
        </p:txBody>
      </p:sp>
    </p:spTree>
    <p:extLst>
      <p:ext uri="{BB962C8B-B14F-4D97-AF65-F5344CB8AC3E}">
        <p14:creationId xmlns:p14="http://schemas.microsoft.com/office/powerpoint/2010/main" val="18762866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1825625"/>
            <a:ext cx="8626186" cy="4351338"/>
          </a:xfrm>
        </p:spPr>
        <p:txBody>
          <a:bodyPr>
            <a:normAutofit/>
          </a:bodyPr>
          <a:lstStyle/>
          <a:p>
            <a:pPr marL="0" indent="0">
              <a:buNone/>
            </a:pPr>
            <a:r>
              <a:rPr lang="en-US" b="1"/>
              <a:t>2. Đóng file</a:t>
            </a:r>
          </a:p>
          <a:p>
            <a:pPr marL="0" indent="0">
              <a:buNone/>
            </a:pPr>
            <a:r>
              <a:rPr lang="en-US"/>
              <a:t>Cú pháp: </a:t>
            </a:r>
            <a:r>
              <a:rPr lang="en-US">
                <a:solidFill>
                  <a:srgbClr val="0070C0"/>
                </a:solidFill>
              </a:rPr>
              <a:t>fileObject.close()</a:t>
            </a:r>
          </a:p>
          <a:p>
            <a:pPr marL="0" indent="0">
              <a:buNone/>
            </a:pPr>
            <a:endParaRPr lang="en-US">
              <a:solidFill>
                <a:srgbClr val="0070C0"/>
              </a:solidFill>
            </a:endParaRPr>
          </a:p>
          <a:p>
            <a:pPr marL="0" indent="0">
              <a:buNone/>
            </a:pPr>
            <a:r>
              <a:rPr lang="en-US">
                <a:solidFill>
                  <a:srgbClr val="0070C0"/>
                </a:solidFill>
              </a:rPr>
              <a:t>Ví dụ:</a:t>
            </a:r>
          </a:p>
          <a:p>
            <a:pPr marL="0" indent="0">
              <a:buNone/>
            </a:pPr>
            <a:r>
              <a:rPr lang="en-US">
                <a:latin typeface="Courier New" panose="02070309020205020404" pitchFamily="49" charset="0"/>
                <a:cs typeface="Courier New" panose="02070309020205020404" pitchFamily="49" charset="0"/>
              </a:rPr>
              <a:t># Mở file</a:t>
            </a:r>
          </a:p>
          <a:p>
            <a:pPr marL="0" indent="0">
              <a:buNone/>
            </a:pPr>
            <a:r>
              <a:rPr lang="en-US">
                <a:latin typeface="Courier New" panose="02070309020205020404" pitchFamily="49" charset="0"/>
                <a:cs typeface="Courier New" panose="02070309020205020404" pitchFamily="49" charset="0"/>
              </a:rPr>
              <a:t>file = open("plc.txt", "r")</a:t>
            </a:r>
          </a:p>
          <a:p>
            <a:pPr marL="0" indent="0">
              <a:buNone/>
            </a:pPr>
            <a:r>
              <a:rPr lang="en-US">
                <a:latin typeface="Courier New" panose="02070309020205020404" pitchFamily="49" charset="0"/>
                <a:cs typeface="Courier New" panose="02070309020205020404" pitchFamily="49" charset="0"/>
              </a:rPr>
              <a:t># Đóng file</a:t>
            </a:r>
          </a:p>
          <a:p>
            <a:pPr marL="0" indent="0">
              <a:buNone/>
            </a:pPr>
            <a:r>
              <a:rPr lang="en-US">
                <a:latin typeface="Courier New" panose="02070309020205020404" pitchFamily="49" charset="0"/>
                <a:cs typeface="Courier New" panose="02070309020205020404" pitchFamily="49" charset="0"/>
              </a:rPr>
              <a:t>file.close()</a:t>
            </a:r>
          </a:p>
          <a:p>
            <a:pPr marL="0" indent="0">
              <a:buNone/>
            </a:pP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91</a:t>
            </a:fld>
            <a:endParaRPr lang="en-US"/>
          </a:p>
        </p:txBody>
      </p:sp>
    </p:spTree>
    <p:extLst>
      <p:ext uri="{BB962C8B-B14F-4D97-AF65-F5344CB8AC3E}">
        <p14:creationId xmlns:p14="http://schemas.microsoft.com/office/powerpoint/2010/main" val="23238328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a:xfrm>
            <a:off x="628650" y="18255"/>
            <a:ext cx="7886700" cy="1325563"/>
          </a:xfrm>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997393"/>
            <a:ext cx="8723168" cy="4351338"/>
          </a:xfrm>
        </p:spPr>
        <p:txBody>
          <a:bodyPr>
            <a:normAutofit/>
          </a:bodyPr>
          <a:lstStyle/>
          <a:p>
            <a:pPr marL="0" indent="0">
              <a:buNone/>
            </a:pPr>
            <a:r>
              <a:rPr lang="en-US" b="1"/>
              <a:t>3. Phương thức read</a:t>
            </a:r>
          </a:p>
          <a:p>
            <a:pPr marL="0" indent="0">
              <a:buNone/>
            </a:pPr>
            <a:r>
              <a:rPr lang="en-US"/>
              <a:t>Cú pháp: </a:t>
            </a:r>
            <a:r>
              <a:rPr lang="en-US">
                <a:solidFill>
                  <a:srgbClr val="0070C0"/>
                </a:solidFill>
              </a:rPr>
              <a:t>fileObject.read([size])</a:t>
            </a:r>
          </a:p>
          <a:p>
            <a:pPr marL="0" indent="0">
              <a:buNone/>
            </a:pPr>
            <a:r>
              <a:rPr lang="vi-VN" sz="2400">
                <a:solidFill>
                  <a:srgbClr val="0070C0"/>
                </a:solidFill>
              </a:rPr>
              <a:t>Phương thức này trả về một chuỗi có kích thước bằng size. Nếu không truyền size thì toàn bộ nội dung của file sẽ được đọc.</a:t>
            </a:r>
            <a:endParaRPr lang="en-US" sz="2400">
              <a:solidFill>
                <a:srgbClr val="0070C0"/>
              </a:solidFill>
            </a:endParaRPr>
          </a:p>
          <a:p>
            <a:pPr marL="0" indent="0">
              <a:buNone/>
            </a:pPr>
            <a:r>
              <a:rPr lang="en-US">
                <a:solidFill>
                  <a:srgbClr val="0070C0"/>
                </a:solidFill>
              </a:rPr>
              <a:t>Ví dụ: </a:t>
            </a:r>
            <a:r>
              <a:rPr lang="en-US"/>
              <a:t>File introduction.txt chứa nội dung như bên dưới</a:t>
            </a:r>
          </a:p>
          <a:p>
            <a:pPr marL="0" indent="0">
              <a:buNone/>
            </a:pP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92</a:t>
            </a:fld>
            <a:endParaRPr lang="en-US"/>
          </a:p>
        </p:txBody>
      </p:sp>
      <p:pic>
        <p:nvPicPr>
          <p:cNvPr id="7" name="Picture 6">
            <a:extLst>
              <a:ext uri="{FF2B5EF4-FFF2-40B4-BE49-F238E27FC236}">
                <a16:creationId xmlns:a16="http://schemas.microsoft.com/office/drawing/2014/main" id="{52F4F7EA-94BD-0EA1-FBFB-A90C44AFAACF}"/>
              </a:ext>
            </a:extLst>
          </p:cNvPr>
          <p:cNvPicPr>
            <a:picLocks noChangeAspect="1"/>
          </p:cNvPicPr>
          <p:nvPr/>
        </p:nvPicPr>
        <p:blipFill>
          <a:blip r:embed="rId2"/>
          <a:stretch>
            <a:fillRect/>
          </a:stretch>
        </p:blipFill>
        <p:spPr>
          <a:xfrm>
            <a:off x="796636" y="3796011"/>
            <a:ext cx="7550727" cy="1087069"/>
          </a:xfrm>
          <a:prstGeom prst="rect">
            <a:avLst/>
          </a:prstGeom>
        </p:spPr>
      </p:pic>
      <p:sp>
        <p:nvSpPr>
          <p:cNvPr id="8" name="TextBox 7">
            <a:extLst>
              <a:ext uri="{FF2B5EF4-FFF2-40B4-BE49-F238E27FC236}">
                <a16:creationId xmlns:a16="http://schemas.microsoft.com/office/drawing/2014/main" id="{A778993C-7BDF-3C6F-0BAA-878E4FADC296}"/>
              </a:ext>
            </a:extLst>
          </p:cNvPr>
          <p:cNvSpPr txBox="1"/>
          <p:nvPr/>
        </p:nvSpPr>
        <p:spPr>
          <a:xfrm>
            <a:off x="942109" y="5181599"/>
            <a:ext cx="7259782" cy="1477328"/>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f = open('introduction.txt', 'r')</a:t>
            </a:r>
          </a:p>
          <a:p>
            <a:r>
              <a:rPr lang="en-US">
                <a:latin typeface="Courier New" panose="02070309020205020404" pitchFamily="49" charset="0"/>
                <a:cs typeface="Courier New" panose="02070309020205020404" pitchFamily="49" charset="0"/>
              </a:rPr>
              <a:t>str = f.read()</a:t>
            </a:r>
          </a:p>
          <a:p>
            <a:r>
              <a:rPr lang="en-US">
                <a:latin typeface="Courier New" panose="02070309020205020404" pitchFamily="49" charset="0"/>
                <a:cs typeface="Courier New" panose="02070309020205020404" pitchFamily="49" charset="0"/>
              </a:rPr>
              <a:t>print(str)</a:t>
            </a:r>
          </a:p>
          <a:p>
            <a:r>
              <a:rPr lang="en-US">
                <a:latin typeface="Courier New" panose="02070309020205020404" pitchFamily="49" charset="0"/>
                <a:cs typeface="Courier New" panose="02070309020205020404" pitchFamily="49" charset="0"/>
              </a:rPr>
              <a:t>str = f.read(5)</a:t>
            </a:r>
          </a:p>
          <a:p>
            <a:r>
              <a:rPr lang="en-US">
                <a:latin typeface="Courier New" panose="02070309020205020404" pitchFamily="49" charset="0"/>
                <a:cs typeface="Courier New" panose="02070309020205020404" pitchFamily="49" charset="0"/>
              </a:rPr>
              <a:t>Print(str)</a:t>
            </a:r>
          </a:p>
        </p:txBody>
      </p:sp>
    </p:spTree>
    <p:extLst>
      <p:ext uri="{BB962C8B-B14F-4D97-AF65-F5344CB8AC3E}">
        <p14:creationId xmlns:p14="http://schemas.microsoft.com/office/powerpoint/2010/main" val="14294683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a:xfrm>
            <a:off x="628650" y="18255"/>
            <a:ext cx="7886700" cy="1325563"/>
          </a:xfrm>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997393"/>
            <a:ext cx="8723168" cy="4351338"/>
          </a:xfrm>
        </p:spPr>
        <p:txBody>
          <a:bodyPr>
            <a:normAutofit/>
          </a:bodyPr>
          <a:lstStyle/>
          <a:p>
            <a:pPr marL="0" indent="0">
              <a:buNone/>
            </a:pPr>
            <a:r>
              <a:rPr lang="en-US" b="1"/>
              <a:t>4. Phương thức readline</a:t>
            </a:r>
          </a:p>
          <a:p>
            <a:pPr marL="0" indent="0">
              <a:buNone/>
            </a:pPr>
            <a:r>
              <a:rPr lang="en-US"/>
              <a:t>Cú pháp: </a:t>
            </a:r>
            <a:r>
              <a:rPr lang="en-US">
                <a:solidFill>
                  <a:srgbClr val="0070C0"/>
                </a:solidFill>
              </a:rPr>
              <a:t>fileObject.readline()</a:t>
            </a:r>
          </a:p>
          <a:p>
            <a:pPr marL="0" indent="0">
              <a:buNone/>
            </a:pPr>
            <a:r>
              <a:rPr lang="vi-VN">
                <a:solidFill>
                  <a:srgbClr val="0070C0"/>
                </a:solidFill>
              </a:rPr>
              <a:t>Phương thức này cho phép đọc một dòng trong file và trả về chuỗi.</a:t>
            </a:r>
            <a:endParaRPr lang="en-US">
              <a:solidFill>
                <a:srgbClr val="0070C0"/>
              </a:solidFill>
            </a:endParaRPr>
          </a:p>
          <a:p>
            <a:pPr marL="0" indent="0">
              <a:buNone/>
            </a:pPr>
            <a:r>
              <a:rPr lang="en-US">
                <a:solidFill>
                  <a:srgbClr val="0070C0"/>
                </a:solidFill>
              </a:rPr>
              <a:t>Ví dụ: </a:t>
            </a:r>
            <a:r>
              <a:rPr lang="en-US"/>
              <a:t>File introduction.txt chứa nội dung như bên dưới</a:t>
            </a:r>
          </a:p>
          <a:p>
            <a:pPr marL="0" indent="0">
              <a:buNone/>
            </a:pP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93</a:t>
            </a:fld>
            <a:endParaRPr lang="en-US"/>
          </a:p>
        </p:txBody>
      </p:sp>
      <p:pic>
        <p:nvPicPr>
          <p:cNvPr id="7" name="Picture 6">
            <a:extLst>
              <a:ext uri="{FF2B5EF4-FFF2-40B4-BE49-F238E27FC236}">
                <a16:creationId xmlns:a16="http://schemas.microsoft.com/office/drawing/2014/main" id="{52F4F7EA-94BD-0EA1-FBFB-A90C44AFAACF}"/>
              </a:ext>
            </a:extLst>
          </p:cNvPr>
          <p:cNvPicPr>
            <a:picLocks noChangeAspect="1"/>
          </p:cNvPicPr>
          <p:nvPr/>
        </p:nvPicPr>
        <p:blipFill>
          <a:blip r:embed="rId2"/>
          <a:stretch>
            <a:fillRect/>
          </a:stretch>
        </p:blipFill>
        <p:spPr>
          <a:xfrm>
            <a:off x="796636" y="3590720"/>
            <a:ext cx="7550727" cy="1087069"/>
          </a:xfrm>
          <a:prstGeom prst="rect">
            <a:avLst/>
          </a:prstGeom>
        </p:spPr>
      </p:pic>
      <p:sp>
        <p:nvSpPr>
          <p:cNvPr id="8" name="TextBox 7">
            <a:extLst>
              <a:ext uri="{FF2B5EF4-FFF2-40B4-BE49-F238E27FC236}">
                <a16:creationId xmlns:a16="http://schemas.microsoft.com/office/drawing/2014/main" id="{A778993C-7BDF-3C6F-0BAA-878E4FADC296}"/>
              </a:ext>
            </a:extLst>
          </p:cNvPr>
          <p:cNvSpPr txBox="1"/>
          <p:nvPr/>
        </p:nvSpPr>
        <p:spPr>
          <a:xfrm>
            <a:off x="942109" y="5181599"/>
            <a:ext cx="7259782" cy="923330"/>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f = open('introduction.txt', 'r')</a:t>
            </a:r>
          </a:p>
          <a:p>
            <a:r>
              <a:rPr lang="en-US">
                <a:latin typeface="Courier New" panose="02070309020205020404" pitchFamily="49" charset="0"/>
                <a:cs typeface="Courier New" panose="02070309020205020404" pitchFamily="49" charset="0"/>
              </a:rPr>
              <a:t>str = f.readline()</a:t>
            </a:r>
          </a:p>
          <a:p>
            <a:r>
              <a:rPr lang="en-US">
                <a:latin typeface="Courier New" panose="02070309020205020404" pitchFamily="49" charset="0"/>
                <a:cs typeface="Courier New" panose="02070309020205020404" pitchFamily="49" charset="0"/>
              </a:rPr>
              <a:t>print(str)</a:t>
            </a:r>
          </a:p>
        </p:txBody>
      </p:sp>
    </p:spTree>
    <p:extLst>
      <p:ext uri="{BB962C8B-B14F-4D97-AF65-F5344CB8AC3E}">
        <p14:creationId xmlns:p14="http://schemas.microsoft.com/office/powerpoint/2010/main" val="12946938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a:xfrm>
            <a:off x="628650" y="18255"/>
            <a:ext cx="7886700" cy="1325563"/>
          </a:xfrm>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997393"/>
            <a:ext cx="8723168" cy="4351338"/>
          </a:xfrm>
        </p:spPr>
        <p:txBody>
          <a:bodyPr>
            <a:normAutofit/>
          </a:bodyPr>
          <a:lstStyle/>
          <a:p>
            <a:pPr marL="0" indent="0">
              <a:buNone/>
            </a:pPr>
            <a:r>
              <a:rPr lang="en-US" b="1"/>
              <a:t>5. Phương thức readlines</a:t>
            </a:r>
          </a:p>
          <a:p>
            <a:pPr marL="0" indent="0">
              <a:buNone/>
            </a:pPr>
            <a:r>
              <a:rPr lang="en-US"/>
              <a:t>Cú pháp: </a:t>
            </a:r>
            <a:r>
              <a:rPr lang="en-US">
                <a:solidFill>
                  <a:srgbClr val="0070C0"/>
                </a:solidFill>
              </a:rPr>
              <a:t>fileObject.readlines()</a:t>
            </a:r>
          </a:p>
          <a:p>
            <a:pPr marL="0" indent="0">
              <a:buNone/>
            </a:pPr>
            <a:r>
              <a:rPr lang="vi-VN">
                <a:solidFill>
                  <a:srgbClr val="0070C0"/>
                </a:solidFill>
              </a:rPr>
              <a:t>Phương thức này cho phép đọc </a:t>
            </a:r>
            <a:r>
              <a:rPr lang="en-US">
                <a:solidFill>
                  <a:srgbClr val="0070C0"/>
                </a:solidFill>
                <a:latin typeface="Arial" panose="020B0604020202020204" pitchFamily="34" charset="0"/>
                <a:cs typeface="Arial" panose="020B0604020202020204" pitchFamily="34" charset="0"/>
              </a:rPr>
              <a:t>tất cả các dòng </a:t>
            </a:r>
            <a:r>
              <a:rPr lang="vi-VN">
                <a:solidFill>
                  <a:srgbClr val="0070C0"/>
                </a:solidFill>
              </a:rPr>
              <a:t>trong file</a:t>
            </a:r>
            <a:r>
              <a:rPr lang="en-US">
                <a:solidFill>
                  <a:srgbClr val="0070C0"/>
                </a:solidFill>
              </a:rPr>
              <a:t> và trả về 1 danh sách chứa các nội dung các dòng đó.</a:t>
            </a:r>
          </a:p>
          <a:p>
            <a:pPr marL="0" indent="0">
              <a:buNone/>
            </a:pPr>
            <a:r>
              <a:rPr lang="en-US">
                <a:solidFill>
                  <a:srgbClr val="0070C0"/>
                </a:solidFill>
              </a:rPr>
              <a:t>Ví dụ: </a:t>
            </a:r>
            <a:r>
              <a:rPr lang="en-US"/>
              <a:t>File introduction.txt chứa nội dung như bên dưới</a:t>
            </a:r>
          </a:p>
          <a:p>
            <a:pPr marL="0" indent="0">
              <a:buNone/>
            </a:pP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94</a:t>
            </a:fld>
            <a:endParaRPr lang="en-US"/>
          </a:p>
        </p:txBody>
      </p:sp>
      <p:pic>
        <p:nvPicPr>
          <p:cNvPr id="7" name="Picture 6">
            <a:extLst>
              <a:ext uri="{FF2B5EF4-FFF2-40B4-BE49-F238E27FC236}">
                <a16:creationId xmlns:a16="http://schemas.microsoft.com/office/drawing/2014/main" id="{52F4F7EA-94BD-0EA1-FBFB-A90C44AFAACF}"/>
              </a:ext>
            </a:extLst>
          </p:cNvPr>
          <p:cNvPicPr>
            <a:picLocks noChangeAspect="1"/>
          </p:cNvPicPr>
          <p:nvPr/>
        </p:nvPicPr>
        <p:blipFill>
          <a:blip r:embed="rId2"/>
          <a:stretch>
            <a:fillRect/>
          </a:stretch>
        </p:blipFill>
        <p:spPr>
          <a:xfrm>
            <a:off x="796636" y="3590720"/>
            <a:ext cx="7550727" cy="1087069"/>
          </a:xfrm>
          <a:prstGeom prst="rect">
            <a:avLst/>
          </a:prstGeom>
        </p:spPr>
      </p:pic>
      <p:sp>
        <p:nvSpPr>
          <p:cNvPr id="8" name="TextBox 7">
            <a:extLst>
              <a:ext uri="{FF2B5EF4-FFF2-40B4-BE49-F238E27FC236}">
                <a16:creationId xmlns:a16="http://schemas.microsoft.com/office/drawing/2014/main" id="{A778993C-7BDF-3C6F-0BAA-878E4FADC296}"/>
              </a:ext>
            </a:extLst>
          </p:cNvPr>
          <p:cNvSpPr txBox="1"/>
          <p:nvPr/>
        </p:nvSpPr>
        <p:spPr>
          <a:xfrm>
            <a:off x="796636" y="4862945"/>
            <a:ext cx="7259782" cy="1200329"/>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f = open('introduction.txt', 'r')</a:t>
            </a:r>
          </a:p>
          <a:p>
            <a:r>
              <a:rPr lang="en-US">
                <a:latin typeface="Courier New" panose="02070309020205020404" pitchFamily="49" charset="0"/>
                <a:cs typeface="Courier New" panose="02070309020205020404" pitchFamily="49" charset="0"/>
              </a:rPr>
              <a:t>lines = f.readlines()</a:t>
            </a:r>
          </a:p>
          <a:p>
            <a:r>
              <a:rPr lang="en-US">
                <a:latin typeface="Courier New" panose="02070309020205020404" pitchFamily="49" charset="0"/>
                <a:cs typeface="Courier New" panose="02070309020205020404" pitchFamily="49" charset="0"/>
              </a:rPr>
              <a:t>for line in lines:</a:t>
            </a:r>
          </a:p>
          <a:p>
            <a:r>
              <a:rPr lang="en-US">
                <a:latin typeface="Courier New" panose="02070309020205020404" pitchFamily="49" charset="0"/>
                <a:cs typeface="Courier New" panose="02070309020205020404" pitchFamily="49" charset="0"/>
              </a:rPr>
              <a:t>    print(line.strip())</a:t>
            </a:r>
          </a:p>
        </p:txBody>
      </p:sp>
    </p:spTree>
    <p:extLst>
      <p:ext uri="{BB962C8B-B14F-4D97-AF65-F5344CB8AC3E}">
        <p14:creationId xmlns:p14="http://schemas.microsoft.com/office/powerpoint/2010/main" val="2293171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a:xfrm>
            <a:off x="628650" y="18255"/>
            <a:ext cx="7886700" cy="1325563"/>
          </a:xfrm>
        </p:spPr>
        <p:txBody>
          <a:bodyPr/>
          <a:lstStyle/>
          <a:p>
            <a:r>
              <a:rPr lang="en-US" b="1"/>
              <a:t>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628650" y="997393"/>
            <a:ext cx="8723168" cy="4351338"/>
          </a:xfrm>
        </p:spPr>
        <p:txBody>
          <a:bodyPr>
            <a:normAutofit/>
          </a:bodyPr>
          <a:lstStyle/>
          <a:p>
            <a:pPr marL="0" indent="0">
              <a:buNone/>
            </a:pPr>
            <a:r>
              <a:rPr lang="en-US" b="1"/>
              <a:t>5. Phương thức write</a:t>
            </a:r>
          </a:p>
          <a:p>
            <a:pPr marL="0" indent="0">
              <a:buNone/>
            </a:pPr>
            <a:r>
              <a:rPr lang="en-US"/>
              <a:t>Cú pháp: </a:t>
            </a:r>
            <a:r>
              <a:rPr lang="en-US">
                <a:solidFill>
                  <a:srgbClr val="0070C0"/>
                </a:solidFill>
              </a:rPr>
              <a:t>fileObject.write(string)</a:t>
            </a:r>
          </a:p>
          <a:p>
            <a:pPr marL="0" indent="0">
              <a:buNone/>
            </a:pPr>
            <a:r>
              <a:rPr lang="vi-VN">
                <a:solidFill>
                  <a:srgbClr val="0070C0"/>
                </a:solidFill>
              </a:rPr>
              <a:t>Phương thức này cho phép ghi một chuỗi có nội dung là string vào vị trí của con trỏ trong file.</a:t>
            </a:r>
            <a:endParaRPr lang="en-US">
              <a:solidFill>
                <a:srgbClr val="0070C0"/>
              </a:solidFill>
            </a:endParaRPr>
          </a:p>
          <a:p>
            <a:pPr marL="0" indent="0">
              <a:buNone/>
            </a:pPr>
            <a:r>
              <a:rPr lang="en-US">
                <a:solidFill>
                  <a:srgbClr val="0070C0"/>
                </a:solidFill>
              </a:rPr>
              <a:t>Ví dụ: </a:t>
            </a:r>
            <a:r>
              <a:rPr lang="en-US"/>
              <a:t>File introduction.txt chứa nội dung như bên dưới</a:t>
            </a:r>
          </a:p>
          <a:p>
            <a:pPr marL="0" indent="0">
              <a:buNone/>
            </a:pPr>
            <a:endParaRPr lang="en-US"/>
          </a:p>
          <a:p>
            <a:endParaRPr lang="en-US">
              <a:solidFill>
                <a:srgbClr val="0070C0"/>
              </a:solidFill>
            </a:endParaRP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95</a:t>
            </a:fld>
            <a:endParaRPr lang="en-US"/>
          </a:p>
        </p:txBody>
      </p:sp>
      <p:pic>
        <p:nvPicPr>
          <p:cNvPr id="7" name="Picture 6">
            <a:extLst>
              <a:ext uri="{FF2B5EF4-FFF2-40B4-BE49-F238E27FC236}">
                <a16:creationId xmlns:a16="http://schemas.microsoft.com/office/drawing/2014/main" id="{52F4F7EA-94BD-0EA1-FBFB-A90C44AFAACF}"/>
              </a:ext>
            </a:extLst>
          </p:cNvPr>
          <p:cNvPicPr>
            <a:picLocks noChangeAspect="1"/>
          </p:cNvPicPr>
          <p:nvPr/>
        </p:nvPicPr>
        <p:blipFill>
          <a:blip r:embed="rId2"/>
          <a:stretch>
            <a:fillRect/>
          </a:stretch>
        </p:blipFill>
        <p:spPr>
          <a:xfrm>
            <a:off x="796636" y="3590720"/>
            <a:ext cx="7550727" cy="1087069"/>
          </a:xfrm>
          <a:prstGeom prst="rect">
            <a:avLst/>
          </a:prstGeom>
        </p:spPr>
      </p:pic>
      <p:sp>
        <p:nvSpPr>
          <p:cNvPr id="8" name="TextBox 7">
            <a:extLst>
              <a:ext uri="{FF2B5EF4-FFF2-40B4-BE49-F238E27FC236}">
                <a16:creationId xmlns:a16="http://schemas.microsoft.com/office/drawing/2014/main" id="{A778993C-7BDF-3C6F-0BAA-878E4FADC296}"/>
              </a:ext>
            </a:extLst>
          </p:cNvPr>
          <p:cNvSpPr txBox="1"/>
          <p:nvPr/>
        </p:nvSpPr>
        <p:spPr>
          <a:xfrm>
            <a:off x="796636" y="4862945"/>
            <a:ext cx="7259782" cy="923330"/>
          </a:xfrm>
          <a:prstGeom prst="rect">
            <a:avLst/>
          </a:prstGeom>
          <a:noFill/>
        </p:spPr>
        <p:txBody>
          <a:bodyPr wrap="square" rtlCol="0">
            <a:spAutoFit/>
          </a:bodyPr>
          <a:lstStyle/>
          <a:p>
            <a:r>
              <a:rPr lang="en-US">
                <a:latin typeface="Courier New" panose="02070309020205020404" pitchFamily="49" charset="0"/>
                <a:cs typeface="Courier New" panose="02070309020205020404" pitchFamily="49" charset="0"/>
              </a:rPr>
              <a:t>f = open('introduction.txt', 'a’)  //mode: w?</a:t>
            </a:r>
          </a:p>
          <a:p>
            <a:r>
              <a:rPr lang="en-US">
                <a:latin typeface="Courier New" panose="02070309020205020404" pitchFamily="49" charset="0"/>
                <a:cs typeface="Courier New" panose="02070309020205020404" pitchFamily="49" charset="0"/>
              </a:rPr>
              <a:t>f.write("I love programming!")</a:t>
            </a:r>
          </a:p>
          <a:p>
            <a:r>
              <a:rPr lang="en-US">
                <a:latin typeface="Courier New" panose="02070309020205020404" pitchFamily="49" charset="0"/>
                <a:cs typeface="Courier New" panose="02070309020205020404" pitchFamily="49" charset="0"/>
              </a:rPr>
              <a:t>f.close()</a:t>
            </a:r>
          </a:p>
        </p:txBody>
      </p:sp>
    </p:spTree>
    <p:extLst>
      <p:ext uri="{BB962C8B-B14F-4D97-AF65-F5344CB8AC3E}">
        <p14:creationId xmlns:p14="http://schemas.microsoft.com/office/powerpoint/2010/main" val="155043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0B32-0B80-74EB-4497-7DDEA871E59C}"/>
              </a:ext>
            </a:extLst>
          </p:cNvPr>
          <p:cNvSpPr>
            <a:spLocks noGrp="1"/>
          </p:cNvSpPr>
          <p:nvPr>
            <p:ph type="title"/>
          </p:nvPr>
        </p:nvSpPr>
        <p:spPr>
          <a:xfrm>
            <a:off x="628650" y="18255"/>
            <a:ext cx="7886700" cy="1325563"/>
          </a:xfrm>
        </p:spPr>
        <p:txBody>
          <a:bodyPr/>
          <a:lstStyle/>
          <a:p>
            <a:r>
              <a:rPr lang="en-US" b="1"/>
              <a:t>Bài tập thao tác với File</a:t>
            </a:r>
          </a:p>
        </p:txBody>
      </p:sp>
      <p:sp>
        <p:nvSpPr>
          <p:cNvPr id="3" name="Content Placeholder 2">
            <a:extLst>
              <a:ext uri="{FF2B5EF4-FFF2-40B4-BE49-F238E27FC236}">
                <a16:creationId xmlns:a16="http://schemas.microsoft.com/office/drawing/2014/main" id="{7E7E7165-1C02-9F18-FA72-8DCCDE3CF867}"/>
              </a:ext>
            </a:extLst>
          </p:cNvPr>
          <p:cNvSpPr>
            <a:spLocks noGrp="1"/>
          </p:cNvSpPr>
          <p:nvPr>
            <p:ph idx="1"/>
          </p:nvPr>
        </p:nvSpPr>
        <p:spPr>
          <a:xfrm>
            <a:off x="210416" y="997393"/>
            <a:ext cx="8723168" cy="4351338"/>
          </a:xfrm>
        </p:spPr>
        <p:txBody>
          <a:bodyPr>
            <a:normAutofit fontScale="92500" lnSpcReduction="10000"/>
          </a:bodyPr>
          <a:lstStyle/>
          <a:p>
            <a:pPr marL="514350" indent="-514350" algn="just">
              <a:buAutoNum type="arabicPeriod"/>
            </a:pPr>
            <a:r>
              <a:rPr lang="en-US"/>
              <a:t>Cho một file number.txt chứa các số nguyên, mỗi số cách nhau một dấu cách. Hãy đọc file number.txt và tính giá trị trung bình của các số trong file. Sau đó tạo file average.txt để lưu giá trị trung bình đó.</a:t>
            </a:r>
          </a:p>
          <a:p>
            <a:pPr marL="514350" indent="-514350" algn="just">
              <a:buAutoNum type="arabicPeriod"/>
            </a:pPr>
            <a:r>
              <a:rPr lang="en-US"/>
              <a:t>Cho 1 file data. txt giới thiệu về ngành AI. Hãy đọc file và thực hiện các việc sau:</a:t>
            </a:r>
          </a:p>
          <a:p>
            <a:pPr algn="just">
              <a:buFontTx/>
              <a:buChar char="-"/>
            </a:pPr>
            <a:r>
              <a:rPr lang="en-US"/>
              <a:t>Loại bỏ kí tự đặc biệt </a:t>
            </a:r>
            <a:r>
              <a:rPr lang="en-US">
                <a:latin typeface="+mj-lt"/>
              </a:rPr>
              <a:t>(</a:t>
            </a:r>
            <a:r>
              <a:rPr lang="vi-VN">
                <a:latin typeface="+mj-lt"/>
              </a:rPr>
              <a:t>ký tự đặc biệt được hiểu</a:t>
            </a:r>
            <a:r>
              <a:rPr lang="en-US">
                <a:latin typeface="+mj-lt"/>
              </a:rPr>
              <a:t> </a:t>
            </a:r>
            <a:r>
              <a:rPr lang="vi-VN">
                <a:latin typeface="+mj-lt"/>
              </a:rPr>
              <a:t>là những ký tự không phải là chữ cái, số hoặc khoảng trắng</a:t>
            </a:r>
            <a:r>
              <a:rPr lang="en-US">
                <a:latin typeface="+mj-lt"/>
              </a:rPr>
              <a:t>).</a:t>
            </a:r>
          </a:p>
          <a:p>
            <a:pPr algn="just">
              <a:buFontTx/>
              <a:buChar char="-"/>
            </a:pPr>
            <a:r>
              <a:rPr lang="en-US"/>
              <a:t>Chuyển chữ hoa thành chữ thường.</a:t>
            </a:r>
          </a:p>
          <a:p>
            <a:pPr algn="just">
              <a:buFontTx/>
              <a:buChar char="-"/>
            </a:pPr>
            <a:r>
              <a:rPr lang="en-US"/>
              <a:t>Lưu nội dung sau khi xử lý vào file mới có tên là preprocessdata.txt</a:t>
            </a:r>
          </a:p>
        </p:txBody>
      </p:sp>
      <p:sp>
        <p:nvSpPr>
          <p:cNvPr id="4" name="Footer Placeholder 3">
            <a:extLst>
              <a:ext uri="{FF2B5EF4-FFF2-40B4-BE49-F238E27FC236}">
                <a16:creationId xmlns:a16="http://schemas.microsoft.com/office/drawing/2014/main" id="{41B0531D-3F14-4EF0-0CDF-CD79777EC38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833E32AA-D0E1-395E-B413-E14A5AA08664}"/>
              </a:ext>
            </a:extLst>
          </p:cNvPr>
          <p:cNvSpPr>
            <a:spLocks noGrp="1"/>
          </p:cNvSpPr>
          <p:nvPr>
            <p:ph type="sldNum" sz="quarter" idx="12"/>
          </p:nvPr>
        </p:nvSpPr>
        <p:spPr/>
        <p:txBody>
          <a:bodyPr/>
          <a:lstStyle/>
          <a:p>
            <a:fld id="{ADD32889-1A4F-4FED-AEC4-AD6BC7117F25}" type="slidenum">
              <a:rPr lang="en-US" smtClean="0"/>
              <a:t>96</a:t>
            </a:fld>
            <a:endParaRPr lang="en-US"/>
          </a:p>
        </p:txBody>
      </p:sp>
    </p:spTree>
    <p:extLst>
      <p:ext uri="{BB962C8B-B14F-4D97-AF65-F5344CB8AC3E}">
        <p14:creationId xmlns:p14="http://schemas.microsoft.com/office/powerpoint/2010/main" val="20312568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EF45-85E6-1447-3CD7-6C90B94AE307}"/>
              </a:ext>
            </a:extLst>
          </p:cNvPr>
          <p:cNvSpPr>
            <a:spLocks noGrp="1"/>
          </p:cNvSpPr>
          <p:nvPr>
            <p:ph type="title"/>
          </p:nvPr>
        </p:nvSpPr>
        <p:spPr/>
        <p:txBody>
          <a:bodyPr/>
          <a:lstStyle/>
          <a:p>
            <a:r>
              <a:rPr lang="en-US"/>
              <a:t>Thư viện Pandas</a:t>
            </a:r>
          </a:p>
        </p:txBody>
      </p:sp>
      <p:sp>
        <p:nvSpPr>
          <p:cNvPr id="3" name="Content Placeholder 2">
            <a:extLst>
              <a:ext uri="{FF2B5EF4-FFF2-40B4-BE49-F238E27FC236}">
                <a16:creationId xmlns:a16="http://schemas.microsoft.com/office/drawing/2014/main" id="{088B623E-71FE-BC1E-85F7-1F83F4ED0355}"/>
              </a:ext>
            </a:extLst>
          </p:cNvPr>
          <p:cNvSpPr>
            <a:spLocks noGrp="1"/>
          </p:cNvSpPr>
          <p:nvPr>
            <p:ph idx="1"/>
          </p:nvPr>
        </p:nvSpPr>
        <p:spPr>
          <a:xfrm>
            <a:off x="628649" y="1825625"/>
            <a:ext cx="8349095" cy="4351338"/>
          </a:xfrm>
        </p:spPr>
        <p:txBody>
          <a:bodyPr/>
          <a:lstStyle/>
          <a:p>
            <a:r>
              <a:rPr lang="en-US"/>
              <a:t>Đây cũng là bộ công cụ phân tích và xử lý dữ liệu mạnh mẽ của ngôn ngữ lập trình python.</a:t>
            </a:r>
          </a:p>
          <a:p>
            <a:r>
              <a:rPr lang="en-US"/>
              <a:t>T</a:t>
            </a:r>
            <a:r>
              <a:rPr lang="vi-VN"/>
              <a:t>hư viện này sử dụng một cấu trúc dữ liệu riêng là Dataframe.</a:t>
            </a:r>
            <a:endParaRPr lang="en-US"/>
          </a:p>
          <a:p>
            <a:r>
              <a:rPr lang="vi-VN"/>
              <a:t>Pandas cung cấp rất nhiều chức năng xử lý và làm việc trên cấu trúc dữ liệu này. Chính sự linh hoạt và hiệu quả đã khiến cho pandas được sử dụng rộng rãi.</a:t>
            </a:r>
            <a:endParaRPr lang="en-US"/>
          </a:p>
          <a:p>
            <a:r>
              <a:rPr lang="en-US"/>
              <a:t>pip install pandas</a:t>
            </a:r>
          </a:p>
        </p:txBody>
      </p:sp>
      <p:sp>
        <p:nvSpPr>
          <p:cNvPr id="4" name="Footer Placeholder 3">
            <a:extLst>
              <a:ext uri="{FF2B5EF4-FFF2-40B4-BE49-F238E27FC236}">
                <a16:creationId xmlns:a16="http://schemas.microsoft.com/office/drawing/2014/main" id="{2B5C65CD-77FD-0E63-B29E-84F094E14016}"/>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4E4D807F-13D5-2222-3CAF-6042C43488E5}"/>
              </a:ext>
            </a:extLst>
          </p:cNvPr>
          <p:cNvSpPr>
            <a:spLocks noGrp="1"/>
          </p:cNvSpPr>
          <p:nvPr>
            <p:ph type="sldNum" sz="quarter" idx="12"/>
          </p:nvPr>
        </p:nvSpPr>
        <p:spPr/>
        <p:txBody>
          <a:bodyPr/>
          <a:lstStyle/>
          <a:p>
            <a:fld id="{ADD32889-1A4F-4FED-AEC4-AD6BC7117F25}" type="slidenum">
              <a:rPr lang="en-US" smtClean="0"/>
              <a:t>97</a:t>
            </a:fld>
            <a:endParaRPr lang="en-US"/>
          </a:p>
        </p:txBody>
      </p:sp>
    </p:spTree>
    <p:extLst>
      <p:ext uri="{BB962C8B-B14F-4D97-AF65-F5344CB8AC3E}">
        <p14:creationId xmlns:p14="http://schemas.microsoft.com/office/powerpoint/2010/main" val="314834802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F790-D53D-7D69-E3AD-694B472A64F0}"/>
              </a:ext>
            </a:extLst>
          </p:cNvPr>
          <p:cNvSpPr>
            <a:spLocks noGrp="1"/>
          </p:cNvSpPr>
          <p:nvPr>
            <p:ph type="title"/>
          </p:nvPr>
        </p:nvSpPr>
        <p:spPr/>
        <p:txBody>
          <a:bodyPr>
            <a:normAutofit/>
          </a:bodyPr>
          <a:lstStyle/>
          <a:p>
            <a:r>
              <a:rPr lang="en-US" b="1"/>
              <a:t>Cấu trúc dữ liệu</a:t>
            </a:r>
            <a:endParaRPr lang="en-US"/>
          </a:p>
        </p:txBody>
      </p:sp>
      <p:sp>
        <p:nvSpPr>
          <p:cNvPr id="3" name="Content Placeholder 2">
            <a:extLst>
              <a:ext uri="{FF2B5EF4-FFF2-40B4-BE49-F238E27FC236}">
                <a16:creationId xmlns:a16="http://schemas.microsoft.com/office/drawing/2014/main" id="{A25A302D-0D2D-EBDE-284A-6F9F40386A4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7277C49-0AB8-4540-4C36-63795D8C3DB8}"/>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D147413C-ECDA-F28C-E287-6F993046CDF3}"/>
              </a:ext>
            </a:extLst>
          </p:cNvPr>
          <p:cNvSpPr>
            <a:spLocks noGrp="1"/>
          </p:cNvSpPr>
          <p:nvPr>
            <p:ph type="sldNum" sz="quarter" idx="12"/>
          </p:nvPr>
        </p:nvSpPr>
        <p:spPr/>
        <p:txBody>
          <a:bodyPr/>
          <a:lstStyle/>
          <a:p>
            <a:fld id="{ADD32889-1A4F-4FED-AEC4-AD6BC7117F25}" type="slidenum">
              <a:rPr lang="en-US" smtClean="0"/>
              <a:t>98</a:t>
            </a:fld>
            <a:endParaRPr lang="en-US"/>
          </a:p>
        </p:txBody>
      </p:sp>
      <p:pic>
        <p:nvPicPr>
          <p:cNvPr id="6" name="Picture 5">
            <a:extLst>
              <a:ext uri="{FF2B5EF4-FFF2-40B4-BE49-F238E27FC236}">
                <a16:creationId xmlns:a16="http://schemas.microsoft.com/office/drawing/2014/main" id="{290DED4F-8CEE-2248-A214-15B3B867479F}"/>
              </a:ext>
            </a:extLst>
          </p:cNvPr>
          <p:cNvPicPr>
            <a:picLocks noChangeAspect="1"/>
          </p:cNvPicPr>
          <p:nvPr/>
        </p:nvPicPr>
        <p:blipFill>
          <a:blip r:embed="rId2"/>
          <a:stretch>
            <a:fillRect/>
          </a:stretch>
        </p:blipFill>
        <p:spPr>
          <a:xfrm>
            <a:off x="734291" y="1825625"/>
            <a:ext cx="7195271" cy="3905250"/>
          </a:xfrm>
          <a:prstGeom prst="rect">
            <a:avLst/>
          </a:prstGeom>
        </p:spPr>
      </p:pic>
    </p:spTree>
    <p:extLst>
      <p:ext uri="{BB962C8B-B14F-4D97-AF65-F5344CB8AC3E}">
        <p14:creationId xmlns:p14="http://schemas.microsoft.com/office/powerpoint/2010/main" val="27679303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F790-D53D-7D69-E3AD-694B472A64F0}"/>
              </a:ext>
            </a:extLst>
          </p:cNvPr>
          <p:cNvSpPr>
            <a:spLocks noGrp="1"/>
          </p:cNvSpPr>
          <p:nvPr>
            <p:ph type="title"/>
          </p:nvPr>
        </p:nvSpPr>
        <p:spPr/>
        <p:txBody>
          <a:bodyPr>
            <a:normAutofit/>
          </a:bodyPr>
          <a:lstStyle/>
          <a:p>
            <a:r>
              <a:rPr lang="vi-VN" b="1"/>
              <a:t>Đọc file csv sử dụng pandas</a:t>
            </a:r>
            <a:endParaRPr lang="en-US"/>
          </a:p>
        </p:txBody>
      </p:sp>
      <p:sp>
        <p:nvSpPr>
          <p:cNvPr id="3" name="Content Placeholder 2">
            <a:extLst>
              <a:ext uri="{FF2B5EF4-FFF2-40B4-BE49-F238E27FC236}">
                <a16:creationId xmlns:a16="http://schemas.microsoft.com/office/drawing/2014/main" id="{A25A302D-0D2D-EBDE-284A-6F9F40386A40}"/>
              </a:ext>
            </a:extLst>
          </p:cNvPr>
          <p:cNvSpPr>
            <a:spLocks noGrp="1"/>
          </p:cNvSpPr>
          <p:nvPr>
            <p:ph idx="1"/>
          </p:nvPr>
        </p:nvSpPr>
        <p:spPr/>
        <p:txBody>
          <a:bodyPr/>
          <a:lstStyle/>
          <a:p>
            <a:pPr marL="0" indent="0">
              <a:buNone/>
            </a:pPr>
            <a:r>
              <a:rPr lang="en-US">
                <a:latin typeface="Courier New" panose="02070309020205020404" pitchFamily="49" charset="0"/>
                <a:cs typeface="Courier New" panose="02070309020205020404" pitchFamily="49" charset="0"/>
              </a:rPr>
              <a:t>import pandas as pd</a:t>
            </a:r>
          </a:p>
          <a:p>
            <a:pPr marL="0" indent="0">
              <a:buNone/>
            </a:pPr>
            <a:r>
              <a:rPr lang="en-US">
                <a:latin typeface="Courier New" panose="02070309020205020404" pitchFamily="49" charset="0"/>
                <a:cs typeface="Courier New" panose="02070309020205020404" pitchFamily="49" charset="0"/>
              </a:rPr>
              <a:t>from matplotlib import pyplot as plt</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df = pd.read_csv("people.csv")</a:t>
            </a:r>
          </a:p>
          <a:p>
            <a:pPr marL="0" indent="0">
              <a:buNone/>
            </a:pPr>
            <a:r>
              <a:rPr lang="en-US">
                <a:latin typeface="Courier New" panose="02070309020205020404" pitchFamily="49" charset="0"/>
                <a:cs typeface="Courier New" panose="02070309020205020404" pitchFamily="49" charset="0"/>
              </a:rPr>
              <a:t>print(df.head(5))</a:t>
            </a:r>
          </a:p>
          <a:p>
            <a:pPr marL="0" indent="0">
              <a:buNone/>
            </a:pPr>
            <a:r>
              <a:rPr lang="en-US">
                <a:latin typeface="Courier New" panose="02070309020205020404" pitchFamily="49" charset="0"/>
                <a:cs typeface="Courier New" panose="02070309020205020404" pitchFamily="49" charset="0"/>
              </a:rPr>
              <a:t>print(df.tail(3))</a:t>
            </a:r>
          </a:p>
        </p:txBody>
      </p:sp>
      <p:sp>
        <p:nvSpPr>
          <p:cNvPr id="4" name="Footer Placeholder 3">
            <a:extLst>
              <a:ext uri="{FF2B5EF4-FFF2-40B4-BE49-F238E27FC236}">
                <a16:creationId xmlns:a16="http://schemas.microsoft.com/office/drawing/2014/main" id="{27277C49-0AB8-4540-4C36-63795D8C3DB8}"/>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D147413C-ECDA-F28C-E287-6F993046CDF3}"/>
              </a:ext>
            </a:extLst>
          </p:cNvPr>
          <p:cNvSpPr>
            <a:spLocks noGrp="1"/>
          </p:cNvSpPr>
          <p:nvPr>
            <p:ph type="sldNum" sz="quarter" idx="12"/>
          </p:nvPr>
        </p:nvSpPr>
        <p:spPr/>
        <p:txBody>
          <a:bodyPr/>
          <a:lstStyle/>
          <a:p>
            <a:fld id="{ADD32889-1A4F-4FED-AEC4-AD6BC7117F25}" type="slidenum">
              <a:rPr lang="en-US" smtClean="0"/>
              <a:t>99</a:t>
            </a:fld>
            <a:endParaRPr lang="en-US"/>
          </a:p>
        </p:txBody>
      </p:sp>
    </p:spTree>
    <p:extLst>
      <p:ext uri="{BB962C8B-B14F-4D97-AF65-F5344CB8AC3E}">
        <p14:creationId xmlns:p14="http://schemas.microsoft.com/office/powerpoint/2010/main" val="14366855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F790-D53D-7D69-E3AD-694B472A64F0}"/>
              </a:ext>
            </a:extLst>
          </p:cNvPr>
          <p:cNvSpPr>
            <a:spLocks noGrp="1"/>
          </p:cNvSpPr>
          <p:nvPr>
            <p:ph type="title"/>
          </p:nvPr>
        </p:nvSpPr>
        <p:spPr/>
        <p:txBody>
          <a:bodyPr>
            <a:normAutofit/>
          </a:bodyPr>
          <a:lstStyle/>
          <a:p>
            <a:r>
              <a:rPr lang="vi-VN" b="1"/>
              <a:t>Đọc file csv sử dụng pandas</a:t>
            </a:r>
            <a:endParaRPr lang="en-US"/>
          </a:p>
        </p:txBody>
      </p:sp>
      <p:sp>
        <p:nvSpPr>
          <p:cNvPr id="3" name="Content Placeholder 2">
            <a:extLst>
              <a:ext uri="{FF2B5EF4-FFF2-40B4-BE49-F238E27FC236}">
                <a16:creationId xmlns:a16="http://schemas.microsoft.com/office/drawing/2014/main" id="{A25A302D-0D2D-EBDE-284A-6F9F40386A40}"/>
              </a:ext>
            </a:extLst>
          </p:cNvPr>
          <p:cNvSpPr>
            <a:spLocks noGrp="1"/>
          </p:cNvSpPr>
          <p:nvPr>
            <p:ph idx="1"/>
          </p:nvPr>
        </p:nvSpPr>
        <p:spPr>
          <a:xfrm>
            <a:off x="628649" y="1825625"/>
            <a:ext cx="8335241" cy="4351338"/>
          </a:xfrm>
        </p:spPr>
        <p:txBody>
          <a:bodyPr>
            <a:normAutofit fontScale="92500" lnSpcReduction="20000"/>
          </a:bodyPr>
          <a:lstStyle/>
          <a:p>
            <a:pPr>
              <a:buFont typeface="Wingdings" panose="05000000000000000000" pitchFamily="2" charset="2"/>
              <a:buChar char="§"/>
            </a:pPr>
            <a:r>
              <a:rPr lang="en-US" sz="2600">
                <a:latin typeface="Arial" panose="020B0604020202020204" pitchFamily="34" charset="0"/>
                <a:ea typeface="Aachen" panose="02020500000000000000" pitchFamily="18" charset="0"/>
                <a:cs typeface="Arial" panose="020B0604020202020204" pitchFamily="34" charset="0"/>
              </a:rPr>
              <a:t>encoding: chỉ định encoding của file đọc vào. Mặc định là utf-8.</a:t>
            </a:r>
          </a:p>
          <a:p>
            <a:pPr>
              <a:buFont typeface="Wingdings" panose="05000000000000000000" pitchFamily="2" charset="2"/>
              <a:buChar char="§"/>
            </a:pPr>
            <a:r>
              <a:rPr lang="en-US" sz="2600">
                <a:latin typeface="Arial" panose="020B0604020202020204" pitchFamily="34" charset="0"/>
                <a:ea typeface="Aachen" panose="02020500000000000000" pitchFamily="18" charset="0"/>
                <a:cs typeface="Arial" panose="020B0604020202020204" pitchFamily="34" charset="0"/>
              </a:rPr>
              <a:t>sep: thay đổi dấu ngăn cách giữa các cột. Mặc định là dấu phẩy (‘,’)</a:t>
            </a:r>
          </a:p>
          <a:p>
            <a:pPr>
              <a:buFont typeface="Wingdings" panose="05000000000000000000" pitchFamily="2" charset="2"/>
              <a:buChar char="§"/>
            </a:pPr>
            <a:r>
              <a:rPr lang="en-US" sz="2600">
                <a:latin typeface="Arial" panose="020B0604020202020204" pitchFamily="34" charset="0"/>
                <a:ea typeface="Aachen" panose="02020500000000000000" pitchFamily="18" charset="0"/>
                <a:cs typeface="Arial" panose="020B0604020202020204" pitchFamily="34" charset="0"/>
              </a:rPr>
              <a:t>header: chỉ định file đọc vào có header(tiêu đề của các cột) hay không. Mặc định là infer.</a:t>
            </a:r>
          </a:p>
          <a:p>
            <a:pPr>
              <a:buFont typeface="Wingdings" panose="05000000000000000000" pitchFamily="2" charset="2"/>
              <a:buChar char="§"/>
            </a:pPr>
            <a:r>
              <a:rPr lang="en-US" sz="2600">
                <a:latin typeface="Arial" panose="020B0604020202020204" pitchFamily="34" charset="0"/>
                <a:ea typeface="Aachen" panose="02020500000000000000" pitchFamily="18" charset="0"/>
                <a:cs typeface="Arial" panose="020B0604020202020204" pitchFamily="34" charset="0"/>
              </a:rPr>
              <a:t>index_col: chỉ định chỉ số cột nào là cột chỉ số(số thứ tự). Mặc định là None.</a:t>
            </a:r>
          </a:p>
          <a:p>
            <a:pPr>
              <a:buFont typeface="Wingdings" panose="05000000000000000000" pitchFamily="2" charset="2"/>
              <a:buChar char="§"/>
            </a:pPr>
            <a:r>
              <a:rPr lang="en-US" sz="2600">
                <a:latin typeface="Arial" panose="020B0604020202020204" pitchFamily="34" charset="0"/>
                <a:ea typeface="Aachen" panose="02020500000000000000" pitchFamily="18" charset="0"/>
                <a:cs typeface="Arial" panose="020B0604020202020204" pitchFamily="34" charset="0"/>
              </a:rPr>
              <a:t>n_rows: chỉ định số bản ghi sẽ đọc vào. Mặc định là None đọc toàn bộ.</a:t>
            </a: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df = pd.read_csv("people.csv“, encoding='utf-8', header=None, sep=',’)</a:t>
            </a:r>
          </a:p>
          <a:p>
            <a:pPr marL="0" indent="0">
              <a:buNone/>
            </a:pPr>
            <a:endParaRPr lang="en-US">
              <a:latin typeface="Courier New" panose="02070309020205020404" pitchFamily="49" charset="0"/>
              <a:cs typeface="Courier New" panose="02070309020205020404" pitchFamily="49" charset="0"/>
            </a:endParaRPr>
          </a:p>
        </p:txBody>
      </p:sp>
      <p:sp>
        <p:nvSpPr>
          <p:cNvPr id="4" name="Footer Placeholder 3">
            <a:extLst>
              <a:ext uri="{FF2B5EF4-FFF2-40B4-BE49-F238E27FC236}">
                <a16:creationId xmlns:a16="http://schemas.microsoft.com/office/drawing/2014/main" id="{27277C49-0AB8-4540-4C36-63795D8C3DB8}"/>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D147413C-ECDA-F28C-E287-6F993046CDF3}"/>
              </a:ext>
            </a:extLst>
          </p:cNvPr>
          <p:cNvSpPr>
            <a:spLocks noGrp="1"/>
          </p:cNvSpPr>
          <p:nvPr>
            <p:ph type="sldNum" sz="quarter" idx="12"/>
          </p:nvPr>
        </p:nvSpPr>
        <p:spPr/>
        <p:txBody>
          <a:bodyPr/>
          <a:lstStyle/>
          <a:p>
            <a:fld id="{ADD32889-1A4F-4FED-AEC4-AD6BC7117F25}" type="slidenum">
              <a:rPr lang="en-US" smtClean="0"/>
              <a:t>100</a:t>
            </a:fld>
            <a:endParaRPr lang="en-US"/>
          </a:p>
        </p:txBody>
      </p:sp>
    </p:spTree>
    <p:extLst>
      <p:ext uri="{BB962C8B-B14F-4D97-AF65-F5344CB8AC3E}">
        <p14:creationId xmlns:p14="http://schemas.microsoft.com/office/powerpoint/2010/main" val="34865248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501D7-0C6C-7112-09C7-376BDD57F0B4}"/>
              </a:ext>
            </a:extLst>
          </p:cNvPr>
          <p:cNvSpPr>
            <a:spLocks noGrp="1"/>
          </p:cNvSpPr>
          <p:nvPr>
            <p:ph type="title"/>
          </p:nvPr>
        </p:nvSpPr>
        <p:spPr>
          <a:xfrm>
            <a:off x="628649" y="365126"/>
            <a:ext cx="8390659" cy="1325563"/>
          </a:xfrm>
        </p:spPr>
        <p:txBody>
          <a:bodyPr>
            <a:normAutofit/>
          </a:bodyPr>
          <a:lstStyle/>
          <a:p>
            <a:r>
              <a:rPr lang="en-US" b="1"/>
              <a:t>Thao tác với dataframe trong pandas</a:t>
            </a:r>
            <a:endParaRPr lang="en-US"/>
          </a:p>
        </p:txBody>
      </p:sp>
      <p:sp>
        <p:nvSpPr>
          <p:cNvPr id="3" name="Content Placeholder 2">
            <a:extLst>
              <a:ext uri="{FF2B5EF4-FFF2-40B4-BE49-F238E27FC236}">
                <a16:creationId xmlns:a16="http://schemas.microsoft.com/office/drawing/2014/main" id="{3B53FB26-0AFC-9610-C389-FF68A5DA19AA}"/>
              </a:ext>
            </a:extLst>
          </p:cNvPr>
          <p:cNvSpPr>
            <a:spLocks noGrp="1"/>
          </p:cNvSpPr>
          <p:nvPr>
            <p:ph idx="1"/>
          </p:nvPr>
        </p:nvSpPr>
        <p:spPr>
          <a:xfrm>
            <a:off x="628649" y="1825625"/>
            <a:ext cx="5287242" cy="4351338"/>
          </a:xfrm>
        </p:spPr>
        <p:txBody>
          <a:bodyPr>
            <a:normAutofit fontScale="92500"/>
          </a:bodyPr>
          <a:lstStyle/>
          <a:p>
            <a:pPr marL="0" indent="0">
              <a:buNone/>
            </a:pPr>
            <a:r>
              <a:rPr lang="vi-VN"/>
              <a:t># Xem chiều dài của df, tương đương shape[0]</a:t>
            </a:r>
            <a:endParaRPr lang="en-US"/>
          </a:p>
          <a:p>
            <a:pPr marL="0" indent="0">
              <a:buNone/>
            </a:pPr>
            <a:r>
              <a:rPr lang="vi-VN">
                <a:latin typeface="Courier New" panose="02070309020205020404" pitchFamily="49" charset="0"/>
                <a:cs typeface="Courier New" panose="02070309020205020404" pitchFamily="49" charset="0"/>
              </a:rPr>
              <a:t>print('Len:', len(peoples_df))</a:t>
            </a:r>
          </a:p>
          <a:p>
            <a:pPr marL="0" indent="0">
              <a:buNone/>
            </a:pPr>
            <a:r>
              <a:rPr lang="vi-VN"/>
              <a:t># Xem thông tin dataframe vừa đọc được</a:t>
            </a:r>
          </a:p>
          <a:p>
            <a:pPr marL="0" indent="0">
              <a:buNone/>
            </a:pPr>
            <a:r>
              <a:rPr lang="vi-VN">
                <a:latin typeface="Courier New" panose="02070309020205020404" pitchFamily="49" charset="0"/>
                <a:cs typeface="Courier New" panose="02070309020205020404" pitchFamily="49" charset="0"/>
              </a:rPr>
              <a:t>peoples_df.info()</a:t>
            </a:r>
          </a:p>
          <a:p>
            <a:pPr marL="0" indent="0">
              <a:buNone/>
            </a:pPr>
            <a:r>
              <a:rPr lang="vi-VN"/>
              <a:t># Xem kích thước của dataframe</a:t>
            </a:r>
          </a:p>
          <a:p>
            <a:pPr marL="0" indent="0">
              <a:buNone/>
            </a:pPr>
            <a:r>
              <a:rPr lang="vi-VN">
                <a:latin typeface="Courier New" panose="02070309020205020404" pitchFamily="49" charset="0"/>
                <a:cs typeface="Courier New" panose="02070309020205020404" pitchFamily="49" charset="0"/>
              </a:rPr>
              <a:t>print('Shape:', peoples_df.shape)</a:t>
            </a:r>
            <a:endParaRPr lang="en-US">
              <a:latin typeface="Courier New" panose="02070309020205020404" pitchFamily="49" charset="0"/>
              <a:cs typeface="Courier New" panose="02070309020205020404" pitchFamily="49" charset="0"/>
            </a:endParaRPr>
          </a:p>
        </p:txBody>
      </p:sp>
      <p:sp>
        <p:nvSpPr>
          <p:cNvPr id="4" name="Footer Placeholder 3">
            <a:extLst>
              <a:ext uri="{FF2B5EF4-FFF2-40B4-BE49-F238E27FC236}">
                <a16:creationId xmlns:a16="http://schemas.microsoft.com/office/drawing/2014/main" id="{DBEEA85B-D93B-2772-6D41-8DC7B3A374ED}"/>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A0C8269D-971B-C796-19AE-E902CB3F4869}"/>
              </a:ext>
            </a:extLst>
          </p:cNvPr>
          <p:cNvSpPr>
            <a:spLocks noGrp="1"/>
          </p:cNvSpPr>
          <p:nvPr>
            <p:ph type="sldNum" sz="quarter" idx="12"/>
          </p:nvPr>
        </p:nvSpPr>
        <p:spPr/>
        <p:txBody>
          <a:bodyPr/>
          <a:lstStyle/>
          <a:p>
            <a:fld id="{ADD32889-1A4F-4FED-AEC4-AD6BC7117F25}" type="slidenum">
              <a:rPr lang="en-US" smtClean="0"/>
              <a:t>101</a:t>
            </a:fld>
            <a:endParaRPr lang="en-US"/>
          </a:p>
        </p:txBody>
      </p:sp>
      <p:pic>
        <p:nvPicPr>
          <p:cNvPr id="6" name="Picture 5">
            <a:extLst>
              <a:ext uri="{FF2B5EF4-FFF2-40B4-BE49-F238E27FC236}">
                <a16:creationId xmlns:a16="http://schemas.microsoft.com/office/drawing/2014/main" id="{6AAF6D59-52F6-128D-FE3B-5C7EFC19C5DB}"/>
              </a:ext>
            </a:extLst>
          </p:cNvPr>
          <p:cNvPicPr>
            <a:picLocks noChangeAspect="1"/>
          </p:cNvPicPr>
          <p:nvPr/>
        </p:nvPicPr>
        <p:blipFill>
          <a:blip r:embed="rId2"/>
          <a:stretch>
            <a:fillRect/>
          </a:stretch>
        </p:blipFill>
        <p:spPr>
          <a:xfrm>
            <a:off x="5904633" y="1870076"/>
            <a:ext cx="3114675" cy="4073523"/>
          </a:xfrm>
          <a:prstGeom prst="rect">
            <a:avLst/>
          </a:prstGeom>
          <a:ln>
            <a:solidFill>
              <a:schemeClr val="accent1"/>
            </a:solidFill>
          </a:ln>
        </p:spPr>
      </p:pic>
    </p:spTree>
    <p:extLst>
      <p:ext uri="{BB962C8B-B14F-4D97-AF65-F5344CB8AC3E}">
        <p14:creationId xmlns:p14="http://schemas.microsoft.com/office/powerpoint/2010/main" val="319711552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BA7F0-B32B-8D3D-5E79-7A2BE1636401}"/>
              </a:ext>
            </a:extLst>
          </p:cNvPr>
          <p:cNvSpPr>
            <a:spLocks noGrp="1"/>
          </p:cNvSpPr>
          <p:nvPr>
            <p:ph type="title"/>
          </p:nvPr>
        </p:nvSpPr>
        <p:spPr/>
        <p:txBody>
          <a:bodyPr/>
          <a:lstStyle/>
          <a:p>
            <a:r>
              <a:rPr lang="en-US" b="1"/>
              <a:t>Truy xuất dữ liệu trên dataframe</a:t>
            </a:r>
            <a:endParaRPr lang="en-US"/>
          </a:p>
        </p:txBody>
      </p:sp>
      <p:sp>
        <p:nvSpPr>
          <p:cNvPr id="3" name="Content Placeholder 2">
            <a:extLst>
              <a:ext uri="{FF2B5EF4-FFF2-40B4-BE49-F238E27FC236}">
                <a16:creationId xmlns:a16="http://schemas.microsoft.com/office/drawing/2014/main" id="{B5B9BE26-20DC-61FC-720D-17BE052D6DB6}"/>
              </a:ext>
            </a:extLst>
          </p:cNvPr>
          <p:cNvSpPr>
            <a:spLocks noGrp="1"/>
          </p:cNvSpPr>
          <p:nvPr>
            <p:ph idx="1"/>
          </p:nvPr>
        </p:nvSpPr>
        <p:spPr>
          <a:xfrm>
            <a:off x="628650" y="1825625"/>
            <a:ext cx="9374332" cy="4351338"/>
          </a:xfrm>
        </p:spPr>
        <p:txBody>
          <a:bodyPr/>
          <a:lstStyle/>
          <a:p>
            <a:r>
              <a:rPr lang="en-US" b="1"/>
              <a:t>Lấy 1 cột theo tên cột</a:t>
            </a:r>
          </a:p>
          <a:p>
            <a:pPr marL="0" indent="0">
              <a:buNone/>
            </a:pPr>
            <a:r>
              <a:rPr lang="en-US">
                <a:latin typeface="Courier New" panose="02070309020205020404" pitchFamily="49" charset="0"/>
                <a:cs typeface="Courier New" panose="02070309020205020404" pitchFamily="49" charset="0"/>
              </a:rPr>
              <a:t>name_column = df['name']</a:t>
            </a:r>
          </a:p>
          <a:p>
            <a:pPr marL="0" indent="0">
              <a:buNone/>
            </a:pPr>
            <a:r>
              <a:rPr lang="en-US">
                <a:latin typeface="Courier New" panose="02070309020205020404" pitchFamily="49" charset="0"/>
                <a:cs typeface="Courier New" panose="02070309020205020404" pitchFamily="49" charset="0"/>
              </a:rPr>
              <a:t>print(name_column)</a:t>
            </a:r>
          </a:p>
          <a:p>
            <a:r>
              <a:rPr lang="en-US" b="1">
                <a:cs typeface="Courier New" panose="02070309020205020404" pitchFamily="49" charset="0"/>
              </a:rPr>
              <a:t>Lấy trên nhiều cột</a:t>
            </a:r>
          </a:p>
          <a:p>
            <a:pPr marL="0" indent="0">
              <a:buNone/>
            </a:pPr>
            <a:r>
              <a:rPr lang="en-US">
                <a:latin typeface="Courier New" panose="02070309020205020404" pitchFamily="49" charset="0"/>
                <a:cs typeface="Courier New" panose="02070309020205020404" pitchFamily="49" charset="0"/>
              </a:rPr>
              <a:t>columns = df[["person_ID", "name"]]</a:t>
            </a:r>
          </a:p>
          <a:p>
            <a:pPr marL="0" indent="0">
              <a:buNone/>
            </a:pPr>
            <a:r>
              <a:rPr lang="en-US">
                <a:latin typeface="Courier New" panose="02070309020205020404" pitchFamily="49" charset="0"/>
                <a:cs typeface="Courier New" panose="02070309020205020404" pitchFamily="49" charset="0"/>
              </a:rPr>
              <a:t>print(columns)</a:t>
            </a:r>
          </a:p>
          <a:p>
            <a:pPr marL="0" indent="0">
              <a:buNone/>
            </a:pPr>
            <a:endParaRPr lang="en-US">
              <a:latin typeface="Courier New" panose="02070309020205020404" pitchFamily="49" charset="0"/>
              <a:cs typeface="Courier New" panose="02070309020205020404" pitchFamily="49" charset="0"/>
            </a:endParaRPr>
          </a:p>
        </p:txBody>
      </p:sp>
      <p:sp>
        <p:nvSpPr>
          <p:cNvPr id="4" name="Footer Placeholder 3">
            <a:extLst>
              <a:ext uri="{FF2B5EF4-FFF2-40B4-BE49-F238E27FC236}">
                <a16:creationId xmlns:a16="http://schemas.microsoft.com/office/drawing/2014/main" id="{9BDA60DE-2B2D-C1EC-4DED-ED7C4F3AA8E5}"/>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EA1DDC2D-93DD-D697-25EC-1D3F5F1710D7}"/>
              </a:ext>
            </a:extLst>
          </p:cNvPr>
          <p:cNvSpPr>
            <a:spLocks noGrp="1"/>
          </p:cNvSpPr>
          <p:nvPr>
            <p:ph type="sldNum" sz="quarter" idx="12"/>
          </p:nvPr>
        </p:nvSpPr>
        <p:spPr/>
        <p:txBody>
          <a:bodyPr/>
          <a:lstStyle/>
          <a:p>
            <a:fld id="{ADD32889-1A4F-4FED-AEC4-AD6BC7117F25}" type="slidenum">
              <a:rPr lang="en-US" smtClean="0"/>
              <a:t>102</a:t>
            </a:fld>
            <a:endParaRPr lang="en-US"/>
          </a:p>
        </p:txBody>
      </p:sp>
      <p:pic>
        <p:nvPicPr>
          <p:cNvPr id="6" name="Picture 5">
            <a:extLst>
              <a:ext uri="{FF2B5EF4-FFF2-40B4-BE49-F238E27FC236}">
                <a16:creationId xmlns:a16="http://schemas.microsoft.com/office/drawing/2014/main" id="{2ACCE29A-CE60-9480-B5F7-85A2B3912306}"/>
              </a:ext>
            </a:extLst>
          </p:cNvPr>
          <p:cNvPicPr>
            <a:picLocks noChangeAspect="1"/>
          </p:cNvPicPr>
          <p:nvPr/>
        </p:nvPicPr>
        <p:blipFill>
          <a:blip r:embed="rId2"/>
          <a:stretch>
            <a:fillRect/>
          </a:stretch>
        </p:blipFill>
        <p:spPr>
          <a:xfrm>
            <a:off x="6081712" y="1260478"/>
            <a:ext cx="2809875" cy="2616198"/>
          </a:xfrm>
          <a:prstGeom prst="rect">
            <a:avLst/>
          </a:prstGeom>
          <a:ln>
            <a:solidFill>
              <a:schemeClr val="accent1"/>
            </a:solidFill>
          </a:ln>
        </p:spPr>
      </p:pic>
      <p:pic>
        <p:nvPicPr>
          <p:cNvPr id="7" name="Picture 6">
            <a:extLst>
              <a:ext uri="{FF2B5EF4-FFF2-40B4-BE49-F238E27FC236}">
                <a16:creationId xmlns:a16="http://schemas.microsoft.com/office/drawing/2014/main" id="{FCF32A15-797F-6372-E4C7-76731D3D619D}"/>
              </a:ext>
            </a:extLst>
          </p:cNvPr>
          <p:cNvPicPr>
            <a:picLocks noChangeAspect="1"/>
          </p:cNvPicPr>
          <p:nvPr/>
        </p:nvPicPr>
        <p:blipFill>
          <a:blip r:embed="rId3"/>
          <a:stretch>
            <a:fillRect/>
          </a:stretch>
        </p:blipFill>
        <p:spPr>
          <a:xfrm>
            <a:off x="5557837" y="4445001"/>
            <a:ext cx="3333750" cy="2276475"/>
          </a:xfrm>
          <a:prstGeom prst="rect">
            <a:avLst/>
          </a:prstGeom>
          <a:ln>
            <a:solidFill>
              <a:schemeClr val="accent1"/>
            </a:solidFill>
          </a:ln>
        </p:spPr>
      </p:pic>
    </p:spTree>
    <p:extLst>
      <p:ext uri="{BB962C8B-B14F-4D97-AF65-F5344CB8AC3E}">
        <p14:creationId xmlns:p14="http://schemas.microsoft.com/office/powerpoint/2010/main" val="409805329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1FCC3-351A-A67D-C120-298B6705DF65}"/>
              </a:ext>
            </a:extLst>
          </p:cNvPr>
          <p:cNvSpPr>
            <a:spLocks noGrp="1"/>
          </p:cNvSpPr>
          <p:nvPr>
            <p:ph type="title"/>
          </p:nvPr>
        </p:nvSpPr>
        <p:spPr/>
        <p:txBody>
          <a:bodyPr/>
          <a:lstStyle/>
          <a:p>
            <a:r>
              <a:rPr lang="en-US"/>
              <a:t>Lấy bản ghi theo chỉ số</a:t>
            </a:r>
          </a:p>
        </p:txBody>
      </p:sp>
      <p:sp>
        <p:nvSpPr>
          <p:cNvPr id="3" name="Content Placeholder 2">
            <a:extLst>
              <a:ext uri="{FF2B5EF4-FFF2-40B4-BE49-F238E27FC236}">
                <a16:creationId xmlns:a16="http://schemas.microsoft.com/office/drawing/2014/main" id="{5F308D3C-D2FC-9C4E-D121-3C1959E3280A}"/>
              </a:ext>
            </a:extLst>
          </p:cNvPr>
          <p:cNvSpPr>
            <a:spLocks noGrp="1"/>
          </p:cNvSpPr>
          <p:nvPr>
            <p:ph idx="1"/>
          </p:nvPr>
        </p:nvSpPr>
        <p:spPr/>
        <p:txBody>
          <a:bodyPr/>
          <a:lstStyle/>
          <a:p>
            <a:pPr marL="0" indent="0">
              <a:buNone/>
            </a:pPr>
            <a:r>
              <a:rPr lang="en-US"/>
              <a:t>Lấy bản ghi từ index start:end</a:t>
            </a:r>
          </a:p>
          <a:p>
            <a:pPr marL="0" indent="0">
              <a:buNone/>
            </a:pPr>
            <a:r>
              <a:rPr lang="en-US">
                <a:latin typeface="Courier New" panose="02070309020205020404" pitchFamily="49" charset="0"/>
                <a:cs typeface="Courier New" panose="02070309020205020404" pitchFamily="49" charset="0"/>
              </a:rPr>
              <a:t>df[0:5]</a:t>
            </a:r>
          </a:p>
          <a:p>
            <a:pPr marL="0" indent="0">
              <a:buNone/>
            </a:pPr>
            <a:endParaRPr lang="en-US">
              <a:latin typeface="Courier New" panose="02070309020205020404" pitchFamily="49" charset="0"/>
              <a:cs typeface="Courier New" panose="02070309020205020404" pitchFamily="49" charset="0"/>
            </a:endParaRPr>
          </a:p>
          <a:p>
            <a:pPr marL="0" indent="0">
              <a:buNone/>
            </a:pPr>
            <a:endParaRPr lang="en-US">
              <a:latin typeface="Courier New" panose="02070309020205020404" pitchFamily="49" charset="0"/>
              <a:cs typeface="Courier New" panose="02070309020205020404" pitchFamily="49" charset="0"/>
            </a:endParaRPr>
          </a:p>
          <a:p>
            <a:pPr marL="0" indent="0">
              <a:buNone/>
            </a:pPr>
            <a:endParaRPr lang="en-US">
              <a:latin typeface="Courier New" panose="02070309020205020404" pitchFamily="49" charset="0"/>
              <a:cs typeface="Courier New" panose="02070309020205020404" pitchFamily="49" charset="0"/>
            </a:endParaRPr>
          </a:p>
          <a:p>
            <a:pPr marL="0" indent="0">
              <a:buNone/>
            </a:pPr>
            <a:r>
              <a:rPr lang="en-US">
                <a:latin typeface="Courier New" panose="02070309020205020404" pitchFamily="49" charset="0"/>
                <a:cs typeface="Courier New" panose="02070309020205020404" pitchFamily="49" charset="0"/>
              </a:rPr>
              <a:t>df[['name', ‘phone']][:5]</a:t>
            </a:r>
          </a:p>
        </p:txBody>
      </p:sp>
      <p:sp>
        <p:nvSpPr>
          <p:cNvPr id="4" name="Footer Placeholder 3">
            <a:extLst>
              <a:ext uri="{FF2B5EF4-FFF2-40B4-BE49-F238E27FC236}">
                <a16:creationId xmlns:a16="http://schemas.microsoft.com/office/drawing/2014/main" id="{E5F7AC94-1988-4337-47A1-6F0BC64F3009}"/>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AF14366E-D430-39B7-0902-A6911502B5EC}"/>
              </a:ext>
            </a:extLst>
          </p:cNvPr>
          <p:cNvSpPr>
            <a:spLocks noGrp="1"/>
          </p:cNvSpPr>
          <p:nvPr>
            <p:ph type="sldNum" sz="quarter" idx="12"/>
          </p:nvPr>
        </p:nvSpPr>
        <p:spPr/>
        <p:txBody>
          <a:bodyPr/>
          <a:lstStyle/>
          <a:p>
            <a:fld id="{ADD32889-1A4F-4FED-AEC4-AD6BC7117F25}" type="slidenum">
              <a:rPr lang="en-US" smtClean="0"/>
              <a:t>103</a:t>
            </a:fld>
            <a:endParaRPr lang="en-US"/>
          </a:p>
        </p:txBody>
      </p:sp>
      <p:pic>
        <p:nvPicPr>
          <p:cNvPr id="6" name="Picture 5">
            <a:extLst>
              <a:ext uri="{FF2B5EF4-FFF2-40B4-BE49-F238E27FC236}">
                <a16:creationId xmlns:a16="http://schemas.microsoft.com/office/drawing/2014/main" id="{FE44833A-5999-3D8A-A1AF-375C2C80050E}"/>
              </a:ext>
            </a:extLst>
          </p:cNvPr>
          <p:cNvPicPr>
            <a:picLocks noChangeAspect="1"/>
          </p:cNvPicPr>
          <p:nvPr/>
        </p:nvPicPr>
        <p:blipFill>
          <a:blip r:embed="rId2"/>
          <a:stretch>
            <a:fillRect/>
          </a:stretch>
        </p:blipFill>
        <p:spPr>
          <a:xfrm>
            <a:off x="1562100" y="2980026"/>
            <a:ext cx="5715000" cy="1285875"/>
          </a:xfrm>
          <a:prstGeom prst="rect">
            <a:avLst/>
          </a:prstGeom>
        </p:spPr>
      </p:pic>
      <p:pic>
        <p:nvPicPr>
          <p:cNvPr id="7" name="Picture 6">
            <a:extLst>
              <a:ext uri="{FF2B5EF4-FFF2-40B4-BE49-F238E27FC236}">
                <a16:creationId xmlns:a16="http://schemas.microsoft.com/office/drawing/2014/main" id="{D6181D4B-2590-EF10-96E8-6800DE287B54}"/>
              </a:ext>
            </a:extLst>
          </p:cNvPr>
          <p:cNvPicPr>
            <a:picLocks noChangeAspect="1"/>
          </p:cNvPicPr>
          <p:nvPr/>
        </p:nvPicPr>
        <p:blipFill>
          <a:blip r:embed="rId3"/>
          <a:stretch>
            <a:fillRect/>
          </a:stretch>
        </p:blipFill>
        <p:spPr>
          <a:xfrm>
            <a:off x="2128837" y="5108576"/>
            <a:ext cx="3362325" cy="1247775"/>
          </a:xfrm>
          <a:prstGeom prst="rect">
            <a:avLst/>
          </a:prstGeom>
        </p:spPr>
      </p:pic>
    </p:spTree>
    <p:extLst>
      <p:ext uri="{BB962C8B-B14F-4D97-AF65-F5344CB8AC3E}">
        <p14:creationId xmlns:p14="http://schemas.microsoft.com/office/powerpoint/2010/main" val="131675996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178A7-926E-E38E-99E1-75E24B4DF552}"/>
              </a:ext>
            </a:extLst>
          </p:cNvPr>
          <p:cNvSpPr>
            <a:spLocks noGrp="1"/>
          </p:cNvSpPr>
          <p:nvPr>
            <p:ph type="title"/>
          </p:nvPr>
        </p:nvSpPr>
        <p:spPr/>
        <p:txBody>
          <a:bodyPr/>
          <a:lstStyle/>
          <a:p>
            <a:r>
              <a:rPr lang="en-US"/>
              <a:t>Lấy các bản ghi theo điều kiện</a:t>
            </a:r>
          </a:p>
        </p:txBody>
      </p:sp>
      <p:sp>
        <p:nvSpPr>
          <p:cNvPr id="3" name="Content Placeholder 2">
            <a:extLst>
              <a:ext uri="{FF2B5EF4-FFF2-40B4-BE49-F238E27FC236}">
                <a16:creationId xmlns:a16="http://schemas.microsoft.com/office/drawing/2014/main" id="{587C679A-D455-B14A-C710-70F348497E1E}"/>
              </a:ext>
            </a:extLst>
          </p:cNvPr>
          <p:cNvSpPr>
            <a:spLocks noGrp="1"/>
          </p:cNvSpPr>
          <p:nvPr>
            <p:ph idx="1"/>
          </p:nvPr>
        </p:nvSpPr>
        <p:spPr/>
        <p:txBody>
          <a:bodyPr/>
          <a:lstStyle/>
          <a:p>
            <a:r>
              <a:rPr lang="en-US">
                <a:latin typeface="Courier New" panose="02070309020205020404" pitchFamily="49" charset="0"/>
                <a:cs typeface="Courier New" panose="02070309020205020404" pitchFamily="49" charset="0"/>
              </a:rPr>
              <a:t>df[df["title"]=="Professor"]</a:t>
            </a:r>
          </a:p>
          <a:p>
            <a:r>
              <a:rPr lang="en-US">
                <a:latin typeface="Courier New" panose="02070309020205020404" pitchFamily="49" charset="0"/>
                <a:cs typeface="Courier New" panose="02070309020205020404" pitchFamily="49" charset="0"/>
              </a:rPr>
              <a:t>df[df.title == Professor"]</a:t>
            </a:r>
          </a:p>
          <a:p>
            <a:r>
              <a:rPr lang="en-US">
                <a:latin typeface="Courier New" panose="02070309020205020404" pitchFamily="49" charset="0"/>
                <a:cs typeface="Courier New" panose="02070309020205020404" pitchFamily="49" charset="0"/>
              </a:rPr>
              <a:t>df[df.name.str.startswith("B")]</a:t>
            </a:r>
          </a:p>
          <a:p>
            <a:r>
              <a:rPr lang="en-US">
                <a:latin typeface="Courier New" panose="02070309020205020404" pitchFamily="49" charset="0"/>
                <a:cs typeface="Courier New" panose="02070309020205020404" pitchFamily="49" charset="0"/>
              </a:rPr>
              <a:t>df[df.name.str.contains("Rosella")]</a:t>
            </a:r>
          </a:p>
          <a:p>
            <a:endParaRPr lang="en-US">
              <a:latin typeface="Courier New" panose="02070309020205020404" pitchFamily="49" charset="0"/>
              <a:cs typeface="Courier New" panose="02070309020205020404" pitchFamily="49" charset="0"/>
            </a:endParaRPr>
          </a:p>
          <a:p>
            <a:endParaRPr lang="en-US">
              <a:latin typeface="Courier New" panose="02070309020205020404" pitchFamily="49" charset="0"/>
              <a:cs typeface="Courier New" panose="02070309020205020404" pitchFamily="49" charset="0"/>
            </a:endParaRPr>
          </a:p>
          <a:p>
            <a:pPr marL="0" indent="0">
              <a:buNone/>
            </a:pPr>
            <a:endParaRPr lang="en-US">
              <a:latin typeface="Courier New" panose="02070309020205020404" pitchFamily="49" charset="0"/>
              <a:cs typeface="Courier New" panose="02070309020205020404" pitchFamily="49" charset="0"/>
            </a:endParaRPr>
          </a:p>
        </p:txBody>
      </p:sp>
      <p:sp>
        <p:nvSpPr>
          <p:cNvPr id="4" name="Footer Placeholder 3">
            <a:extLst>
              <a:ext uri="{FF2B5EF4-FFF2-40B4-BE49-F238E27FC236}">
                <a16:creationId xmlns:a16="http://schemas.microsoft.com/office/drawing/2014/main" id="{5F013C81-7A94-C365-51DA-6245475606AE}"/>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357ABA20-70E5-7F01-226F-3CCA73E4298A}"/>
              </a:ext>
            </a:extLst>
          </p:cNvPr>
          <p:cNvSpPr>
            <a:spLocks noGrp="1"/>
          </p:cNvSpPr>
          <p:nvPr>
            <p:ph type="sldNum" sz="quarter" idx="12"/>
          </p:nvPr>
        </p:nvSpPr>
        <p:spPr/>
        <p:txBody>
          <a:bodyPr/>
          <a:lstStyle/>
          <a:p>
            <a:fld id="{ADD32889-1A4F-4FED-AEC4-AD6BC7117F25}" type="slidenum">
              <a:rPr lang="en-US" smtClean="0"/>
              <a:t>104</a:t>
            </a:fld>
            <a:endParaRPr lang="en-US"/>
          </a:p>
        </p:txBody>
      </p:sp>
    </p:spTree>
    <p:extLst>
      <p:ext uri="{BB962C8B-B14F-4D97-AF65-F5344CB8AC3E}">
        <p14:creationId xmlns:p14="http://schemas.microsoft.com/office/powerpoint/2010/main" val="29124685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45A8-1758-345A-099B-A68AB474A199}"/>
              </a:ext>
            </a:extLst>
          </p:cNvPr>
          <p:cNvSpPr>
            <a:spLocks noGrp="1"/>
          </p:cNvSpPr>
          <p:nvPr>
            <p:ph type="title"/>
          </p:nvPr>
        </p:nvSpPr>
        <p:spPr/>
        <p:txBody>
          <a:bodyPr/>
          <a:lstStyle/>
          <a:p>
            <a:r>
              <a:rPr lang="en-US" b="1"/>
              <a:t>Lấy giá trị trả về numpy arrays</a:t>
            </a:r>
            <a:endParaRPr lang="en-US"/>
          </a:p>
        </p:txBody>
      </p:sp>
      <p:sp>
        <p:nvSpPr>
          <p:cNvPr id="3" name="Content Placeholder 2">
            <a:extLst>
              <a:ext uri="{FF2B5EF4-FFF2-40B4-BE49-F238E27FC236}">
                <a16:creationId xmlns:a16="http://schemas.microsoft.com/office/drawing/2014/main" id="{68878E46-F5BB-BEC4-3FCE-04DE307249A3}"/>
              </a:ext>
            </a:extLst>
          </p:cNvPr>
          <p:cNvSpPr>
            <a:spLocks noGrp="1"/>
          </p:cNvSpPr>
          <p:nvPr>
            <p:ph idx="1"/>
          </p:nvPr>
        </p:nvSpPr>
        <p:spPr>
          <a:xfrm>
            <a:off x="628649" y="1825625"/>
            <a:ext cx="8349095" cy="4351338"/>
          </a:xfrm>
        </p:spPr>
        <p:txBody>
          <a:bodyPr/>
          <a:lstStyle/>
          <a:p>
            <a:r>
              <a:rPr lang="vi-VN"/>
              <a:t>Để lấy giá trị của một cột trả về dưới dạng numpy array trong thư viện pandas python, bạn chỉ cần thêm .values vào sau</a:t>
            </a:r>
            <a:r>
              <a:rPr lang="en-US"/>
              <a:t>:</a:t>
            </a:r>
          </a:p>
          <a:p>
            <a:pPr marL="0" indent="0">
              <a:buNone/>
            </a:pPr>
            <a:r>
              <a:rPr lang="en-US">
                <a:latin typeface="Courier New" panose="02070309020205020404" pitchFamily="49" charset="0"/>
                <a:cs typeface="Courier New" panose="02070309020205020404" pitchFamily="49" charset="0"/>
              </a:rPr>
              <a:t> df['name'].values</a:t>
            </a:r>
          </a:p>
        </p:txBody>
      </p:sp>
      <p:sp>
        <p:nvSpPr>
          <p:cNvPr id="4" name="Footer Placeholder 3">
            <a:extLst>
              <a:ext uri="{FF2B5EF4-FFF2-40B4-BE49-F238E27FC236}">
                <a16:creationId xmlns:a16="http://schemas.microsoft.com/office/drawing/2014/main" id="{5B0C5707-29F2-1250-C84F-DC93B98C2377}"/>
              </a:ext>
            </a:extLst>
          </p:cNvPr>
          <p:cNvSpPr>
            <a:spLocks noGrp="1"/>
          </p:cNvSpPr>
          <p:nvPr>
            <p:ph type="ftr" sz="quarter" idx="11"/>
          </p:nvPr>
        </p:nvSpPr>
        <p:spPr/>
        <p:txBody>
          <a:bodyPr/>
          <a:lstStyle/>
          <a:p>
            <a:r>
              <a:rPr lang="en-US"/>
              <a:t>Lập trình căn bản với  Python</a:t>
            </a:r>
          </a:p>
        </p:txBody>
      </p:sp>
      <p:sp>
        <p:nvSpPr>
          <p:cNvPr id="5" name="Slide Number Placeholder 4">
            <a:extLst>
              <a:ext uri="{FF2B5EF4-FFF2-40B4-BE49-F238E27FC236}">
                <a16:creationId xmlns:a16="http://schemas.microsoft.com/office/drawing/2014/main" id="{3C4E7F4D-0960-4158-1BDF-99E2DBD77671}"/>
              </a:ext>
            </a:extLst>
          </p:cNvPr>
          <p:cNvSpPr>
            <a:spLocks noGrp="1"/>
          </p:cNvSpPr>
          <p:nvPr>
            <p:ph type="sldNum" sz="quarter" idx="12"/>
          </p:nvPr>
        </p:nvSpPr>
        <p:spPr/>
        <p:txBody>
          <a:bodyPr/>
          <a:lstStyle/>
          <a:p>
            <a:fld id="{ADD32889-1A4F-4FED-AEC4-AD6BC7117F25}" type="slidenum">
              <a:rPr lang="en-US" smtClean="0"/>
              <a:t>105</a:t>
            </a:fld>
            <a:endParaRPr lang="en-US"/>
          </a:p>
        </p:txBody>
      </p:sp>
      <p:pic>
        <p:nvPicPr>
          <p:cNvPr id="6" name="Picture 5">
            <a:extLst>
              <a:ext uri="{FF2B5EF4-FFF2-40B4-BE49-F238E27FC236}">
                <a16:creationId xmlns:a16="http://schemas.microsoft.com/office/drawing/2014/main" id="{E3F59FE3-B4CB-F8DB-C825-C70B740A5F96}"/>
              </a:ext>
            </a:extLst>
          </p:cNvPr>
          <p:cNvPicPr>
            <a:picLocks noChangeAspect="1"/>
          </p:cNvPicPr>
          <p:nvPr/>
        </p:nvPicPr>
        <p:blipFill>
          <a:blip r:embed="rId2"/>
          <a:stretch>
            <a:fillRect/>
          </a:stretch>
        </p:blipFill>
        <p:spPr>
          <a:xfrm>
            <a:off x="5959186" y="2993015"/>
            <a:ext cx="2647950" cy="2276475"/>
          </a:xfrm>
          <a:prstGeom prst="rect">
            <a:avLst/>
          </a:prstGeom>
          <a:ln>
            <a:solidFill>
              <a:schemeClr val="accent1"/>
            </a:solidFill>
          </a:ln>
        </p:spPr>
      </p:pic>
      <p:pic>
        <p:nvPicPr>
          <p:cNvPr id="7" name="Picture 6">
            <a:extLst>
              <a:ext uri="{FF2B5EF4-FFF2-40B4-BE49-F238E27FC236}">
                <a16:creationId xmlns:a16="http://schemas.microsoft.com/office/drawing/2014/main" id="{99173D2D-A974-67C8-CD11-9F53007E0389}"/>
              </a:ext>
            </a:extLst>
          </p:cNvPr>
          <p:cNvPicPr>
            <a:picLocks noChangeAspect="1"/>
          </p:cNvPicPr>
          <p:nvPr/>
        </p:nvPicPr>
        <p:blipFill>
          <a:blip r:embed="rId3"/>
          <a:stretch>
            <a:fillRect/>
          </a:stretch>
        </p:blipFill>
        <p:spPr>
          <a:xfrm>
            <a:off x="166256" y="3844924"/>
            <a:ext cx="5256108" cy="2276475"/>
          </a:xfrm>
          <a:prstGeom prst="rect">
            <a:avLst/>
          </a:prstGeom>
          <a:ln>
            <a:solidFill>
              <a:schemeClr val="accent1"/>
            </a:solidFill>
          </a:ln>
        </p:spPr>
      </p:pic>
      <p:sp>
        <p:nvSpPr>
          <p:cNvPr id="8" name="Arrow: Curved Left 7">
            <a:extLst>
              <a:ext uri="{FF2B5EF4-FFF2-40B4-BE49-F238E27FC236}">
                <a16:creationId xmlns:a16="http://schemas.microsoft.com/office/drawing/2014/main" id="{29957F08-4D52-0AE0-016F-93BFD749D417}"/>
              </a:ext>
            </a:extLst>
          </p:cNvPr>
          <p:cNvSpPr/>
          <p:nvPr/>
        </p:nvSpPr>
        <p:spPr>
          <a:xfrm>
            <a:off x="5784332" y="5331545"/>
            <a:ext cx="536822" cy="568036"/>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063975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12946</TotalTime>
  <Words>7832</Words>
  <Application>Microsoft Office PowerPoint</Application>
  <PresentationFormat>On-screen Show (4:3)</PresentationFormat>
  <Paragraphs>1051</Paragraphs>
  <Slides>105</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105</vt:i4>
      </vt:variant>
    </vt:vector>
  </HeadingPairs>
  <TitlesOfParts>
    <vt:vector size="115" baseType="lpstr">
      <vt:lpstr>Arial</vt:lpstr>
      <vt:lpstr>Calibri</vt:lpstr>
      <vt:lpstr>Calibri Light</vt:lpstr>
      <vt:lpstr>Consolas</vt:lpstr>
      <vt:lpstr>Courier New</vt:lpstr>
      <vt:lpstr>JetBrains Mono</vt:lpstr>
      <vt:lpstr>Symbol</vt:lpstr>
      <vt:lpstr>Tohoma</vt:lpstr>
      <vt:lpstr>Wingdings</vt:lpstr>
      <vt:lpstr>Office Theme</vt:lpstr>
      <vt:lpstr>Lập trình Python cơ bản</vt:lpstr>
      <vt:lpstr>Mở đầu</vt:lpstr>
      <vt:lpstr>Giới thiệu Python</vt:lpstr>
      <vt:lpstr>Cài python</vt:lpstr>
      <vt:lpstr>Cài python</vt:lpstr>
      <vt:lpstr>Giao diện lập trình</vt:lpstr>
      <vt:lpstr>Môi trường phát triển (IDE)</vt:lpstr>
      <vt:lpstr>Nhập xuất đơn giản</vt:lpstr>
      <vt:lpstr>Nhập từ bàn phím</vt:lpstr>
      <vt:lpstr>Làm việc với kiểu số</vt:lpstr>
      <vt:lpstr>Làm việc với kiểu số</vt:lpstr>
      <vt:lpstr>Làm việc với kiểu số</vt:lpstr>
      <vt:lpstr>Chú thích</vt:lpstr>
      <vt:lpstr>Câu lệnh if</vt:lpstr>
      <vt:lpstr>Lệnh if</vt:lpstr>
      <vt:lpstr>If .. else</vt:lpstr>
      <vt:lpstr>if .. elif .. else</vt:lpstr>
      <vt:lpstr>Biểu thức logic</vt:lpstr>
      <vt:lpstr>Khối lệnh</vt:lpstr>
      <vt:lpstr>Bài tập</vt:lpstr>
      <vt:lpstr>Bảng giá điện sinh hoạt</vt:lpstr>
      <vt:lpstr>Vòng lặp</vt:lpstr>
      <vt:lpstr>Hàm range()</vt:lpstr>
      <vt:lpstr>Vòng lặp for</vt:lpstr>
      <vt:lpstr>Vòng lặp for</vt:lpstr>
      <vt:lpstr>Vòng lặp while</vt:lpstr>
      <vt:lpstr>Vòng lặp while</vt:lpstr>
      <vt:lpstr>Lệnh break và else</vt:lpstr>
      <vt:lpstr>Lệnh break và else</vt:lpstr>
      <vt:lpstr>Bài tập</vt:lpstr>
      <vt:lpstr>Bài tập</vt:lpstr>
      <vt:lpstr>Các kiểu dữ liệu thông dụng</vt:lpstr>
      <vt:lpstr>Kiểu string</vt:lpstr>
      <vt:lpstr>Kiểu string</vt:lpstr>
      <vt:lpstr>Kiểu string</vt:lpstr>
      <vt:lpstr>Kiểu string</vt:lpstr>
      <vt:lpstr>Bài tập</vt:lpstr>
      <vt:lpstr>Bài tập</vt:lpstr>
      <vt:lpstr>PowerPoint Presentation</vt:lpstr>
      <vt:lpstr>Kiểu list</vt:lpstr>
      <vt:lpstr>Kiểu list</vt:lpstr>
      <vt:lpstr>Kiểu list</vt:lpstr>
      <vt:lpstr>Kiểu list</vt:lpstr>
      <vt:lpstr>Kiểu list</vt:lpstr>
      <vt:lpstr>Kiểu từ điển</vt:lpstr>
      <vt:lpstr>Kiểu từ điển</vt:lpstr>
      <vt:lpstr>Kiểu từ điển</vt:lpstr>
      <vt:lpstr>Bài tập</vt:lpstr>
      <vt:lpstr>Hàm</vt:lpstr>
      <vt:lpstr>Hàm</vt:lpstr>
      <vt:lpstr>Hàm</vt:lpstr>
      <vt:lpstr>Hàm</vt:lpstr>
      <vt:lpstr>Hàm</vt:lpstr>
      <vt:lpstr>Hàm</vt:lpstr>
      <vt:lpstr>Hàm</vt:lpstr>
      <vt:lpstr>Hàm</vt:lpstr>
      <vt:lpstr>Hàm</vt:lpstr>
      <vt:lpstr>Hàm</vt:lpstr>
      <vt:lpstr>Hàm</vt:lpstr>
      <vt:lpstr>Bài tập</vt:lpstr>
      <vt:lpstr>Bài tập</vt:lpstr>
      <vt:lpstr>PowerPoint Presentation</vt:lpstr>
      <vt:lpstr>List comprehension</vt:lpstr>
      <vt:lpstr>List comprehension - Ví dụ 1</vt:lpstr>
      <vt:lpstr>List comprehension - Ví dụ 2</vt:lpstr>
      <vt:lpstr>List comprehension - Ví dụ 3</vt:lpstr>
      <vt:lpstr>Multiple fors</vt:lpstr>
      <vt:lpstr>List hai chiều</vt:lpstr>
      <vt:lpstr>Two-dimensional lists</vt:lpstr>
      <vt:lpstr>Two-dimensional lists</vt:lpstr>
      <vt:lpstr>Chuyển List 2chiều thành 1 chiều</vt:lpstr>
      <vt:lpstr>Bài tập</vt:lpstr>
      <vt:lpstr>Thư viện Numpy</vt:lpstr>
      <vt:lpstr>Mảng (Numpy array)</vt:lpstr>
      <vt:lpstr>Mảng (Numpy array)</vt:lpstr>
      <vt:lpstr>Mảng (Numpy array) – Khởi tạo với các hàm có sẵn</vt:lpstr>
      <vt:lpstr>Mảng (Numpy array) – Thao tác với mảng</vt:lpstr>
      <vt:lpstr>Mảng (Numpy array) – Thao tác với mảng</vt:lpstr>
      <vt:lpstr>Truy xuất mảng (Index và Slicing)</vt:lpstr>
      <vt:lpstr>Tìm kiếm trên mảng: where</vt:lpstr>
      <vt:lpstr>Tìm kiếm trên mảng: where</vt:lpstr>
      <vt:lpstr>Numpy Array Sort</vt:lpstr>
      <vt:lpstr>Numpy array filter</vt:lpstr>
      <vt:lpstr>Các phép toán với mảng</vt:lpstr>
      <vt:lpstr>Các phép toán với mảng</vt:lpstr>
      <vt:lpstr>Các phép toán với mảng</vt:lpstr>
      <vt:lpstr>Bài tập</vt:lpstr>
      <vt:lpstr>Bài tập</vt:lpstr>
      <vt:lpstr>Thao tác với File</vt:lpstr>
      <vt:lpstr>Thao tác với File</vt:lpstr>
      <vt:lpstr>Thao tác với File</vt:lpstr>
      <vt:lpstr>Thao tác với File</vt:lpstr>
      <vt:lpstr>Thao tác với File</vt:lpstr>
      <vt:lpstr>Thao tác với File</vt:lpstr>
      <vt:lpstr>Thao tác với File</vt:lpstr>
      <vt:lpstr>Bài tập thao tác với File</vt:lpstr>
      <vt:lpstr>Thư viện Pandas</vt:lpstr>
      <vt:lpstr>Cấu trúc dữ liệu</vt:lpstr>
      <vt:lpstr>Đọc file csv sử dụng pandas</vt:lpstr>
      <vt:lpstr>Đọc file csv sử dụng pandas</vt:lpstr>
      <vt:lpstr>Thao tác với dataframe trong pandas</vt:lpstr>
      <vt:lpstr>Truy xuất dữ liệu trên dataframe</vt:lpstr>
      <vt:lpstr>Lấy bản ghi theo chỉ số</vt:lpstr>
      <vt:lpstr>Lấy các bản ghi theo điều kiện</vt:lpstr>
      <vt:lpstr>Lấy giá trị trả về numpy arrays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căn bản</dc:title>
  <dc:creator>Van Khang nguyen</dc:creator>
  <cp:lastModifiedBy>Người nhận xét</cp:lastModifiedBy>
  <cp:revision>481</cp:revision>
  <dcterms:created xsi:type="dcterms:W3CDTF">2020-11-01T15:46:10Z</dcterms:created>
  <dcterms:modified xsi:type="dcterms:W3CDTF">2026-05-19T02:54:53Z</dcterms:modified>
</cp:coreProperties>
</file>