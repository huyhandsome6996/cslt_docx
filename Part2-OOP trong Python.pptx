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4"/>
  </p:notesMasterIdLst>
  <p:handoutMasterIdLst>
    <p:handoutMasterId r:id="rId35"/>
  </p:handoutMasterIdLst>
  <p:sldIdLst>
    <p:sldId id="256" r:id="rId2"/>
    <p:sldId id="328" r:id="rId3"/>
    <p:sldId id="329" r:id="rId4"/>
    <p:sldId id="382" r:id="rId5"/>
    <p:sldId id="381" r:id="rId6"/>
    <p:sldId id="383" r:id="rId7"/>
    <p:sldId id="330" r:id="rId8"/>
    <p:sldId id="384" r:id="rId9"/>
    <p:sldId id="385" r:id="rId10"/>
    <p:sldId id="386" r:id="rId11"/>
    <p:sldId id="387" r:id="rId12"/>
    <p:sldId id="388" r:id="rId13"/>
    <p:sldId id="390" r:id="rId14"/>
    <p:sldId id="332" r:id="rId15"/>
    <p:sldId id="389" r:id="rId16"/>
    <p:sldId id="333" r:id="rId17"/>
    <p:sldId id="391" r:id="rId18"/>
    <p:sldId id="392" r:id="rId19"/>
    <p:sldId id="395" r:id="rId20"/>
    <p:sldId id="393" r:id="rId21"/>
    <p:sldId id="394" r:id="rId22"/>
    <p:sldId id="396" r:id="rId23"/>
    <p:sldId id="397" r:id="rId24"/>
    <p:sldId id="398" r:id="rId25"/>
    <p:sldId id="399" r:id="rId26"/>
    <p:sldId id="400" r:id="rId27"/>
    <p:sldId id="338" r:id="rId28"/>
    <p:sldId id="339" r:id="rId29"/>
    <p:sldId id="335" r:id="rId30"/>
    <p:sldId id="337" r:id="rId31"/>
    <p:sldId id="380" r:id="rId32"/>
    <p:sldId id="379" r:id="rId33"/>
  </p:sldIdLst>
  <p:sldSz cx="9144000" cy="6858000" type="screen4x3"/>
  <p:notesSz cx="7104063"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99" autoAdjust="0"/>
    <p:restoredTop sz="94660"/>
  </p:normalViewPr>
  <p:slideViewPr>
    <p:cSldViewPr snapToGrid="0">
      <p:cViewPr varScale="1">
        <p:scale>
          <a:sx n="75" d="100"/>
          <a:sy n="75" d="100"/>
        </p:scale>
        <p:origin x="1056" y="66"/>
      </p:cViewPr>
      <p:guideLst/>
    </p:cSldViewPr>
  </p:slideViewPr>
  <p:notesTextViewPr>
    <p:cViewPr>
      <p:scale>
        <a:sx n="3" d="2"/>
        <a:sy n="3" d="2"/>
      </p:scale>
      <p:origin x="0" y="0"/>
    </p:cViewPr>
  </p:notesTextViewPr>
  <p:notesViewPr>
    <p:cSldViewPr snapToGrid="0">
      <p:cViewPr varScale="1">
        <p:scale>
          <a:sx n="57" d="100"/>
          <a:sy n="57" d="100"/>
        </p:scale>
        <p:origin x="2263" y="2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3509"/>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4023993" y="0"/>
            <a:ext cx="3078427" cy="513509"/>
          </a:xfrm>
          <a:prstGeom prst="rect">
            <a:avLst/>
          </a:prstGeom>
        </p:spPr>
        <p:txBody>
          <a:bodyPr vert="horz" lIns="91440" tIns="45720" rIns="91440" bIns="45720" rtlCol="0"/>
          <a:lstStyle>
            <a:lvl1pPr algn="r">
              <a:defRPr sz="1200"/>
            </a:lvl1pPr>
          </a:lstStyle>
          <a:p>
            <a:fld id="{3CA91EC8-C42B-40E7-80E3-198789275025}" type="datetimeFigureOut">
              <a:rPr lang="en-US" smtClean="0"/>
              <a:t>5/19/2026</a:t>
            </a:fld>
            <a:endParaRPr lang="en-US"/>
          </a:p>
        </p:txBody>
      </p:sp>
      <p:sp>
        <p:nvSpPr>
          <p:cNvPr id="4" name="Footer Placeholder 3"/>
          <p:cNvSpPr>
            <a:spLocks noGrp="1"/>
          </p:cNvSpPr>
          <p:nvPr>
            <p:ph type="ftr" sz="quarter" idx="2"/>
          </p:nvPr>
        </p:nvSpPr>
        <p:spPr>
          <a:xfrm>
            <a:off x="0" y="9721108"/>
            <a:ext cx="3078427" cy="51350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023993" y="9721108"/>
            <a:ext cx="3078427" cy="513508"/>
          </a:xfrm>
          <a:prstGeom prst="rect">
            <a:avLst/>
          </a:prstGeom>
        </p:spPr>
        <p:txBody>
          <a:bodyPr vert="horz" lIns="91440" tIns="45720" rIns="91440" bIns="45720" rtlCol="0" anchor="b"/>
          <a:lstStyle>
            <a:lvl1pPr algn="r">
              <a:defRPr sz="1200"/>
            </a:lvl1pPr>
          </a:lstStyle>
          <a:p>
            <a:fld id="{34BDCE7C-6C2F-4981-B035-7F0C28A26094}" type="slidenum">
              <a:rPr lang="en-US" smtClean="0"/>
              <a:t>‹#›</a:t>
            </a:fld>
            <a:endParaRPr lang="en-US"/>
          </a:p>
        </p:txBody>
      </p:sp>
    </p:spTree>
    <p:extLst>
      <p:ext uri="{BB962C8B-B14F-4D97-AF65-F5344CB8AC3E}">
        <p14:creationId xmlns:p14="http://schemas.microsoft.com/office/powerpoint/2010/main" val="888366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3509"/>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3993" y="0"/>
            <a:ext cx="3078427" cy="513509"/>
          </a:xfrm>
          <a:prstGeom prst="rect">
            <a:avLst/>
          </a:prstGeom>
        </p:spPr>
        <p:txBody>
          <a:bodyPr vert="horz" lIns="91440" tIns="45720" rIns="91440" bIns="45720" rtlCol="0"/>
          <a:lstStyle>
            <a:lvl1pPr algn="r">
              <a:defRPr sz="1200"/>
            </a:lvl1pPr>
          </a:lstStyle>
          <a:p>
            <a:fld id="{2D3942FF-6C3D-44E1-B15C-5477E313286F}" type="datetimeFigureOut">
              <a:rPr lang="en-US" smtClean="0"/>
              <a:t>5/19/2026</a:t>
            </a:fld>
            <a:endParaRPr lang="en-US"/>
          </a:p>
        </p:txBody>
      </p:sp>
      <p:sp>
        <p:nvSpPr>
          <p:cNvPr id="4" name="Slide Image Placeholder 3"/>
          <p:cNvSpPr>
            <a:spLocks noGrp="1" noRot="1" noChangeAspect="1"/>
          </p:cNvSpPr>
          <p:nvPr>
            <p:ph type="sldImg" idx="2"/>
          </p:nvPr>
        </p:nvSpPr>
        <p:spPr>
          <a:xfrm>
            <a:off x="1249363" y="1279525"/>
            <a:ext cx="4605337" cy="34544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0407" y="4925408"/>
            <a:ext cx="5683250" cy="4029879"/>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108"/>
            <a:ext cx="3078427" cy="51350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3993" y="9721108"/>
            <a:ext cx="3078427" cy="513508"/>
          </a:xfrm>
          <a:prstGeom prst="rect">
            <a:avLst/>
          </a:prstGeom>
        </p:spPr>
        <p:txBody>
          <a:bodyPr vert="horz" lIns="91440" tIns="45720" rIns="91440" bIns="45720" rtlCol="0" anchor="b"/>
          <a:lstStyle>
            <a:lvl1pPr algn="r">
              <a:defRPr sz="1200"/>
            </a:lvl1pPr>
          </a:lstStyle>
          <a:p>
            <a:fld id="{B92D10EE-D6AB-4A8E-9C72-36DD75473A19}" type="slidenum">
              <a:rPr lang="en-US" smtClean="0"/>
              <a:t>‹#›</a:t>
            </a:fld>
            <a:endParaRPr lang="en-US"/>
          </a:p>
        </p:txBody>
      </p:sp>
    </p:spTree>
    <p:extLst>
      <p:ext uri="{BB962C8B-B14F-4D97-AF65-F5344CB8AC3E}">
        <p14:creationId xmlns:p14="http://schemas.microsoft.com/office/powerpoint/2010/main" val="33649978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F433005-5559-475A-BA8E-FAC3EC7612D1}" type="datetime1">
              <a:rPr lang="en-US" smtClean="0"/>
              <a:t>5/19/2026</a:t>
            </a:fld>
            <a:endParaRPr lang="en-US"/>
          </a:p>
        </p:txBody>
      </p:sp>
      <p:sp>
        <p:nvSpPr>
          <p:cNvPr id="5" name="Footer Placeholder 4"/>
          <p:cNvSpPr>
            <a:spLocks noGrp="1"/>
          </p:cNvSpPr>
          <p:nvPr>
            <p:ph type="ftr" sz="quarter" idx="11"/>
          </p:nvPr>
        </p:nvSpPr>
        <p:spPr/>
        <p:txBody>
          <a:bodyPr/>
          <a:lstStyle/>
          <a:p>
            <a:r>
              <a:rPr lang="en-US"/>
              <a:t>Lập trình OOP với Python</a:t>
            </a:r>
          </a:p>
        </p:txBody>
      </p:sp>
      <p:sp>
        <p:nvSpPr>
          <p:cNvPr id="6" name="Slide Number Placeholder 5"/>
          <p:cNvSpPr>
            <a:spLocks noGrp="1"/>
          </p:cNvSpPr>
          <p:nvPr>
            <p:ph type="sldNum" sz="quarter" idx="12"/>
          </p:nvPr>
        </p:nvSpPr>
        <p:spPr/>
        <p:txBody>
          <a:bodyPr/>
          <a:lstStyle/>
          <a:p>
            <a:fld id="{ADD32889-1A4F-4FED-AEC4-AD6BC7117F25}" type="slidenum">
              <a:rPr lang="en-US" smtClean="0"/>
              <a:t>‹#›</a:t>
            </a:fld>
            <a:endParaRPr lang="en-US"/>
          </a:p>
        </p:txBody>
      </p:sp>
    </p:spTree>
    <p:extLst>
      <p:ext uri="{BB962C8B-B14F-4D97-AF65-F5344CB8AC3E}">
        <p14:creationId xmlns:p14="http://schemas.microsoft.com/office/powerpoint/2010/main" val="35768640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80022B-F0AD-43C1-9807-493F56077134}" type="datetime1">
              <a:rPr lang="en-US" smtClean="0"/>
              <a:t>5/19/2026</a:t>
            </a:fld>
            <a:endParaRPr lang="en-US"/>
          </a:p>
        </p:txBody>
      </p:sp>
      <p:sp>
        <p:nvSpPr>
          <p:cNvPr id="5" name="Footer Placeholder 4"/>
          <p:cNvSpPr>
            <a:spLocks noGrp="1"/>
          </p:cNvSpPr>
          <p:nvPr>
            <p:ph type="ftr" sz="quarter" idx="11"/>
          </p:nvPr>
        </p:nvSpPr>
        <p:spPr/>
        <p:txBody>
          <a:bodyPr/>
          <a:lstStyle/>
          <a:p>
            <a:r>
              <a:rPr lang="en-US"/>
              <a:t>Lập trình OOP với Python</a:t>
            </a:r>
          </a:p>
        </p:txBody>
      </p:sp>
      <p:sp>
        <p:nvSpPr>
          <p:cNvPr id="6" name="Slide Number Placeholder 5"/>
          <p:cNvSpPr>
            <a:spLocks noGrp="1"/>
          </p:cNvSpPr>
          <p:nvPr>
            <p:ph type="sldNum" sz="quarter" idx="12"/>
          </p:nvPr>
        </p:nvSpPr>
        <p:spPr/>
        <p:txBody>
          <a:bodyPr/>
          <a:lstStyle/>
          <a:p>
            <a:fld id="{ADD32889-1A4F-4FED-AEC4-AD6BC7117F25}" type="slidenum">
              <a:rPr lang="en-US" smtClean="0"/>
              <a:t>‹#›</a:t>
            </a:fld>
            <a:endParaRPr lang="en-US"/>
          </a:p>
        </p:txBody>
      </p:sp>
    </p:spTree>
    <p:extLst>
      <p:ext uri="{BB962C8B-B14F-4D97-AF65-F5344CB8AC3E}">
        <p14:creationId xmlns:p14="http://schemas.microsoft.com/office/powerpoint/2010/main" val="72367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1D13661-FF2D-42B2-8324-E4D06068193F}" type="datetime1">
              <a:rPr lang="en-US" smtClean="0"/>
              <a:t>5/19/2026</a:t>
            </a:fld>
            <a:endParaRPr lang="en-US"/>
          </a:p>
        </p:txBody>
      </p:sp>
      <p:sp>
        <p:nvSpPr>
          <p:cNvPr id="5" name="Footer Placeholder 4"/>
          <p:cNvSpPr>
            <a:spLocks noGrp="1"/>
          </p:cNvSpPr>
          <p:nvPr>
            <p:ph type="ftr" sz="quarter" idx="11"/>
          </p:nvPr>
        </p:nvSpPr>
        <p:spPr/>
        <p:txBody>
          <a:bodyPr/>
          <a:lstStyle/>
          <a:p>
            <a:r>
              <a:rPr lang="en-US"/>
              <a:t>Lập trình OOP với Python</a:t>
            </a:r>
          </a:p>
        </p:txBody>
      </p:sp>
      <p:sp>
        <p:nvSpPr>
          <p:cNvPr id="6" name="Slide Number Placeholder 5"/>
          <p:cNvSpPr>
            <a:spLocks noGrp="1"/>
          </p:cNvSpPr>
          <p:nvPr>
            <p:ph type="sldNum" sz="quarter" idx="12"/>
          </p:nvPr>
        </p:nvSpPr>
        <p:spPr/>
        <p:txBody>
          <a:bodyPr/>
          <a:lstStyle/>
          <a:p>
            <a:fld id="{ADD32889-1A4F-4FED-AEC4-AD6BC7117F25}" type="slidenum">
              <a:rPr lang="en-US" smtClean="0"/>
              <a:t>‹#›</a:t>
            </a:fld>
            <a:endParaRPr lang="en-US"/>
          </a:p>
        </p:txBody>
      </p:sp>
    </p:spTree>
    <p:extLst>
      <p:ext uri="{BB962C8B-B14F-4D97-AF65-F5344CB8AC3E}">
        <p14:creationId xmlns:p14="http://schemas.microsoft.com/office/powerpoint/2010/main" val="2643228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DFAA48C-6FDB-4B62-B20D-77425EDF3998}" type="datetime1">
              <a:rPr lang="en-US" smtClean="0"/>
              <a:t>5/19/2026</a:t>
            </a:fld>
            <a:endParaRPr lang="en-US"/>
          </a:p>
        </p:txBody>
      </p:sp>
      <p:sp>
        <p:nvSpPr>
          <p:cNvPr id="6" name="Footer Placeholder 5"/>
          <p:cNvSpPr>
            <a:spLocks noGrp="1"/>
          </p:cNvSpPr>
          <p:nvPr>
            <p:ph type="ftr" sz="quarter" idx="11"/>
          </p:nvPr>
        </p:nvSpPr>
        <p:spPr/>
        <p:txBody>
          <a:bodyPr/>
          <a:lstStyle/>
          <a:p>
            <a:r>
              <a:rPr lang="en-US"/>
              <a:t>Lập trình OOP với Python</a:t>
            </a:r>
          </a:p>
        </p:txBody>
      </p:sp>
      <p:sp>
        <p:nvSpPr>
          <p:cNvPr id="7" name="Slide Number Placeholder 6"/>
          <p:cNvSpPr>
            <a:spLocks noGrp="1"/>
          </p:cNvSpPr>
          <p:nvPr>
            <p:ph type="sldNum" sz="quarter" idx="12"/>
          </p:nvPr>
        </p:nvSpPr>
        <p:spPr/>
        <p:txBody>
          <a:bodyPr/>
          <a:lstStyle/>
          <a:p>
            <a:fld id="{ADD32889-1A4F-4FED-AEC4-AD6BC7117F25}" type="slidenum">
              <a:rPr lang="en-US" smtClean="0"/>
              <a:t>‹#›</a:t>
            </a:fld>
            <a:endParaRPr lang="en-US"/>
          </a:p>
        </p:txBody>
      </p:sp>
    </p:spTree>
    <p:extLst>
      <p:ext uri="{BB962C8B-B14F-4D97-AF65-F5344CB8AC3E}">
        <p14:creationId xmlns:p14="http://schemas.microsoft.com/office/powerpoint/2010/main" val="7598510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978574A-6082-4A2E-8A6A-FCC09F55DA46}" type="datetime1">
              <a:rPr lang="en-US" smtClean="0"/>
              <a:t>5/19/2026</a:t>
            </a:fld>
            <a:endParaRPr lang="en-US"/>
          </a:p>
        </p:txBody>
      </p:sp>
      <p:sp>
        <p:nvSpPr>
          <p:cNvPr id="8" name="Footer Placeholder 7"/>
          <p:cNvSpPr>
            <a:spLocks noGrp="1"/>
          </p:cNvSpPr>
          <p:nvPr>
            <p:ph type="ftr" sz="quarter" idx="11"/>
          </p:nvPr>
        </p:nvSpPr>
        <p:spPr/>
        <p:txBody>
          <a:bodyPr/>
          <a:lstStyle/>
          <a:p>
            <a:r>
              <a:rPr lang="en-US"/>
              <a:t>Lập trình OOP với Python</a:t>
            </a:r>
          </a:p>
        </p:txBody>
      </p:sp>
      <p:sp>
        <p:nvSpPr>
          <p:cNvPr id="9" name="Slide Number Placeholder 8"/>
          <p:cNvSpPr>
            <a:spLocks noGrp="1"/>
          </p:cNvSpPr>
          <p:nvPr>
            <p:ph type="sldNum" sz="quarter" idx="12"/>
          </p:nvPr>
        </p:nvSpPr>
        <p:spPr/>
        <p:txBody>
          <a:bodyPr/>
          <a:lstStyle/>
          <a:p>
            <a:fld id="{ADD32889-1A4F-4FED-AEC4-AD6BC7117F25}" type="slidenum">
              <a:rPr lang="en-US" smtClean="0"/>
              <a:t>‹#›</a:t>
            </a:fld>
            <a:endParaRPr lang="en-US"/>
          </a:p>
        </p:txBody>
      </p:sp>
    </p:spTree>
    <p:extLst>
      <p:ext uri="{BB962C8B-B14F-4D97-AF65-F5344CB8AC3E}">
        <p14:creationId xmlns:p14="http://schemas.microsoft.com/office/powerpoint/2010/main" val="14012881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0AFD724-4187-4671-91D2-22F08414BFF1}" type="datetime1">
              <a:rPr lang="en-US" smtClean="0"/>
              <a:t>5/19/2026</a:t>
            </a:fld>
            <a:endParaRPr lang="en-US"/>
          </a:p>
        </p:txBody>
      </p:sp>
      <p:sp>
        <p:nvSpPr>
          <p:cNvPr id="4" name="Footer Placeholder 3"/>
          <p:cNvSpPr>
            <a:spLocks noGrp="1"/>
          </p:cNvSpPr>
          <p:nvPr>
            <p:ph type="ftr" sz="quarter" idx="11"/>
          </p:nvPr>
        </p:nvSpPr>
        <p:spPr/>
        <p:txBody>
          <a:bodyPr/>
          <a:lstStyle/>
          <a:p>
            <a:r>
              <a:rPr lang="en-US"/>
              <a:t>Lập trình OOP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a:t>
            </a:fld>
            <a:endParaRPr lang="en-US"/>
          </a:p>
        </p:txBody>
      </p:sp>
    </p:spTree>
    <p:extLst>
      <p:ext uri="{BB962C8B-B14F-4D97-AF65-F5344CB8AC3E}">
        <p14:creationId xmlns:p14="http://schemas.microsoft.com/office/powerpoint/2010/main" val="374898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D36FC7-AF80-4418-97FA-50C90FC84E17}" type="datetime1">
              <a:rPr lang="en-US" smtClean="0"/>
              <a:t>5/19/2026</a:t>
            </a:fld>
            <a:endParaRPr lang="en-US"/>
          </a:p>
        </p:txBody>
      </p:sp>
      <p:sp>
        <p:nvSpPr>
          <p:cNvPr id="3" name="Footer Placeholder 2"/>
          <p:cNvSpPr>
            <a:spLocks noGrp="1"/>
          </p:cNvSpPr>
          <p:nvPr>
            <p:ph type="ftr" sz="quarter" idx="11"/>
          </p:nvPr>
        </p:nvSpPr>
        <p:spPr/>
        <p:txBody>
          <a:bodyPr/>
          <a:lstStyle/>
          <a:p>
            <a:r>
              <a:rPr lang="en-US"/>
              <a:t>Lập trình OOP với  Python</a:t>
            </a:r>
          </a:p>
        </p:txBody>
      </p:sp>
      <p:sp>
        <p:nvSpPr>
          <p:cNvPr id="4" name="Slide Number Placeholder 3"/>
          <p:cNvSpPr>
            <a:spLocks noGrp="1"/>
          </p:cNvSpPr>
          <p:nvPr>
            <p:ph type="sldNum" sz="quarter" idx="12"/>
          </p:nvPr>
        </p:nvSpPr>
        <p:spPr/>
        <p:txBody>
          <a:bodyPr/>
          <a:lstStyle/>
          <a:p>
            <a:fld id="{ADD32889-1A4F-4FED-AEC4-AD6BC7117F25}" type="slidenum">
              <a:rPr lang="en-US" smtClean="0"/>
              <a:t>‹#›</a:t>
            </a:fld>
            <a:endParaRPr lang="en-US"/>
          </a:p>
        </p:txBody>
      </p:sp>
    </p:spTree>
    <p:extLst>
      <p:ext uri="{BB962C8B-B14F-4D97-AF65-F5344CB8AC3E}">
        <p14:creationId xmlns:p14="http://schemas.microsoft.com/office/powerpoint/2010/main" val="37572094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B53525C-241E-4EA5-8369-9360135953FF}" type="datetime1">
              <a:rPr lang="en-US" smtClean="0"/>
              <a:t>5/19/2026</a:t>
            </a:fld>
            <a:endParaRPr lang="en-US"/>
          </a:p>
        </p:txBody>
      </p:sp>
      <p:sp>
        <p:nvSpPr>
          <p:cNvPr id="6" name="Footer Placeholder 5"/>
          <p:cNvSpPr>
            <a:spLocks noGrp="1"/>
          </p:cNvSpPr>
          <p:nvPr>
            <p:ph type="ftr" sz="quarter" idx="11"/>
          </p:nvPr>
        </p:nvSpPr>
        <p:spPr/>
        <p:txBody>
          <a:bodyPr/>
          <a:lstStyle/>
          <a:p>
            <a:r>
              <a:rPr lang="en-US"/>
              <a:t>Lập trình OOP với Python</a:t>
            </a:r>
          </a:p>
        </p:txBody>
      </p:sp>
      <p:sp>
        <p:nvSpPr>
          <p:cNvPr id="7" name="Slide Number Placeholder 6"/>
          <p:cNvSpPr>
            <a:spLocks noGrp="1"/>
          </p:cNvSpPr>
          <p:nvPr>
            <p:ph type="sldNum" sz="quarter" idx="12"/>
          </p:nvPr>
        </p:nvSpPr>
        <p:spPr/>
        <p:txBody>
          <a:bodyPr/>
          <a:lstStyle/>
          <a:p>
            <a:fld id="{ADD32889-1A4F-4FED-AEC4-AD6BC7117F25}" type="slidenum">
              <a:rPr lang="en-US" smtClean="0"/>
              <a:t>‹#›</a:t>
            </a:fld>
            <a:endParaRPr lang="en-US"/>
          </a:p>
        </p:txBody>
      </p:sp>
    </p:spTree>
    <p:extLst>
      <p:ext uri="{BB962C8B-B14F-4D97-AF65-F5344CB8AC3E}">
        <p14:creationId xmlns:p14="http://schemas.microsoft.com/office/powerpoint/2010/main" val="1006851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FB4AB22-A7C3-447B-B0D1-A2D55EB503D2}" type="datetime1">
              <a:rPr lang="en-US" smtClean="0"/>
              <a:t>5/19/2026</a:t>
            </a:fld>
            <a:endParaRPr lang="en-US"/>
          </a:p>
        </p:txBody>
      </p:sp>
      <p:sp>
        <p:nvSpPr>
          <p:cNvPr id="6" name="Footer Placeholder 5"/>
          <p:cNvSpPr>
            <a:spLocks noGrp="1"/>
          </p:cNvSpPr>
          <p:nvPr>
            <p:ph type="ftr" sz="quarter" idx="11"/>
          </p:nvPr>
        </p:nvSpPr>
        <p:spPr/>
        <p:txBody>
          <a:bodyPr/>
          <a:lstStyle/>
          <a:p>
            <a:r>
              <a:rPr lang="en-US"/>
              <a:t>Lập trình OOP với Python</a:t>
            </a:r>
          </a:p>
        </p:txBody>
      </p:sp>
      <p:sp>
        <p:nvSpPr>
          <p:cNvPr id="7" name="Slide Number Placeholder 6"/>
          <p:cNvSpPr>
            <a:spLocks noGrp="1"/>
          </p:cNvSpPr>
          <p:nvPr>
            <p:ph type="sldNum" sz="quarter" idx="12"/>
          </p:nvPr>
        </p:nvSpPr>
        <p:spPr/>
        <p:txBody>
          <a:bodyPr/>
          <a:lstStyle/>
          <a:p>
            <a:fld id="{ADD32889-1A4F-4FED-AEC4-AD6BC7117F25}" type="slidenum">
              <a:rPr lang="en-US" smtClean="0"/>
              <a:t>‹#›</a:t>
            </a:fld>
            <a:endParaRPr lang="en-US"/>
          </a:p>
        </p:txBody>
      </p:sp>
    </p:spTree>
    <p:extLst>
      <p:ext uri="{BB962C8B-B14F-4D97-AF65-F5344CB8AC3E}">
        <p14:creationId xmlns:p14="http://schemas.microsoft.com/office/powerpoint/2010/main" val="1844085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7628EF-474C-446D-A757-87FBD02502E8}" type="datetime1">
              <a:rPr lang="en-US" smtClean="0"/>
              <a:t>5/19/2026</a:t>
            </a:fld>
            <a:endParaRPr lang="en-US"/>
          </a:p>
        </p:txBody>
      </p:sp>
      <p:sp>
        <p:nvSpPr>
          <p:cNvPr id="5" name="Footer Placeholder 4"/>
          <p:cNvSpPr>
            <a:spLocks noGrp="1"/>
          </p:cNvSpPr>
          <p:nvPr>
            <p:ph type="ftr" sz="quarter" idx="11"/>
          </p:nvPr>
        </p:nvSpPr>
        <p:spPr/>
        <p:txBody>
          <a:bodyPr/>
          <a:lstStyle/>
          <a:p>
            <a:r>
              <a:rPr lang="en-US"/>
              <a:t>Lập trình OOP với Python</a:t>
            </a:r>
          </a:p>
        </p:txBody>
      </p:sp>
      <p:sp>
        <p:nvSpPr>
          <p:cNvPr id="6" name="Slide Number Placeholder 5"/>
          <p:cNvSpPr>
            <a:spLocks noGrp="1"/>
          </p:cNvSpPr>
          <p:nvPr>
            <p:ph type="sldNum" sz="quarter" idx="12"/>
          </p:nvPr>
        </p:nvSpPr>
        <p:spPr/>
        <p:txBody>
          <a:bodyPr/>
          <a:lstStyle/>
          <a:p>
            <a:fld id="{ADD32889-1A4F-4FED-AEC4-AD6BC7117F25}" type="slidenum">
              <a:rPr lang="en-US" smtClean="0"/>
              <a:t>‹#›</a:t>
            </a:fld>
            <a:endParaRPr lang="en-US"/>
          </a:p>
        </p:txBody>
      </p:sp>
    </p:spTree>
    <p:extLst>
      <p:ext uri="{BB962C8B-B14F-4D97-AF65-F5344CB8AC3E}">
        <p14:creationId xmlns:p14="http://schemas.microsoft.com/office/powerpoint/2010/main" val="22483652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BD9A7B-2021-4578-A875-1732A643BC22}" type="datetime1">
              <a:rPr lang="en-US" smtClean="0"/>
              <a:t>5/19/2026</a:t>
            </a:fld>
            <a:endParaRPr lang="en-US"/>
          </a:p>
        </p:txBody>
      </p:sp>
      <p:sp>
        <p:nvSpPr>
          <p:cNvPr id="5" name="Footer Placeholder 4"/>
          <p:cNvSpPr>
            <a:spLocks noGrp="1"/>
          </p:cNvSpPr>
          <p:nvPr>
            <p:ph type="ftr" sz="quarter" idx="11"/>
          </p:nvPr>
        </p:nvSpPr>
        <p:spPr/>
        <p:txBody>
          <a:bodyPr/>
          <a:lstStyle/>
          <a:p>
            <a:r>
              <a:rPr lang="en-US"/>
              <a:t>Lập trình OOP với Python</a:t>
            </a:r>
          </a:p>
        </p:txBody>
      </p:sp>
      <p:sp>
        <p:nvSpPr>
          <p:cNvPr id="6" name="Slide Number Placeholder 5"/>
          <p:cNvSpPr>
            <a:spLocks noGrp="1"/>
          </p:cNvSpPr>
          <p:nvPr>
            <p:ph type="sldNum" sz="quarter" idx="12"/>
          </p:nvPr>
        </p:nvSpPr>
        <p:spPr/>
        <p:txBody>
          <a:bodyPr/>
          <a:lstStyle/>
          <a:p>
            <a:fld id="{ADD32889-1A4F-4FED-AEC4-AD6BC7117F25}" type="slidenum">
              <a:rPr lang="en-US" smtClean="0"/>
              <a:t>‹#›</a:t>
            </a:fld>
            <a:endParaRPr lang="en-US"/>
          </a:p>
        </p:txBody>
      </p:sp>
    </p:spTree>
    <p:extLst>
      <p:ext uri="{BB962C8B-B14F-4D97-AF65-F5344CB8AC3E}">
        <p14:creationId xmlns:p14="http://schemas.microsoft.com/office/powerpoint/2010/main" val="2331454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3DE45F-5FAF-456D-8DB7-2D32441999DF}" type="datetime1">
              <a:rPr lang="en-US" smtClean="0"/>
              <a:t>5/19/2026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Lập trình căn bản với Python</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D32889-1A4F-4FED-AEC4-AD6BC7117F25}" type="slidenum">
              <a:rPr lang="en-US" smtClean="0"/>
              <a:t>‹#›</a:t>
            </a:fld>
            <a:endParaRPr lang="en-US"/>
          </a:p>
        </p:txBody>
      </p:sp>
    </p:spTree>
    <p:extLst>
      <p:ext uri="{BB962C8B-B14F-4D97-AF65-F5344CB8AC3E}">
        <p14:creationId xmlns:p14="http://schemas.microsoft.com/office/powerpoint/2010/main" val="3153743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8369300" cy="2387600"/>
          </a:xfrm>
        </p:spPr>
        <p:txBody>
          <a:bodyPr/>
          <a:lstStyle/>
          <a:p>
            <a:r>
              <a:rPr lang="en-US" dirty="0" err="1"/>
              <a:t>Lập</a:t>
            </a:r>
            <a:r>
              <a:rPr lang="en-US" dirty="0"/>
              <a:t> </a:t>
            </a:r>
            <a:r>
              <a:rPr lang="en-US" err="1"/>
              <a:t>trình</a:t>
            </a:r>
            <a:r>
              <a:rPr lang="en-US"/>
              <a:t> OOP với Python</a:t>
            </a:r>
            <a:endParaRPr lang="en-US" dirty="0"/>
          </a:p>
        </p:txBody>
      </p:sp>
      <p:sp>
        <p:nvSpPr>
          <p:cNvPr id="3" name="Subtitle 2"/>
          <p:cNvSpPr>
            <a:spLocks noGrp="1"/>
          </p:cNvSpPr>
          <p:nvPr>
            <p:ph type="subTitle" idx="1"/>
          </p:nvPr>
        </p:nvSpPr>
        <p:spPr/>
        <p:txBody>
          <a:bodyPr/>
          <a:lstStyle/>
          <a:p>
            <a:r>
              <a:rPr lang="en-US"/>
              <a:t>TS. Hồ Thị Kim Thoa– </a:t>
            </a:r>
            <a:r>
              <a:rPr lang="en-US" dirty="0"/>
              <a:t>ĐHSP </a:t>
            </a:r>
            <a:r>
              <a:rPr lang="en-US" dirty="0" err="1"/>
              <a:t>Huế</a:t>
            </a:r>
            <a:endParaRPr lang="en-US" dirty="0"/>
          </a:p>
          <a:p>
            <a:endParaRPr lang="en-US" dirty="0"/>
          </a:p>
        </p:txBody>
      </p:sp>
    </p:spTree>
    <p:extLst>
      <p:ext uri="{BB962C8B-B14F-4D97-AF65-F5344CB8AC3E}">
        <p14:creationId xmlns:p14="http://schemas.microsoft.com/office/powerpoint/2010/main" val="8236137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Lập</a:t>
            </a:r>
            <a:r>
              <a:rPr lang="en-US" dirty="0"/>
              <a:t> </a:t>
            </a:r>
            <a:r>
              <a:rPr lang="en-US" dirty="0" err="1"/>
              <a:t>trình</a:t>
            </a:r>
            <a:r>
              <a:rPr lang="en-US" dirty="0"/>
              <a:t> </a:t>
            </a:r>
            <a:r>
              <a:rPr lang="en-US" dirty="0" err="1"/>
              <a:t>hướng</a:t>
            </a:r>
            <a:r>
              <a:rPr lang="en-US" dirty="0"/>
              <a:t> </a:t>
            </a:r>
            <a:r>
              <a:rPr lang="en-US" err="1"/>
              <a:t>đối</a:t>
            </a:r>
            <a:r>
              <a:rPr lang="en-US"/>
              <a:t> tượng?</a:t>
            </a:r>
            <a:endParaRPr lang="en-US" dirty="0"/>
          </a:p>
        </p:txBody>
      </p:sp>
      <p:sp>
        <p:nvSpPr>
          <p:cNvPr id="3" name="Content Placeholder 2"/>
          <p:cNvSpPr>
            <a:spLocks noGrp="1"/>
          </p:cNvSpPr>
          <p:nvPr>
            <p:ph idx="1"/>
          </p:nvPr>
        </p:nvSpPr>
        <p:spPr>
          <a:xfrm>
            <a:off x="628650" y="1584325"/>
            <a:ext cx="7886700" cy="4351338"/>
          </a:xfrm>
        </p:spPr>
        <p:txBody>
          <a:bodyPr>
            <a:normAutofit/>
          </a:bodyPr>
          <a:lstStyle/>
          <a:p>
            <a:pPr marL="0" indent="0" algn="just">
              <a:buNone/>
            </a:pPr>
            <a:r>
              <a:rPr lang="vi-VN"/>
              <a:t>Lập trình hướng đối tượng (OOP - Object-Oriented Programming) là một phương pháp lập trình coi mọi thứ trong chương trình như những "</a:t>
            </a:r>
            <a:r>
              <a:rPr lang="vi-VN" b="1"/>
              <a:t>đối tượng</a:t>
            </a:r>
            <a:r>
              <a:rPr lang="vi-VN"/>
              <a:t>" có thật ngoài đời. Thay vì viết các hàm và logic một cách riêng lẻ, OOP giúp bạn gói gọn dữ liệu và các hành vi liên quan vào chung một nơi.</a:t>
            </a:r>
            <a:endParaRPr lang="en-US"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2</a:t>
            </a:fld>
            <a:endParaRPr lang="en-US"/>
          </a:p>
        </p:txBody>
      </p:sp>
      <p:pic>
        <p:nvPicPr>
          <p:cNvPr id="8" name="Picture 7">
            <a:extLst>
              <a:ext uri="{FF2B5EF4-FFF2-40B4-BE49-F238E27FC236}">
                <a16:creationId xmlns:a16="http://schemas.microsoft.com/office/drawing/2014/main" id="{9DC88EBB-66FB-9341-0849-B8C9AEC218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650" y="1584325"/>
            <a:ext cx="7906373" cy="4148138"/>
          </a:xfrm>
          <a:prstGeom prst="rect">
            <a:avLst/>
          </a:prstGeom>
        </p:spPr>
      </p:pic>
    </p:spTree>
    <p:extLst>
      <p:ext uri="{BB962C8B-B14F-4D97-AF65-F5344CB8AC3E}">
        <p14:creationId xmlns:p14="http://schemas.microsoft.com/office/powerpoint/2010/main" val="1792963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606197"/>
          </a:xfrm>
        </p:spPr>
        <p:txBody>
          <a:bodyPr>
            <a:normAutofit fontScale="90000"/>
          </a:bodyPr>
          <a:lstStyle/>
          <a:p>
            <a:r>
              <a:rPr lang="en-US"/>
              <a:t>Lớp (Class) và đối tượng (Object)</a:t>
            </a:r>
            <a:endParaRPr lang="en-US" dirty="0"/>
          </a:p>
        </p:txBody>
      </p:sp>
      <p:sp>
        <p:nvSpPr>
          <p:cNvPr id="3" name="Content Placeholder 2"/>
          <p:cNvSpPr>
            <a:spLocks noGrp="1"/>
          </p:cNvSpPr>
          <p:nvPr>
            <p:ph idx="1"/>
          </p:nvPr>
        </p:nvSpPr>
        <p:spPr>
          <a:xfrm>
            <a:off x="628650" y="1121229"/>
            <a:ext cx="7886700" cy="2180771"/>
          </a:xfrm>
        </p:spPr>
        <p:txBody>
          <a:bodyPr>
            <a:normAutofit lnSpcReduction="10000"/>
          </a:bodyPr>
          <a:lstStyle/>
          <a:p>
            <a:pPr algn="just">
              <a:buFont typeface="Wingdings" panose="05000000000000000000" pitchFamily="2" charset="2"/>
              <a:buChar char="§"/>
            </a:pPr>
            <a:r>
              <a:rPr lang="vi-VN" sz="2400" b="1"/>
              <a:t>Lớp (Class)</a:t>
            </a:r>
            <a:r>
              <a:rPr lang="vi-VN" sz="2400"/>
              <a:t> được ví như một </a:t>
            </a:r>
            <a:r>
              <a:rPr lang="vi-VN" sz="2400" b="1"/>
              <a:t>bản thiết kế</a:t>
            </a:r>
            <a:r>
              <a:rPr lang="vi-VN" sz="2400"/>
              <a:t> hay một </a:t>
            </a:r>
            <a:r>
              <a:rPr lang="vi-VN" sz="2400" b="1"/>
              <a:t>khuôn mẫu</a:t>
            </a:r>
            <a:r>
              <a:rPr lang="vi-VN" sz="2400"/>
              <a:t>. Nó định nghĩa các đặc điểm (thuộc tính) và hành vi (phương thức) chung cho một loại sự vật nào đó.</a:t>
            </a:r>
            <a:endParaRPr lang="en-US" sz="2400"/>
          </a:p>
          <a:p>
            <a:pPr algn="just">
              <a:buFont typeface="Wingdings" panose="05000000000000000000" pitchFamily="2" charset="2"/>
              <a:buChar char="§"/>
            </a:pPr>
            <a:r>
              <a:rPr lang="vi-VN" sz="2400"/>
              <a:t>Bản thân lớp không phải là một sự vật cụ thể, nó chỉ là một bản mô tả.</a:t>
            </a:r>
            <a:endParaRPr lang="en-US" sz="2400"/>
          </a:p>
          <a:p>
            <a:pPr algn="just">
              <a:buFont typeface="Wingdings" panose="05000000000000000000" pitchFamily="2" charset="2"/>
              <a:buChar char="§"/>
            </a:pPr>
            <a:endParaRPr lang="en-US" sz="2400"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3</a:t>
            </a:fld>
            <a:endParaRPr lang="en-US"/>
          </a:p>
        </p:txBody>
      </p:sp>
      <p:sp>
        <p:nvSpPr>
          <p:cNvPr id="7" name="TextBox 6">
            <a:extLst>
              <a:ext uri="{FF2B5EF4-FFF2-40B4-BE49-F238E27FC236}">
                <a16:creationId xmlns:a16="http://schemas.microsoft.com/office/drawing/2014/main" id="{25D2270D-725E-A5BD-F054-0B5B412B3B45}"/>
              </a:ext>
            </a:extLst>
          </p:cNvPr>
          <p:cNvSpPr txBox="1"/>
          <p:nvPr/>
        </p:nvSpPr>
        <p:spPr>
          <a:xfrm>
            <a:off x="952500" y="3429000"/>
            <a:ext cx="7562850" cy="1477328"/>
          </a:xfrm>
          <a:prstGeom prst="rect">
            <a:avLst/>
          </a:prstGeom>
          <a:noFill/>
          <a:ln w="19050">
            <a:solidFill>
              <a:srgbClr val="0070C0"/>
            </a:solidFill>
          </a:ln>
        </p:spPr>
        <p:txBody>
          <a:bodyPr wrap="square" rtlCol="0">
            <a:spAutoFit/>
          </a:bodyPr>
          <a:lstStyle/>
          <a:p>
            <a:r>
              <a:rPr lang="vi-VN">
                <a:solidFill>
                  <a:schemeClr val="accent1"/>
                </a:solidFill>
                <a:latin typeface="Courier New" panose="02070309020205020404" pitchFamily="49" charset="0"/>
                <a:cs typeface="Courier New" panose="02070309020205020404" pitchFamily="49" charset="0"/>
              </a:rPr>
              <a:t>class</a:t>
            </a:r>
            <a:r>
              <a:rPr lang="vi-VN">
                <a:latin typeface="Courier New" panose="02070309020205020404" pitchFamily="49" charset="0"/>
                <a:cs typeface="Courier New" panose="02070309020205020404" pitchFamily="49" charset="0"/>
              </a:rPr>
              <a:t> TenLop:</a:t>
            </a:r>
          </a:p>
          <a:p>
            <a:r>
              <a:rPr lang="vi-VN">
                <a:latin typeface="Courier New" panose="02070309020205020404" pitchFamily="49" charset="0"/>
                <a:cs typeface="Courier New" panose="02070309020205020404" pitchFamily="49" charset="0"/>
              </a:rPr>
              <a:t>    </a:t>
            </a:r>
            <a:r>
              <a:rPr lang="en-US">
                <a:latin typeface="Courier New" panose="02070309020205020404" pitchFamily="49" charset="0"/>
                <a:cs typeface="Courier New" panose="02070309020205020404" pitchFamily="49" charset="0"/>
              </a:rPr>
              <a:t>[</a:t>
            </a:r>
            <a:r>
              <a:rPr lang="vi-VN">
                <a:latin typeface="Courier New" panose="02070309020205020404" pitchFamily="49" charset="0"/>
                <a:cs typeface="Courier New" panose="02070309020205020404" pitchFamily="49" charset="0"/>
              </a:rPr>
              <a:t>Chuỗi mô tả về lớp]</a:t>
            </a:r>
          </a:p>
          <a:p>
            <a:r>
              <a:rPr lang="vi-VN">
                <a:latin typeface="Courier New" panose="02070309020205020404" pitchFamily="49" charset="0"/>
                <a:cs typeface="Courier New" panose="02070309020205020404" pitchFamily="49" charset="0"/>
              </a:rPr>
              <a:t>   </a:t>
            </a:r>
            <a:r>
              <a:rPr lang="en-US">
                <a:latin typeface="Courier New" panose="02070309020205020404" pitchFamily="49" charset="0"/>
                <a:cs typeface="Courier New" panose="02070309020205020404" pitchFamily="49" charset="0"/>
              </a:rPr>
              <a:t> [</a:t>
            </a:r>
            <a:r>
              <a:rPr lang="vi-VN">
                <a:latin typeface="Courier New" panose="02070309020205020404" pitchFamily="49" charset="0"/>
                <a:cs typeface="Courier New" panose="02070309020205020404" pitchFamily="49" charset="0"/>
              </a:rPr>
              <a:t>Khai báo các thành phần chung của lớp]</a:t>
            </a:r>
          </a:p>
          <a:p>
            <a:r>
              <a:rPr lang="vi-VN">
                <a:latin typeface="Courier New" panose="02070309020205020404" pitchFamily="49" charset="0"/>
                <a:cs typeface="Courier New" panose="02070309020205020404" pitchFamily="49" charset="0"/>
              </a:rPr>
              <a:t>    Định nghĩa phương thức khởi tạo của lớp</a:t>
            </a:r>
          </a:p>
          <a:p>
            <a:r>
              <a:rPr lang="vi-VN">
                <a:latin typeface="Courier New" panose="02070309020205020404" pitchFamily="49" charset="0"/>
                <a:cs typeface="Courier New" panose="02070309020205020404" pitchFamily="49" charset="0"/>
              </a:rPr>
              <a:t>    Định nghĩa các phương thức khác của lớp</a:t>
            </a:r>
            <a:endParaRPr lang="en-US">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358831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E641E-4370-1A2A-1BAE-3EBA17A024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E15351-FB87-B370-8E8B-F8D349ABA983}"/>
              </a:ext>
            </a:extLst>
          </p:cNvPr>
          <p:cNvSpPr>
            <a:spLocks noGrp="1"/>
          </p:cNvSpPr>
          <p:nvPr>
            <p:ph type="title"/>
          </p:nvPr>
        </p:nvSpPr>
        <p:spPr>
          <a:xfrm>
            <a:off x="628650" y="136524"/>
            <a:ext cx="7886700" cy="606197"/>
          </a:xfrm>
        </p:spPr>
        <p:txBody>
          <a:bodyPr>
            <a:normAutofit fontScale="90000"/>
          </a:bodyPr>
          <a:lstStyle/>
          <a:p>
            <a:pPr algn="ctr"/>
            <a:r>
              <a:rPr lang="en-US"/>
              <a:t>Lớp (Class) và đối tượng (Object)</a:t>
            </a:r>
            <a:endParaRPr lang="en-US" dirty="0"/>
          </a:p>
        </p:txBody>
      </p:sp>
      <p:sp>
        <p:nvSpPr>
          <p:cNvPr id="4" name="Footer Placeholder 3">
            <a:extLst>
              <a:ext uri="{FF2B5EF4-FFF2-40B4-BE49-F238E27FC236}">
                <a16:creationId xmlns:a16="http://schemas.microsoft.com/office/drawing/2014/main" id="{C37B83E4-A333-7172-D59B-C76C6CDF1913}"/>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09E7F9C0-BD67-82BB-C459-3AAC7AB172B4}"/>
              </a:ext>
            </a:extLst>
          </p:cNvPr>
          <p:cNvSpPr>
            <a:spLocks noGrp="1"/>
          </p:cNvSpPr>
          <p:nvPr>
            <p:ph type="sldNum" sz="quarter" idx="12"/>
          </p:nvPr>
        </p:nvSpPr>
        <p:spPr/>
        <p:txBody>
          <a:bodyPr/>
          <a:lstStyle/>
          <a:p>
            <a:fld id="{ADD32889-1A4F-4FED-AEC4-AD6BC7117F25}" type="slidenum">
              <a:rPr lang="en-US" smtClean="0"/>
              <a:t>4</a:t>
            </a:fld>
            <a:endParaRPr lang="en-US"/>
          </a:p>
        </p:txBody>
      </p:sp>
      <p:pic>
        <p:nvPicPr>
          <p:cNvPr id="9" name="Picture 8">
            <a:extLst>
              <a:ext uri="{FF2B5EF4-FFF2-40B4-BE49-F238E27FC236}">
                <a16:creationId xmlns:a16="http://schemas.microsoft.com/office/drawing/2014/main" id="{83ADF18A-1652-13EE-2076-41B54FA61E60}"/>
              </a:ext>
            </a:extLst>
          </p:cNvPr>
          <p:cNvPicPr>
            <a:picLocks noChangeAspect="1"/>
          </p:cNvPicPr>
          <p:nvPr/>
        </p:nvPicPr>
        <p:blipFill>
          <a:blip r:embed="rId2"/>
          <a:stretch>
            <a:fillRect/>
          </a:stretch>
        </p:blipFill>
        <p:spPr>
          <a:xfrm>
            <a:off x="161925" y="869950"/>
            <a:ext cx="8982075" cy="4762500"/>
          </a:xfrm>
          <a:prstGeom prst="rect">
            <a:avLst/>
          </a:prstGeom>
        </p:spPr>
      </p:pic>
    </p:spTree>
    <p:extLst>
      <p:ext uri="{BB962C8B-B14F-4D97-AF65-F5344CB8AC3E}">
        <p14:creationId xmlns:p14="http://schemas.microsoft.com/office/powerpoint/2010/main" val="33083894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D6BD5-0AF6-E2F0-C333-0589C552E10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697D61-002F-84F9-987C-8E788AF169A4}"/>
              </a:ext>
            </a:extLst>
          </p:cNvPr>
          <p:cNvSpPr>
            <a:spLocks noGrp="1"/>
          </p:cNvSpPr>
          <p:nvPr>
            <p:ph idx="1"/>
          </p:nvPr>
        </p:nvSpPr>
        <p:spPr>
          <a:xfrm>
            <a:off x="628650" y="1121229"/>
            <a:ext cx="7886700" cy="5050971"/>
          </a:xfrm>
        </p:spPr>
        <p:txBody>
          <a:bodyPr>
            <a:normAutofit/>
          </a:bodyPr>
          <a:lstStyle/>
          <a:p>
            <a:pPr algn="just"/>
            <a:r>
              <a:rPr lang="vi-VN"/>
              <a:t>Đối tượng (Object) là một </a:t>
            </a:r>
            <a:r>
              <a:rPr lang="vi-VN" b="1"/>
              <a:t>thể hiện cụ thể</a:t>
            </a:r>
            <a:r>
              <a:rPr lang="en-US" b="1"/>
              <a:t> (instance)</a:t>
            </a:r>
            <a:r>
              <a:rPr lang="vi-VN"/>
              <a:t> được tạo ra từ một </a:t>
            </a:r>
            <a:r>
              <a:rPr lang="vi-VN" b="1"/>
              <a:t>lớp (class)</a:t>
            </a:r>
            <a:r>
              <a:rPr lang="vi-VN"/>
              <a:t>.</a:t>
            </a:r>
            <a:endParaRPr lang="en-US"/>
          </a:p>
          <a:p>
            <a:pPr algn="just"/>
            <a:r>
              <a:rPr lang="vi-VN"/>
              <a:t>Nếu lớp được ví như một bản thiết kế, thì đối tượng chính là sản phẩm thực tế được làm ra từ bản thiết kế đó.</a:t>
            </a:r>
          </a:p>
          <a:p>
            <a:r>
              <a:rPr lang="vi-VN"/>
              <a:t>Mỗi đối tượng có hai thành phần chính:</a:t>
            </a:r>
          </a:p>
          <a:p>
            <a:pPr lvl="1" algn="just"/>
            <a:r>
              <a:rPr lang="vi-VN" b="1"/>
              <a:t>Trạng thái (State)</a:t>
            </a:r>
            <a:r>
              <a:rPr lang="vi-VN"/>
              <a:t>: Là các dữ liệu hoặc đặc điểm riêng của đối tượng đó. Chúng được gọi là </a:t>
            </a:r>
            <a:r>
              <a:rPr lang="vi-VN" b="1"/>
              <a:t>thuộc tính (attributes)</a:t>
            </a:r>
            <a:r>
              <a:rPr lang="vi-VN"/>
              <a:t>.</a:t>
            </a:r>
          </a:p>
          <a:p>
            <a:pPr lvl="1" algn="just"/>
            <a:r>
              <a:rPr lang="vi-VN" b="1"/>
              <a:t>Hành vi (Behavior)</a:t>
            </a:r>
            <a:r>
              <a:rPr lang="vi-VN"/>
              <a:t>: Là các hành động mà đối tượng đó có thể thực hiện. Chúng được gọi là </a:t>
            </a:r>
            <a:r>
              <a:rPr lang="vi-VN" b="1"/>
              <a:t>phương thức (methods)</a:t>
            </a:r>
            <a:r>
              <a:rPr lang="vi-VN"/>
              <a:t>.</a:t>
            </a:r>
          </a:p>
        </p:txBody>
      </p:sp>
      <p:sp>
        <p:nvSpPr>
          <p:cNvPr id="4" name="Footer Placeholder 3">
            <a:extLst>
              <a:ext uri="{FF2B5EF4-FFF2-40B4-BE49-F238E27FC236}">
                <a16:creationId xmlns:a16="http://schemas.microsoft.com/office/drawing/2014/main" id="{CA20DF28-7735-C541-4199-CD44C26AAB5D}"/>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9BC1C4D5-5F38-E30B-634E-045DDF3793DE}"/>
              </a:ext>
            </a:extLst>
          </p:cNvPr>
          <p:cNvSpPr>
            <a:spLocks noGrp="1"/>
          </p:cNvSpPr>
          <p:nvPr>
            <p:ph type="sldNum" sz="quarter" idx="12"/>
          </p:nvPr>
        </p:nvSpPr>
        <p:spPr/>
        <p:txBody>
          <a:bodyPr/>
          <a:lstStyle/>
          <a:p>
            <a:fld id="{ADD32889-1A4F-4FED-AEC4-AD6BC7117F25}" type="slidenum">
              <a:rPr lang="en-US" smtClean="0"/>
              <a:t>5</a:t>
            </a:fld>
            <a:endParaRPr lang="en-US"/>
          </a:p>
        </p:txBody>
      </p:sp>
      <p:sp>
        <p:nvSpPr>
          <p:cNvPr id="7" name="Title 1">
            <a:extLst>
              <a:ext uri="{FF2B5EF4-FFF2-40B4-BE49-F238E27FC236}">
                <a16:creationId xmlns:a16="http://schemas.microsoft.com/office/drawing/2014/main" id="{C37B637D-07C8-FA9C-E8EC-EFD2A10D3B53}"/>
              </a:ext>
            </a:extLst>
          </p:cNvPr>
          <p:cNvSpPr txBox="1">
            <a:spLocks/>
          </p:cNvSpPr>
          <p:nvPr/>
        </p:nvSpPr>
        <p:spPr>
          <a:xfrm>
            <a:off x="628650" y="136524"/>
            <a:ext cx="7886700" cy="606197"/>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t>Lớp (Class) và đối tượng (Object)</a:t>
            </a:r>
            <a:endParaRPr lang="en-US" dirty="0"/>
          </a:p>
        </p:txBody>
      </p:sp>
    </p:spTree>
    <p:extLst>
      <p:ext uri="{BB962C8B-B14F-4D97-AF65-F5344CB8AC3E}">
        <p14:creationId xmlns:p14="http://schemas.microsoft.com/office/powerpoint/2010/main" val="16288389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76FE5-FEB4-FE5E-CA01-03E97A53AFAF}"/>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9D731765-5FB0-1474-3A9C-E16F6BE8DF9D}"/>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5C955EE0-6DA0-CC34-4922-FCFACC6C6987}"/>
              </a:ext>
            </a:extLst>
          </p:cNvPr>
          <p:cNvSpPr>
            <a:spLocks noGrp="1"/>
          </p:cNvSpPr>
          <p:nvPr>
            <p:ph type="sldNum" sz="quarter" idx="12"/>
          </p:nvPr>
        </p:nvSpPr>
        <p:spPr/>
        <p:txBody>
          <a:bodyPr/>
          <a:lstStyle/>
          <a:p>
            <a:fld id="{ADD32889-1A4F-4FED-AEC4-AD6BC7117F25}" type="slidenum">
              <a:rPr lang="en-US" smtClean="0"/>
              <a:t>6</a:t>
            </a:fld>
            <a:endParaRPr lang="en-US"/>
          </a:p>
        </p:txBody>
      </p:sp>
      <p:pic>
        <p:nvPicPr>
          <p:cNvPr id="6" name="Picture 5">
            <a:extLst>
              <a:ext uri="{FF2B5EF4-FFF2-40B4-BE49-F238E27FC236}">
                <a16:creationId xmlns:a16="http://schemas.microsoft.com/office/drawing/2014/main" id="{630A6073-E7E3-5D78-2150-6F9441981411}"/>
              </a:ext>
            </a:extLst>
          </p:cNvPr>
          <p:cNvPicPr>
            <a:picLocks noChangeAspect="1"/>
          </p:cNvPicPr>
          <p:nvPr/>
        </p:nvPicPr>
        <p:blipFill>
          <a:blip r:embed="rId2"/>
          <a:stretch>
            <a:fillRect/>
          </a:stretch>
        </p:blipFill>
        <p:spPr>
          <a:xfrm>
            <a:off x="342900" y="136524"/>
            <a:ext cx="8845398" cy="6086476"/>
          </a:xfrm>
          <a:prstGeom prst="rect">
            <a:avLst/>
          </a:prstGeom>
        </p:spPr>
      </p:pic>
      <p:sp>
        <p:nvSpPr>
          <p:cNvPr id="11" name="Rectangle 10">
            <a:extLst>
              <a:ext uri="{FF2B5EF4-FFF2-40B4-BE49-F238E27FC236}">
                <a16:creationId xmlns:a16="http://schemas.microsoft.com/office/drawing/2014/main" id="{16EB0324-747E-D4ED-1D1E-D3877FC6458C}"/>
              </a:ext>
            </a:extLst>
          </p:cNvPr>
          <p:cNvSpPr/>
          <p:nvPr/>
        </p:nvSpPr>
        <p:spPr>
          <a:xfrm>
            <a:off x="349250" y="4699000"/>
            <a:ext cx="6108700" cy="152400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2287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979260"/>
          </a:xfrm>
        </p:spPr>
        <p:txBody>
          <a:bodyPr/>
          <a:lstStyle/>
          <a:p>
            <a:pPr algn="ctr"/>
            <a:r>
              <a:rPr lang="en-US"/>
              <a:t>Lớp (Class) và đối tượng (Object)</a:t>
            </a:r>
            <a:endParaRPr lang="en-US" dirty="0"/>
          </a:p>
        </p:txBody>
      </p:sp>
      <p:sp>
        <p:nvSpPr>
          <p:cNvPr id="3" name="Content Placeholder 2"/>
          <p:cNvSpPr>
            <a:spLocks noGrp="1"/>
          </p:cNvSpPr>
          <p:nvPr>
            <p:ph idx="1"/>
          </p:nvPr>
        </p:nvSpPr>
        <p:spPr>
          <a:xfrm>
            <a:off x="904466" y="4695642"/>
            <a:ext cx="8139794" cy="2547257"/>
          </a:xfrm>
        </p:spPr>
        <p:txBody>
          <a:bodyPr>
            <a:normAutofit/>
          </a:bodyPr>
          <a:lstStyle/>
          <a:p>
            <a:pPr>
              <a:lnSpc>
                <a:spcPct val="110000"/>
              </a:lnSpc>
            </a:pPr>
            <a:r>
              <a:rPr lang="en-US" sz="2400">
                <a:solidFill>
                  <a:srgbClr val="0070C0"/>
                </a:solidFill>
              </a:rPr>
              <a:t>__</a:t>
            </a:r>
            <a:r>
              <a:rPr lang="en-US" sz="2400" dirty="0" err="1">
                <a:solidFill>
                  <a:srgbClr val="0070C0"/>
                </a:solidFill>
              </a:rPr>
              <a:t>init</a:t>
            </a:r>
            <a:r>
              <a:rPr lang="en-US" sz="2400" dirty="0">
                <a:solidFill>
                  <a:srgbClr val="0070C0"/>
                </a:solidFill>
              </a:rPr>
              <a:t>__ </a:t>
            </a:r>
            <a:r>
              <a:rPr lang="en-US" sz="2400" dirty="0" err="1"/>
              <a:t>gọi</a:t>
            </a:r>
            <a:r>
              <a:rPr lang="en-US" sz="2400" dirty="0"/>
              <a:t> </a:t>
            </a:r>
            <a:r>
              <a:rPr lang="en-US" sz="2400" dirty="0" err="1"/>
              <a:t>là</a:t>
            </a:r>
            <a:r>
              <a:rPr lang="en-US" sz="2400" dirty="0"/>
              <a:t> </a:t>
            </a:r>
            <a:r>
              <a:rPr lang="en-US" sz="2400" dirty="0" err="1"/>
              <a:t>hàm</a:t>
            </a:r>
            <a:r>
              <a:rPr lang="en-US" sz="2400" dirty="0"/>
              <a:t> </a:t>
            </a:r>
            <a:r>
              <a:rPr lang="en-US" sz="2400" dirty="0" err="1"/>
              <a:t>tạo</a:t>
            </a:r>
            <a:r>
              <a:rPr lang="en-US" sz="2400" dirty="0"/>
              <a:t> (constructor</a:t>
            </a:r>
            <a:r>
              <a:rPr lang="en-US" sz="2400"/>
              <a:t>), thực </a:t>
            </a:r>
            <a:r>
              <a:rPr lang="en-US" sz="2400" dirty="0" err="1"/>
              <a:t>thi</a:t>
            </a:r>
            <a:r>
              <a:rPr lang="en-US" sz="2400" dirty="0"/>
              <a:t> </a:t>
            </a:r>
            <a:r>
              <a:rPr lang="en-US" sz="2400" dirty="0" err="1"/>
              <a:t>khi</a:t>
            </a:r>
            <a:r>
              <a:rPr lang="en-US" sz="2400" dirty="0"/>
              <a:t> </a:t>
            </a:r>
            <a:r>
              <a:rPr lang="en-US" sz="2400" dirty="0" err="1"/>
              <a:t>đối</a:t>
            </a:r>
            <a:r>
              <a:rPr lang="en-US" sz="2400" dirty="0"/>
              <a:t> </a:t>
            </a:r>
            <a:r>
              <a:rPr lang="en-US" sz="2400" dirty="0" err="1"/>
              <a:t>tượng</a:t>
            </a:r>
            <a:r>
              <a:rPr lang="en-US" sz="2400" dirty="0"/>
              <a:t> </a:t>
            </a:r>
            <a:r>
              <a:rPr lang="en-US" sz="2400" dirty="0" err="1"/>
              <a:t>tạo</a:t>
            </a:r>
            <a:r>
              <a:rPr lang="en-US" sz="2400" dirty="0"/>
              <a:t> </a:t>
            </a:r>
            <a:r>
              <a:rPr lang="en-US" sz="2400" dirty="0" err="1"/>
              <a:t>ra</a:t>
            </a:r>
            <a:r>
              <a:rPr lang="en-US" sz="2400" err="1"/>
              <a:t>.</a:t>
            </a:r>
            <a:r>
              <a:rPr lang="en-US" sz="2400"/>
              <a:t> </a:t>
            </a:r>
          </a:p>
          <a:p>
            <a:pPr>
              <a:lnSpc>
                <a:spcPct val="110000"/>
              </a:lnSpc>
            </a:pPr>
            <a:r>
              <a:rPr lang="en-US" sz="2400"/>
              <a:t>Trong hàm tạo, có </a:t>
            </a:r>
            <a:r>
              <a:rPr lang="en-US" sz="2400" dirty="0" err="1"/>
              <a:t>thể</a:t>
            </a:r>
            <a:r>
              <a:rPr lang="en-US" sz="2400" dirty="0"/>
              <a:t> </a:t>
            </a:r>
            <a:r>
              <a:rPr lang="en-US" sz="2400" dirty="0" err="1"/>
              <a:t>tạo</a:t>
            </a:r>
            <a:r>
              <a:rPr lang="en-US" sz="2400" dirty="0"/>
              <a:t> </a:t>
            </a:r>
            <a:r>
              <a:rPr lang="en-US" sz="2400" dirty="0" err="1"/>
              <a:t>các</a:t>
            </a:r>
            <a:r>
              <a:rPr lang="en-US" sz="2400" dirty="0"/>
              <a:t> </a:t>
            </a:r>
            <a:r>
              <a:rPr lang="en-US" sz="2400" err="1"/>
              <a:t>thuộc</a:t>
            </a:r>
            <a:r>
              <a:rPr lang="en-US" sz="2400"/>
              <a:t> tính cho đối tượng. </a:t>
            </a:r>
            <a:endParaRPr lang="en-US" sz="2400"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7</a:t>
            </a:fld>
            <a:endParaRPr lang="en-US"/>
          </a:p>
        </p:txBody>
      </p:sp>
      <p:pic>
        <p:nvPicPr>
          <p:cNvPr id="6" name="Picture 5">
            <a:extLst>
              <a:ext uri="{FF2B5EF4-FFF2-40B4-BE49-F238E27FC236}">
                <a16:creationId xmlns:a16="http://schemas.microsoft.com/office/drawing/2014/main" id="{71BCE513-2C8A-B0ED-B4A5-267AB527796B}"/>
              </a:ext>
            </a:extLst>
          </p:cNvPr>
          <p:cNvPicPr>
            <a:picLocks noChangeAspect="1"/>
          </p:cNvPicPr>
          <p:nvPr/>
        </p:nvPicPr>
        <p:blipFill>
          <a:blip r:embed="rId2"/>
          <a:stretch>
            <a:fillRect/>
          </a:stretch>
        </p:blipFill>
        <p:spPr>
          <a:xfrm>
            <a:off x="2271916" y="1285775"/>
            <a:ext cx="5404894" cy="3409867"/>
          </a:xfrm>
          <a:prstGeom prst="rect">
            <a:avLst/>
          </a:prstGeom>
          <a:ln w="19050">
            <a:solidFill>
              <a:srgbClr val="0070C0"/>
            </a:solidFill>
          </a:ln>
        </p:spPr>
      </p:pic>
      <p:sp>
        <p:nvSpPr>
          <p:cNvPr id="7" name="Rectangle 6">
            <a:extLst>
              <a:ext uri="{FF2B5EF4-FFF2-40B4-BE49-F238E27FC236}">
                <a16:creationId xmlns:a16="http://schemas.microsoft.com/office/drawing/2014/main" id="{481EF803-328B-AA5D-4CD6-1F654A2982A4}"/>
              </a:ext>
            </a:extLst>
          </p:cNvPr>
          <p:cNvSpPr/>
          <p:nvPr/>
        </p:nvSpPr>
        <p:spPr>
          <a:xfrm>
            <a:off x="2705100" y="1587500"/>
            <a:ext cx="3187700" cy="560885"/>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2214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C56EF-08C8-2DD0-682A-C1BB93AC49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63A0AF-2B0B-D54C-7185-9145CF0A8A77}"/>
              </a:ext>
            </a:extLst>
          </p:cNvPr>
          <p:cNvSpPr>
            <a:spLocks noGrp="1"/>
          </p:cNvSpPr>
          <p:nvPr>
            <p:ph type="title"/>
          </p:nvPr>
        </p:nvSpPr>
        <p:spPr>
          <a:xfrm>
            <a:off x="628650" y="365127"/>
            <a:ext cx="7886700" cy="979260"/>
          </a:xfrm>
        </p:spPr>
        <p:txBody>
          <a:bodyPr/>
          <a:lstStyle/>
          <a:p>
            <a:pPr algn="ctr"/>
            <a:r>
              <a:rPr lang="en-US"/>
              <a:t>Lớp (Class) và đối tượng (Object)</a:t>
            </a:r>
            <a:endParaRPr lang="en-US" dirty="0"/>
          </a:p>
        </p:txBody>
      </p:sp>
      <p:sp>
        <p:nvSpPr>
          <p:cNvPr id="3" name="Content Placeholder 2">
            <a:extLst>
              <a:ext uri="{FF2B5EF4-FFF2-40B4-BE49-F238E27FC236}">
                <a16:creationId xmlns:a16="http://schemas.microsoft.com/office/drawing/2014/main" id="{F8C0FF3C-8348-056B-CFE3-B9514725FEEB}"/>
              </a:ext>
            </a:extLst>
          </p:cNvPr>
          <p:cNvSpPr>
            <a:spLocks noGrp="1"/>
          </p:cNvSpPr>
          <p:nvPr>
            <p:ph idx="1"/>
          </p:nvPr>
        </p:nvSpPr>
        <p:spPr>
          <a:xfrm>
            <a:off x="904466" y="4695642"/>
            <a:ext cx="8139794" cy="2547257"/>
          </a:xfrm>
        </p:spPr>
        <p:txBody>
          <a:bodyPr>
            <a:normAutofit/>
          </a:bodyPr>
          <a:lstStyle/>
          <a:p>
            <a:pPr>
              <a:lnSpc>
                <a:spcPct val="110000"/>
              </a:lnSpc>
            </a:pPr>
            <a:r>
              <a:rPr lang="en-US" sz="2400"/>
              <a:t>Tham số </a:t>
            </a:r>
            <a:r>
              <a:rPr lang="en-US" sz="2400">
                <a:solidFill>
                  <a:srgbClr val="0070C0"/>
                </a:solidFill>
              </a:rPr>
              <a:t>self</a:t>
            </a:r>
            <a:r>
              <a:rPr lang="en-US" sz="2400"/>
              <a:t>: </a:t>
            </a:r>
          </a:p>
          <a:p>
            <a:pPr lvl="1" algn="just">
              <a:lnSpc>
                <a:spcPct val="110000"/>
              </a:lnSpc>
            </a:pPr>
            <a:r>
              <a:rPr lang="vi-VN" sz="2000"/>
              <a:t>Tham số self là một quy ước trong Python để tham chiếu đến chính đối tượng (instance) đã gọi phương thức đó.</a:t>
            </a:r>
            <a:endParaRPr lang="en-US" sz="2000"/>
          </a:p>
          <a:p>
            <a:pPr lvl="1" algn="just">
              <a:lnSpc>
                <a:spcPct val="110000"/>
              </a:lnSpc>
            </a:pPr>
            <a:r>
              <a:rPr lang="en-US" sz="2000"/>
              <a:t>T</a:t>
            </a:r>
            <a:r>
              <a:rPr lang="vi-VN" sz="2000"/>
              <a:t>ham số bắt buộc đầu tiên của bất kỳ phương thức nào trong một lớp (class).</a:t>
            </a:r>
            <a:endParaRPr lang="en-US" sz="2000" dirty="0"/>
          </a:p>
        </p:txBody>
      </p:sp>
      <p:sp>
        <p:nvSpPr>
          <p:cNvPr id="4" name="Footer Placeholder 3">
            <a:extLst>
              <a:ext uri="{FF2B5EF4-FFF2-40B4-BE49-F238E27FC236}">
                <a16:creationId xmlns:a16="http://schemas.microsoft.com/office/drawing/2014/main" id="{7EF2B389-2117-C27A-AE57-39D4F7FFF3B7}"/>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F8AE3338-4C92-551F-DCB9-584D6F0D76C0}"/>
              </a:ext>
            </a:extLst>
          </p:cNvPr>
          <p:cNvSpPr>
            <a:spLocks noGrp="1"/>
          </p:cNvSpPr>
          <p:nvPr>
            <p:ph type="sldNum" sz="quarter" idx="12"/>
          </p:nvPr>
        </p:nvSpPr>
        <p:spPr/>
        <p:txBody>
          <a:bodyPr/>
          <a:lstStyle/>
          <a:p>
            <a:fld id="{ADD32889-1A4F-4FED-AEC4-AD6BC7117F25}" type="slidenum">
              <a:rPr lang="en-US" smtClean="0"/>
              <a:t>8</a:t>
            </a:fld>
            <a:endParaRPr lang="en-US"/>
          </a:p>
        </p:txBody>
      </p:sp>
      <p:pic>
        <p:nvPicPr>
          <p:cNvPr id="7" name="Picture 6">
            <a:extLst>
              <a:ext uri="{FF2B5EF4-FFF2-40B4-BE49-F238E27FC236}">
                <a16:creationId xmlns:a16="http://schemas.microsoft.com/office/drawing/2014/main" id="{9E29BBAB-7E9F-CE33-106A-DD9C7776898F}"/>
              </a:ext>
            </a:extLst>
          </p:cNvPr>
          <p:cNvPicPr>
            <a:picLocks noChangeAspect="1"/>
          </p:cNvPicPr>
          <p:nvPr/>
        </p:nvPicPr>
        <p:blipFill>
          <a:blip r:embed="rId2"/>
          <a:stretch>
            <a:fillRect/>
          </a:stretch>
        </p:blipFill>
        <p:spPr>
          <a:xfrm>
            <a:off x="2066925" y="1214437"/>
            <a:ext cx="5010150" cy="3362325"/>
          </a:xfrm>
          <a:prstGeom prst="rect">
            <a:avLst/>
          </a:prstGeom>
          <a:ln w="19050">
            <a:solidFill>
              <a:srgbClr val="0070C0"/>
            </a:solidFill>
          </a:ln>
        </p:spPr>
      </p:pic>
      <p:sp>
        <p:nvSpPr>
          <p:cNvPr id="15" name="Arrow: Curved Right 14">
            <a:extLst>
              <a:ext uri="{FF2B5EF4-FFF2-40B4-BE49-F238E27FC236}">
                <a16:creationId xmlns:a16="http://schemas.microsoft.com/office/drawing/2014/main" id="{B30D938B-1867-2271-572D-B4E526626DD8}"/>
              </a:ext>
            </a:extLst>
          </p:cNvPr>
          <p:cNvSpPr/>
          <p:nvPr/>
        </p:nvSpPr>
        <p:spPr>
          <a:xfrm rot="12371287" flipH="1">
            <a:off x="1641349" y="1397299"/>
            <a:ext cx="834234" cy="2113541"/>
          </a:xfrm>
          <a:prstGeom prst="curvedRightArrow">
            <a:avLst>
              <a:gd name="adj1" fmla="val 25960"/>
              <a:gd name="adj2" fmla="val 50000"/>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063375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844F7-459C-9982-4AB0-62BDE58D07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91895-CBA6-FEDB-BBA8-83C2E67ADDC3}"/>
              </a:ext>
            </a:extLst>
          </p:cNvPr>
          <p:cNvSpPr>
            <a:spLocks noGrp="1"/>
          </p:cNvSpPr>
          <p:nvPr>
            <p:ph type="title"/>
          </p:nvPr>
        </p:nvSpPr>
        <p:spPr>
          <a:xfrm>
            <a:off x="628650" y="365127"/>
            <a:ext cx="7886700" cy="979260"/>
          </a:xfrm>
        </p:spPr>
        <p:txBody>
          <a:bodyPr/>
          <a:lstStyle/>
          <a:p>
            <a:pPr algn="ctr"/>
            <a:r>
              <a:rPr lang="en-US"/>
              <a:t>Tính đóng gói (Encapsulation)</a:t>
            </a:r>
            <a:endParaRPr lang="en-US" dirty="0"/>
          </a:p>
        </p:txBody>
      </p:sp>
      <p:sp>
        <p:nvSpPr>
          <p:cNvPr id="3" name="Content Placeholder 2">
            <a:extLst>
              <a:ext uri="{FF2B5EF4-FFF2-40B4-BE49-F238E27FC236}">
                <a16:creationId xmlns:a16="http://schemas.microsoft.com/office/drawing/2014/main" id="{E6864BD7-A8E0-E448-7FFA-15B46185F442}"/>
              </a:ext>
            </a:extLst>
          </p:cNvPr>
          <p:cNvSpPr>
            <a:spLocks noGrp="1"/>
          </p:cNvSpPr>
          <p:nvPr>
            <p:ph idx="1"/>
          </p:nvPr>
        </p:nvSpPr>
        <p:spPr>
          <a:xfrm>
            <a:off x="752066" y="1367974"/>
            <a:ext cx="8139794" cy="4385126"/>
          </a:xfrm>
        </p:spPr>
        <p:txBody>
          <a:bodyPr>
            <a:normAutofit fontScale="92500" lnSpcReduction="10000"/>
          </a:bodyPr>
          <a:lstStyle/>
          <a:p>
            <a:pPr algn="just">
              <a:lnSpc>
                <a:spcPct val="110000"/>
              </a:lnSpc>
            </a:pPr>
            <a:r>
              <a:rPr lang="vi-VN" sz="2300"/>
              <a:t>Tính đóng gói (Encapsulation) là một trong bốn trụ cột của lập trình hướng đối tượng (OOP).</a:t>
            </a:r>
            <a:endParaRPr lang="en-US" sz="2300"/>
          </a:p>
          <a:p>
            <a:pPr algn="just">
              <a:lnSpc>
                <a:spcPct val="110000"/>
              </a:lnSpc>
            </a:pPr>
            <a:r>
              <a:rPr lang="vi-VN" sz="2300"/>
              <a:t>Mục tiêu chính của nó là </a:t>
            </a:r>
            <a:r>
              <a:rPr lang="vi-VN" sz="2300" b="1">
                <a:solidFill>
                  <a:srgbClr val="0070C0"/>
                </a:solidFill>
              </a:rPr>
              <a:t>che giấu thông tin (information hiding), </a:t>
            </a:r>
            <a:r>
              <a:rPr lang="vi-VN" sz="2300"/>
              <a:t>tức là gói gọn dữ liệu (thuộc tính) và các phương thức xử lý dữ liệu đó vào trong cùng một lớp, đồng thời hạn chế quyền truy cập trực tiếp từ bên ngoài.</a:t>
            </a:r>
            <a:endParaRPr lang="en-US" sz="2300"/>
          </a:p>
          <a:p>
            <a:pPr>
              <a:lnSpc>
                <a:spcPct val="110000"/>
              </a:lnSpc>
            </a:pPr>
            <a:r>
              <a:rPr lang="en-US" sz="2300">
                <a:latin typeface="Arial" panose="020B0604020202020204" pitchFamily="34" charset="0"/>
                <a:cs typeface="Arial" panose="020B0604020202020204" pitchFamily="34" charset="0"/>
              </a:rPr>
              <a:t>Các mức độ truy cập trong Python:</a:t>
            </a:r>
          </a:p>
          <a:p>
            <a:pPr lvl="1">
              <a:lnSpc>
                <a:spcPct val="110000"/>
              </a:lnSpc>
            </a:pPr>
            <a:r>
              <a:rPr lang="vi-VN" sz="2300"/>
              <a:t>Không giống như các ngôn ngữ Java hay C++, Python không có các từ khóa public, private, protected để bắt buộc việc che giấu dữ liệu.</a:t>
            </a:r>
            <a:endParaRPr lang="en-US" sz="2300"/>
          </a:p>
          <a:p>
            <a:pPr lvl="1">
              <a:lnSpc>
                <a:spcPct val="110000"/>
              </a:lnSpc>
            </a:pPr>
            <a:r>
              <a:rPr lang="vi-VN" sz="2300"/>
              <a:t>Thay vào đó, Python sử dụng các quy ước đặt tên để thể hiện ý đồ của lập trình viên.</a:t>
            </a:r>
            <a:endParaRPr lang="en-US" sz="2300"/>
          </a:p>
          <a:p>
            <a:pPr lvl="1">
              <a:lnSpc>
                <a:spcPct val="110000"/>
              </a:lnSpc>
            </a:pPr>
            <a:endParaRPr lang="en-US" sz="1600" dirty="0"/>
          </a:p>
        </p:txBody>
      </p:sp>
      <p:sp>
        <p:nvSpPr>
          <p:cNvPr id="4" name="Footer Placeholder 3">
            <a:extLst>
              <a:ext uri="{FF2B5EF4-FFF2-40B4-BE49-F238E27FC236}">
                <a16:creationId xmlns:a16="http://schemas.microsoft.com/office/drawing/2014/main" id="{67E9C15C-9DC2-EA54-D117-84FF6ECFE46C}"/>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C509BC02-67FA-058F-1EC3-AAB8772D26F2}"/>
              </a:ext>
            </a:extLst>
          </p:cNvPr>
          <p:cNvSpPr>
            <a:spLocks noGrp="1"/>
          </p:cNvSpPr>
          <p:nvPr>
            <p:ph type="sldNum" sz="quarter" idx="12"/>
          </p:nvPr>
        </p:nvSpPr>
        <p:spPr/>
        <p:txBody>
          <a:bodyPr/>
          <a:lstStyle/>
          <a:p>
            <a:fld id="{ADD32889-1A4F-4FED-AEC4-AD6BC7117F25}" type="slidenum">
              <a:rPr lang="en-US" smtClean="0"/>
              <a:t>9</a:t>
            </a:fld>
            <a:endParaRPr lang="en-US"/>
          </a:p>
        </p:txBody>
      </p:sp>
    </p:spTree>
    <p:extLst>
      <p:ext uri="{BB962C8B-B14F-4D97-AF65-F5344CB8AC3E}">
        <p14:creationId xmlns:p14="http://schemas.microsoft.com/office/powerpoint/2010/main" val="912094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B4843-D24D-96BC-A57C-01C0235C76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ACA911-B116-C14B-9FDA-C18FBC342CA6}"/>
              </a:ext>
            </a:extLst>
          </p:cNvPr>
          <p:cNvSpPr>
            <a:spLocks noGrp="1"/>
          </p:cNvSpPr>
          <p:nvPr>
            <p:ph type="title"/>
          </p:nvPr>
        </p:nvSpPr>
        <p:spPr>
          <a:xfrm>
            <a:off x="628650" y="365127"/>
            <a:ext cx="7886700" cy="979260"/>
          </a:xfrm>
        </p:spPr>
        <p:txBody>
          <a:bodyPr/>
          <a:lstStyle/>
          <a:p>
            <a:pPr algn="ctr"/>
            <a:r>
              <a:rPr lang="en-US"/>
              <a:t>Tính đóng gói (Encapsulation)</a:t>
            </a:r>
            <a:endParaRPr lang="en-US" dirty="0"/>
          </a:p>
        </p:txBody>
      </p:sp>
      <p:sp>
        <p:nvSpPr>
          <p:cNvPr id="3" name="Content Placeholder 2">
            <a:extLst>
              <a:ext uri="{FF2B5EF4-FFF2-40B4-BE49-F238E27FC236}">
                <a16:creationId xmlns:a16="http://schemas.microsoft.com/office/drawing/2014/main" id="{279357D0-0F3D-AAF2-7D31-9660229E51DB}"/>
              </a:ext>
            </a:extLst>
          </p:cNvPr>
          <p:cNvSpPr>
            <a:spLocks noGrp="1"/>
          </p:cNvSpPr>
          <p:nvPr>
            <p:ph idx="1"/>
          </p:nvPr>
        </p:nvSpPr>
        <p:spPr>
          <a:xfrm>
            <a:off x="752066" y="1367974"/>
            <a:ext cx="8391934" cy="4385126"/>
          </a:xfrm>
        </p:spPr>
        <p:txBody>
          <a:bodyPr>
            <a:normAutofit/>
          </a:bodyPr>
          <a:lstStyle/>
          <a:p>
            <a:pPr marL="0" indent="0">
              <a:lnSpc>
                <a:spcPct val="110000"/>
              </a:lnSpc>
              <a:buNone/>
            </a:pPr>
            <a:r>
              <a:rPr lang="en-US" sz="2000" b="1">
                <a:latin typeface="Arial" panose="020B0604020202020204" pitchFamily="34" charset="0"/>
                <a:cs typeface="Arial" panose="020B0604020202020204" pitchFamily="34" charset="0"/>
              </a:rPr>
              <a:t>1. Public</a:t>
            </a:r>
          </a:p>
          <a:p>
            <a:pPr>
              <a:lnSpc>
                <a:spcPct val="110000"/>
              </a:lnSpc>
              <a:buFont typeface="Wingdings" panose="05000000000000000000" pitchFamily="2" charset="2"/>
              <a:buChar char="§"/>
            </a:pPr>
            <a:r>
              <a:rPr lang="en-US" sz="2000">
                <a:latin typeface="Arial" panose="020B0604020202020204" pitchFamily="34" charset="0"/>
                <a:cs typeface="Arial" panose="020B0604020202020204" pitchFamily="34" charset="0"/>
              </a:rPr>
              <a:t>Chế độ công khai</a:t>
            </a:r>
          </a:p>
          <a:p>
            <a:pPr algn="just">
              <a:lnSpc>
                <a:spcPct val="110000"/>
              </a:lnSpc>
              <a:buFont typeface="Wingdings" panose="05000000000000000000" pitchFamily="2" charset="2"/>
              <a:buChar char="§"/>
            </a:pPr>
            <a:r>
              <a:rPr lang="vi-VN" sz="2000">
                <a:latin typeface="Arial" panose="020B0604020202020204" pitchFamily="34" charset="0"/>
                <a:cs typeface="Arial" panose="020B0604020202020204" pitchFamily="34" charset="0"/>
              </a:rPr>
              <a:t>Bất kỳ thuộc tính hay phương thức nào </a:t>
            </a:r>
            <a:r>
              <a:rPr lang="vi-VN" sz="2000" b="1">
                <a:latin typeface="Arial" panose="020B0604020202020204" pitchFamily="34" charset="0"/>
                <a:cs typeface="Arial" panose="020B0604020202020204" pitchFamily="34" charset="0"/>
              </a:rPr>
              <a:t>không bắt đầu bằng dấu gạch dưới (</a:t>
            </a:r>
            <a:r>
              <a:rPr lang="vi-VN" b="1">
                <a:latin typeface="Arial" panose="020B0604020202020204" pitchFamily="34" charset="0"/>
                <a:cs typeface="Arial" panose="020B0604020202020204" pitchFamily="34" charset="0"/>
              </a:rPr>
              <a:t>_</a:t>
            </a:r>
            <a:r>
              <a:rPr lang="vi-VN" sz="2000" b="1">
                <a:latin typeface="Arial" panose="020B0604020202020204" pitchFamily="34" charset="0"/>
                <a:cs typeface="Arial" panose="020B0604020202020204" pitchFamily="34" charset="0"/>
              </a:rPr>
              <a:t>) </a:t>
            </a:r>
            <a:r>
              <a:rPr lang="vi-VN" sz="2000">
                <a:latin typeface="Arial" panose="020B0604020202020204" pitchFamily="34" charset="0"/>
                <a:cs typeface="Arial" panose="020B0604020202020204" pitchFamily="34" charset="0"/>
              </a:rPr>
              <a:t>đều được coi là </a:t>
            </a:r>
            <a:r>
              <a:rPr lang="vi-VN" sz="2000" b="1">
                <a:latin typeface="Arial" panose="020B0604020202020204" pitchFamily="34" charset="0"/>
                <a:cs typeface="Arial" panose="020B0604020202020204" pitchFamily="34" charset="0"/>
              </a:rPr>
              <a:t>public</a:t>
            </a:r>
            <a:r>
              <a:rPr lang="vi-VN" sz="2000">
                <a:latin typeface="Arial" panose="020B0604020202020204" pitchFamily="34" charset="0"/>
                <a:cs typeface="Arial" panose="020B0604020202020204" pitchFamily="34" charset="0"/>
              </a:rPr>
              <a:t>.</a:t>
            </a:r>
            <a:endParaRPr lang="en-US" sz="2000">
              <a:latin typeface="Arial" panose="020B0604020202020204" pitchFamily="34" charset="0"/>
              <a:cs typeface="Arial" panose="020B0604020202020204" pitchFamily="34" charset="0"/>
            </a:endParaRPr>
          </a:p>
          <a:p>
            <a:pPr algn="just">
              <a:lnSpc>
                <a:spcPct val="110000"/>
              </a:lnSpc>
              <a:buFont typeface="Wingdings" panose="05000000000000000000" pitchFamily="2" charset="2"/>
              <a:buChar char="§"/>
            </a:pPr>
            <a:r>
              <a:rPr lang="en-US" sz="2000">
                <a:latin typeface="Arial" panose="020B0604020202020204" pitchFamily="34" charset="0"/>
                <a:cs typeface="Arial" panose="020B0604020202020204" pitchFamily="34" charset="0"/>
              </a:rPr>
              <a:t>C</a:t>
            </a:r>
            <a:r>
              <a:rPr lang="vi-VN" sz="2000">
                <a:latin typeface="Arial" panose="020B0604020202020204" pitchFamily="34" charset="0"/>
                <a:cs typeface="Arial" panose="020B0604020202020204" pitchFamily="34" charset="0"/>
              </a:rPr>
              <a:t>ó thể truy cập và thay đổi </a:t>
            </a:r>
            <a:r>
              <a:rPr lang="en-US" sz="2000">
                <a:latin typeface="Arial" panose="020B0604020202020204" pitchFamily="34" charset="0"/>
                <a:cs typeface="Arial" panose="020B0604020202020204" pitchFamily="34" charset="0"/>
              </a:rPr>
              <a:t>các thuộc tính và phương thức</a:t>
            </a:r>
            <a:r>
              <a:rPr lang="vi-VN" sz="2000">
                <a:latin typeface="Arial" panose="020B0604020202020204" pitchFamily="34" charset="0"/>
                <a:cs typeface="Arial" panose="020B0604020202020204" pitchFamily="34" charset="0"/>
              </a:rPr>
              <a:t> từ bất cứ đâu.</a:t>
            </a:r>
            <a:endParaRPr lang="en-US" sz="2000">
              <a:latin typeface="Arial" panose="020B0604020202020204" pitchFamily="34" charset="0"/>
              <a:cs typeface="Arial" panose="020B0604020202020204" pitchFamily="34" charset="0"/>
            </a:endParaRPr>
          </a:p>
          <a:p>
            <a:pPr algn="just">
              <a:lnSpc>
                <a:spcPct val="110000"/>
              </a:lnSpc>
              <a:buFont typeface="Wingdings" panose="05000000000000000000" pitchFamily="2" charset="2"/>
              <a:buChar char="§"/>
            </a:pPr>
            <a:r>
              <a:rPr lang="en-US" sz="2000">
                <a:latin typeface="Arial" panose="020B0604020202020204" pitchFamily="34" charset="0"/>
                <a:cs typeface="Arial" panose="020B0604020202020204" pitchFamily="34" charset="0"/>
              </a:rPr>
              <a:t>Cú pháp: </a:t>
            </a:r>
            <a:r>
              <a:rPr lang="en-US" sz="2000">
                <a:solidFill>
                  <a:srgbClr val="0070C0"/>
                </a:solidFill>
                <a:latin typeface="Arial" panose="020B0604020202020204" pitchFamily="34" charset="0"/>
                <a:cs typeface="Arial" panose="020B0604020202020204" pitchFamily="34" charset="0"/>
              </a:rPr>
              <a:t>ten_thuoc_tinh</a:t>
            </a:r>
          </a:p>
          <a:p>
            <a:pPr algn="just">
              <a:lnSpc>
                <a:spcPct val="110000"/>
              </a:lnSpc>
              <a:buFont typeface="Wingdings" panose="05000000000000000000" pitchFamily="2" charset="2"/>
              <a:buChar char="§"/>
            </a:pPr>
            <a:r>
              <a:rPr lang="en-US" sz="2000">
                <a:latin typeface="Arial" panose="020B0604020202020204" pitchFamily="34" charset="0"/>
                <a:cs typeface="Arial" panose="020B0604020202020204" pitchFamily="34" charset="0"/>
              </a:rPr>
              <a:t>Ý nghĩa: An toàn để truy cập từ bên ngoài lớp.</a:t>
            </a:r>
            <a:endParaRPr lang="en-US" sz="2000"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3B4D4424-8183-FAEE-09E7-FE4B800F0D69}"/>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733415C1-6FD7-9FBE-0682-51EAB005FCA8}"/>
              </a:ext>
            </a:extLst>
          </p:cNvPr>
          <p:cNvSpPr>
            <a:spLocks noGrp="1"/>
          </p:cNvSpPr>
          <p:nvPr>
            <p:ph type="sldNum" sz="quarter" idx="12"/>
          </p:nvPr>
        </p:nvSpPr>
        <p:spPr/>
        <p:txBody>
          <a:bodyPr/>
          <a:lstStyle/>
          <a:p>
            <a:fld id="{ADD32889-1A4F-4FED-AEC4-AD6BC7117F25}" type="slidenum">
              <a:rPr lang="en-US" smtClean="0"/>
              <a:t>10</a:t>
            </a:fld>
            <a:endParaRPr lang="en-US"/>
          </a:p>
        </p:txBody>
      </p:sp>
      <p:pic>
        <p:nvPicPr>
          <p:cNvPr id="7" name="Picture 6">
            <a:extLst>
              <a:ext uri="{FF2B5EF4-FFF2-40B4-BE49-F238E27FC236}">
                <a16:creationId xmlns:a16="http://schemas.microsoft.com/office/drawing/2014/main" id="{CEA5D74A-A3EB-C0C7-AD94-E5A28841A1AC}"/>
              </a:ext>
            </a:extLst>
          </p:cNvPr>
          <p:cNvPicPr>
            <a:picLocks noChangeAspect="1"/>
          </p:cNvPicPr>
          <p:nvPr/>
        </p:nvPicPr>
        <p:blipFill>
          <a:blip r:embed="rId2"/>
          <a:stretch>
            <a:fillRect/>
          </a:stretch>
        </p:blipFill>
        <p:spPr>
          <a:xfrm>
            <a:off x="752066" y="3952876"/>
            <a:ext cx="8319905" cy="2586037"/>
          </a:xfrm>
          <a:prstGeom prst="rect">
            <a:avLst/>
          </a:prstGeom>
          <a:ln w="19050">
            <a:solidFill>
              <a:srgbClr val="0070C0"/>
            </a:solidFill>
          </a:ln>
        </p:spPr>
      </p:pic>
      <p:sp>
        <p:nvSpPr>
          <p:cNvPr id="8" name="Rectangle 7">
            <a:extLst>
              <a:ext uri="{FF2B5EF4-FFF2-40B4-BE49-F238E27FC236}">
                <a16:creationId xmlns:a16="http://schemas.microsoft.com/office/drawing/2014/main" id="{6E0308E2-96B8-46AA-405F-E9F32C95FD3B}"/>
              </a:ext>
            </a:extLst>
          </p:cNvPr>
          <p:cNvSpPr/>
          <p:nvPr/>
        </p:nvSpPr>
        <p:spPr>
          <a:xfrm>
            <a:off x="1536700" y="4724400"/>
            <a:ext cx="3568700" cy="25400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4970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10A9F-DDFF-2E51-5D86-7880ADA351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44C0D-70A4-CA26-13CB-4D2F2F3C40C8}"/>
              </a:ext>
            </a:extLst>
          </p:cNvPr>
          <p:cNvSpPr>
            <a:spLocks noGrp="1"/>
          </p:cNvSpPr>
          <p:nvPr>
            <p:ph type="title"/>
          </p:nvPr>
        </p:nvSpPr>
        <p:spPr>
          <a:xfrm>
            <a:off x="628650" y="365127"/>
            <a:ext cx="7886700" cy="979260"/>
          </a:xfrm>
        </p:spPr>
        <p:txBody>
          <a:bodyPr/>
          <a:lstStyle/>
          <a:p>
            <a:pPr algn="ctr"/>
            <a:r>
              <a:rPr lang="en-US"/>
              <a:t>Tính đóng gói (Encapsulation)</a:t>
            </a:r>
            <a:endParaRPr lang="en-US" dirty="0"/>
          </a:p>
        </p:txBody>
      </p:sp>
      <p:sp>
        <p:nvSpPr>
          <p:cNvPr id="3" name="Content Placeholder 2">
            <a:extLst>
              <a:ext uri="{FF2B5EF4-FFF2-40B4-BE49-F238E27FC236}">
                <a16:creationId xmlns:a16="http://schemas.microsoft.com/office/drawing/2014/main" id="{BA229EDD-6700-BE35-5DD8-97AF3E15483E}"/>
              </a:ext>
            </a:extLst>
          </p:cNvPr>
          <p:cNvSpPr>
            <a:spLocks noGrp="1"/>
          </p:cNvSpPr>
          <p:nvPr>
            <p:ph idx="1"/>
          </p:nvPr>
        </p:nvSpPr>
        <p:spPr>
          <a:xfrm>
            <a:off x="752066" y="1367974"/>
            <a:ext cx="8391934" cy="4385126"/>
          </a:xfrm>
        </p:spPr>
        <p:txBody>
          <a:bodyPr>
            <a:normAutofit/>
          </a:bodyPr>
          <a:lstStyle/>
          <a:p>
            <a:pPr marL="0" indent="0">
              <a:lnSpc>
                <a:spcPct val="110000"/>
              </a:lnSpc>
              <a:buNone/>
            </a:pPr>
            <a:r>
              <a:rPr lang="en-US" sz="2000" b="1">
                <a:latin typeface="Arial" panose="020B0604020202020204" pitchFamily="34" charset="0"/>
                <a:cs typeface="Arial" panose="020B0604020202020204" pitchFamily="34" charset="0"/>
              </a:rPr>
              <a:t>2. Protected</a:t>
            </a:r>
          </a:p>
          <a:p>
            <a:pPr>
              <a:lnSpc>
                <a:spcPct val="110000"/>
              </a:lnSpc>
              <a:buFont typeface="Wingdings" panose="05000000000000000000" pitchFamily="2" charset="2"/>
              <a:buChar char="§"/>
            </a:pPr>
            <a:r>
              <a:rPr lang="en-US" sz="2000">
                <a:latin typeface="Arial" panose="020B0604020202020204" pitchFamily="34" charset="0"/>
                <a:cs typeface="Arial" panose="020B0604020202020204" pitchFamily="34" charset="0"/>
              </a:rPr>
              <a:t>Chế độ bảo vệ</a:t>
            </a:r>
          </a:p>
          <a:p>
            <a:pPr algn="just">
              <a:lnSpc>
                <a:spcPct val="110000"/>
              </a:lnSpc>
              <a:buFont typeface="Wingdings" panose="05000000000000000000" pitchFamily="2" charset="2"/>
              <a:buChar char="§"/>
            </a:pPr>
            <a:r>
              <a:rPr lang="vi-VN" sz="2000">
                <a:latin typeface="Arial" panose="020B0604020202020204" pitchFamily="34" charset="0"/>
                <a:cs typeface="Arial" panose="020B0604020202020204" pitchFamily="34" charset="0"/>
              </a:rPr>
              <a:t>Theo quy ước, một thuộc tính hoặc </a:t>
            </a:r>
            <a:r>
              <a:rPr lang="vi-VN" sz="2000" b="1">
                <a:latin typeface="Arial" panose="020B0604020202020204" pitchFamily="34" charset="0"/>
                <a:cs typeface="Arial" panose="020B0604020202020204" pitchFamily="34" charset="0"/>
              </a:rPr>
              <a:t>phương thức bắt đầu bằng một dấu gạch dưới (_)</a:t>
            </a:r>
            <a:r>
              <a:rPr lang="vi-VN" sz="2000">
                <a:latin typeface="Arial" panose="020B0604020202020204" pitchFamily="34" charset="0"/>
                <a:cs typeface="Arial" panose="020B0604020202020204" pitchFamily="34" charset="0"/>
              </a:rPr>
              <a:t> được coi là </a:t>
            </a:r>
            <a:r>
              <a:rPr lang="vi-VN" sz="2000" b="1">
                <a:latin typeface="Arial" panose="020B0604020202020204" pitchFamily="34" charset="0"/>
                <a:cs typeface="Arial" panose="020B0604020202020204" pitchFamily="34" charset="0"/>
              </a:rPr>
              <a:t>protected.</a:t>
            </a:r>
            <a:endParaRPr lang="en-US" sz="2000" b="1">
              <a:latin typeface="Arial" panose="020B0604020202020204" pitchFamily="34" charset="0"/>
              <a:cs typeface="Arial" panose="020B0604020202020204" pitchFamily="34" charset="0"/>
            </a:endParaRPr>
          </a:p>
          <a:p>
            <a:pPr algn="just">
              <a:lnSpc>
                <a:spcPct val="110000"/>
              </a:lnSpc>
              <a:buFont typeface="Wingdings" panose="05000000000000000000" pitchFamily="2" charset="2"/>
              <a:buChar char="§"/>
            </a:pPr>
            <a:r>
              <a:rPr lang="en-US" sz="2000">
                <a:latin typeface="Arial" panose="020B0604020202020204" pitchFamily="34" charset="0"/>
                <a:cs typeface="Arial" panose="020B0604020202020204" pitchFamily="34" charset="0"/>
              </a:rPr>
              <a:t>C</a:t>
            </a:r>
            <a:r>
              <a:rPr lang="vi-VN" sz="2000">
                <a:latin typeface="Arial" panose="020B0604020202020204" pitchFamily="34" charset="0"/>
                <a:cs typeface="Arial" panose="020B0604020202020204" pitchFamily="34" charset="0"/>
              </a:rPr>
              <a:t>ó thể truy cập và thay đổi </a:t>
            </a:r>
            <a:r>
              <a:rPr lang="en-US" sz="2000">
                <a:latin typeface="Arial" panose="020B0604020202020204" pitchFamily="34" charset="0"/>
                <a:cs typeface="Arial" panose="020B0604020202020204" pitchFamily="34" charset="0"/>
              </a:rPr>
              <a:t>các thuộc tính và phương thức</a:t>
            </a:r>
            <a:r>
              <a:rPr lang="vi-VN" sz="2000">
                <a:latin typeface="Arial" panose="020B0604020202020204" pitchFamily="34" charset="0"/>
                <a:cs typeface="Arial" panose="020B0604020202020204" pitchFamily="34" charset="0"/>
              </a:rPr>
              <a:t> </a:t>
            </a:r>
            <a:r>
              <a:rPr lang="en-US" sz="2000">
                <a:latin typeface="Arial" panose="020B0604020202020204" pitchFamily="34" charset="0"/>
                <a:cs typeface="Arial" panose="020B0604020202020204" pitchFamily="34" charset="0"/>
              </a:rPr>
              <a:t>ở trong lớp hoặc từ lớp con kế thừa từ nó.</a:t>
            </a:r>
          </a:p>
          <a:p>
            <a:pPr algn="just">
              <a:lnSpc>
                <a:spcPct val="110000"/>
              </a:lnSpc>
              <a:buFont typeface="Wingdings" panose="05000000000000000000" pitchFamily="2" charset="2"/>
              <a:buChar char="§"/>
            </a:pPr>
            <a:r>
              <a:rPr lang="en-US" sz="2000">
                <a:latin typeface="Arial" panose="020B0604020202020204" pitchFamily="34" charset="0"/>
                <a:cs typeface="Arial" panose="020B0604020202020204" pitchFamily="34" charset="0"/>
              </a:rPr>
              <a:t>Cú pháp: _</a:t>
            </a:r>
            <a:r>
              <a:rPr lang="en-US" sz="2000">
                <a:solidFill>
                  <a:srgbClr val="0070C0"/>
                </a:solidFill>
                <a:latin typeface="Arial" panose="020B0604020202020204" pitchFamily="34" charset="0"/>
                <a:cs typeface="Arial" panose="020B0604020202020204" pitchFamily="34" charset="0"/>
              </a:rPr>
              <a:t>ten_thuoc_tinh</a:t>
            </a:r>
          </a:p>
        </p:txBody>
      </p:sp>
      <p:sp>
        <p:nvSpPr>
          <p:cNvPr id="4" name="Footer Placeholder 3">
            <a:extLst>
              <a:ext uri="{FF2B5EF4-FFF2-40B4-BE49-F238E27FC236}">
                <a16:creationId xmlns:a16="http://schemas.microsoft.com/office/drawing/2014/main" id="{E0ACCC5A-15D2-9C3B-0DC7-55AABFFA0980}"/>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8C15DED9-A05A-6511-5B75-4D290EBD078A}"/>
              </a:ext>
            </a:extLst>
          </p:cNvPr>
          <p:cNvSpPr>
            <a:spLocks noGrp="1"/>
          </p:cNvSpPr>
          <p:nvPr>
            <p:ph type="sldNum" sz="quarter" idx="12"/>
          </p:nvPr>
        </p:nvSpPr>
        <p:spPr/>
        <p:txBody>
          <a:bodyPr/>
          <a:lstStyle/>
          <a:p>
            <a:fld id="{ADD32889-1A4F-4FED-AEC4-AD6BC7117F25}" type="slidenum">
              <a:rPr lang="en-US" smtClean="0"/>
              <a:t>11</a:t>
            </a:fld>
            <a:endParaRPr lang="en-US"/>
          </a:p>
        </p:txBody>
      </p:sp>
      <p:pic>
        <p:nvPicPr>
          <p:cNvPr id="7" name="Picture 6">
            <a:extLst>
              <a:ext uri="{FF2B5EF4-FFF2-40B4-BE49-F238E27FC236}">
                <a16:creationId xmlns:a16="http://schemas.microsoft.com/office/drawing/2014/main" id="{7BD692FD-CC2E-A1CF-06BF-8C554C1F09F7}"/>
              </a:ext>
            </a:extLst>
          </p:cNvPr>
          <p:cNvPicPr>
            <a:picLocks noChangeAspect="1"/>
          </p:cNvPicPr>
          <p:nvPr/>
        </p:nvPicPr>
        <p:blipFill>
          <a:blip r:embed="rId2"/>
          <a:stretch>
            <a:fillRect/>
          </a:stretch>
        </p:blipFill>
        <p:spPr>
          <a:xfrm>
            <a:off x="628650" y="3952876"/>
            <a:ext cx="8319905" cy="2586037"/>
          </a:xfrm>
          <a:prstGeom prst="rect">
            <a:avLst/>
          </a:prstGeom>
          <a:ln w="19050">
            <a:solidFill>
              <a:srgbClr val="0070C0"/>
            </a:solidFill>
          </a:ln>
        </p:spPr>
      </p:pic>
      <p:sp>
        <p:nvSpPr>
          <p:cNvPr id="8" name="Rectangle 7">
            <a:extLst>
              <a:ext uri="{FF2B5EF4-FFF2-40B4-BE49-F238E27FC236}">
                <a16:creationId xmlns:a16="http://schemas.microsoft.com/office/drawing/2014/main" id="{54391A11-2B4F-0407-DED1-45F3D6DA4844}"/>
              </a:ext>
            </a:extLst>
          </p:cNvPr>
          <p:cNvSpPr/>
          <p:nvPr/>
        </p:nvSpPr>
        <p:spPr>
          <a:xfrm>
            <a:off x="1473200" y="5397500"/>
            <a:ext cx="3568700" cy="319882"/>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2809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E1686-BD65-5E1B-E634-A08339B856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5D8B5C-AFCE-48D3-F4CE-80309F152A06}"/>
              </a:ext>
            </a:extLst>
          </p:cNvPr>
          <p:cNvSpPr>
            <a:spLocks noGrp="1"/>
          </p:cNvSpPr>
          <p:nvPr>
            <p:ph type="title"/>
          </p:nvPr>
        </p:nvSpPr>
        <p:spPr>
          <a:xfrm>
            <a:off x="628650" y="365127"/>
            <a:ext cx="7886700" cy="979260"/>
          </a:xfrm>
        </p:spPr>
        <p:txBody>
          <a:bodyPr/>
          <a:lstStyle/>
          <a:p>
            <a:pPr algn="ctr"/>
            <a:r>
              <a:rPr lang="en-US"/>
              <a:t>Tính đóng gói (Encapsulation)</a:t>
            </a:r>
            <a:endParaRPr lang="en-US" dirty="0"/>
          </a:p>
        </p:txBody>
      </p:sp>
      <p:sp>
        <p:nvSpPr>
          <p:cNvPr id="3" name="Content Placeholder 2">
            <a:extLst>
              <a:ext uri="{FF2B5EF4-FFF2-40B4-BE49-F238E27FC236}">
                <a16:creationId xmlns:a16="http://schemas.microsoft.com/office/drawing/2014/main" id="{427E9552-4BF5-2D25-3F05-313B0AB93120}"/>
              </a:ext>
            </a:extLst>
          </p:cNvPr>
          <p:cNvSpPr>
            <a:spLocks noGrp="1"/>
          </p:cNvSpPr>
          <p:nvPr>
            <p:ph idx="1"/>
          </p:nvPr>
        </p:nvSpPr>
        <p:spPr>
          <a:xfrm>
            <a:off x="752066" y="1367974"/>
            <a:ext cx="8391934" cy="4385126"/>
          </a:xfrm>
        </p:spPr>
        <p:txBody>
          <a:bodyPr>
            <a:normAutofit/>
          </a:bodyPr>
          <a:lstStyle/>
          <a:p>
            <a:pPr marL="0" indent="0">
              <a:lnSpc>
                <a:spcPct val="110000"/>
              </a:lnSpc>
              <a:buNone/>
            </a:pPr>
            <a:r>
              <a:rPr lang="en-US" sz="2000" b="1">
                <a:latin typeface="Arial" panose="020B0604020202020204" pitchFamily="34" charset="0"/>
                <a:cs typeface="Arial" panose="020B0604020202020204" pitchFamily="34" charset="0"/>
              </a:rPr>
              <a:t>3. Private</a:t>
            </a:r>
          </a:p>
          <a:p>
            <a:pPr>
              <a:lnSpc>
                <a:spcPct val="110000"/>
              </a:lnSpc>
              <a:buFont typeface="Wingdings" panose="05000000000000000000" pitchFamily="2" charset="2"/>
              <a:buChar char="§"/>
            </a:pPr>
            <a:r>
              <a:rPr lang="en-US" sz="2000">
                <a:latin typeface="Arial" panose="020B0604020202020204" pitchFamily="34" charset="0"/>
                <a:cs typeface="Arial" panose="020B0604020202020204" pitchFamily="34" charset="0"/>
              </a:rPr>
              <a:t>Chế độ riêng tư</a:t>
            </a:r>
          </a:p>
          <a:p>
            <a:pPr algn="just">
              <a:lnSpc>
                <a:spcPct val="110000"/>
              </a:lnSpc>
              <a:buFont typeface="Wingdings" panose="05000000000000000000" pitchFamily="2" charset="2"/>
              <a:buChar char="§"/>
            </a:pPr>
            <a:r>
              <a:rPr lang="vi-VN" sz="2000">
                <a:latin typeface="Arial" panose="020B0604020202020204" pitchFamily="34" charset="0"/>
                <a:cs typeface="Arial" panose="020B0604020202020204" pitchFamily="34" charset="0"/>
              </a:rPr>
              <a:t>Theo quy ước, một </a:t>
            </a:r>
            <a:r>
              <a:rPr lang="vi-VN" sz="2000" b="1">
                <a:latin typeface="Arial" panose="020B0604020202020204" pitchFamily="34" charset="0"/>
                <a:cs typeface="Arial" panose="020B0604020202020204" pitchFamily="34" charset="0"/>
              </a:rPr>
              <a:t>thuộc tính hoặc phương thức bắt đầu bằng hai dấu gạch dưới (__) được coi là private.</a:t>
            </a:r>
            <a:endParaRPr lang="en-US" sz="2000" b="1">
              <a:latin typeface="Arial" panose="020B0604020202020204" pitchFamily="34" charset="0"/>
              <a:cs typeface="Arial" panose="020B0604020202020204" pitchFamily="34" charset="0"/>
            </a:endParaRPr>
          </a:p>
          <a:p>
            <a:pPr algn="just">
              <a:lnSpc>
                <a:spcPct val="110000"/>
              </a:lnSpc>
              <a:buFont typeface="Wingdings" panose="05000000000000000000" pitchFamily="2" charset="2"/>
              <a:buChar char="§"/>
            </a:pPr>
            <a:r>
              <a:rPr lang="en-US" sz="2000">
                <a:latin typeface="Arial" panose="020B0604020202020204" pitchFamily="34" charset="0"/>
                <a:cs typeface="Arial" panose="020B0604020202020204" pitchFamily="34" charset="0"/>
              </a:rPr>
              <a:t>C</a:t>
            </a:r>
            <a:r>
              <a:rPr lang="vi-VN" sz="2000">
                <a:latin typeface="Arial" panose="020B0604020202020204" pitchFamily="34" charset="0"/>
                <a:cs typeface="Arial" panose="020B0604020202020204" pitchFamily="34" charset="0"/>
              </a:rPr>
              <a:t>ó thể truy cập và thay đổi </a:t>
            </a:r>
            <a:r>
              <a:rPr lang="en-US" sz="2000">
                <a:latin typeface="Arial" panose="020B0604020202020204" pitchFamily="34" charset="0"/>
                <a:cs typeface="Arial" panose="020B0604020202020204" pitchFamily="34" charset="0"/>
              </a:rPr>
              <a:t>các thuộc tính và phương thức</a:t>
            </a:r>
            <a:r>
              <a:rPr lang="vi-VN" sz="2000">
                <a:latin typeface="Arial" panose="020B0604020202020204" pitchFamily="34" charset="0"/>
                <a:cs typeface="Arial" panose="020B0604020202020204" pitchFamily="34" charset="0"/>
              </a:rPr>
              <a:t> </a:t>
            </a:r>
            <a:r>
              <a:rPr lang="en-US" sz="2000">
                <a:latin typeface="Arial" panose="020B0604020202020204" pitchFamily="34" charset="0"/>
                <a:cs typeface="Arial" panose="020B0604020202020204" pitchFamily="34" charset="0"/>
              </a:rPr>
              <a:t>ở trong lớp</a:t>
            </a:r>
          </a:p>
          <a:p>
            <a:pPr algn="just">
              <a:lnSpc>
                <a:spcPct val="110000"/>
              </a:lnSpc>
              <a:buFont typeface="Wingdings" panose="05000000000000000000" pitchFamily="2" charset="2"/>
              <a:buChar char="§"/>
            </a:pPr>
            <a:r>
              <a:rPr lang="en-US" sz="2000">
                <a:latin typeface="Arial" panose="020B0604020202020204" pitchFamily="34" charset="0"/>
                <a:cs typeface="Arial" panose="020B0604020202020204" pitchFamily="34" charset="0"/>
              </a:rPr>
              <a:t>Cú pháp: __</a:t>
            </a:r>
            <a:r>
              <a:rPr lang="en-US" sz="2000">
                <a:solidFill>
                  <a:srgbClr val="0070C0"/>
                </a:solidFill>
                <a:latin typeface="Arial" panose="020B0604020202020204" pitchFamily="34" charset="0"/>
                <a:cs typeface="Arial" panose="020B0604020202020204" pitchFamily="34" charset="0"/>
              </a:rPr>
              <a:t>ten_thuoc_tinh</a:t>
            </a:r>
          </a:p>
        </p:txBody>
      </p:sp>
      <p:sp>
        <p:nvSpPr>
          <p:cNvPr id="4" name="Footer Placeholder 3">
            <a:extLst>
              <a:ext uri="{FF2B5EF4-FFF2-40B4-BE49-F238E27FC236}">
                <a16:creationId xmlns:a16="http://schemas.microsoft.com/office/drawing/2014/main" id="{A8EC54A1-BB0D-69D8-BF0A-68E954BAC1F5}"/>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1047AA7C-21B7-666E-61A8-CE770A15066D}"/>
              </a:ext>
            </a:extLst>
          </p:cNvPr>
          <p:cNvSpPr>
            <a:spLocks noGrp="1"/>
          </p:cNvSpPr>
          <p:nvPr>
            <p:ph type="sldNum" sz="quarter" idx="12"/>
          </p:nvPr>
        </p:nvSpPr>
        <p:spPr/>
        <p:txBody>
          <a:bodyPr/>
          <a:lstStyle/>
          <a:p>
            <a:fld id="{ADD32889-1A4F-4FED-AEC4-AD6BC7117F25}" type="slidenum">
              <a:rPr lang="en-US" smtClean="0"/>
              <a:t>12</a:t>
            </a:fld>
            <a:endParaRPr lang="en-US"/>
          </a:p>
        </p:txBody>
      </p:sp>
      <p:pic>
        <p:nvPicPr>
          <p:cNvPr id="7" name="Picture 6">
            <a:extLst>
              <a:ext uri="{FF2B5EF4-FFF2-40B4-BE49-F238E27FC236}">
                <a16:creationId xmlns:a16="http://schemas.microsoft.com/office/drawing/2014/main" id="{5E2AD8A2-8A42-E88F-6A21-8C801793BF9A}"/>
              </a:ext>
            </a:extLst>
          </p:cNvPr>
          <p:cNvPicPr>
            <a:picLocks noChangeAspect="1"/>
          </p:cNvPicPr>
          <p:nvPr/>
        </p:nvPicPr>
        <p:blipFill>
          <a:blip r:embed="rId2"/>
          <a:stretch>
            <a:fillRect/>
          </a:stretch>
        </p:blipFill>
        <p:spPr>
          <a:xfrm>
            <a:off x="628650" y="3952876"/>
            <a:ext cx="8319905" cy="2586037"/>
          </a:xfrm>
          <a:prstGeom prst="rect">
            <a:avLst/>
          </a:prstGeom>
          <a:ln w="19050">
            <a:solidFill>
              <a:srgbClr val="0070C0"/>
            </a:solidFill>
          </a:ln>
        </p:spPr>
      </p:pic>
      <p:sp>
        <p:nvSpPr>
          <p:cNvPr id="8" name="Rectangle 7">
            <a:extLst>
              <a:ext uri="{FF2B5EF4-FFF2-40B4-BE49-F238E27FC236}">
                <a16:creationId xmlns:a16="http://schemas.microsoft.com/office/drawing/2014/main" id="{57F20DBE-0B0C-5C2C-E6FB-75E1E87BC531}"/>
              </a:ext>
            </a:extLst>
          </p:cNvPr>
          <p:cNvSpPr/>
          <p:nvPr/>
        </p:nvSpPr>
        <p:spPr>
          <a:xfrm>
            <a:off x="1379333" y="6150372"/>
            <a:ext cx="3568700" cy="319882"/>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1710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294FB-3E6E-673C-5E6A-5088DAB6D4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36F6B3-6B99-81DD-EF58-4F9224F3C33B}"/>
              </a:ext>
            </a:extLst>
          </p:cNvPr>
          <p:cNvSpPr>
            <a:spLocks noGrp="1"/>
          </p:cNvSpPr>
          <p:nvPr>
            <p:ph type="title"/>
          </p:nvPr>
        </p:nvSpPr>
        <p:spPr>
          <a:xfrm>
            <a:off x="628650" y="365127"/>
            <a:ext cx="7886700" cy="979260"/>
          </a:xfrm>
        </p:spPr>
        <p:txBody>
          <a:bodyPr/>
          <a:lstStyle/>
          <a:p>
            <a:pPr algn="ctr"/>
            <a:r>
              <a:rPr lang="en-US"/>
              <a:t>Tính đóng gói (Encapsulation)</a:t>
            </a:r>
            <a:endParaRPr lang="en-US" dirty="0"/>
          </a:p>
        </p:txBody>
      </p:sp>
      <p:sp>
        <p:nvSpPr>
          <p:cNvPr id="4" name="Footer Placeholder 3">
            <a:extLst>
              <a:ext uri="{FF2B5EF4-FFF2-40B4-BE49-F238E27FC236}">
                <a16:creationId xmlns:a16="http://schemas.microsoft.com/office/drawing/2014/main" id="{60FE6B3E-8563-C8EE-E271-041849BA0DC6}"/>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9063FD84-BE46-50EE-52FA-97BAFDF21CDE}"/>
              </a:ext>
            </a:extLst>
          </p:cNvPr>
          <p:cNvSpPr>
            <a:spLocks noGrp="1"/>
          </p:cNvSpPr>
          <p:nvPr>
            <p:ph type="sldNum" sz="quarter" idx="12"/>
          </p:nvPr>
        </p:nvSpPr>
        <p:spPr/>
        <p:txBody>
          <a:bodyPr/>
          <a:lstStyle/>
          <a:p>
            <a:fld id="{ADD32889-1A4F-4FED-AEC4-AD6BC7117F25}" type="slidenum">
              <a:rPr lang="en-US" smtClean="0"/>
              <a:t>13</a:t>
            </a:fld>
            <a:endParaRPr lang="en-US"/>
          </a:p>
        </p:txBody>
      </p:sp>
      <p:pic>
        <p:nvPicPr>
          <p:cNvPr id="10" name="Picture 9">
            <a:extLst>
              <a:ext uri="{FF2B5EF4-FFF2-40B4-BE49-F238E27FC236}">
                <a16:creationId xmlns:a16="http://schemas.microsoft.com/office/drawing/2014/main" id="{1E0121BE-7E9D-801C-7565-0FE7189CB923}"/>
              </a:ext>
            </a:extLst>
          </p:cNvPr>
          <p:cNvPicPr>
            <a:picLocks noChangeAspect="1"/>
          </p:cNvPicPr>
          <p:nvPr/>
        </p:nvPicPr>
        <p:blipFill>
          <a:blip r:embed="rId2"/>
          <a:stretch>
            <a:fillRect/>
          </a:stretch>
        </p:blipFill>
        <p:spPr>
          <a:xfrm>
            <a:off x="900112" y="1204912"/>
            <a:ext cx="7343775" cy="4448175"/>
          </a:xfrm>
          <a:prstGeom prst="rect">
            <a:avLst/>
          </a:prstGeom>
          <a:ln w="19050">
            <a:solidFill>
              <a:srgbClr val="0070C0"/>
            </a:solidFill>
          </a:ln>
        </p:spPr>
      </p:pic>
      <p:sp>
        <p:nvSpPr>
          <p:cNvPr id="11" name="Rectangle 10">
            <a:extLst>
              <a:ext uri="{FF2B5EF4-FFF2-40B4-BE49-F238E27FC236}">
                <a16:creationId xmlns:a16="http://schemas.microsoft.com/office/drawing/2014/main" id="{65823726-95C7-70AF-3001-9A236CE78441}"/>
              </a:ext>
            </a:extLst>
          </p:cNvPr>
          <p:cNvSpPr/>
          <p:nvPr/>
        </p:nvSpPr>
        <p:spPr>
          <a:xfrm>
            <a:off x="3429000" y="5359399"/>
            <a:ext cx="1244600" cy="293687"/>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Connector: Elbow 13">
            <a:extLst>
              <a:ext uri="{FF2B5EF4-FFF2-40B4-BE49-F238E27FC236}">
                <a16:creationId xmlns:a16="http://schemas.microsoft.com/office/drawing/2014/main" id="{B3C68F29-645A-2CB1-8E66-13DBC4751F48}"/>
              </a:ext>
            </a:extLst>
          </p:cNvPr>
          <p:cNvCxnSpPr>
            <a:cxnSpLocks/>
          </p:cNvCxnSpPr>
          <p:nvPr/>
        </p:nvCxnSpPr>
        <p:spPr>
          <a:xfrm rot="16200000" flipH="1">
            <a:off x="3829843" y="5359400"/>
            <a:ext cx="569914" cy="1143000"/>
          </a:xfrm>
          <a:prstGeom prst="bentConnector2">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16ACF1F6-697A-DEE1-0777-5B062091B05D}"/>
              </a:ext>
            </a:extLst>
          </p:cNvPr>
          <p:cNvSpPr txBox="1"/>
          <p:nvPr/>
        </p:nvSpPr>
        <p:spPr>
          <a:xfrm>
            <a:off x="4800600" y="5793581"/>
            <a:ext cx="4229100" cy="646331"/>
          </a:xfrm>
          <a:prstGeom prst="rect">
            <a:avLst/>
          </a:prstGeom>
          <a:noFill/>
          <a:ln w="19050">
            <a:solidFill>
              <a:srgbClr val="FF0000"/>
            </a:solidFill>
          </a:ln>
        </p:spPr>
        <p:txBody>
          <a:bodyPr wrap="square" rtlCol="0">
            <a:spAutoFit/>
          </a:bodyPr>
          <a:lstStyle/>
          <a:p>
            <a:r>
              <a:rPr lang="en-US"/>
              <a:t>AttributeError: 'TaiKhoanNganHang' object has no attribute 'so_du'</a:t>
            </a:r>
          </a:p>
        </p:txBody>
      </p:sp>
    </p:spTree>
    <p:extLst>
      <p:ext uri="{BB962C8B-B14F-4D97-AF65-F5344CB8AC3E}">
        <p14:creationId xmlns:p14="http://schemas.microsoft.com/office/powerpoint/2010/main" val="2603038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8515350" cy="1077231"/>
          </a:xfrm>
        </p:spPr>
        <p:txBody>
          <a:bodyPr>
            <a:normAutofit fontScale="90000"/>
          </a:bodyPr>
          <a:lstStyle/>
          <a:p>
            <a:r>
              <a:rPr lang="en-US"/>
              <a:t>Getter và Setter: Cổng giao tiếp an toàn</a:t>
            </a:r>
            <a:endParaRPr lang="en-US" dirty="0"/>
          </a:p>
        </p:txBody>
      </p:sp>
      <p:sp>
        <p:nvSpPr>
          <p:cNvPr id="3" name="Content Placeholder 2"/>
          <p:cNvSpPr>
            <a:spLocks noGrp="1"/>
          </p:cNvSpPr>
          <p:nvPr>
            <p:ph idx="1"/>
          </p:nvPr>
        </p:nvSpPr>
        <p:spPr>
          <a:xfrm>
            <a:off x="775607" y="1442357"/>
            <a:ext cx="8221436" cy="4673146"/>
          </a:xfrm>
        </p:spPr>
        <p:txBody>
          <a:bodyPr>
            <a:normAutofit/>
          </a:bodyPr>
          <a:lstStyle/>
          <a:p>
            <a:pPr algn="just"/>
            <a:r>
              <a:rPr lang="vi-VN" sz="2400"/>
              <a:t>Khi các thuộc tính đã được che giấu (đặc biệt là protected và private), làm thế nào để tương tác với chúng một cách an toàn?</a:t>
            </a:r>
            <a:endParaRPr lang="en-US" sz="2400"/>
          </a:p>
          <a:p>
            <a:pPr lvl="1"/>
            <a:r>
              <a:rPr lang="vi-VN" sz="2000" b="1"/>
              <a:t>Getter</a:t>
            </a:r>
            <a:r>
              <a:rPr lang="vi-VN" sz="2000"/>
              <a:t> và </a:t>
            </a:r>
            <a:r>
              <a:rPr lang="vi-VN" sz="2000" b="1"/>
              <a:t>Setter</a:t>
            </a:r>
            <a:endParaRPr lang="en-US" sz="2000" b="1"/>
          </a:p>
          <a:p>
            <a:pPr algn="just"/>
            <a:r>
              <a:rPr lang="vi-VN" sz="2400" b="1"/>
              <a:t>Getter</a:t>
            </a:r>
            <a:r>
              <a:rPr lang="vi-VN" sz="2400"/>
              <a:t>: Là một phương thức dùng để lấy (get) giá trị của một thuộc tính.</a:t>
            </a:r>
          </a:p>
          <a:p>
            <a:pPr algn="just"/>
            <a:r>
              <a:rPr lang="vi-VN" sz="2400" b="1"/>
              <a:t>Setter</a:t>
            </a:r>
            <a:r>
              <a:rPr lang="vi-VN" sz="2400"/>
              <a:t>: Là một phương thức dùng để thiết lập (set) giá trị cho một thuộc tính.</a:t>
            </a:r>
            <a:endParaRPr lang="en-US" sz="2400"/>
          </a:p>
          <a:p>
            <a:pPr algn="just"/>
            <a:r>
              <a:rPr lang="en-US" sz="2400">
                <a:latin typeface="Arial" panose="020B0604020202020204" pitchFamily="34" charset="0"/>
                <a:cs typeface="Arial" panose="020B0604020202020204" pitchFamily="34" charset="0"/>
              </a:rPr>
              <a:t>Trong Python, sử dụng decorator </a:t>
            </a:r>
            <a:r>
              <a:rPr lang="en-US" sz="2400" b="1">
                <a:latin typeface="Arial" panose="020B0604020202020204" pitchFamily="34" charset="0"/>
                <a:cs typeface="Arial" panose="020B0604020202020204" pitchFamily="34" charset="0"/>
              </a:rPr>
              <a:t>@property (cho getter) </a:t>
            </a:r>
            <a:r>
              <a:rPr lang="en-US" sz="2400">
                <a:latin typeface="Arial" panose="020B0604020202020204" pitchFamily="34" charset="0"/>
                <a:cs typeface="Arial" panose="020B0604020202020204" pitchFamily="34" charset="0"/>
              </a:rPr>
              <a:t>và </a:t>
            </a:r>
            <a:r>
              <a:rPr lang="en-US" sz="2400" b="1">
                <a:latin typeface="Arial" panose="020B0604020202020204" pitchFamily="34" charset="0"/>
                <a:cs typeface="Arial" panose="020B0604020202020204" pitchFamily="34" charset="0"/>
              </a:rPr>
              <a:t>@ten_thuoc_tinh.setter (cho setter).</a:t>
            </a:r>
            <a:endParaRPr lang="en-US" sz="2400" b="1" dirty="0">
              <a:latin typeface="Arial" panose="020B0604020202020204" pitchFamily="34" charset="0"/>
              <a:cs typeface="Arial" panose="020B0604020202020204" pitchFamily="34" charset="0"/>
            </a:endParaRPr>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14</a:t>
            </a:fld>
            <a:endParaRPr lang="en-US"/>
          </a:p>
        </p:txBody>
      </p:sp>
    </p:spTree>
    <p:extLst>
      <p:ext uri="{BB962C8B-B14F-4D97-AF65-F5344CB8AC3E}">
        <p14:creationId xmlns:p14="http://schemas.microsoft.com/office/powerpoint/2010/main" val="38881962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53E3C-D9FB-BCD8-9E1E-13B1578E7A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370492-75AE-F46E-9900-79E97A1AB148}"/>
              </a:ext>
            </a:extLst>
          </p:cNvPr>
          <p:cNvSpPr>
            <a:spLocks noGrp="1"/>
          </p:cNvSpPr>
          <p:nvPr>
            <p:ph type="title"/>
          </p:nvPr>
        </p:nvSpPr>
        <p:spPr>
          <a:xfrm>
            <a:off x="628650" y="365126"/>
            <a:ext cx="8515350" cy="1077231"/>
          </a:xfrm>
        </p:spPr>
        <p:txBody>
          <a:bodyPr>
            <a:normAutofit fontScale="90000"/>
          </a:bodyPr>
          <a:lstStyle/>
          <a:p>
            <a:r>
              <a:rPr lang="en-US"/>
              <a:t>Getter và Setter: Cổng giao tiếp an toàn</a:t>
            </a:r>
            <a:endParaRPr lang="en-US" dirty="0"/>
          </a:p>
        </p:txBody>
      </p:sp>
      <p:sp>
        <p:nvSpPr>
          <p:cNvPr id="4" name="Footer Placeholder 3">
            <a:extLst>
              <a:ext uri="{FF2B5EF4-FFF2-40B4-BE49-F238E27FC236}">
                <a16:creationId xmlns:a16="http://schemas.microsoft.com/office/drawing/2014/main" id="{E4C1D4DD-2C1F-ED2C-1043-83890A4701E2}"/>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5D5D5481-902F-4629-661A-E2A4ECD81875}"/>
              </a:ext>
            </a:extLst>
          </p:cNvPr>
          <p:cNvSpPr>
            <a:spLocks noGrp="1"/>
          </p:cNvSpPr>
          <p:nvPr>
            <p:ph type="sldNum" sz="quarter" idx="12"/>
          </p:nvPr>
        </p:nvSpPr>
        <p:spPr/>
        <p:txBody>
          <a:bodyPr/>
          <a:lstStyle/>
          <a:p>
            <a:fld id="{ADD32889-1A4F-4FED-AEC4-AD6BC7117F25}" type="slidenum">
              <a:rPr lang="en-US" smtClean="0"/>
              <a:t>15</a:t>
            </a:fld>
            <a:endParaRPr lang="en-US"/>
          </a:p>
        </p:txBody>
      </p:sp>
      <p:pic>
        <p:nvPicPr>
          <p:cNvPr id="8" name="Picture 7">
            <a:extLst>
              <a:ext uri="{FF2B5EF4-FFF2-40B4-BE49-F238E27FC236}">
                <a16:creationId xmlns:a16="http://schemas.microsoft.com/office/drawing/2014/main" id="{55E01ED5-E4E6-244F-0549-DA0754D40268}"/>
              </a:ext>
            </a:extLst>
          </p:cNvPr>
          <p:cNvPicPr>
            <a:picLocks noChangeAspect="1"/>
          </p:cNvPicPr>
          <p:nvPr/>
        </p:nvPicPr>
        <p:blipFill>
          <a:blip r:embed="rId2"/>
          <a:stretch>
            <a:fillRect/>
          </a:stretch>
        </p:blipFill>
        <p:spPr>
          <a:xfrm>
            <a:off x="2063750" y="1225998"/>
            <a:ext cx="4565650" cy="5099510"/>
          </a:xfrm>
          <a:prstGeom prst="rect">
            <a:avLst/>
          </a:prstGeom>
          <a:ln w="19050">
            <a:solidFill>
              <a:srgbClr val="0070C0"/>
            </a:solidFill>
          </a:ln>
        </p:spPr>
      </p:pic>
      <p:pic>
        <p:nvPicPr>
          <p:cNvPr id="9" name="Picture 8">
            <a:extLst>
              <a:ext uri="{FF2B5EF4-FFF2-40B4-BE49-F238E27FC236}">
                <a16:creationId xmlns:a16="http://schemas.microsoft.com/office/drawing/2014/main" id="{9A725861-D231-CBC3-DE77-8651E6875E13}"/>
              </a:ext>
            </a:extLst>
          </p:cNvPr>
          <p:cNvPicPr>
            <a:picLocks noChangeAspect="1"/>
          </p:cNvPicPr>
          <p:nvPr/>
        </p:nvPicPr>
        <p:blipFill>
          <a:blip r:embed="rId3"/>
          <a:stretch>
            <a:fillRect/>
          </a:stretch>
        </p:blipFill>
        <p:spPr>
          <a:xfrm>
            <a:off x="1116012" y="1210576"/>
            <a:ext cx="7305675" cy="5130353"/>
          </a:xfrm>
          <a:prstGeom prst="rect">
            <a:avLst/>
          </a:prstGeom>
          <a:ln w="19050">
            <a:solidFill>
              <a:srgbClr val="0070C0"/>
            </a:solidFill>
          </a:ln>
        </p:spPr>
      </p:pic>
    </p:spTree>
    <p:extLst>
      <p:ext uri="{BB962C8B-B14F-4D97-AF65-F5344CB8AC3E}">
        <p14:creationId xmlns:p14="http://schemas.microsoft.com/office/powerpoint/2010/main" val="4022454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718003"/>
          </a:xfrm>
        </p:spPr>
        <p:txBody>
          <a:bodyPr/>
          <a:lstStyle/>
          <a:p>
            <a:pPr algn="ctr"/>
            <a:r>
              <a:rPr lang="en-US" err="1"/>
              <a:t>Thừa</a:t>
            </a:r>
            <a:r>
              <a:rPr lang="en-US"/>
              <a:t> kế (Inheritance)</a:t>
            </a:r>
            <a:endParaRPr lang="en-US"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16</a:t>
            </a:fld>
            <a:endParaRPr lang="en-US"/>
          </a:p>
        </p:txBody>
      </p:sp>
      <p:sp>
        <p:nvSpPr>
          <p:cNvPr id="7" name="Content Placeholder 6">
            <a:extLst>
              <a:ext uri="{FF2B5EF4-FFF2-40B4-BE49-F238E27FC236}">
                <a16:creationId xmlns:a16="http://schemas.microsoft.com/office/drawing/2014/main" id="{36165DA4-A669-9C4A-2AD9-F8D34D39B557}"/>
              </a:ext>
            </a:extLst>
          </p:cNvPr>
          <p:cNvSpPr>
            <a:spLocks noGrp="1"/>
          </p:cNvSpPr>
          <p:nvPr>
            <p:ph idx="1"/>
          </p:nvPr>
        </p:nvSpPr>
        <p:spPr>
          <a:xfrm>
            <a:off x="628650" y="1083129"/>
            <a:ext cx="3230562" cy="5056186"/>
          </a:xfrm>
        </p:spPr>
        <p:txBody>
          <a:bodyPr>
            <a:normAutofit lnSpcReduction="10000"/>
          </a:bodyPr>
          <a:lstStyle/>
          <a:p>
            <a:pPr algn="just"/>
            <a:r>
              <a:rPr lang="vi-VN" sz="1800"/>
              <a:t>Tính kế thừa (Inheritance) là một trong bốn trụ cột của lập trình hướng đối tượng (OOP)</a:t>
            </a:r>
            <a:endParaRPr lang="en-US" sz="1800"/>
          </a:p>
          <a:p>
            <a:pPr algn="just"/>
            <a:r>
              <a:rPr lang="en-US" sz="1800"/>
              <a:t>C</a:t>
            </a:r>
            <a:r>
              <a:rPr lang="vi-VN" sz="1800"/>
              <a:t>ho phép một lớp mới (gọi là lớp con - child class) thừa hưởng lại các thuộc tính và phương thức từ một lớp đã tồn tại (gọi là lớp cha - parent class).</a:t>
            </a:r>
            <a:endParaRPr lang="en-US" sz="1800"/>
          </a:p>
          <a:p>
            <a:pPr algn="just"/>
            <a:r>
              <a:rPr lang="en-US" sz="1800">
                <a:latin typeface="Arial" panose="020B0604020202020204" pitchFamily="34" charset="0"/>
                <a:cs typeface="Arial" panose="020B0604020202020204" pitchFamily="34" charset="0"/>
              </a:rPr>
              <a:t>Lớp con không chỉ có những đặc điểm của lớp cha mà còn có thể mở rộng, bổ sung thêm các đặc điểm và hành vi của riêng mình.</a:t>
            </a:r>
          </a:p>
          <a:p>
            <a:pPr algn="just"/>
            <a:r>
              <a:rPr lang="en-US" sz="1800">
                <a:latin typeface="Arial" panose="020B0604020202020204" pitchFamily="34" charset="0"/>
                <a:cs typeface="Arial" panose="020B0604020202020204" pitchFamily="34" charset="0"/>
              </a:rPr>
              <a:t>Lợi ích chính của kế thừa là </a:t>
            </a:r>
            <a:r>
              <a:rPr lang="en-US" sz="1800" b="1">
                <a:latin typeface="Arial" panose="020B0604020202020204" pitchFamily="34" charset="0"/>
                <a:cs typeface="Arial" panose="020B0604020202020204" pitchFamily="34" charset="0"/>
              </a:rPr>
              <a:t>tái sử dụng code</a:t>
            </a:r>
            <a:r>
              <a:rPr lang="en-US" sz="1800">
                <a:latin typeface="Arial" panose="020B0604020202020204" pitchFamily="34" charset="0"/>
                <a:cs typeface="Arial" panose="020B0604020202020204" pitchFamily="34" charset="0"/>
              </a:rPr>
              <a:t> và tạo ra một hệ thống phân cấp logic</a:t>
            </a:r>
          </a:p>
        </p:txBody>
      </p:sp>
      <p:pic>
        <p:nvPicPr>
          <p:cNvPr id="9" name="Picture 8">
            <a:extLst>
              <a:ext uri="{FF2B5EF4-FFF2-40B4-BE49-F238E27FC236}">
                <a16:creationId xmlns:a16="http://schemas.microsoft.com/office/drawing/2014/main" id="{6AB9B66D-0979-228E-3555-CA3712A2C917}"/>
              </a:ext>
            </a:extLst>
          </p:cNvPr>
          <p:cNvPicPr>
            <a:picLocks noChangeAspect="1"/>
          </p:cNvPicPr>
          <p:nvPr/>
        </p:nvPicPr>
        <p:blipFill>
          <a:blip r:embed="rId2">
            <a:extLst>
              <a:ext uri="{28A0092B-C50C-407E-A947-70E740481C1C}">
                <a14:useLocalDpi xmlns:a14="http://schemas.microsoft.com/office/drawing/2010/main" val="0"/>
              </a:ext>
            </a:extLst>
          </a:blip>
          <a:srcRect l="6814" r="9544"/>
          <a:stretch>
            <a:fillRect/>
          </a:stretch>
        </p:blipFill>
        <p:spPr>
          <a:xfrm>
            <a:off x="4572000" y="900906"/>
            <a:ext cx="4381514" cy="5238409"/>
          </a:xfrm>
          <a:prstGeom prst="rect">
            <a:avLst/>
          </a:prstGeom>
        </p:spPr>
      </p:pic>
    </p:spTree>
    <p:extLst>
      <p:ext uri="{BB962C8B-B14F-4D97-AF65-F5344CB8AC3E}">
        <p14:creationId xmlns:p14="http://schemas.microsoft.com/office/powerpoint/2010/main" val="426566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 calcmode="lin" valueType="num">
                                      <p:cBhvr additive="base">
                                        <p:cTn id="7"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 calcmode="lin" valueType="num">
                                      <p:cBhvr additive="base">
                                        <p:cTn id="13"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 calcmode="lin" valueType="num">
                                      <p:cBhvr additive="base">
                                        <p:cTn id="19"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64117-44DC-9421-29F5-3D297202F6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E16D23-AC1C-459E-B2DE-248C30CC8859}"/>
              </a:ext>
            </a:extLst>
          </p:cNvPr>
          <p:cNvSpPr>
            <a:spLocks noGrp="1"/>
          </p:cNvSpPr>
          <p:nvPr>
            <p:ph type="title"/>
          </p:nvPr>
        </p:nvSpPr>
        <p:spPr>
          <a:xfrm>
            <a:off x="628650" y="365126"/>
            <a:ext cx="7886700" cy="718003"/>
          </a:xfrm>
        </p:spPr>
        <p:txBody>
          <a:bodyPr/>
          <a:lstStyle/>
          <a:p>
            <a:pPr algn="ctr"/>
            <a:r>
              <a:rPr lang="en-US" err="1"/>
              <a:t>Thừa</a:t>
            </a:r>
            <a:r>
              <a:rPr lang="en-US"/>
              <a:t> kế đơn</a:t>
            </a:r>
            <a:endParaRPr lang="en-US" dirty="0"/>
          </a:p>
        </p:txBody>
      </p:sp>
      <p:sp>
        <p:nvSpPr>
          <p:cNvPr id="4" name="Footer Placeholder 3">
            <a:extLst>
              <a:ext uri="{FF2B5EF4-FFF2-40B4-BE49-F238E27FC236}">
                <a16:creationId xmlns:a16="http://schemas.microsoft.com/office/drawing/2014/main" id="{46BD2EF1-2563-BF72-24AB-5CDC36E16B98}"/>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768B3EB6-A20E-2D10-8D5D-FDA40768275E}"/>
              </a:ext>
            </a:extLst>
          </p:cNvPr>
          <p:cNvSpPr>
            <a:spLocks noGrp="1"/>
          </p:cNvSpPr>
          <p:nvPr>
            <p:ph type="sldNum" sz="quarter" idx="12"/>
          </p:nvPr>
        </p:nvSpPr>
        <p:spPr/>
        <p:txBody>
          <a:bodyPr/>
          <a:lstStyle/>
          <a:p>
            <a:fld id="{ADD32889-1A4F-4FED-AEC4-AD6BC7117F25}" type="slidenum">
              <a:rPr lang="en-US" smtClean="0"/>
              <a:t>17</a:t>
            </a:fld>
            <a:endParaRPr lang="en-US"/>
          </a:p>
        </p:txBody>
      </p:sp>
      <p:pic>
        <p:nvPicPr>
          <p:cNvPr id="6" name="Picture 5">
            <a:extLst>
              <a:ext uri="{FF2B5EF4-FFF2-40B4-BE49-F238E27FC236}">
                <a16:creationId xmlns:a16="http://schemas.microsoft.com/office/drawing/2014/main" id="{16A7BE9F-0454-2D6A-122F-0A82229DF581}"/>
              </a:ext>
            </a:extLst>
          </p:cNvPr>
          <p:cNvPicPr>
            <a:picLocks noChangeAspect="1"/>
          </p:cNvPicPr>
          <p:nvPr/>
        </p:nvPicPr>
        <p:blipFill>
          <a:blip r:embed="rId2"/>
          <a:stretch>
            <a:fillRect/>
          </a:stretch>
        </p:blipFill>
        <p:spPr>
          <a:xfrm>
            <a:off x="3202579" y="1789340"/>
            <a:ext cx="5785845" cy="3430360"/>
          </a:xfrm>
          <a:prstGeom prst="rect">
            <a:avLst/>
          </a:prstGeom>
          <a:ln w="19050">
            <a:solidFill>
              <a:schemeClr val="accent1"/>
            </a:solidFill>
          </a:ln>
        </p:spPr>
      </p:pic>
      <p:sp>
        <p:nvSpPr>
          <p:cNvPr id="9" name="TextBox 8">
            <a:extLst>
              <a:ext uri="{FF2B5EF4-FFF2-40B4-BE49-F238E27FC236}">
                <a16:creationId xmlns:a16="http://schemas.microsoft.com/office/drawing/2014/main" id="{A9683482-D4FE-322C-399C-F4AE4F4DCA4C}"/>
              </a:ext>
            </a:extLst>
          </p:cNvPr>
          <p:cNvSpPr txBox="1"/>
          <p:nvPr/>
        </p:nvSpPr>
        <p:spPr>
          <a:xfrm>
            <a:off x="628650" y="1146175"/>
            <a:ext cx="7512050" cy="461665"/>
          </a:xfrm>
          <a:prstGeom prst="rect">
            <a:avLst/>
          </a:prstGeom>
          <a:noFill/>
        </p:spPr>
        <p:txBody>
          <a:bodyPr wrap="square" rtlCol="0">
            <a:spAutoFit/>
          </a:bodyPr>
          <a:lstStyle/>
          <a:p>
            <a:r>
              <a:rPr lang="en-US" sz="2400">
                <a:latin typeface="Arial" panose="020B0604020202020204" pitchFamily="34" charset="0"/>
                <a:cs typeface="Arial" panose="020B0604020202020204" pitchFamily="34" charset="0"/>
              </a:rPr>
              <a:t>Một lớp con chỉ kế thừa từ </a:t>
            </a:r>
            <a:r>
              <a:rPr lang="en-US" sz="2400" b="1">
                <a:latin typeface="Arial" panose="020B0604020202020204" pitchFamily="34" charset="0"/>
                <a:cs typeface="Arial" panose="020B0604020202020204" pitchFamily="34" charset="0"/>
              </a:rPr>
              <a:t>một</a:t>
            </a:r>
            <a:r>
              <a:rPr lang="en-US" sz="2400">
                <a:latin typeface="Arial" panose="020B0604020202020204" pitchFamily="34" charset="0"/>
                <a:cs typeface="Arial" panose="020B0604020202020204" pitchFamily="34" charset="0"/>
              </a:rPr>
              <a:t> lớp cha duy nhất.</a:t>
            </a:r>
          </a:p>
        </p:txBody>
      </p:sp>
      <p:sp>
        <p:nvSpPr>
          <p:cNvPr id="10" name="Rectangle 9">
            <a:extLst>
              <a:ext uri="{FF2B5EF4-FFF2-40B4-BE49-F238E27FC236}">
                <a16:creationId xmlns:a16="http://schemas.microsoft.com/office/drawing/2014/main" id="{EBD15CD8-3008-8AB4-0E4C-DCBD35A3F76C}"/>
              </a:ext>
            </a:extLst>
          </p:cNvPr>
          <p:cNvSpPr/>
          <p:nvPr/>
        </p:nvSpPr>
        <p:spPr>
          <a:xfrm>
            <a:off x="155574" y="1749880"/>
            <a:ext cx="2873375" cy="177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Rectangle</a:t>
            </a:r>
          </a:p>
          <a:p>
            <a:pPr algn="ctr"/>
            <a:r>
              <a:rPr lang="en-US"/>
              <a:t>-----------------------------</a:t>
            </a:r>
          </a:p>
          <a:p>
            <a:pPr algn="ctr"/>
            <a:r>
              <a:rPr lang="en-US"/>
              <a:t>-length</a:t>
            </a:r>
          </a:p>
          <a:p>
            <a:pPr algn="ctr"/>
            <a:r>
              <a:rPr lang="en-US"/>
              <a:t>-width</a:t>
            </a:r>
          </a:p>
          <a:p>
            <a:pPr algn="ctr"/>
            <a:r>
              <a:rPr lang="en-US"/>
              <a:t>-----------------------------</a:t>
            </a:r>
          </a:p>
          <a:p>
            <a:pPr algn="ctr"/>
            <a:r>
              <a:rPr lang="en-US"/>
              <a:t>Area()</a:t>
            </a:r>
          </a:p>
        </p:txBody>
      </p:sp>
      <p:sp>
        <p:nvSpPr>
          <p:cNvPr id="11" name="Rectangle 10">
            <a:extLst>
              <a:ext uri="{FF2B5EF4-FFF2-40B4-BE49-F238E27FC236}">
                <a16:creationId xmlns:a16="http://schemas.microsoft.com/office/drawing/2014/main" id="{2F9235B0-0EF1-AC8D-7644-64D85947C625}"/>
              </a:ext>
            </a:extLst>
          </p:cNvPr>
          <p:cNvSpPr/>
          <p:nvPr/>
        </p:nvSpPr>
        <p:spPr>
          <a:xfrm>
            <a:off x="814386" y="4194631"/>
            <a:ext cx="1555750" cy="12809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Square</a:t>
            </a:r>
          </a:p>
          <a:p>
            <a:pPr algn="ctr"/>
            <a:endParaRPr lang="en-US"/>
          </a:p>
        </p:txBody>
      </p:sp>
      <p:cxnSp>
        <p:nvCxnSpPr>
          <p:cNvPr id="13" name="Straight Arrow Connector 12">
            <a:extLst>
              <a:ext uri="{FF2B5EF4-FFF2-40B4-BE49-F238E27FC236}">
                <a16:creationId xmlns:a16="http://schemas.microsoft.com/office/drawing/2014/main" id="{4EBC3710-330B-6AFB-9100-706E2832D5E2}"/>
              </a:ext>
            </a:extLst>
          </p:cNvPr>
          <p:cNvCxnSpPr>
            <a:stCxn id="11" idx="0"/>
            <a:endCxn id="10" idx="2"/>
          </p:cNvCxnSpPr>
          <p:nvPr/>
        </p:nvCxnSpPr>
        <p:spPr>
          <a:xfrm flipV="1">
            <a:off x="1592261" y="3527880"/>
            <a:ext cx="1" cy="6667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7519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29562-DB4B-6950-A311-33BC04F4F2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95DDAE-301A-2A17-52A6-64D97D13CB1F}"/>
              </a:ext>
            </a:extLst>
          </p:cNvPr>
          <p:cNvSpPr>
            <a:spLocks noGrp="1"/>
          </p:cNvSpPr>
          <p:nvPr>
            <p:ph type="title"/>
          </p:nvPr>
        </p:nvSpPr>
        <p:spPr>
          <a:xfrm>
            <a:off x="628650" y="365126"/>
            <a:ext cx="7886700" cy="718003"/>
          </a:xfrm>
        </p:spPr>
        <p:txBody>
          <a:bodyPr/>
          <a:lstStyle/>
          <a:p>
            <a:pPr algn="ctr"/>
            <a:r>
              <a:rPr lang="en-US" err="1"/>
              <a:t>Thừa</a:t>
            </a:r>
            <a:r>
              <a:rPr lang="en-US"/>
              <a:t> kế đa</a:t>
            </a:r>
            <a:endParaRPr lang="en-US" dirty="0"/>
          </a:p>
        </p:txBody>
      </p:sp>
      <p:sp>
        <p:nvSpPr>
          <p:cNvPr id="4" name="Footer Placeholder 3">
            <a:extLst>
              <a:ext uri="{FF2B5EF4-FFF2-40B4-BE49-F238E27FC236}">
                <a16:creationId xmlns:a16="http://schemas.microsoft.com/office/drawing/2014/main" id="{39FD31CE-6768-19A7-46D1-046D62B71E83}"/>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253971A6-0BAE-9D77-40A2-925D80441E52}"/>
              </a:ext>
            </a:extLst>
          </p:cNvPr>
          <p:cNvSpPr>
            <a:spLocks noGrp="1"/>
          </p:cNvSpPr>
          <p:nvPr>
            <p:ph type="sldNum" sz="quarter" idx="12"/>
          </p:nvPr>
        </p:nvSpPr>
        <p:spPr/>
        <p:txBody>
          <a:bodyPr/>
          <a:lstStyle/>
          <a:p>
            <a:fld id="{ADD32889-1A4F-4FED-AEC4-AD6BC7117F25}" type="slidenum">
              <a:rPr lang="en-US" smtClean="0"/>
              <a:t>18</a:t>
            </a:fld>
            <a:endParaRPr lang="en-US"/>
          </a:p>
        </p:txBody>
      </p:sp>
      <p:sp>
        <p:nvSpPr>
          <p:cNvPr id="9" name="TextBox 8">
            <a:extLst>
              <a:ext uri="{FF2B5EF4-FFF2-40B4-BE49-F238E27FC236}">
                <a16:creationId xmlns:a16="http://schemas.microsoft.com/office/drawing/2014/main" id="{2C784D6B-5B16-0183-85F3-2926BEE94354}"/>
              </a:ext>
            </a:extLst>
          </p:cNvPr>
          <p:cNvSpPr txBox="1"/>
          <p:nvPr/>
        </p:nvSpPr>
        <p:spPr>
          <a:xfrm>
            <a:off x="628650" y="1146175"/>
            <a:ext cx="8362950" cy="461665"/>
          </a:xfrm>
          <a:prstGeom prst="rect">
            <a:avLst/>
          </a:prstGeom>
          <a:noFill/>
        </p:spPr>
        <p:txBody>
          <a:bodyPr wrap="square" rtlCol="0">
            <a:spAutoFit/>
          </a:bodyPr>
          <a:lstStyle/>
          <a:p>
            <a:r>
              <a:rPr lang="en-US" sz="2400">
                <a:latin typeface="Arial" panose="020B0604020202020204" pitchFamily="34" charset="0"/>
                <a:cs typeface="Arial" panose="020B0604020202020204" pitchFamily="34" charset="0"/>
              </a:rPr>
              <a:t>Một lớp con có thể kế thừa từ </a:t>
            </a:r>
            <a:r>
              <a:rPr lang="en-US" sz="2400" b="1">
                <a:latin typeface="Arial" panose="020B0604020202020204" pitchFamily="34" charset="0"/>
                <a:cs typeface="Arial" panose="020B0604020202020204" pitchFamily="34" charset="0"/>
              </a:rPr>
              <a:t>nhiều</a:t>
            </a:r>
            <a:r>
              <a:rPr lang="en-US" sz="2400">
                <a:latin typeface="Arial" panose="020B0604020202020204" pitchFamily="34" charset="0"/>
                <a:cs typeface="Arial" panose="020B0604020202020204" pitchFamily="34" charset="0"/>
              </a:rPr>
              <a:t> lớp cha cùng một lúc</a:t>
            </a:r>
          </a:p>
        </p:txBody>
      </p:sp>
      <p:sp>
        <p:nvSpPr>
          <p:cNvPr id="8" name="Rectangle 7">
            <a:extLst>
              <a:ext uri="{FF2B5EF4-FFF2-40B4-BE49-F238E27FC236}">
                <a16:creationId xmlns:a16="http://schemas.microsoft.com/office/drawing/2014/main" id="{9CE0B323-87AF-F266-2F8E-04C713C09775}"/>
              </a:ext>
            </a:extLst>
          </p:cNvPr>
          <p:cNvSpPr/>
          <p:nvPr/>
        </p:nvSpPr>
        <p:spPr>
          <a:xfrm>
            <a:off x="781050" y="1679384"/>
            <a:ext cx="2247900" cy="177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Nhân viên</a:t>
            </a:r>
          </a:p>
          <a:p>
            <a:pPr algn="ctr"/>
            <a:r>
              <a:rPr lang="en-US"/>
              <a:t>------------------------------MaNV</a:t>
            </a:r>
          </a:p>
          <a:p>
            <a:pPr algn="ctr"/>
            <a:r>
              <a:rPr lang="en-US"/>
              <a:t>-Hoten</a:t>
            </a:r>
          </a:p>
          <a:p>
            <a:pPr algn="ctr"/>
            <a:r>
              <a:rPr lang="en-US"/>
              <a:t>-----------------------------</a:t>
            </a:r>
          </a:p>
          <a:p>
            <a:pPr algn="ctr"/>
            <a:r>
              <a:rPr lang="en-US"/>
              <a:t>thongtinchung()</a:t>
            </a:r>
          </a:p>
        </p:txBody>
      </p:sp>
      <p:sp>
        <p:nvSpPr>
          <p:cNvPr id="10" name="Rectangle 9">
            <a:extLst>
              <a:ext uri="{FF2B5EF4-FFF2-40B4-BE49-F238E27FC236}">
                <a16:creationId xmlns:a16="http://schemas.microsoft.com/office/drawing/2014/main" id="{7169F5C2-B141-A82B-9614-06A865803706}"/>
              </a:ext>
            </a:extLst>
          </p:cNvPr>
          <p:cNvSpPr/>
          <p:nvPr/>
        </p:nvSpPr>
        <p:spPr>
          <a:xfrm>
            <a:off x="3448050" y="1679384"/>
            <a:ext cx="2247900" cy="177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Quản lý</a:t>
            </a:r>
          </a:p>
          <a:p>
            <a:pPr algn="ctr"/>
            <a:r>
              <a:rPr lang="en-US"/>
              <a:t>-----------------------------</a:t>
            </a:r>
          </a:p>
          <a:p>
            <a:pPr algn="ctr"/>
            <a:r>
              <a:rPr lang="en-US"/>
              <a:t>pheduyetnghiphep()</a:t>
            </a:r>
          </a:p>
        </p:txBody>
      </p:sp>
      <p:sp>
        <p:nvSpPr>
          <p:cNvPr id="11" name="Rectangle 10">
            <a:extLst>
              <a:ext uri="{FF2B5EF4-FFF2-40B4-BE49-F238E27FC236}">
                <a16:creationId xmlns:a16="http://schemas.microsoft.com/office/drawing/2014/main" id="{70E35A6E-AE48-4432-54B5-D915FF026C9F}"/>
              </a:ext>
            </a:extLst>
          </p:cNvPr>
          <p:cNvSpPr/>
          <p:nvPr/>
        </p:nvSpPr>
        <p:spPr>
          <a:xfrm>
            <a:off x="6115050" y="1679384"/>
            <a:ext cx="2247900" cy="177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Lập trình viên</a:t>
            </a:r>
          </a:p>
          <a:p>
            <a:pPr algn="ctr"/>
            <a:r>
              <a:rPr lang="en-US"/>
              <a:t>-----------------------------</a:t>
            </a:r>
          </a:p>
          <a:p>
            <a:pPr algn="ctr"/>
            <a:r>
              <a:rPr lang="en-US"/>
              <a:t>Viet_code()</a:t>
            </a:r>
          </a:p>
        </p:txBody>
      </p:sp>
      <p:sp>
        <p:nvSpPr>
          <p:cNvPr id="12" name="Rectangle 11">
            <a:extLst>
              <a:ext uri="{FF2B5EF4-FFF2-40B4-BE49-F238E27FC236}">
                <a16:creationId xmlns:a16="http://schemas.microsoft.com/office/drawing/2014/main" id="{139A1F26-CA7F-DF1B-0418-0E493B81B5A9}"/>
              </a:ext>
            </a:extLst>
          </p:cNvPr>
          <p:cNvSpPr/>
          <p:nvPr/>
        </p:nvSpPr>
        <p:spPr>
          <a:xfrm>
            <a:off x="3448050" y="4289616"/>
            <a:ext cx="2247900" cy="177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Leader</a:t>
            </a:r>
          </a:p>
          <a:p>
            <a:pPr algn="ctr"/>
            <a:r>
              <a:rPr lang="en-US"/>
              <a:t>------------------------------ngonngu</a:t>
            </a:r>
          </a:p>
          <a:p>
            <a:pPr algn="ctr"/>
            <a:r>
              <a:rPr lang="en-US"/>
              <a:t>-----------------------------</a:t>
            </a:r>
          </a:p>
          <a:p>
            <a:pPr algn="ctr"/>
            <a:r>
              <a:rPr lang="en-US"/>
              <a:t>Hop_nhom()</a:t>
            </a:r>
          </a:p>
        </p:txBody>
      </p:sp>
      <p:cxnSp>
        <p:nvCxnSpPr>
          <p:cNvPr id="14" name="Straight Arrow Connector 13">
            <a:extLst>
              <a:ext uri="{FF2B5EF4-FFF2-40B4-BE49-F238E27FC236}">
                <a16:creationId xmlns:a16="http://schemas.microsoft.com/office/drawing/2014/main" id="{BB6BEAB2-80C8-D83A-B58E-86D1B7D3F302}"/>
              </a:ext>
            </a:extLst>
          </p:cNvPr>
          <p:cNvCxnSpPr>
            <a:cxnSpLocks/>
            <a:stCxn id="12" idx="0"/>
            <a:endCxn id="8" idx="2"/>
          </p:cNvCxnSpPr>
          <p:nvPr/>
        </p:nvCxnSpPr>
        <p:spPr>
          <a:xfrm flipH="1" flipV="1">
            <a:off x="1905000" y="3457384"/>
            <a:ext cx="2667000" cy="8322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86106FD-C31B-0AAC-E244-25896BCD3392}"/>
              </a:ext>
            </a:extLst>
          </p:cNvPr>
          <p:cNvCxnSpPr>
            <a:stCxn id="12" idx="0"/>
            <a:endCxn id="10" idx="2"/>
          </p:cNvCxnSpPr>
          <p:nvPr/>
        </p:nvCxnSpPr>
        <p:spPr>
          <a:xfrm flipV="1">
            <a:off x="4572000" y="3457384"/>
            <a:ext cx="0" cy="8322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B6A9333-09F6-103B-8287-3764951D43D6}"/>
              </a:ext>
            </a:extLst>
          </p:cNvPr>
          <p:cNvCxnSpPr>
            <a:cxnSpLocks/>
            <a:stCxn id="12" idx="0"/>
            <a:endCxn id="11" idx="2"/>
          </p:cNvCxnSpPr>
          <p:nvPr/>
        </p:nvCxnSpPr>
        <p:spPr>
          <a:xfrm flipV="1">
            <a:off x="4572000" y="3457384"/>
            <a:ext cx="2667000" cy="8322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4538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8D3AF-7A1E-1D8B-07C9-4497E52717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789EA3-22BA-EEA2-D9E8-DEF858708424}"/>
              </a:ext>
            </a:extLst>
          </p:cNvPr>
          <p:cNvSpPr>
            <a:spLocks noGrp="1"/>
          </p:cNvSpPr>
          <p:nvPr>
            <p:ph type="title"/>
          </p:nvPr>
        </p:nvSpPr>
        <p:spPr>
          <a:xfrm>
            <a:off x="628650" y="365126"/>
            <a:ext cx="7886700" cy="718003"/>
          </a:xfrm>
        </p:spPr>
        <p:txBody>
          <a:bodyPr/>
          <a:lstStyle/>
          <a:p>
            <a:pPr algn="ctr"/>
            <a:r>
              <a:rPr lang="en-US" err="1"/>
              <a:t>Thừa</a:t>
            </a:r>
            <a:r>
              <a:rPr lang="en-US"/>
              <a:t> kế đa</a:t>
            </a:r>
            <a:endParaRPr lang="en-US" dirty="0"/>
          </a:p>
        </p:txBody>
      </p:sp>
      <p:sp>
        <p:nvSpPr>
          <p:cNvPr id="4" name="Footer Placeholder 3">
            <a:extLst>
              <a:ext uri="{FF2B5EF4-FFF2-40B4-BE49-F238E27FC236}">
                <a16:creationId xmlns:a16="http://schemas.microsoft.com/office/drawing/2014/main" id="{9CD5B5F4-7BEC-6EE4-4533-9F81F4AC80B4}"/>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92F7A165-EC56-CA59-989A-FD48262DAA9B}"/>
              </a:ext>
            </a:extLst>
          </p:cNvPr>
          <p:cNvSpPr>
            <a:spLocks noGrp="1"/>
          </p:cNvSpPr>
          <p:nvPr>
            <p:ph type="sldNum" sz="quarter" idx="12"/>
          </p:nvPr>
        </p:nvSpPr>
        <p:spPr/>
        <p:txBody>
          <a:bodyPr/>
          <a:lstStyle/>
          <a:p>
            <a:fld id="{ADD32889-1A4F-4FED-AEC4-AD6BC7117F25}" type="slidenum">
              <a:rPr lang="en-US" smtClean="0"/>
              <a:t>19</a:t>
            </a:fld>
            <a:endParaRPr lang="en-US"/>
          </a:p>
        </p:txBody>
      </p:sp>
      <p:sp>
        <p:nvSpPr>
          <p:cNvPr id="9" name="TextBox 8">
            <a:extLst>
              <a:ext uri="{FF2B5EF4-FFF2-40B4-BE49-F238E27FC236}">
                <a16:creationId xmlns:a16="http://schemas.microsoft.com/office/drawing/2014/main" id="{3527D470-4E98-E01B-B2D7-153525C9C7FA}"/>
              </a:ext>
            </a:extLst>
          </p:cNvPr>
          <p:cNvSpPr txBox="1"/>
          <p:nvPr/>
        </p:nvSpPr>
        <p:spPr>
          <a:xfrm>
            <a:off x="628650" y="1146175"/>
            <a:ext cx="8362950" cy="461665"/>
          </a:xfrm>
          <a:prstGeom prst="rect">
            <a:avLst/>
          </a:prstGeom>
          <a:noFill/>
        </p:spPr>
        <p:txBody>
          <a:bodyPr wrap="square" rtlCol="0">
            <a:spAutoFit/>
          </a:bodyPr>
          <a:lstStyle/>
          <a:p>
            <a:r>
              <a:rPr lang="en-US" sz="2400">
                <a:latin typeface="Arial" panose="020B0604020202020204" pitchFamily="34" charset="0"/>
                <a:cs typeface="Arial" panose="020B0604020202020204" pitchFamily="34" charset="0"/>
              </a:rPr>
              <a:t>Một lớp con có thể kế thừa từ </a:t>
            </a:r>
            <a:r>
              <a:rPr lang="en-US" sz="2400" b="1">
                <a:latin typeface="Arial" panose="020B0604020202020204" pitchFamily="34" charset="0"/>
                <a:cs typeface="Arial" panose="020B0604020202020204" pitchFamily="34" charset="0"/>
              </a:rPr>
              <a:t>nhiều</a:t>
            </a:r>
            <a:r>
              <a:rPr lang="en-US" sz="2400">
                <a:latin typeface="Arial" panose="020B0604020202020204" pitchFamily="34" charset="0"/>
                <a:cs typeface="Arial" panose="020B0604020202020204" pitchFamily="34" charset="0"/>
              </a:rPr>
              <a:t> lớp cha cùng một lúc</a:t>
            </a:r>
          </a:p>
        </p:txBody>
      </p:sp>
      <p:pic>
        <p:nvPicPr>
          <p:cNvPr id="3" name="Picture 2">
            <a:extLst>
              <a:ext uri="{FF2B5EF4-FFF2-40B4-BE49-F238E27FC236}">
                <a16:creationId xmlns:a16="http://schemas.microsoft.com/office/drawing/2014/main" id="{FFD6814E-6CA0-3F2C-3DC6-C658C7288548}"/>
              </a:ext>
            </a:extLst>
          </p:cNvPr>
          <p:cNvPicPr>
            <a:picLocks noChangeAspect="1"/>
          </p:cNvPicPr>
          <p:nvPr/>
        </p:nvPicPr>
        <p:blipFill>
          <a:blip r:embed="rId2"/>
          <a:stretch>
            <a:fillRect/>
          </a:stretch>
        </p:blipFill>
        <p:spPr>
          <a:xfrm>
            <a:off x="762000" y="55264"/>
            <a:ext cx="7753350" cy="2981325"/>
          </a:xfrm>
          <a:prstGeom prst="rect">
            <a:avLst/>
          </a:prstGeom>
          <a:ln w="19050">
            <a:solidFill>
              <a:schemeClr val="accent1"/>
            </a:solidFill>
          </a:ln>
        </p:spPr>
      </p:pic>
      <p:pic>
        <p:nvPicPr>
          <p:cNvPr id="7" name="Picture 6">
            <a:extLst>
              <a:ext uri="{FF2B5EF4-FFF2-40B4-BE49-F238E27FC236}">
                <a16:creationId xmlns:a16="http://schemas.microsoft.com/office/drawing/2014/main" id="{246B4CC5-E3C1-0BB4-EE03-9A62CE7370B6}"/>
              </a:ext>
            </a:extLst>
          </p:cNvPr>
          <p:cNvPicPr>
            <a:picLocks noChangeAspect="1"/>
          </p:cNvPicPr>
          <p:nvPr/>
        </p:nvPicPr>
        <p:blipFill>
          <a:blip r:embed="rId3"/>
          <a:stretch>
            <a:fillRect/>
          </a:stretch>
        </p:blipFill>
        <p:spPr>
          <a:xfrm>
            <a:off x="762000" y="3188453"/>
            <a:ext cx="7753350" cy="2428875"/>
          </a:xfrm>
          <a:prstGeom prst="rect">
            <a:avLst/>
          </a:prstGeom>
          <a:ln w="19050">
            <a:solidFill>
              <a:schemeClr val="accent1"/>
            </a:solidFill>
          </a:ln>
        </p:spPr>
      </p:pic>
    </p:spTree>
    <p:extLst>
      <p:ext uri="{BB962C8B-B14F-4D97-AF65-F5344CB8AC3E}">
        <p14:creationId xmlns:p14="http://schemas.microsoft.com/office/powerpoint/2010/main" val="2767355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C45ED-8441-66CE-4BFE-EF2659989542}"/>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07120B24-C16C-78ED-03B7-8E9F17D1D26C}"/>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E0EE8ECD-0CA3-52B6-57E9-79FB5119A0DD}"/>
              </a:ext>
            </a:extLst>
          </p:cNvPr>
          <p:cNvSpPr>
            <a:spLocks noGrp="1"/>
          </p:cNvSpPr>
          <p:nvPr>
            <p:ph type="sldNum" sz="quarter" idx="12"/>
          </p:nvPr>
        </p:nvSpPr>
        <p:spPr/>
        <p:txBody>
          <a:bodyPr/>
          <a:lstStyle/>
          <a:p>
            <a:fld id="{ADD32889-1A4F-4FED-AEC4-AD6BC7117F25}" type="slidenum">
              <a:rPr lang="en-US" smtClean="0"/>
              <a:t>20</a:t>
            </a:fld>
            <a:endParaRPr lang="en-US"/>
          </a:p>
        </p:txBody>
      </p:sp>
      <p:pic>
        <p:nvPicPr>
          <p:cNvPr id="10" name="Picture 9">
            <a:extLst>
              <a:ext uri="{FF2B5EF4-FFF2-40B4-BE49-F238E27FC236}">
                <a16:creationId xmlns:a16="http://schemas.microsoft.com/office/drawing/2014/main" id="{BC163B66-82F9-8FCF-E42E-F7FC55D47050}"/>
              </a:ext>
            </a:extLst>
          </p:cNvPr>
          <p:cNvPicPr>
            <a:picLocks noChangeAspect="1"/>
          </p:cNvPicPr>
          <p:nvPr/>
        </p:nvPicPr>
        <p:blipFill>
          <a:blip r:embed="rId2"/>
          <a:stretch>
            <a:fillRect/>
          </a:stretch>
        </p:blipFill>
        <p:spPr>
          <a:xfrm>
            <a:off x="1141412" y="771525"/>
            <a:ext cx="7572375" cy="2657475"/>
          </a:xfrm>
          <a:prstGeom prst="rect">
            <a:avLst/>
          </a:prstGeom>
          <a:ln w="19050">
            <a:solidFill>
              <a:schemeClr val="accent1"/>
            </a:solidFill>
          </a:ln>
        </p:spPr>
      </p:pic>
    </p:spTree>
    <p:extLst>
      <p:ext uri="{BB962C8B-B14F-4D97-AF65-F5344CB8AC3E}">
        <p14:creationId xmlns:p14="http://schemas.microsoft.com/office/powerpoint/2010/main" val="23033393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ADD4C-C876-86A8-5561-B316C915B25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317AB7CF-179D-EBD8-B274-C993DED04753}"/>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C9BCD16C-6366-EA45-EDCA-4C34DC73581F}"/>
              </a:ext>
            </a:extLst>
          </p:cNvPr>
          <p:cNvSpPr>
            <a:spLocks noGrp="1"/>
          </p:cNvSpPr>
          <p:nvPr>
            <p:ph type="sldNum" sz="quarter" idx="12"/>
          </p:nvPr>
        </p:nvSpPr>
        <p:spPr/>
        <p:txBody>
          <a:bodyPr/>
          <a:lstStyle/>
          <a:p>
            <a:fld id="{ADD32889-1A4F-4FED-AEC4-AD6BC7117F25}" type="slidenum">
              <a:rPr lang="en-US" smtClean="0"/>
              <a:t>21</a:t>
            </a:fld>
            <a:endParaRPr lang="en-US"/>
          </a:p>
        </p:txBody>
      </p:sp>
      <p:pic>
        <p:nvPicPr>
          <p:cNvPr id="11" name="Picture 10">
            <a:extLst>
              <a:ext uri="{FF2B5EF4-FFF2-40B4-BE49-F238E27FC236}">
                <a16:creationId xmlns:a16="http://schemas.microsoft.com/office/drawing/2014/main" id="{65D58B5E-36C0-D4C5-C6F4-B587DFD9F5C3}"/>
              </a:ext>
            </a:extLst>
          </p:cNvPr>
          <p:cNvPicPr>
            <a:picLocks noChangeAspect="1"/>
          </p:cNvPicPr>
          <p:nvPr/>
        </p:nvPicPr>
        <p:blipFill>
          <a:blip r:embed="rId2"/>
          <a:stretch>
            <a:fillRect/>
          </a:stretch>
        </p:blipFill>
        <p:spPr>
          <a:xfrm>
            <a:off x="962025" y="708025"/>
            <a:ext cx="7553325" cy="4629150"/>
          </a:xfrm>
          <a:prstGeom prst="rect">
            <a:avLst/>
          </a:prstGeom>
          <a:ln w="19050">
            <a:solidFill>
              <a:schemeClr val="accent1"/>
            </a:solidFill>
          </a:ln>
        </p:spPr>
      </p:pic>
    </p:spTree>
    <p:extLst>
      <p:ext uri="{BB962C8B-B14F-4D97-AF65-F5344CB8AC3E}">
        <p14:creationId xmlns:p14="http://schemas.microsoft.com/office/powerpoint/2010/main" val="21052471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35A04-3FBB-6E4F-B86A-D254CF765A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25D894-13AE-FB41-742A-41BF243CB81D}"/>
              </a:ext>
            </a:extLst>
          </p:cNvPr>
          <p:cNvSpPr>
            <a:spLocks noGrp="1"/>
          </p:cNvSpPr>
          <p:nvPr>
            <p:ph type="title"/>
          </p:nvPr>
        </p:nvSpPr>
        <p:spPr>
          <a:xfrm>
            <a:off x="844550" y="182903"/>
            <a:ext cx="7886700" cy="718003"/>
          </a:xfrm>
        </p:spPr>
        <p:txBody>
          <a:bodyPr/>
          <a:lstStyle/>
          <a:p>
            <a:pPr algn="ctr"/>
            <a:r>
              <a:rPr lang="en-US"/>
              <a:t>Đa hình(Polymorphism)</a:t>
            </a:r>
            <a:endParaRPr lang="en-US" dirty="0"/>
          </a:p>
        </p:txBody>
      </p:sp>
      <p:sp>
        <p:nvSpPr>
          <p:cNvPr id="4" name="Footer Placeholder 3">
            <a:extLst>
              <a:ext uri="{FF2B5EF4-FFF2-40B4-BE49-F238E27FC236}">
                <a16:creationId xmlns:a16="http://schemas.microsoft.com/office/drawing/2014/main" id="{D0093FDB-F872-31E3-58FF-920B15F0FB4E}"/>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8E27A9BC-2403-A584-7978-4CB9E1336478}"/>
              </a:ext>
            </a:extLst>
          </p:cNvPr>
          <p:cNvSpPr>
            <a:spLocks noGrp="1"/>
          </p:cNvSpPr>
          <p:nvPr>
            <p:ph type="sldNum" sz="quarter" idx="12"/>
          </p:nvPr>
        </p:nvSpPr>
        <p:spPr/>
        <p:txBody>
          <a:bodyPr/>
          <a:lstStyle/>
          <a:p>
            <a:fld id="{ADD32889-1A4F-4FED-AEC4-AD6BC7117F25}" type="slidenum">
              <a:rPr lang="en-US" smtClean="0"/>
              <a:t>22</a:t>
            </a:fld>
            <a:endParaRPr lang="en-US"/>
          </a:p>
        </p:txBody>
      </p:sp>
      <p:sp>
        <p:nvSpPr>
          <p:cNvPr id="7" name="Content Placeholder 6">
            <a:extLst>
              <a:ext uri="{FF2B5EF4-FFF2-40B4-BE49-F238E27FC236}">
                <a16:creationId xmlns:a16="http://schemas.microsoft.com/office/drawing/2014/main" id="{671EC0E4-BEAA-06C5-518E-7D7988BAC778}"/>
              </a:ext>
            </a:extLst>
          </p:cNvPr>
          <p:cNvSpPr>
            <a:spLocks noGrp="1"/>
          </p:cNvSpPr>
          <p:nvPr>
            <p:ph idx="1"/>
          </p:nvPr>
        </p:nvSpPr>
        <p:spPr>
          <a:xfrm>
            <a:off x="628650" y="1083129"/>
            <a:ext cx="8102600" cy="5056186"/>
          </a:xfrm>
        </p:spPr>
        <p:txBody>
          <a:bodyPr>
            <a:normAutofit/>
          </a:bodyPr>
          <a:lstStyle/>
          <a:p>
            <a:pPr algn="just"/>
            <a:r>
              <a:rPr lang="en-US" sz="1800" b="1">
                <a:latin typeface="Arial" panose="020B0604020202020204" pitchFamily="34" charset="0"/>
                <a:cs typeface="Arial" panose="020B0604020202020204" pitchFamily="34" charset="0"/>
              </a:rPr>
              <a:t>Tính đa hình (Polymorphism)</a:t>
            </a:r>
            <a:r>
              <a:rPr lang="en-US" sz="1800">
                <a:latin typeface="Arial" panose="020B0604020202020204" pitchFamily="34" charset="0"/>
                <a:cs typeface="Arial" panose="020B0604020202020204" pitchFamily="34" charset="0"/>
              </a:rPr>
              <a:t>, xuất phát từ tiếng Hy Lạp có nghĩa là "nhiều hình dạng", là một trong bốn trụ cột của OOP.</a:t>
            </a:r>
          </a:p>
          <a:p>
            <a:pPr algn="just"/>
            <a:r>
              <a:rPr lang="en-US" sz="1800">
                <a:latin typeface="Arial" panose="020B0604020202020204" pitchFamily="34" charset="0"/>
                <a:cs typeface="Arial" panose="020B0604020202020204" pitchFamily="34" charset="0"/>
              </a:rPr>
              <a:t>S</a:t>
            </a:r>
            <a:r>
              <a:rPr lang="vi-VN" sz="1800">
                <a:cs typeface="Arial" panose="020B0604020202020204" pitchFamily="34" charset="0"/>
              </a:rPr>
              <a:t>ử dụng cùng một giao diện (như tên phương thức) để thực hiện các hành động khác nhau tùy thuộc vào loại đối tượng.</a:t>
            </a:r>
            <a:endParaRPr lang="en-US" sz="1800">
              <a:latin typeface="Arial" panose="020B0604020202020204" pitchFamily="34" charset="0"/>
              <a:cs typeface="Arial" panose="020B0604020202020204" pitchFamily="34" charset="0"/>
            </a:endParaRPr>
          </a:p>
        </p:txBody>
      </p:sp>
      <p:sp>
        <p:nvSpPr>
          <p:cNvPr id="3" name="Rectangle 2">
            <a:extLst>
              <a:ext uri="{FF2B5EF4-FFF2-40B4-BE49-F238E27FC236}">
                <a16:creationId xmlns:a16="http://schemas.microsoft.com/office/drawing/2014/main" id="{5691A5EB-A6A4-A6AB-0FEE-8004B66E8219}"/>
              </a:ext>
            </a:extLst>
          </p:cNvPr>
          <p:cNvSpPr/>
          <p:nvPr/>
        </p:nvSpPr>
        <p:spPr>
          <a:xfrm>
            <a:off x="3514725" y="2286000"/>
            <a:ext cx="2330450" cy="1473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Đa giác</a:t>
            </a:r>
          </a:p>
          <a:p>
            <a:pPr algn="ctr"/>
            <a:r>
              <a:rPr lang="en-US"/>
              <a:t>-----------------------------</a:t>
            </a:r>
          </a:p>
          <a:p>
            <a:pPr algn="ctr"/>
            <a:r>
              <a:rPr lang="en-US"/>
              <a:t>Tinh_dien_tich()</a:t>
            </a:r>
          </a:p>
        </p:txBody>
      </p:sp>
      <p:sp>
        <p:nvSpPr>
          <p:cNvPr id="6" name="Rectangle 5">
            <a:extLst>
              <a:ext uri="{FF2B5EF4-FFF2-40B4-BE49-F238E27FC236}">
                <a16:creationId xmlns:a16="http://schemas.microsoft.com/office/drawing/2014/main" id="{A48E453C-E13A-21F5-BB9D-390C0ACA22C7}"/>
              </a:ext>
            </a:extLst>
          </p:cNvPr>
          <p:cNvSpPr/>
          <p:nvPr/>
        </p:nvSpPr>
        <p:spPr>
          <a:xfrm>
            <a:off x="1416050" y="4432300"/>
            <a:ext cx="2330450" cy="20192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Hình chữ nhật</a:t>
            </a:r>
          </a:p>
          <a:p>
            <a:pPr algn="ctr"/>
            <a:r>
              <a:rPr lang="en-US" sz="1400"/>
              <a:t>------------------------------</a:t>
            </a:r>
          </a:p>
          <a:p>
            <a:pPr algn="ctr"/>
            <a:r>
              <a:rPr lang="en-US" sz="1400"/>
              <a:t>Dài</a:t>
            </a:r>
          </a:p>
          <a:p>
            <a:pPr algn="ctr"/>
            <a:r>
              <a:rPr lang="en-US" sz="1400"/>
              <a:t>Rộng</a:t>
            </a:r>
          </a:p>
          <a:p>
            <a:pPr algn="ctr"/>
            <a:r>
              <a:rPr lang="en-US" sz="1400"/>
              <a:t>-----------------------------</a:t>
            </a:r>
          </a:p>
          <a:p>
            <a:pPr algn="ctr"/>
            <a:r>
              <a:rPr lang="en-US" sz="1400"/>
              <a:t>Tinh_dien_tich()</a:t>
            </a:r>
          </a:p>
        </p:txBody>
      </p:sp>
      <p:sp>
        <p:nvSpPr>
          <p:cNvPr id="8" name="Isosceles Triangle 7">
            <a:extLst>
              <a:ext uri="{FF2B5EF4-FFF2-40B4-BE49-F238E27FC236}">
                <a16:creationId xmlns:a16="http://schemas.microsoft.com/office/drawing/2014/main" id="{D7E2F7A7-4136-E9CC-149D-1C7BFF3245FA}"/>
              </a:ext>
            </a:extLst>
          </p:cNvPr>
          <p:cNvSpPr/>
          <p:nvPr/>
        </p:nvSpPr>
        <p:spPr>
          <a:xfrm>
            <a:off x="5118100" y="4218328"/>
            <a:ext cx="3505200" cy="2138023"/>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Hình tam giác</a:t>
            </a:r>
          </a:p>
          <a:p>
            <a:pPr algn="ctr"/>
            <a:r>
              <a:rPr lang="en-US" sz="1200"/>
              <a:t>---------------</a:t>
            </a:r>
          </a:p>
          <a:p>
            <a:pPr algn="ctr"/>
            <a:r>
              <a:rPr lang="en-US" sz="1200"/>
              <a:t>Chiều cao</a:t>
            </a:r>
          </a:p>
          <a:p>
            <a:pPr algn="ctr"/>
            <a:r>
              <a:rPr lang="en-US" sz="1200"/>
              <a:t>Đáy</a:t>
            </a:r>
          </a:p>
          <a:p>
            <a:pPr algn="ctr"/>
            <a:r>
              <a:rPr lang="en-US" sz="1200"/>
              <a:t>------------------------Tinh_dien_tich()</a:t>
            </a:r>
          </a:p>
        </p:txBody>
      </p:sp>
      <p:cxnSp>
        <p:nvCxnSpPr>
          <p:cNvPr id="11" name="Straight Arrow Connector 10">
            <a:extLst>
              <a:ext uri="{FF2B5EF4-FFF2-40B4-BE49-F238E27FC236}">
                <a16:creationId xmlns:a16="http://schemas.microsoft.com/office/drawing/2014/main" id="{995A7EB0-2776-A2E0-F37F-66172F603A08}"/>
              </a:ext>
            </a:extLst>
          </p:cNvPr>
          <p:cNvCxnSpPr>
            <a:cxnSpLocks/>
            <a:stCxn id="3" idx="2"/>
            <a:endCxn id="6" idx="0"/>
          </p:cNvCxnSpPr>
          <p:nvPr/>
        </p:nvCxnSpPr>
        <p:spPr>
          <a:xfrm flipH="1">
            <a:off x="2581275" y="3759200"/>
            <a:ext cx="2098675" cy="673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8E85EB3-D326-90F4-50B7-B78E90137ADB}"/>
              </a:ext>
            </a:extLst>
          </p:cNvPr>
          <p:cNvCxnSpPr>
            <a:stCxn id="3" idx="2"/>
            <a:endCxn id="8" idx="0"/>
          </p:cNvCxnSpPr>
          <p:nvPr/>
        </p:nvCxnSpPr>
        <p:spPr>
          <a:xfrm>
            <a:off x="4679950" y="3759200"/>
            <a:ext cx="2190750" cy="4591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Arrow: Right 16">
            <a:extLst>
              <a:ext uri="{FF2B5EF4-FFF2-40B4-BE49-F238E27FC236}">
                <a16:creationId xmlns:a16="http://schemas.microsoft.com/office/drawing/2014/main" id="{2A4A2B44-9836-D034-141D-C24266247028}"/>
              </a:ext>
            </a:extLst>
          </p:cNvPr>
          <p:cNvSpPr/>
          <p:nvPr/>
        </p:nvSpPr>
        <p:spPr>
          <a:xfrm>
            <a:off x="5943600" y="2628900"/>
            <a:ext cx="660400" cy="76517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928B320E-322C-B487-85AB-2AF9CBD9CB07}"/>
              </a:ext>
            </a:extLst>
          </p:cNvPr>
          <p:cNvSpPr txBox="1"/>
          <p:nvPr/>
        </p:nvSpPr>
        <p:spPr>
          <a:xfrm>
            <a:off x="6870700" y="2793036"/>
            <a:ext cx="1752600" cy="369332"/>
          </a:xfrm>
          <a:prstGeom prst="rect">
            <a:avLst/>
          </a:prstGeom>
          <a:noFill/>
          <a:ln w="19050">
            <a:solidFill>
              <a:schemeClr val="accent1">
                <a:shade val="15000"/>
              </a:schemeClr>
            </a:solidFill>
          </a:ln>
        </p:spPr>
        <p:txBody>
          <a:bodyPr wrap="square" rtlCol="0">
            <a:spAutoFit/>
          </a:bodyPr>
          <a:lstStyle/>
          <a:p>
            <a:pPr algn="ctr"/>
            <a:r>
              <a:rPr lang="en-US"/>
              <a:t>Abstract Class</a:t>
            </a:r>
          </a:p>
        </p:txBody>
      </p:sp>
    </p:spTree>
    <p:extLst>
      <p:ext uri="{BB962C8B-B14F-4D97-AF65-F5344CB8AC3E}">
        <p14:creationId xmlns:p14="http://schemas.microsoft.com/office/powerpoint/2010/main" val="9968227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C8A22-3BAD-AAD9-6396-9FFB4EF755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148703-BEA7-F0A2-8869-BB690192F55B}"/>
              </a:ext>
            </a:extLst>
          </p:cNvPr>
          <p:cNvSpPr>
            <a:spLocks noGrp="1"/>
          </p:cNvSpPr>
          <p:nvPr>
            <p:ph type="title"/>
          </p:nvPr>
        </p:nvSpPr>
        <p:spPr>
          <a:xfrm>
            <a:off x="844550" y="182903"/>
            <a:ext cx="7886700" cy="718003"/>
          </a:xfrm>
        </p:spPr>
        <p:txBody>
          <a:bodyPr/>
          <a:lstStyle/>
          <a:p>
            <a:pPr algn="ctr"/>
            <a:r>
              <a:rPr lang="en-US"/>
              <a:t>Đa hình(Polymorphism)</a:t>
            </a:r>
            <a:endParaRPr lang="en-US" dirty="0"/>
          </a:p>
        </p:txBody>
      </p:sp>
      <p:sp>
        <p:nvSpPr>
          <p:cNvPr id="4" name="Footer Placeholder 3">
            <a:extLst>
              <a:ext uri="{FF2B5EF4-FFF2-40B4-BE49-F238E27FC236}">
                <a16:creationId xmlns:a16="http://schemas.microsoft.com/office/drawing/2014/main" id="{BEAF5D79-A3FE-D754-131B-C61EA05E00A6}"/>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7B5B047D-4AC4-3071-BB36-21458CBEFBEF}"/>
              </a:ext>
            </a:extLst>
          </p:cNvPr>
          <p:cNvSpPr>
            <a:spLocks noGrp="1"/>
          </p:cNvSpPr>
          <p:nvPr>
            <p:ph type="sldNum" sz="quarter" idx="12"/>
          </p:nvPr>
        </p:nvSpPr>
        <p:spPr/>
        <p:txBody>
          <a:bodyPr/>
          <a:lstStyle/>
          <a:p>
            <a:fld id="{ADD32889-1A4F-4FED-AEC4-AD6BC7117F25}" type="slidenum">
              <a:rPr lang="en-US" smtClean="0"/>
              <a:t>23</a:t>
            </a:fld>
            <a:endParaRPr lang="en-US"/>
          </a:p>
        </p:txBody>
      </p:sp>
      <p:sp>
        <p:nvSpPr>
          <p:cNvPr id="7" name="Content Placeholder 6">
            <a:extLst>
              <a:ext uri="{FF2B5EF4-FFF2-40B4-BE49-F238E27FC236}">
                <a16:creationId xmlns:a16="http://schemas.microsoft.com/office/drawing/2014/main" id="{F3693D78-30D1-31F1-02BF-7A5D6C8292F2}"/>
              </a:ext>
            </a:extLst>
          </p:cNvPr>
          <p:cNvSpPr>
            <a:spLocks noGrp="1"/>
          </p:cNvSpPr>
          <p:nvPr>
            <p:ph idx="1"/>
          </p:nvPr>
        </p:nvSpPr>
        <p:spPr>
          <a:xfrm>
            <a:off x="628650" y="1083129"/>
            <a:ext cx="8102600" cy="5056186"/>
          </a:xfrm>
        </p:spPr>
        <p:txBody>
          <a:bodyPr>
            <a:normAutofit/>
          </a:bodyPr>
          <a:lstStyle/>
          <a:p>
            <a:pPr algn="just"/>
            <a:r>
              <a:rPr lang="vi-VN" sz="1800" b="1">
                <a:latin typeface="Arial" panose="020B0604020202020204" pitchFamily="34" charset="0"/>
                <a:cs typeface="Arial" panose="020B0604020202020204" pitchFamily="34" charset="0"/>
              </a:rPr>
              <a:t> Lớp trừu tượng (Abstract Class): </a:t>
            </a:r>
            <a:r>
              <a:rPr lang="vi-VN" sz="1800">
                <a:latin typeface="Arial" panose="020B0604020202020204" pitchFamily="34" charset="0"/>
                <a:cs typeface="Arial" panose="020B0604020202020204" pitchFamily="34" charset="0"/>
              </a:rPr>
              <a:t>Là một lớp "chưa hoàn thiện", không thể dùng để tạo đối tượng trực tiếp.</a:t>
            </a:r>
            <a:endParaRPr lang="en-US" sz="1800">
              <a:latin typeface="Arial" panose="020B0604020202020204" pitchFamily="34" charset="0"/>
              <a:cs typeface="Arial" panose="020B0604020202020204" pitchFamily="34" charset="0"/>
            </a:endParaRPr>
          </a:p>
          <a:p>
            <a:pPr algn="just"/>
            <a:r>
              <a:rPr lang="vi-VN" sz="1800">
                <a:latin typeface="Arial" panose="020B0604020202020204" pitchFamily="34" charset="0"/>
                <a:cs typeface="Arial" panose="020B0604020202020204" pitchFamily="34" charset="0"/>
              </a:rPr>
              <a:t>Nó tồn tại để làm một "bản thiết kế" hay "hợp đồng", bắt buộc các lớp con kế thừa từ nó phải triển khai một số phương thức nhất định.</a:t>
            </a:r>
            <a:endParaRPr lang="en-US" sz="1800">
              <a:latin typeface="Arial" panose="020B0604020202020204" pitchFamily="34" charset="0"/>
              <a:cs typeface="Arial" panose="020B0604020202020204" pitchFamily="34" charset="0"/>
            </a:endParaRPr>
          </a:p>
          <a:p>
            <a:pPr algn="just"/>
            <a:r>
              <a:rPr lang="vi-VN" sz="1800">
                <a:latin typeface="Arial" panose="020B0604020202020204" pitchFamily="34" charset="0"/>
                <a:cs typeface="Arial" panose="020B0604020202020204" pitchFamily="34" charset="0"/>
              </a:rPr>
              <a:t>Các phương thức bắt buộc này được gọi là phương thức trừu tượng (abstract methods).</a:t>
            </a:r>
          </a:p>
          <a:p>
            <a:pPr algn="just"/>
            <a:r>
              <a:rPr lang="vi-VN" sz="1800">
                <a:latin typeface="Arial" panose="020B0604020202020204" pitchFamily="34" charset="0"/>
                <a:cs typeface="Arial" panose="020B0604020202020204" pitchFamily="34" charset="0"/>
              </a:rPr>
              <a:t>Để tạo lớp trừu tượng trong Python, chúng ta sử dụng </a:t>
            </a:r>
            <a:r>
              <a:rPr lang="vi-VN" sz="1800" b="1">
                <a:latin typeface="Arial" panose="020B0604020202020204" pitchFamily="34" charset="0"/>
                <a:cs typeface="Arial" panose="020B0604020202020204" pitchFamily="34" charset="0"/>
              </a:rPr>
              <a:t>module abc </a:t>
            </a:r>
            <a:r>
              <a:rPr lang="vi-VN" sz="1800">
                <a:latin typeface="Arial" panose="020B0604020202020204" pitchFamily="34" charset="0"/>
                <a:cs typeface="Arial" panose="020B0604020202020204" pitchFamily="34" charset="0"/>
              </a:rPr>
              <a:t>(Abstract Base Classes).</a:t>
            </a:r>
            <a:endParaRPr lang="en-US" sz="1800">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8C844D6F-D487-9DD2-7DBA-37C77F5CA805}"/>
              </a:ext>
            </a:extLst>
          </p:cNvPr>
          <p:cNvPicPr>
            <a:picLocks noChangeAspect="1"/>
          </p:cNvPicPr>
          <p:nvPr/>
        </p:nvPicPr>
        <p:blipFill>
          <a:blip r:embed="rId2"/>
          <a:stretch>
            <a:fillRect/>
          </a:stretch>
        </p:blipFill>
        <p:spPr>
          <a:xfrm>
            <a:off x="984250" y="3617007"/>
            <a:ext cx="7377321" cy="3104469"/>
          </a:xfrm>
          <a:prstGeom prst="rect">
            <a:avLst/>
          </a:prstGeom>
          <a:ln w="19050">
            <a:solidFill>
              <a:schemeClr val="accent1">
                <a:shade val="15000"/>
              </a:schemeClr>
            </a:solidFill>
          </a:ln>
        </p:spPr>
      </p:pic>
    </p:spTree>
    <p:extLst>
      <p:ext uri="{BB962C8B-B14F-4D97-AF65-F5344CB8AC3E}">
        <p14:creationId xmlns:p14="http://schemas.microsoft.com/office/powerpoint/2010/main" val="39954829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7193D-A058-05EB-3046-8162E77E3A2D}"/>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F48A12CE-3293-3A20-04C5-DA044B17F621}"/>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F5F2F042-D9A2-35B3-103D-99725BB4DD91}"/>
              </a:ext>
            </a:extLst>
          </p:cNvPr>
          <p:cNvSpPr>
            <a:spLocks noGrp="1"/>
          </p:cNvSpPr>
          <p:nvPr>
            <p:ph type="sldNum" sz="quarter" idx="12"/>
          </p:nvPr>
        </p:nvSpPr>
        <p:spPr/>
        <p:txBody>
          <a:bodyPr/>
          <a:lstStyle/>
          <a:p>
            <a:fld id="{ADD32889-1A4F-4FED-AEC4-AD6BC7117F25}" type="slidenum">
              <a:rPr lang="en-US" smtClean="0"/>
              <a:t>24</a:t>
            </a:fld>
            <a:endParaRPr lang="en-US"/>
          </a:p>
        </p:txBody>
      </p:sp>
      <p:pic>
        <p:nvPicPr>
          <p:cNvPr id="8" name="Picture 7">
            <a:extLst>
              <a:ext uri="{FF2B5EF4-FFF2-40B4-BE49-F238E27FC236}">
                <a16:creationId xmlns:a16="http://schemas.microsoft.com/office/drawing/2014/main" id="{5BB2C2B0-8CE7-264A-7A63-38830FDA42D1}"/>
              </a:ext>
            </a:extLst>
          </p:cNvPr>
          <p:cNvPicPr>
            <a:picLocks noChangeAspect="1"/>
          </p:cNvPicPr>
          <p:nvPr/>
        </p:nvPicPr>
        <p:blipFill>
          <a:blip r:embed="rId2"/>
          <a:stretch>
            <a:fillRect/>
          </a:stretch>
        </p:blipFill>
        <p:spPr>
          <a:xfrm>
            <a:off x="906462" y="136524"/>
            <a:ext cx="7820025" cy="2981325"/>
          </a:xfrm>
          <a:prstGeom prst="rect">
            <a:avLst/>
          </a:prstGeom>
          <a:ln w="19050">
            <a:solidFill>
              <a:schemeClr val="accent1">
                <a:shade val="15000"/>
              </a:schemeClr>
            </a:solidFill>
          </a:ln>
        </p:spPr>
      </p:pic>
      <p:pic>
        <p:nvPicPr>
          <p:cNvPr id="10" name="Picture 9">
            <a:extLst>
              <a:ext uri="{FF2B5EF4-FFF2-40B4-BE49-F238E27FC236}">
                <a16:creationId xmlns:a16="http://schemas.microsoft.com/office/drawing/2014/main" id="{D8382DD6-1F10-67B0-CAA3-75895A7654F3}"/>
              </a:ext>
            </a:extLst>
          </p:cNvPr>
          <p:cNvPicPr>
            <a:picLocks noChangeAspect="1"/>
          </p:cNvPicPr>
          <p:nvPr/>
        </p:nvPicPr>
        <p:blipFill>
          <a:blip r:embed="rId3"/>
          <a:stretch>
            <a:fillRect/>
          </a:stretch>
        </p:blipFill>
        <p:spPr>
          <a:xfrm>
            <a:off x="906462" y="3422651"/>
            <a:ext cx="7820025" cy="2933700"/>
          </a:xfrm>
          <a:prstGeom prst="rect">
            <a:avLst/>
          </a:prstGeom>
          <a:ln w="19050">
            <a:solidFill>
              <a:schemeClr val="accent1">
                <a:shade val="15000"/>
              </a:schemeClr>
            </a:solidFill>
          </a:ln>
        </p:spPr>
      </p:pic>
    </p:spTree>
    <p:extLst>
      <p:ext uri="{BB962C8B-B14F-4D97-AF65-F5344CB8AC3E}">
        <p14:creationId xmlns:p14="http://schemas.microsoft.com/office/powerpoint/2010/main" val="40538739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7A6B7-3F7A-56FC-E866-913F5EA8F96D}"/>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028387B6-F7D5-F8C7-1DFA-A3E976C1B421}"/>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A384820B-3194-FD3F-D025-AC3C08E066B9}"/>
              </a:ext>
            </a:extLst>
          </p:cNvPr>
          <p:cNvSpPr>
            <a:spLocks noGrp="1"/>
          </p:cNvSpPr>
          <p:nvPr>
            <p:ph type="sldNum" sz="quarter" idx="12"/>
          </p:nvPr>
        </p:nvSpPr>
        <p:spPr/>
        <p:txBody>
          <a:bodyPr/>
          <a:lstStyle/>
          <a:p>
            <a:fld id="{ADD32889-1A4F-4FED-AEC4-AD6BC7117F25}" type="slidenum">
              <a:rPr lang="en-US" smtClean="0"/>
              <a:t>25</a:t>
            </a:fld>
            <a:endParaRPr lang="en-US"/>
          </a:p>
        </p:txBody>
      </p:sp>
      <p:pic>
        <p:nvPicPr>
          <p:cNvPr id="3" name="Picture 2">
            <a:extLst>
              <a:ext uri="{FF2B5EF4-FFF2-40B4-BE49-F238E27FC236}">
                <a16:creationId xmlns:a16="http://schemas.microsoft.com/office/drawing/2014/main" id="{A89734E1-E414-4DDE-0628-403EBD83E130}"/>
              </a:ext>
            </a:extLst>
          </p:cNvPr>
          <p:cNvPicPr>
            <a:picLocks noChangeAspect="1"/>
          </p:cNvPicPr>
          <p:nvPr/>
        </p:nvPicPr>
        <p:blipFill>
          <a:blip r:embed="rId2"/>
          <a:stretch>
            <a:fillRect/>
          </a:stretch>
        </p:blipFill>
        <p:spPr>
          <a:xfrm>
            <a:off x="779462" y="542925"/>
            <a:ext cx="8067675" cy="4171950"/>
          </a:xfrm>
          <a:prstGeom prst="rect">
            <a:avLst/>
          </a:prstGeom>
          <a:ln w="19050">
            <a:solidFill>
              <a:schemeClr val="accent1">
                <a:shade val="15000"/>
              </a:schemeClr>
            </a:solidFill>
          </a:ln>
        </p:spPr>
      </p:pic>
    </p:spTree>
    <p:extLst>
      <p:ext uri="{BB962C8B-B14F-4D97-AF65-F5344CB8AC3E}">
        <p14:creationId xmlns:p14="http://schemas.microsoft.com/office/powerpoint/2010/main" val="36260055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79EA6-3348-6C07-403F-102E4F42D2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B75A00-CE5D-7838-6163-4CDAD157299C}"/>
              </a:ext>
            </a:extLst>
          </p:cNvPr>
          <p:cNvSpPr>
            <a:spLocks noGrp="1"/>
          </p:cNvSpPr>
          <p:nvPr>
            <p:ph type="title"/>
          </p:nvPr>
        </p:nvSpPr>
        <p:spPr>
          <a:xfrm>
            <a:off x="311150" y="219983"/>
            <a:ext cx="9010650" cy="718003"/>
          </a:xfrm>
        </p:spPr>
        <p:txBody>
          <a:bodyPr>
            <a:normAutofit fontScale="90000"/>
          </a:bodyPr>
          <a:lstStyle/>
          <a:p>
            <a:pPr algn="ctr"/>
            <a:r>
              <a:rPr lang="en-US"/>
              <a:t>Nạp chồng toán tử (Operator Overloading)</a:t>
            </a:r>
            <a:endParaRPr lang="en-US" dirty="0"/>
          </a:p>
        </p:txBody>
      </p:sp>
      <p:sp>
        <p:nvSpPr>
          <p:cNvPr id="12" name="TextBox 11">
            <a:extLst>
              <a:ext uri="{FF2B5EF4-FFF2-40B4-BE49-F238E27FC236}">
                <a16:creationId xmlns:a16="http://schemas.microsoft.com/office/drawing/2014/main" id="{03BE6563-B616-9FB2-1E56-55818C6040EA}"/>
              </a:ext>
            </a:extLst>
          </p:cNvPr>
          <p:cNvSpPr txBox="1"/>
          <p:nvPr/>
        </p:nvSpPr>
        <p:spPr>
          <a:xfrm>
            <a:off x="635000" y="937986"/>
            <a:ext cx="8051800" cy="1323439"/>
          </a:xfrm>
          <a:prstGeom prst="rect">
            <a:avLst/>
          </a:prstGeom>
          <a:noFill/>
        </p:spPr>
        <p:txBody>
          <a:bodyPr wrap="square" rtlCol="0">
            <a:spAutoFit/>
          </a:bodyPr>
          <a:lstStyle/>
          <a:p>
            <a:pPr marL="285750" indent="-285750" algn="just">
              <a:buFont typeface="Arial" panose="020B0604020202020204" pitchFamily="34" charset="0"/>
              <a:buChar char="•"/>
            </a:pPr>
            <a:r>
              <a:rPr lang="vi-VN" sz="2000"/>
              <a:t>Đây là một dạng đa hình đặc biệt, cho phép định nghĩa lại cách các toán tử (+, -, *, ==, &gt;) hoạt động với các đối tượng tự tạo ra.</a:t>
            </a:r>
            <a:endParaRPr lang="en-US" sz="2000"/>
          </a:p>
          <a:p>
            <a:pPr marL="285750" indent="-285750" algn="just">
              <a:buFont typeface="Arial" panose="020B0604020202020204" pitchFamily="34" charset="0"/>
              <a:buChar char="•"/>
            </a:pPr>
            <a:r>
              <a:rPr lang="vi-VN" sz="2000"/>
              <a:t>Điều này được thực hiện bằng cách triển khai các "phương thức đặc biệt" (dunder methods) trong lớp.</a:t>
            </a:r>
            <a:endParaRPr lang="en-US" sz="2000"/>
          </a:p>
        </p:txBody>
      </p:sp>
      <p:pic>
        <p:nvPicPr>
          <p:cNvPr id="13" name="Picture 12">
            <a:extLst>
              <a:ext uri="{FF2B5EF4-FFF2-40B4-BE49-F238E27FC236}">
                <a16:creationId xmlns:a16="http://schemas.microsoft.com/office/drawing/2014/main" id="{3D0088D4-22B1-70B3-97AE-45FAC7EC8C83}"/>
              </a:ext>
            </a:extLst>
          </p:cNvPr>
          <p:cNvPicPr>
            <a:picLocks noChangeAspect="1"/>
          </p:cNvPicPr>
          <p:nvPr/>
        </p:nvPicPr>
        <p:blipFill>
          <a:blip r:embed="rId2"/>
          <a:stretch>
            <a:fillRect/>
          </a:stretch>
        </p:blipFill>
        <p:spPr>
          <a:xfrm>
            <a:off x="1240211" y="2261425"/>
            <a:ext cx="6663577" cy="4456113"/>
          </a:xfrm>
          <a:prstGeom prst="rect">
            <a:avLst/>
          </a:prstGeom>
          <a:ln w="19050">
            <a:solidFill>
              <a:schemeClr val="accent1">
                <a:shade val="15000"/>
              </a:schemeClr>
            </a:solidFill>
          </a:ln>
        </p:spPr>
      </p:pic>
    </p:spTree>
    <p:extLst>
      <p:ext uri="{BB962C8B-B14F-4D97-AF65-F5344CB8AC3E}">
        <p14:creationId xmlns:p14="http://schemas.microsoft.com/office/powerpoint/2010/main" val="17365927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110343"/>
            <a:ext cx="7886700" cy="5334000"/>
          </a:xfrm>
        </p:spPr>
        <p:txBody>
          <a:bodyPr>
            <a:normAutofit fontScale="55000" lnSpcReduction="20000"/>
          </a:bodyPr>
          <a:lstStyle/>
          <a:p>
            <a:pPr marL="0" indent="0">
              <a:lnSpc>
                <a:spcPct val="100000"/>
              </a:lnSpc>
              <a:buNone/>
            </a:pPr>
            <a:r>
              <a:rPr lang="en-US" sz="3500">
                <a:latin typeface="Courier New" panose="02070309020205020404" pitchFamily="49" charset="0"/>
                <a:cs typeface="Courier New" panose="02070309020205020404" pitchFamily="49" charset="0"/>
              </a:rPr>
              <a:t>class </a:t>
            </a:r>
            <a:r>
              <a:rPr lang="en-US" sz="3500" dirty="0" err="1">
                <a:latin typeface="Courier New" panose="02070309020205020404" pitchFamily="49" charset="0"/>
                <a:cs typeface="Courier New" panose="02070309020205020404" pitchFamily="49" charset="0"/>
              </a:rPr>
              <a:t>SoPhuc</a:t>
            </a:r>
            <a:r>
              <a:rPr lang="en-US" sz="3500" dirty="0">
                <a:latin typeface="Courier New" panose="02070309020205020404" pitchFamily="49" charset="0"/>
                <a:cs typeface="Courier New" panose="02070309020205020404" pitchFamily="49" charset="0"/>
              </a:rPr>
              <a:t>:</a:t>
            </a:r>
          </a:p>
          <a:p>
            <a:pPr marL="0" indent="0">
              <a:lnSpc>
                <a:spcPct val="100000"/>
              </a:lnSpc>
              <a:buNone/>
            </a:pPr>
            <a:r>
              <a:rPr lang="en-US" sz="3500" dirty="0">
                <a:latin typeface="Courier New" panose="02070309020205020404" pitchFamily="49" charset="0"/>
                <a:cs typeface="Courier New" panose="02070309020205020404" pitchFamily="49" charset="0"/>
              </a:rPr>
              <a:t>    </a:t>
            </a:r>
            <a:r>
              <a:rPr lang="en-US" sz="3500" dirty="0" err="1">
                <a:latin typeface="Courier New" panose="02070309020205020404" pitchFamily="49" charset="0"/>
                <a:cs typeface="Courier New" panose="02070309020205020404" pitchFamily="49" charset="0"/>
              </a:rPr>
              <a:t>def</a:t>
            </a:r>
            <a:r>
              <a:rPr lang="en-US" sz="3500" dirty="0">
                <a:latin typeface="Courier New" panose="02070309020205020404" pitchFamily="49" charset="0"/>
                <a:cs typeface="Courier New" panose="02070309020205020404" pitchFamily="49" charset="0"/>
              </a:rPr>
              <a:t> __</a:t>
            </a:r>
            <a:r>
              <a:rPr lang="en-US" sz="3500" dirty="0" err="1">
                <a:latin typeface="Courier New" panose="02070309020205020404" pitchFamily="49" charset="0"/>
                <a:cs typeface="Courier New" panose="02070309020205020404" pitchFamily="49" charset="0"/>
              </a:rPr>
              <a:t>init</a:t>
            </a:r>
            <a:r>
              <a:rPr lang="en-US" sz="3500" dirty="0">
                <a:latin typeface="Courier New" panose="02070309020205020404" pitchFamily="49" charset="0"/>
                <a:cs typeface="Courier New" panose="02070309020205020404" pitchFamily="49" charset="0"/>
              </a:rPr>
              <a:t>__(self, </a:t>
            </a:r>
            <a:r>
              <a:rPr lang="en-US" sz="3500" dirty="0" err="1">
                <a:latin typeface="Courier New" panose="02070309020205020404" pitchFamily="49" charset="0"/>
                <a:cs typeface="Courier New" panose="02070309020205020404" pitchFamily="49" charset="0"/>
              </a:rPr>
              <a:t>thuc</a:t>
            </a:r>
            <a:r>
              <a:rPr lang="en-US" sz="3500" dirty="0">
                <a:latin typeface="Courier New" panose="02070309020205020404" pitchFamily="49" charset="0"/>
                <a:cs typeface="Courier New" panose="02070309020205020404" pitchFamily="49" charset="0"/>
              </a:rPr>
              <a:t>, </a:t>
            </a:r>
            <a:r>
              <a:rPr lang="en-US" sz="3500" dirty="0" err="1">
                <a:latin typeface="Courier New" panose="02070309020205020404" pitchFamily="49" charset="0"/>
                <a:cs typeface="Courier New" panose="02070309020205020404" pitchFamily="49" charset="0"/>
              </a:rPr>
              <a:t>ao</a:t>
            </a:r>
            <a:r>
              <a:rPr lang="en-US" sz="3500" dirty="0">
                <a:latin typeface="Courier New" panose="02070309020205020404" pitchFamily="49" charset="0"/>
                <a:cs typeface="Courier New" panose="02070309020205020404" pitchFamily="49" charset="0"/>
              </a:rPr>
              <a:t>):</a:t>
            </a:r>
          </a:p>
          <a:p>
            <a:pPr marL="0" indent="0">
              <a:lnSpc>
                <a:spcPct val="100000"/>
              </a:lnSpc>
              <a:buNone/>
            </a:pPr>
            <a:r>
              <a:rPr lang="en-US" sz="3500" dirty="0">
                <a:latin typeface="Courier New" panose="02070309020205020404" pitchFamily="49" charset="0"/>
                <a:cs typeface="Courier New" panose="02070309020205020404" pitchFamily="49" charset="0"/>
              </a:rPr>
              <a:t>        </a:t>
            </a:r>
            <a:r>
              <a:rPr lang="en-US" sz="3500" dirty="0" err="1">
                <a:latin typeface="Courier New" panose="02070309020205020404" pitchFamily="49" charset="0"/>
                <a:cs typeface="Courier New" panose="02070309020205020404" pitchFamily="49" charset="0"/>
              </a:rPr>
              <a:t>self.thuc</a:t>
            </a:r>
            <a:r>
              <a:rPr lang="en-US" sz="3500" dirty="0">
                <a:latin typeface="Courier New" panose="02070309020205020404" pitchFamily="49" charset="0"/>
                <a:cs typeface="Courier New" panose="02070309020205020404" pitchFamily="49" charset="0"/>
              </a:rPr>
              <a:t>, self.ao=</a:t>
            </a:r>
            <a:r>
              <a:rPr lang="en-US" sz="3500" dirty="0" err="1">
                <a:latin typeface="Courier New" panose="02070309020205020404" pitchFamily="49" charset="0"/>
                <a:cs typeface="Courier New" panose="02070309020205020404" pitchFamily="49" charset="0"/>
              </a:rPr>
              <a:t>thuc,ao</a:t>
            </a:r>
            <a:endParaRPr lang="en-US" sz="3500" dirty="0">
              <a:latin typeface="Courier New" panose="02070309020205020404" pitchFamily="49" charset="0"/>
              <a:cs typeface="Courier New" panose="02070309020205020404" pitchFamily="49" charset="0"/>
            </a:endParaRPr>
          </a:p>
          <a:p>
            <a:pPr marL="0" indent="0">
              <a:lnSpc>
                <a:spcPct val="100000"/>
              </a:lnSpc>
              <a:buNone/>
            </a:pPr>
            <a:r>
              <a:rPr lang="en-US" sz="3500" dirty="0">
                <a:latin typeface="Courier New" panose="02070309020205020404" pitchFamily="49" charset="0"/>
                <a:cs typeface="Courier New" panose="02070309020205020404" pitchFamily="49" charset="0"/>
              </a:rPr>
              <a:t>    </a:t>
            </a:r>
            <a:r>
              <a:rPr lang="en-US" sz="3500" dirty="0" err="1">
                <a:latin typeface="Courier New" panose="02070309020205020404" pitchFamily="49" charset="0"/>
                <a:cs typeface="Courier New" panose="02070309020205020404" pitchFamily="49" charset="0"/>
              </a:rPr>
              <a:t>def</a:t>
            </a:r>
            <a:r>
              <a:rPr lang="en-US" sz="3500" dirty="0">
                <a:latin typeface="Courier New" panose="02070309020205020404" pitchFamily="49" charset="0"/>
                <a:cs typeface="Courier New" panose="02070309020205020404" pitchFamily="49" charset="0"/>
              </a:rPr>
              <a:t> __</a:t>
            </a:r>
            <a:r>
              <a:rPr lang="en-US" sz="3500" dirty="0" err="1">
                <a:latin typeface="Courier New" panose="02070309020205020404" pitchFamily="49" charset="0"/>
                <a:cs typeface="Courier New" panose="02070309020205020404" pitchFamily="49" charset="0"/>
              </a:rPr>
              <a:t>str</a:t>
            </a:r>
            <a:r>
              <a:rPr lang="en-US" sz="3500" dirty="0">
                <a:latin typeface="Courier New" panose="02070309020205020404" pitchFamily="49" charset="0"/>
                <a:cs typeface="Courier New" panose="02070309020205020404" pitchFamily="49" charset="0"/>
              </a:rPr>
              <a:t>__(self):</a:t>
            </a:r>
          </a:p>
          <a:p>
            <a:pPr marL="0" indent="0">
              <a:lnSpc>
                <a:spcPct val="100000"/>
              </a:lnSpc>
              <a:buNone/>
            </a:pPr>
            <a:r>
              <a:rPr lang="en-US" sz="3500" dirty="0">
                <a:latin typeface="Courier New" panose="02070309020205020404" pitchFamily="49" charset="0"/>
                <a:cs typeface="Courier New" panose="02070309020205020404" pitchFamily="49" charset="0"/>
              </a:rPr>
              <a:t>        if self.ao&gt;=0:</a:t>
            </a:r>
          </a:p>
          <a:p>
            <a:pPr marL="0" indent="0">
              <a:lnSpc>
                <a:spcPct val="100000"/>
              </a:lnSpc>
              <a:buNone/>
            </a:pPr>
            <a:r>
              <a:rPr lang="en-US" sz="3500" dirty="0">
                <a:latin typeface="Courier New" panose="02070309020205020404" pitchFamily="49" charset="0"/>
                <a:cs typeface="Courier New" panose="02070309020205020404" pitchFamily="49" charset="0"/>
              </a:rPr>
              <a:t>            return "{}+{}</a:t>
            </a:r>
            <a:r>
              <a:rPr lang="en-US" sz="3500" dirty="0" err="1">
                <a:latin typeface="Courier New" panose="02070309020205020404" pitchFamily="49" charset="0"/>
                <a:cs typeface="Courier New" panose="02070309020205020404" pitchFamily="49" charset="0"/>
              </a:rPr>
              <a:t>i</a:t>
            </a:r>
            <a:r>
              <a:rPr lang="en-US" sz="3500" dirty="0">
                <a:latin typeface="Courier New" panose="02070309020205020404" pitchFamily="49" charset="0"/>
                <a:cs typeface="Courier New" panose="02070309020205020404" pitchFamily="49" charset="0"/>
              </a:rPr>
              <a:t>".format(</a:t>
            </a:r>
            <a:r>
              <a:rPr lang="en-US" sz="3500" dirty="0" err="1">
                <a:latin typeface="Courier New" panose="02070309020205020404" pitchFamily="49" charset="0"/>
                <a:cs typeface="Courier New" panose="02070309020205020404" pitchFamily="49" charset="0"/>
              </a:rPr>
              <a:t>self.thuc,self.ao</a:t>
            </a:r>
            <a:r>
              <a:rPr lang="en-US" sz="3500" dirty="0">
                <a:latin typeface="Courier New" panose="02070309020205020404" pitchFamily="49" charset="0"/>
                <a:cs typeface="Courier New" panose="02070309020205020404" pitchFamily="49" charset="0"/>
              </a:rPr>
              <a:t>)</a:t>
            </a:r>
          </a:p>
          <a:p>
            <a:pPr marL="0" indent="0">
              <a:lnSpc>
                <a:spcPct val="100000"/>
              </a:lnSpc>
              <a:buNone/>
            </a:pPr>
            <a:r>
              <a:rPr lang="en-US" sz="3500" dirty="0">
                <a:latin typeface="Courier New" panose="02070309020205020404" pitchFamily="49" charset="0"/>
                <a:cs typeface="Courier New" panose="02070309020205020404" pitchFamily="49" charset="0"/>
              </a:rPr>
              <a:t>        return "{}{}</a:t>
            </a:r>
            <a:r>
              <a:rPr lang="en-US" sz="3500" dirty="0" err="1">
                <a:latin typeface="Courier New" panose="02070309020205020404" pitchFamily="49" charset="0"/>
                <a:cs typeface="Courier New" panose="02070309020205020404" pitchFamily="49" charset="0"/>
              </a:rPr>
              <a:t>i</a:t>
            </a:r>
            <a:r>
              <a:rPr lang="en-US" sz="3500" dirty="0">
                <a:latin typeface="Courier New" panose="02070309020205020404" pitchFamily="49" charset="0"/>
                <a:cs typeface="Courier New" panose="02070309020205020404" pitchFamily="49" charset="0"/>
              </a:rPr>
              <a:t>".format(</a:t>
            </a:r>
            <a:r>
              <a:rPr lang="en-US" sz="3500" dirty="0" err="1">
                <a:latin typeface="Courier New" panose="02070309020205020404" pitchFamily="49" charset="0"/>
                <a:cs typeface="Courier New" panose="02070309020205020404" pitchFamily="49" charset="0"/>
              </a:rPr>
              <a:t>self.thuc,self.ao</a:t>
            </a:r>
            <a:r>
              <a:rPr lang="en-US" sz="3500" dirty="0">
                <a:latin typeface="Courier New" panose="02070309020205020404" pitchFamily="49" charset="0"/>
                <a:cs typeface="Courier New" panose="02070309020205020404" pitchFamily="49" charset="0"/>
              </a:rPr>
              <a:t>)</a:t>
            </a:r>
          </a:p>
          <a:p>
            <a:pPr marL="0" indent="0">
              <a:lnSpc>
                <a:spcPct val="100000"/>
              </a:lnSpc>
              <a:buNone/>
            </a:pPr>
            <a:r>
              <a:rPr lang="en-US" sz="3500" dirty="0">
                <a:latin typeface="Courier New" panose="02070309020205020404" pitchFamily="49" charset="0"/>
                <a:cs typeface="Courier New" panose="02070309020205020404" pitchFamily="49" charset="0"/>
              </a:rPr>
              <a:t>    </a:t>
            </a:r>
            <a:r>
              <a:rPr lang="en-US" sz="3500" dirty="0" err="1">
                <a:solidFill>
                  <a:srgbClr val="0000FF"/>
                </a:solidFill>
                <a:latin typeface="Courier New" panose="02070309020205020404" pitchFamily="49" charset="0"/>
                <a:cs typeface="Courier New" panose="02070309020205020404" pitchFamily="49" charset="0"/>
              </a:rPr>
              <a:t>def</a:t>
            </a:r>
            <a:r>
              <a:rPr lang="en-US" sz="3500" dirty="0">
                <a:solidFill>
                  <a:srgbClr val="0000FF"/>
                </a:solidFill>
                <a:latin typeface="Courier New" panose="02070309020205020404" pitchFamily="49" charset="0"/>
                <a:cs typeface="Courier New" panose="02070309020205020404" pitchFamily="49" charset="0"/>
              </a:rPr>
              <a:t> __add__(self</a:t>
            </a:r>
            <a:r>
              <a:rPr lang="en-US" sz="3500">
                <a:solidFill>
                  <a:srgbClr val="0000FF"/>
                </a:solidFill>
                <a:latin typeface="Courier New" panose="02070309020205020404" pitchFamily="49" charset="0"/>
                <a:cs typeface="Courier New" panose="02070309020205020404" pitchFamily="49" charset="0"/>
              </a:rPr>
              <a:t>, other):</a:t>
            </a:r>
            <a:endParaRPr lang="en-US" sz="3500" dirty="0">
              <a:solidFill>
                <a:srgbClr val="0000FF"/>
              </a:solidFill>
              <a:latin typeface="Courier New" panose="02070309020205020404" pitchFamily="49" charset="0"/>
              <a:cs typeface="Courier New" panose="02070309020205020404" pitchFamily="49" charset="0"/>
            </a:endParaRPr>
          </a:p>
          <a:p>
            <a:pPr marL="0" indent="0">
              <a:lnSpc>
                <a:spcPct val="100000"/>
              </a:lnSpc>
              <a:buNone/>
            </a:pPr>
            <a:r>
              <a:rPr lang="en-US" sz="3500" dirty="0">
                <a:solidFill>
                  <a:srgbClr val="0000FF"/>
                </a:solidFill>
                <a:latin typeface="Courier New" panose="02070309020205020404" pitchFamily="49" charset="0"/>
                <a:cs typeface="Courier New" panose="02070309020205020404" pitchFamily="49" charset="0"/>
              </a:rPr>
              <a:t>        return </a:t>
            </a:r>
            <a:r>
              <a:rPr lang="en-US" sz="3500" dirty="0" err="1">
                <a:solidFill>
                  <a:srgbClr val="0000FF"/>
                </a:solidFill>
                <a:latin typeface="Courier New" panose="02070309020205020404" pitchFamily="49" charset="0"/>
                <a:cs typeface="Courier New" panose="02070309020205020404" pitchFamily="49" charset="0"/>
              </a:rPr>
              <a:t>SoPhuc</a:t>
            </a:r>
            <a:r>
              <a:rPr lang="en-US" sz="3500" dirty="0">
                <a:solidFill>
                  <a:srgbClr val="0000FF"/>
                </a:solidFill>
                <a:latin typeface="Courier New" panose="02070309020205020404" pitchFamily="49" charset="0"/>
                <a:cs typeface="Courier New" panose="02070309020205020404" pitchFamily="49" charset="0"/>
              </a:rPr>
              <a:t>(</a:t>
            </a:r>
            <a:r>
              <a:rPr lang="en-US" sz="3500" dirty="0" err="1">
                <a:solidFill>
                  <a:srgbClr val="0000FF"/>
                </a:solidFill>
                <a:latin typeface="Courier New" panose="02070309020205020404" pitchFamily="49" charset="0"/>
                <a:cs typeface="Courier New" panose="02070309020205020404" pitchFamily="49" charset="0"/>
              </a:rPr>
              <a:t>self.</a:t>
            </a:r>
            <a:r>
              <a:rPr lang="en-US" sz="3500" err="1">
                <a:solidFill>
                  <a:srgbClr val="0000FF"/>
                </a:solidFill>
                <a:latin typeface="Courier New" panose="02070309020205020404" pitchFamily="49" charset="0"/>
                <a:cs typeface="Courier New" panose="02070309020205020404" pitchFamily="49" charset="0"/>
              </a:rPr>
              <a:t>thuc</a:t>
            </a:r>
            <a:r>
              <a:rPr lang="en-US" sz="3500">
                <a:solidFill>
                  <a:srgbClr val="0000FF"/>
                </a:solidFill>
                <a:latin typeface="Courier New" panose="02070309020205020404" pitchFamily="49" charset="0"/>
                <a:cs typeface="Courier New" panose="02070309020205020404" pitchFamily="49" charset="0"/>
              </a:rPr>
              <a:t>+other.</a:t>
            </a:r>
            <a:r>
              <a:rPr lang="en-US" sz="3500" dirty="0" err="1">
                <a:solidFill>
                  <a:srgbClr val="0000FF"/>
                </a:solidFill>
                <a:latin typeface="Courier New" panose="02070309020205020404" pitchFamily="49" charset="0"/>
                <a:cs typeface="Courier New" panose="02070309020205020404" pitchFamily="49" charset="0"/>
              </a:rPr>
              <a:t>thuc</a:t>
            </a:r>
            <a:r>
              <a:rPr lang="en-US" sz="3500" dirty="0">
                <a:solidFill>
                  <a:srgbClr val="0000FF"/>
                </a:solidFill>
                <a:latin typeface="Courier New" panose="02070309020205020404" pitchFamily="49" charset="0"/>
                <a:cs typeface="Courier New" panose="02070309020205020404" pitchFamily="49" charset="0"/>
              </a:rPr>
              <a:t>, self.</a:t>
            </a:r>
            <a:r>
              <a:rPr lang="en-US" sz="3500">
                <a:solidFill>
                  <a:srgbClr val="0000FF"/>
                </a:solidFill>
                <a:latin typeface="Courier New" panose="02070309020205020404" pitchFamily="49" charset="0"/>
                <a:cs typeface="Courier New" panose="02070309020205020404" pitchFamily="49" charset="0"/>
              </a:rPr>
              <a:t>ao+other.</a:t>
            </a:r>
            <a:r>
              <a:rPr lang="en-US" sz="3500" dirty="0">
                <a:solidFill>
                  <a:srgbClr val="0000FF"/>
                </a:solidFill>
                <a:latin typeface="Courier New" panose="02070309020205020404" pitchFamily="49" charset="0"/>
                <a:cs typeface="Courier New" panose="02070309020205020404" pitchFamily="49" charset="0"/>
              </a:rPr>
              <a:t>ao)</a:t>
            </a:r>
          </a:p>
          <a:p>
            <a:pPr marL="0" indent="0">
              <a:lnSpc>
                <a:spcPct val="100000"/>
              </a:lnSpc>
              <a:buNone/>
            </a:pPr>
            <a:r>
              <a:rPr lang="en-US" sz="3500" dirty="0">
                <a:latin typeface="Courier New" panose="02070309020205020404" pitchFamily="49" charset="0"/>
                <a:cs typeface="Courier New" panose="02070309020205020404" pitchFamily="49" charset="0"/>
              </a:rPr>
              <a:t>a=</a:t>
            </a:r>
            <a:r>
              <a:rPr lang="en-US" sz="3500" dirty="0" err="1">
                <a:latin typeface="Courier New" panose="02070309020205020404" pitchFamily="49" charset="0"/>
                <a:cs typeface="Courier New" panose="02070309020205020404" pitchFamily="49" charset="0"/>
              </a:rPr>
              <a:t>SoPhuc</a:t>
            </a:r>
            <a:r>
              <a:rPr lang="en-US" sz="3500" dirty="0">
                <a:latin typeface="Courier New" panose="02070309020205020404" pitchFamily="49" charset="0"/>
                <a:cs typeface="Courier New" panose="02070309020205020404" pitchFamily="49" charset="0"/>
              </a:rPr>
              <a:t>(-3,4)</a:t>
            </a:r>
          </a:p>
          <a:p>
            <a:pPr marL="0" indent="0">
              <a:lnSpc>
                <a:spcPct val="100000"/>
              </a:lnSpc>
              <a:buNone/>
            </a:pPr>
            <a:r>
              <a:rPr lang="en-US" sz="3500" dirty="0">
                <a:latin typeface="Courier New" panose="02070309020205020404" pitchFamily="49" charset="0"/>
                <a:cs typeface="Courier New" panose="02070309020205020404" pitchFamily="49" charset="0"/>
              </a:rPr>
              <a:t>b=</a:t>
            </a:r>
            <a:r>
              <a:rPr lang="en-US" sz="3500" dirty="0" err="1">
                <a:latin typeface="Courier New" panose="02070309020205020404" pitchFamily="49" charset="0"/>
                <a:cs typeface="Courier New" panose="02070309020205020404" pitchFamily="49" charset="0"/>
              </a:rPr>
              <a:t>SoPhuc</a:t>
            </a:r>
            <a:r>
              <a:rPr lang="en-US" sz="3500" dirty="0">
                <a:latin typeface="Courier New" panose="02070309020205020404" pitchFamily="49" charset="0"/>
                <a:cs typeface="Courier New" panose="02070309020205020404" pitchFamily="49" charset="0"/>
              </a:rPr>
              <a:t>(5,-2)</a:t>
            </a:r>
          </a:p>
          <a:p>
            <a:pPr marL="0" indent="0">
              <a:lnSpc>
                <a:spcPct val="100000"/>
              </a:lnSpc>
              <a:buNone/>
            </a:pPr>
            <a:r>
              <a:rPr lang="en-US" sz="3600" dirty="0">
                <a:solidFill>
                  <a:srgbClr val="0000FF"/>
                </a:solidFill>
                <a:latin typeface="Courier New" panose="02070309020205020404" pitchFamily="49" charset="0"/>
                <a:cs typeface="Courier New" panose="02070309020205020404" pitchFamily="49" charset="0"/>
              </a:rPr>
              <a:t>c=</a:t>
            </a:r>
            <a:r>
              <a:rPr lang="en-US" sz="3600" dirty="0" err="1">
                <a:solidFill>
                  <a:srgbClr val="0000FF"/>
                </a:solidFill>
                <a:latin typeface="Courier New" panose="02070309020205020404" pitchFamily="49" charset="0"/>
                <a:cs typeface="Courier New" panose="02070309020205020404" pitchFamily="49" charset="0"/>
              </a:rPr>
              <a:t>a+b</a:t>
            </a:r>
            <a:endParaRPr lang="en-US" sz="3600" dirty="0">
              <a:solidFill>
                <a:srgbClr val="0000FF"/>
              </a:solidFill>
              <a:latin typeface="Courier New" panose="02070309020205020404" pitchFamily="49" charset="0"/>
              <a:cs typeface="Courier New" panose="02070309020205020404" pitchFamily="49" charset="0"/>
            </a:endParaRPr>
          </a:p>
          <a:p>
            <a:pPr marL="0" indent="0">
              <a:lnSpc>
                <a:spcPct val="100000"/>
              </a:lnSpc>
              <a:buNone/>
            </a:pPr>
            <a:r>
              <a:rPr lang="en-US" sz="3500" dirty="0">
                <a:latin typeface="Courier New" panose="02070309020205020404" pitchFamily="49" charset="0"/>
                <a:cs typeface="Courier New" panose="02070309020205020404" pitchFamily="49" charset="0"/>
              </a:rPr>
              <a:t>print(</a:t>
            </a:r>
            <a:r>
              <a:rPr lang="en-US" sz="3500" dirty="0" err="1">
                <a:latin typeface="Courier New" panose="02070309020205020404" pitchFamily="49" charset="0"/>
                <a:cs typeface="Courier New" panose="02070309020205020404" pitchFamily="49" charset="0"/>
              </a:rPr>
              <a:t>a,b,c</a:t>
            </a:r>
            <a:r>
              <a:rPr lang="en-US" sz="3500" dirty="0">
                <a:latin typeface="Courier New" panose="02070309020205020404" pitchFamily="49" charset="0"/>
                <a:cs typeface="Courier New" panose="02070309020205020404" pitchFamily="49" charset="0"/>
              </a:rPr>
              <a:t>)</a:t>
            </a:r>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27</a:t>
            </a:fld>
            <a:endParaRPr lang="en-US"/>
          </a:p>
        </p:txBody>
      </p:sp>
      <p:sp>
        <p:nvSpPr>
          <p:cNvPr id="6" name="Title 1">
            <a:extLst>
              <a:ext uri="{FF2B5EF4-FFF2-40B4-BE49-F238E27FC236}">
                <a16:creationId xmlns:a16="http://schemas.microsoft.com/office/drawing/2014/main" id="{D0F928A7-3F33-E91B-8650-462C04784131}"/>
              </a:ext>
            </a:extLst>
          </p:cNvPr>
          <p:cNvSpPr txBox="1">
            <a:spLocks/>
          </p:cNvSpPr>
          <p:nvPr/>
        </p:nvSpPr>
        <p:spPr>
          <a:xfrm>
            <a:off x="285750" y="136524"/>
            <a:ext cx="9010650" cy="718003"/>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t>Nạp chồng toán tử (Operator Overloading)</a:t>
            </a:r>
            <a:endParaRPr lang="en-US" dirty="0"/>
          </a:p>
        </p:txBody>
      </p:sp>
    </p:spTree>
    <p:extLst>
      <p:ext uri="{BB962C8B-B14F-4D97-AF65-F5344CB8AC3E}">
        <p14:creationId xmlns:p14="http://schemas.microsoft.com/office/powerpoint/2010/main" val="24720979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Một</a:t>
            </a:r>
            <a:r>
              <a:rPr lang="en-US" dirty="0"/>
              <a:t> </a:t>
            </a:r>
            <a:r>
              <a:rPr lang="en-US" dirty="0" err="1"/>
              <a:t>số</a:t>
            </a:r>
            <a:r>
              <a:rPr lang="en-US" dirty="0"/>
              <a:t> </a:t>
            </a:r>
            <a:r>
              <a:rPr lang="en-US" dirty="0" err="1"/>
              <a:t>toán</a:t>
            </a:r>
            <a:r>
              <a:rPr lang="en-US" dirty="0"/>
              <a:t> </a:t>
            </a:r>
            <a:r>
              <a:rPr lang="en-US" dirty="0" err="1"/>
              <a:t>tử</a:t>
            </a:r>
            <a:endParaRPr lang="en-US" dirty="0"/>
          </a:p>
        </p:txBody>
      </p:sp>
      <p:sp>
        <p:nvSpPr>
          <p:cNvPr id="3" name="Content Placeholder 2"/>
          <p:cNvSpPr>
            <a:spLocks noGrp="1"/>
          </p:cNvSpPr>
          <p:nvPr>
            <p:ph sz="half" idx="1"/>
          </p:nvPr>
        </p:nvSpPr>
        <p:spPr>
          <a:xfrm>
            <a:off x="628650" y="1583871"/>
            <a:ext cx="4144736" cy="4593092"/>
          </a:xfrm>
        </p:spPr>
        <p:txBody>
          <a:bodyPr>
            <a:normAutofit/>
          </a:bodyPr>
          <a:lstStyle/>
          <a:p>
            <a:pPr marL="0" indent="0">
              <a:buNone/>
            </a:pPr>
            <a:r>
              <a:rPr lang="en-US" sz="2400" dirty="0"/>
              <a:t>+</a:t>
            </a:r>
            <a:r>
              <a:rPr lang="en-US" sz="2400"/>
              <a:t>	__add</a:t>
            </a:r>
            <a:r>
              <a:rPr lang="en-US" sz="2400" dirty="0"/>
              <a:t>__(self, other)</a:t>
            </a:r>
          </a:p>
          <a:p>
            <a:pPr marL="0" indent="0">
              <a:buNone/>
            </a:pPr>
            <a:r>
              <a:rPr lang="en-US" sz="2400" dirty="0"/>
              <a:t>–	__sub__(self, other)</a:t>
            </a:r>
          </a:p>
          <a:p>
            <a:pPr marL="0" indent="0">
              <a:buNone/>
            </a:pPr>
            <a:r>
              <a:rPr lang="en-US" sz="2400" dirty="0"/>
              <a:t>*	__</a:t>
            </a:r>
            <a:r>
              <a:rPr lang="en-US" sz="2400" dirty="0" err="1"/>
              <a:t>mul</a:t>
            </a:r>
            <a:r>
              <a:rPr lang="en-US" sz="2400" dirty="0"/>
              <a:t>__(self, other)</a:t>
            </a:r>
          </a:p>
          <a:p>
            <a:pPr marL="0" indent="0">
              <a:buNone/>
            </a:pPr>
            <a:r>
              <a:rPr lang="en-US" sz="2400" dirty="0"/>
              <a:t>/	__</a:t>
            </a:r>
            <a:r>
              <a:rPr lang="en-US" sz="2400" dirty="0" err="1"/>
              <a:t>truediv</a:t>
            </a:r>
            <a:r>
              <a:rPr lang="en-US" sz="2400" dirty="0"/>
              <a:t>__(self, other)</a:t>
            </a:r>
          </a:p>
          <a:p>
            <a:pPr marL="0" indent="0">
              <a:buNone/>
            </a:pPr>
            <a:r>
              <a:rPr lang="en-US" sz="2400" dirty="0"/>
              <a:t>//	__</a:t>
            </a:r>
            <a:r>
              <a:rPr lang="en-US" sz="2400" dirty="0" err="1"/>
              <a:t>floordiv</a:t>
            </a:r>
            <a:r>
              <a:rPr lang="en-US" sz="2400" dirty="0"/>
              <a:t>__(self, other)</a:t>
            </a:r>
          </a:p>
          <a:p>
            <a:pPr marL="0" indent="0">
              <a:buNone/>
            </a:pPr>
            <a:r>
              <a:rPr lang="en-US" sz="2400" dirty="0"/>
              <a:t>%	__mod__(self, other)</a:t>
            </a:r>
          </a:p>
          <a:p>
            <a:pPr marL="0" indent="0">
              <a:buNone/>
            </a:pPr>
            <a:r>
              <a:rPr lang="en-US" sz="2400" dirty="0"/>
              <a:t>**	__pow__(self, other)</a:t>
            </a:r>
          </a:p>
        </p:txBody>
      </p:sp>
      <p:sp>
        <p:nvSpPr>
          <p:cNvPr id="6" name="Content Placeholder 5"/>
          <p:cNvSpPr>
            <a:spLocks noGrp="1"/>
          </p:cNvSpPr>
          <p:nvPr>
            <p:ph sz="half" idx="2"/>
          </p:nvPr>
        </p:nvSpPr>
        <p:spPr>
          <a:xfrm>
            <a:off x="4838702" y="1825625"/>
            <a:ext cx="3907971" cy="4351338"/>
          </a:xfrm>
        </p:spPr>
        <p:txBody>
          <a:bodyPr>
            <a:normAutofit/>
          </a:bodyPr>
          <a:lstStyle/>
          <a:p>
            <a:pPr marL="0" indent="0">
              <a:buNone/>
            </a:pPr>
            <a:r>
              <a:rPr lang="en-US" sz="2400" dirty="0"/>
              <a:t>&lt;	__</a:t>
            </a:r>
            <a:r>
              <a:rPr lang="en-US" sz="2400" dirty="0" err="1"/>
              <a:t>lt</a:t>
            </a:r>
            <a:r>
              <a:rPr lang="en-US" sz="2400" dirty="0"/>
              <a:t>____(self, other)</a:t>
            </a:r>
          </a:p>
          <a:p>
            <a:pPr marL="0" indent="0">
              <a:buNone/>
            </a:pPr>
            <a:r>
              <a:rPr lang="en-US" sz="2400" dirty="0"/>
              <a:t>&gt;	__</a:t>
            </a:r>
            <a:r>
              <a:rPr lang="en-US" sz="2400" dirty="0" err="1"/>
              <a:t>gt</a:t>
            </a:r>
            <a:r>
              <a:rPr lang="en-US" sz="2400" dirty="0"/>
              <a:t>__(self, other)</a:t>
            </a:r>
          </a:p>
          <a:p>
            <a:pPr marL="0" indent="0">
              <a:buNone/>
            </a:pPr>
            <a:r>
              <a:rPr lang="en-US" sz="2400" dirty="0"/>
              <a:t>&lt;=	__le__(self, other)</a:t>
            </a:r>
          </a:p>
          <a:p>
            <a:pPr marL="0" indent="0">
              <a:buNone/>
            </a:pPr>
            <a:r>
              <a:rPr lang="en-US" sz="2400" dirty="0"/>
              <a:t>&gt;=	__</a:t>
            </a:r>
            <a:r>
              <a:rPr lang="en-US" sz="2400" dirty="0" err="1"/>
              <a:t>ge</a:t>
            </a:r>
            <a:r>
              <a:rPr lang="en-US" sz="2400" dirty="0"/>
              <a:t>__(self, other)</a:t>
            </a:r>
          </a:p>
          <a:p>
            <a:pPr marL="0" indent="0">
              <a:buNone/>
            </a:pPr>
            <a:r>
              <a:rPr lang="en-US" sz="2400" dirty="0"/>
              <a:t>==	__</a:t>
            </a:r>
            <a:r>
              <a:rPr lang="en-US" sz="2400" dirty="0" err="1"/>
              <a:t>eq</a:t>
            </a:r>
            <a:r>
              <a:rPr lang="en-US" sz="2400" dirty="0"/>
              <a:t>__(self, other)</a:t>
            </a:r>
          </a:p>
          <a:p>
            <a:pPr marL="0" indent="0">
              <a:buNone/>
            </a:pPr>
            <a:r>
              <a:rPr lang="en-US" sz="2400" dirty="0"/>
              <a:t>!=	__ne__(self, other)</a:t>
            </a:r>
          </a:p>
        </p:txBody>
      </p:sp>
      <p:sp>
        <p:nvSpPr>
          <p:cNvPr id="4" name="Footer Placeholder 3"/>
          <p:cNvSpPr>
            <a:spLocks noGrp="1"/>
          </p:cNvSpPr>
          <p:nvPr>
            <p:ph type="ftr" sz="quarter" idx="11"/>
          </p:nvPr>
        </p:nvSpPr>
        <p:spPr/>
        <p:txBody>
          <a:bodyPr/>
          <a:lstStyle/>
          <a:p>
            <a:r>
              <a:rPr lang="en-US" sz="1100"/>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28</a:t>
            </a:fld>
            <a:endParaRPr lang="en-US"/>
          </a:p>
        </p:txBody>
      </p:sp>
    </p:spTree>
    <p:extLst>
      <p:ext uri="{BB962C8B-B14F-4D97-AF65-F5344CB8AC3E}">
        <p14:creationId xmlns:p14="http://schemas.microsoft.com/office/powerpoint/2010/main" val="5421642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Bài</a:t>
            </a:r>
            <a:r>
              <a:rPr lang="en-US" dirty="0"/>
              <a:t> </a:t>
            </a:r>
            <a:r>
              <a:rPr lang="en-US" dirty="0" err="1"/>
              <a:t>tập</a:t>
            </a:r>
            <a:endParaRPr lang="en-US" dirty="0"/>
          </a:p>
        </p:txBody>
      </p:sp>
      <p:sp>
        <p:nvSpPr>
          <p:cNvPr id="3" name="Content Placeholder 2"/>
          <p:cNvSpPr>
            <a:spLocks noGrp="1"/>
          </p:cNvSpPr>
          <p:nvPr>
            <p:ph idx="1"/>
          </p:nvPr>
        </p:nvSpPr>
        <p:spPr/>
        <p:txBody>
          <a:bodyPr/>
          <a:lstStyle/>
          <a:p>
            <a:pPr marL="514350" indent="-514350" algn="just">
              <a:buAutoNum type="arabicPeriod"/>
            </a:pPr>
            <a:r>
              <a:rPr lang="en-US"/>
              <a:t>Viết </a:t>
            </a:r>
            <a:r>
              <a:rPr lang="en-US" dirty="0" err="1"/>
              <a:t>lớp</a:t>
            </a:r>
            <a:r>
              <a:rPr lang="en-US" dirty="0"/>
              <a:t> </a:t>
            </a:r>
            <a:r>
              <a:rPr lang="en-US" dirty="0" err="1"/>
              <a:t>đối</a:t>
            </a:r>
            <a:r>
              <a:rPr lang="en-US" dirty="0"/>
              <a:t> </a:t>
            </a:r>
            <a:r>
              <a:rPr lang="en-US" dirty="0" err="1"/>
              <a:t>tượng</a:t>
            </a:r>
            <a:r>
              <a:rPr lang="en-US" dirty="0"/>
              <a:t> </a:t>
            </a:r>
            <a:r>
              <a:rPr lang="en-US" dirty="0" err="1"/>
              <a:t>biểu</a:t>
            </a:r>
            <a:r>
              <a:rPr lang="en-US" dirty="0"/>
              <a:t> </a:t>
            </a:r>
            <a:r>
              <a:rPr lang="en-US" dirty="0" err="1"/>
              <a:t>diễn</a:t>
            </a:r>
            <a:r>
              <a:rPr lang="en-US" dirty="0"/>
              <a:t> </a:t>
            </a:r>
            <a:r>
              <a:rPr lang="en-US" dirty="0" err="1"/>
              <a:t>số</a:t>
            </a:r>
            <a:r>
              <a:rPr lang="en-US" dirty="0"/>
              <a:t> </a:t>
            </a:r>
            <a:r>
              <a:rPr lang="en-US" dirty="0" err="1"/>
              <a:t>phức</a:t>
            </a:r>
            <a:r>
              <a:rPr lang="en-US" dirty="0"/>
              <a:t> </a:t>
            </a:r>
            <a:r>
              <a:rPr lang="en-US" dirty="0" err="1"/>
              <a:t>và</a:t>
            </a:r>
            <a:r>
              <a:rPr lang="en-US" dirty="0"/>
              <a:t> </a:t>
            </a:r>
            <a:r>
              <a:rPr lang="en-US" dirty="0" err="1"/>
              <a:t>các</a:t>
            </a:r>
            <a:r>
              <a:rPr lang="en-US" dirty="0"/>
              <a:t> </a:t>
            </a:r>
            <a:r>
              <a:rPr lang="en-US" dirty="0" err="1"/>
              <a:t>phương</a:t>
            </a:r>
            <a:r>
              <a:rPr lang="en-US" dirty="0"/>
              <a:t> </a:t>
            </a:r>
            <a:r>
              <a:rPr lang="en-US" dirty="0" err="1"/>
              <a:t>thức</a:t>
            </a:r>
            <a:r>
              <a:rPr lang="en-US" dirty="0"/>
              <a:t> </a:t>
            </a:r>
            <a:r>
              <a:rPr lang="en-US" dirty="0" err="1"/>
              <a:t>cộng</a:t>
            </a:r>
            <a:r>
              <a:rPr lang="en-US" dirty="0"/>
              <a:t> </a:t>
            </a:r>
            <a:r>
              <a:rPr lang="en-US" dirty="0" err="1"/>
              <a:t>trừ</a:t>
            </a:r>
            <a:r>
              <a:rPr lang="en-US" dirty="0"/>
              <a:t> </a:t>
            </a:r>
            <a:r>
              <a:rPr lang="en-US" dirty="0" err="1"/>
              <a:t>nhân</a:t>
            </a:r>
            <a:r>
              <a:rPr lang="en-US" dirty="0"/>
              <a:t> </a:t>
            </a:r>
            <a:r>
              <a:rPr lang="en-US"/>
              <a:t>chia.</a:t>
            </a:r>
          </a:p>
          <a:p>
            <a:pPr marL="514350" indent="-514350" algn="just">
              <a:buAutoNum type="arabicPeriod"/>
            </a:pPr>
            <a:r>
              <a:rPr lang="en-US"/>
              <a:t>Viết </a:t>
            </a:r>
            <a:r>
              <a:rPr lang="en-US" dirty="0" err="1"/>
              <a:t>lớp</a:t>
            </a:r>
            <a:r>
              <a:rPr lang="en-US" dirty="0"/>
              <a:t> Circle </a:t>
            </a:r>
            <a:r>
              <a:rPr lang="en-US" dirty="0" err="1"/>
              <a:t>để</a:t>
            </a:r>
            <a:r>
              <a:rPr lang="en-US" dirty="0"/>
              <a:t> </a:t>
            </a:r>
            <a:r>
              <a:rPr lang="en-US" dirty="0" err="1"/>
              <a:t>biểu</a:t>
            </a:r>
            <a:r>
              <a:rPr lang="en-US" dirty="0"/>
              <a:t> </a:t>
            </a:r>
            <a:r>
              <a:rPr lang="en-US" dirty="0" err="1"/>
              <a:t>diễn</a:t>
            </a:r>
            <a:r>
              <a:rPr lang="en-US" dirty="0"/>
              <a:t> </a:t>
            </a:r>
            <a:r>
              <a:rPr lang="en-US" dirty="0" err="1"/>
              <a:t>đường</a:t>
            </a:r>
            <a:r>
              <a:rPr lang="en-US" dirty="0"/>
              <a:t> </a:t>
            </a:r>
            <a:r>
              <a:rPr lang="en-US" dirty="0" err="1"/>
              <a:t>tròn</a:t>
            </a:r>
            <a:r>
              <a:rPr lang="en-US" dirty="0"/>
              <a:t> </a:t>
            </a:r>
            <a:r>
              <a:rPr lang="en-US" dirty="0" err="1"/>
              <a:t>tâm</a:t>
            </a:r>
            <a:r>
              <a:rPr lang="en-US" dirty="0"/>
              <a:t> o </a:t>
            </a:r>
            <a:r>
              <a:rPr lang="en-US" dirty="0" err="1"/>
              <a:t>bán</a:t>
            </a:r>
            <a:r>
              <a:rPr lang="en-US" dirty="0"/>
              <a:t> </a:t>
            </a:r>
            <a:r>
              <a:rPr lang="en-US" dirty="0" err="1"/>
              <a:t>kính</a:t>
            </a:r>
            <a:r>
              <a:rPr lang="en-US" dirty="0"/>
              <a:t> r </a:t>
            </a:r>
            <a:r>
              <a:rPr lang="en-US" dirty="0" err="1"/>
              <a:t>với</a:t>
            </a:r>
            <a:r>
              <a:rPr lang="en-US" dirty="0"/>
              <a:t> </a:t>
            </a:r>
            <a:r>
              <a:rPr lang="en-US" dirty="0" err="1"/>
              <a:t>các</a:t>
            </a:r>
            <a:r>
              <a:rPr lang="en-US" dirty="0"/>
              <a:t> </a:t>
            </a:r>
            <a:r>
              <a:rPr lang="en-US" dirty="0" err="1"/>
              <a:t>phương</a:t>
            </a:r>
            <a:r>
              <a:rPr lang="en-US" dirty="0"/>
              <a:t> </a:t>
            </a:r>
            <a:r>
              <a:rPr lang="en-US" dirty="0" err="1"/>
              <a:t>thức</a:t>
            </a:r>
            <a:r>
              <a:rPr lang="en-US" dirty="0"/>
              <a:t> </a:t>
            </a:r>
            <a:r>
              <a:rPr lang="en-US" dirty="0" err="1"/>
              <a:t>để</a:t>
            </a:r>
            <a:r>
              <a:rPr lang="en-US" dirty="0"/>
              <a:t> </a:t>
            </a:r>
            <a:r>
              <a:rPr lang="en-US" dirty="0" err="1"/>
              <a:t>tính</a:t>
            </a:r>
            <a:r>
              <a:rPr lang="en-US" dirty="0"/>
              <a:t> </a:t>
            </a:r>
            <a:r>
              <a:rPr lang="en-US" dirty="0" err="1"/>
              <a:t>diện</a:t>
            </a:r>
            <a:r>
              <a:rPr lang="en-US" dirty="0"/>
              <a:t> </a:t>
            </a:r>
            <a:r>
              <a:rPr lang="en-US" dirty="0" err="1"/>
              <a:t>tích</a:t>
            </a:r>
            <a:r>
              <a:rPr lang="en-US" dirty="0"/>
              <a:t>, </a:t>
            </a:r>
            <a:r>
              <a:rPr lang="en-US" dirty="0" err="1"/>
              <a:t>chu</a:t>
            </a:r>
            <a:r>
              <a:rPr lang="en-US" dirty="0"/>
              <a:t> vi. </a:t>
            </a:r>
            <a:r>
              <a:rPr lang="en-US" dirty="0" err="1"/>
              <a:t>Kiểm</a:t>
            </a:r>
            <a:r>
              <a:rPr lang="en-US" dirty="0"/>
              <a:t> </a:t>
            </a:r>
            <a:r>
              <a:rPr lang="en-US" dirty="0" err="1"/>
              <a:t>tra</a:t>
            </a:r>
            <a:r>
              <a:rPr lang="en-US" dirty="0"/>
              <a:t> </a:t>
            </a:r>
            <a:r>
              <a:rPr lang="en-US" dirty="0" err="1"/>
              <a:t>hai</a:t>
            </a:r>
            <a:r>
              <a:rPr lang="en-US" dirty="0"/>
              <a:t> </a:t>
            </a:r>
            <a:r>
              <a:rPr lang="en-US" dirty="0" err="1"/>
              <a:t>đường</a:t>
            </a:r>
            <a:r>
              <a:rPr lang="en-US" dirty="0"/>
              <a:t> </a:t>
            </a:r>
            <a:r>
              <a:rPr lang="en-US" dirty="0" err="1"/>
              <a:t>tròn</a:t>
            </a:r>
            <a:r>
              <a:rPr lang="en-US" dirty="0"/>
              <a:t> </a:t>
            </a:r>
            <a:r>
              <a:rPr lang="en-US" dirty="0" err="1"/>
              <a:t>giao</a:t>
            </a:r>
            <a:r>
              <a:rPr lang="en-US" dirty="0"/>
              <a:t> </a:t>
            </a:r>
            <a:r>
              <a:rPr lang="en-US" dirty="0" err="1"/>
              <a:t>nhau</a:t>
            </a:r>
            <a:r>
              <a:rPr lang="en-US" dirty="0"/>
              <a:t>, </a:t>
            </a:r>
            <a:r>
              <a:rPr lang="en-US" dirty="0" err="1"/>
              <a:t>lồng</a:t>
            </a:r>
            <a:r>
              <a:rPr lang="en-US" dirty="0"/>
              <a:t> </a:t>
            </a:r>
            <a:r>
              <a:rPr lang="en-US" dirty="0" err="1"/>
              <a:t>trong</a:t>
            </a:r>
            <a:r>
              <a:rPr lang="en-US" dirty="0"/>
              <a:t> </a:t>
            </a:r>
            <a:r>
              <a:rPr lang="en-US" dirty="0" err="1"/>
              <a:t>nhau</a:t>
            </a:r>
            <a:r>
              <a:rPr lang="en-US" dirty="0"/>
              <a:t> </a:t>
            </a:r>
            <a:r>
              <a:rPr lang="en-US" dirty="0" err="1"/>
              <a:t>và</a:t>
            </a:r>
            <a:r>
              <a:rPr lang="en-US" dirty="0"/>
              <a:t> </a:t>
            </a:r>
            <a:r>
              <a:rPr lang="en-US" dirty="0" err="1"/>
              <a:t>kiểm</a:t>
            </a:r>
            <a:r>
              <a:rPr lang="en-US" dirty="0"/>
              <a:t> </a:t>
            </a:r>
            <a:r>
              <a:rPr lang="en-US" dirty="0" err="1"/>
              <a:t>tra</a:t>
            </a:r>
            <a:r>
              <a:rPr lang="en-US" dirty="0"/>
              <a:t> </a:t>
            </a:r>
            <a:r>
              <a:rPr lang="en-US" dirty="0" err="1"/>
              <a:t>vị</a:t>
            </a:r>
            <a:r>
              <a:rPr lang="en-US" dirty="0"/>
              <a:t> </a:t>
            </a:r>
            <a:r>
              <a:rPr lang="en-US" dirty="0" err="1"/>
              <a:t>trí</a:t>
            </a:r>
            <a:r>
              <a:rPr lang="en-US" dirty="0"/>
              <a:t> </a:t>
            </a:r>
            <a:r>
              <a:rPr lang="en-US" dirty="0" err="1"/>
              <a:t>tương</a:t>
            </a:r>
            <a:r>
              <a:rPr lang="en-US" dirty="0"/>
              <a:t> </a:t>
            </a:r>
            <a:r>
              <a:rPr lang="en-US" dirty="0" err="1"/>
              <a:t>đối</a:t>
            </a:r>
            <a:r>
              <a:rPr lang="en-US" dirty="0"/>
              <a:t> </a:t>
            </a:r>
            <a:r>
              <a:rPr lang="en-US" dirty="0" err="1"/>
              <a:t>một</a:t>
            </a:r>
            <a:r>
              <a:rPr lang="en-US" dirty="0"/>
              <a:t> </a:t>
            </a:r>
            <a:r>
              <a:rPr lang="en-US" dirty="0" err="1"/>
              <a:t>điểm</a:t>
            </a:r>
            <a:r>
              <a:rPr lang="en-US" dirty="0"/>
              <a:t> </a:t>
            </a:r>
            <a:r>
              <a:rPr lang="en-US" dirty="0" err="1"/>
              <a:t>với</a:t>
            </a:r>
            <a:r>
              <a:rPr lang="en-US" dirty="0"/>
              <a:t> </a:t>
            </a:r>
            <a:r>
              <a:rPr lang="en-US" dirty="0" err="1"/>
              <a:t>đường</a:t>
            </a:r>
            <a:r>
              <a:rPr lang="en-US" dirty="0"/>
              <a:t> </a:t>
            </a:r>
            <a:r>
              <a:rPr lang="en-US" err="1"/>
              <a:t>tròn</a:t>
            </a:r>
            <a:r>
              <a:rPr lang="en-US"/>
              <a:t>.</a:t>
            </a:r>
            <a:endParaRPr lang="en-US"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29</a:t>
            </a:fld>
            <a:endParaRPr lang="en-US"/>
          </a:p>
        </p:txBody>
      </p:sp>
    </p:spTree>
    <p:extLst>
      <p:ext uri="{BB962C8B-B14F-4D97-AF65-F5344CB8AC3E}">
        <p14:creationId xmlns:p14="http://schemas.microsoft.com/office/powerpoint/2010/main" val="681462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09538"/>
            <a:ext cx="7886700" cy="652688"/>
          </a:xfrm>
        </p:spPr>
        <p:txBody>
          <a:bodyPr>
            <a:normAutofit fontScale="90000"/>
          </a:bodyPr>
          <a:lstStyle/>
          <a:p>
            <a:r>
              <a:rPr lang="en-US" dirty="0" err="1"/>
              <a:t>Bài</a:t>
            </a:r>
            <a:r>
              <a:rPr lang="en-US" dirty="0"/>
              <a:t> </a:t>
            </a:r>
            <a:r>
              <a:rPr lang="en-US" dirty="0" err="1"/>
              <a:t>tập</a:t>
            </a:r>
            <a:endParaRPr lang="en-US" dirty="0"/>
          </a:p>
        </p:txBody>
      </p:sp>
      <p:sp>
        <p:nvSpPr>
          <p:cNvPr id="3" name="Content Placeholder 2"/>
          <p:cNvSpPr>
            <a:spLocks noGrp="1"/>
          </p:cNvSpPr>
          <p:nvPr>
            <p:ph idx="1"/>
          </p:nvPr>
        </p:nvSpPr>
        <p:spPr>
          <a:xfrm>
            <a:off x="628650" y="680358"/>
            <a:ext cx="7886700" cy="5496606"/>
          </a:xfrm>
        </p:spPr>
        <p:txBody>
          <a:bodyPr>
            <a:normAutofit fontScale="25000" lnSpcReduction="20000"/>
          </a:bodyPr>
          <a:lstStyle/>
          <a:p>
            <a:pPr marL="0" indent="0">
              <a:buNone/>
            </a:pPr>
            <a:r>
              <a:rPr lang="en-US" sz="6200"/>
              <a:t>3. Viết </a:t>
            </a:r>
            <a:r>
              <a:rPr lang="en-US" sz="6200" dirty="0" err="1"/>
              <a:t>các</a:t>
            </a:r>
            <a:r>
              <a:rPr lang="en-US" sz="6200" dirty="0"/>
              <a:t> </a:t>
            </a:r>
            <a:r>
              <a:rPr lang="en-US" sz="6200" dirty="0" err="1"/>
              <a:t>lớp</a:t>
            </a:r>
            <a:r>
              <a:rPr lang="en-US" sz="6200" dirty="0"/>
              <a:t> </a:t>
            </a:r>
            <a:r>
              <a:rPr lang="en-US" sz="6200" dirty="0" err="1"/>
              <a:t>đối</a:t>
            </a:r>
            <a:r>
              <a:rPr lang="en-US" sz="6200" dirty="0"/>
              <a:t> </a:t>
            </a:r>
            <a:r>
              <a:rPr lang="en-US" sz="6200" dirty="0" err="1"/>
              <a:t>tượng</a:t>
            </a:r>
            <a:r>
              <a:rPr lang="en-US" sz="6200" dirty="0"/>
              <a:t> </a:t>
            </a:r>
            <a:r>
              <a:rPr lang="en-US" sz="6200" dirty="0" err="1"/>
              <a:t>phuc</a:t>
            </a:r>
            <a:r>
              <a:rPr lang="en-US" sz="6200" dirty="0"/>
              <a:t> </a:t>
            </a:r>
            <a:r>
              <a:rPr lang="en-US" sz="6200" dirty="0" err="1"/>
              <a:t>vụ</a:t>
            </a:r>
            <a:r>
              <a:rPr lang="en-US" sz="6200" dirty="0"/>
              <a:t> </a:t>
            </a:r>
            <a:r>
              <a:rPr lang="en-US" sz="6200" dirty="0" err="1"/>
              <a:t>bán</a:t>
            </a:r>
            <a:r>
              <a:rPr lang="en-US" sz="6200" dirty="0"/>
              <a:t> </a:t>
            </a:r>
            <a:r>
              <a:rPr lang="en-US" sz="6200" dirty="0" err="1"/>
              <a:t>hàng</a:t>
            </a:r>
            <a:r>
              <a:rPr lang="en-US" sz="6200" dirty="0"/>
              <a:t>:</a:t>
            </a:r>
          </a:p>
          <a:p>
            <a:r>
              <a:rPr lang="en-US" sz="6200" dirty="0" err="1"/>
              <a:t>Lớp</a:t>
            </a:r>
            <a:r>
              <a:rPr lang="en-US" sz="6200" dirty="0"/>
              <a:t> </a:t>
            </a:r>
            <a:r>
              <a:rPr lang="en-US" sz="6200" err="1"/>
              <a:t>MatHang</a:t>
            </a:r>
            <a:r>
              <a:rPr lang="en-US" sz="6200"/>
              <a:t> chứa thuộc tính </a:t>
            </a:r>
            <a:r>
              <a:rPr lang="en-US" sz="6200" dirty="0" err="1"/>
              <a:t>tên</a:t>
            </a:r>
            <a:r>
              <a:rPr lang="en-US" sz="6200" dirty="0"/>
              <a:t> </a:t>
            </a:r>
            <a:r>
              <a:rPr lang="en-US" sz="6200" dirty="0" err="1"/>
              <a:t>mặt</a:t>
            </a:r>
            <a:r>
              <a:rPr lang="en-US" sz="6200" dirty="0"/>
              <a:t> </a:t>
            </a:r>
            <a:r>
              <a:rPr lang="en-US" sz="6200" dirty="0" err="1"/>
              <a:t>hàng</a:t>
            </a:r>
            <a:r>
              <a:rPr lang="en-US" sz="6200" dirty="0"/>
              <a:t> </a:t>
            </a:r>
            <a:r>
              <a:rPr lang="en-US" sz="6200" err="1"/>
              <a:t>và</a:t>
            </a:r>
            <a:r>
              <a:rPr lang="en-US" sz="6200"/>
              <a:t> giá, phương thức khởi tạo</a:t>
            </a:r>
            <a:endParaRPr lang="en-US" sz="6200" dirty="0"/>
          </a:p>
          <a:p>
            <a:r>
              <a:rPr lang="en-US" sz="6200" err="1"/>
              <a:t>Lớp</a:t>
            </a:r>
            <a:r>
              <a:rPr lang="en-US" sz="6200"/>
              <a:t> DonHang:</a:t>
            </a:r>
          </a:p>
          <a:p>
            <a:pPr marL="0" indent="0">
              <a:buNone/>
            </a:pPr>
            <a:r>
              <a:rPr lang="en-US" sz="6200"/>
              <a:t>Các thuộc tính:  Danh sách các mặt hàng và số lượng tương ứng</a:t>
            </a:r>
          </a:p>
          <a:p>
            <a:pPr marL="0" indent="0">
              <a:buNone/>
            </a:pPr>
            <a:r>
              <a:rPr lang="en-US" sz="6200"/>
              <a:t>Các </a:t>
            </a:r>
            <a:r>
              <a:rPr lang="en-US" sz="6200" dirty="0" err="1"/>
              <a:t>phương</a:t>
            </a:r>
            <a:r>
              <a:rPr lang="en-US" sz="6200" dirty="0"/>
              <a:t> </a:t>
            </a:r>
            <a:r>
              <a:rPr lang="en-US" sz="6200" err="1"/>
              <a:t>thức</a:t>
            </a:r>
            <a:r>
              <a:rPr lang="en-US" sz="6200"/>
              <a:t>:</a:t>
            </a:r>
          </a:p>
          <a:p>
            <a:pPr lvl="1"/>
            <a:r>
              <a:rPr lang="en-US" sz="6200"/>
              <a:t>Khởi tạo</a:t>
            </a:r>
            <a:endParaRPr lang="en-US" sz="6200" dirty="0"/>
          </a:p>
          <a:p>
            <a:pPr lvl="1"/>
            <a:r>
              <a:rPr lang="en-US" sz="6200" dirty="0" err="1"/>
              <a:t>themHang</a:t>
            </a:r>
            <a:r>
              <a:rPr lang="en-US" sz="6200" dirty="0"/>
              <a:t>(self, </a:t>
            </a:r>
            <a:r>
              <a:rPr lang="en-US" sz="6200" dirty="0" err="1"/>
              <a:t>MatHang</a:t>
            </a:r>
            <a:r>
              <a:rPr lang="en-US" sz="6200" dirty="0"/>
              <a:t>, </a:t>
            </a:r>
            <a:r>
              <a:rPr lang="en-US" sz="6200" dirty="0" err="1"/>
              <a:t>soluong</a:t>
            </a:r>
            <a:r>
              <a:rPr lang="en-US" sz="6200" dirty="0"/>
              <a:t>) </a:t>
            </a:r>
            <a:r>
              <a:rPr lang="en-US" sz="6200" dirty="0" err="1"/>
              <a:t>để</a:t>
            </a:r>
            <a:r>
              <a:rPr lang="en-US" sz="6200" dirty="0"/>
              <a:t> </a:t>
            </a:r>
            <a:r>
              <a:rPr lang="en-US" sz="6200" dirty="0" err="1"/>
              <a:t>thêm</a:t>
            </a:r>
            <a:r>
              <a:rPr lang="en-US" sz="6200" dirty="0"/>
              <a:t> </a:t>
            </a:r>
            <a:r>
              <a:rPr lang="en-US" sz="6200" dirty="0" err="1"/>
              <a:t>một</a:t>
            </a:r>
            <a:r>
              <a:rPr lang="en-US" sz="6200" dirty="0"/>
              <a:t> </a:t>
            </a:r>
            <a:r>
              <a:rPr lang="en-US" sz="6200" dirty="0" err="1"/>
              <a:t>mặt</a:t>
            </a:r>
            <a:r>
              <a:rPr lang="en-US" sz="6200" dirty="0"/>
              <a:t> </a:t>
            </a:r>
            <a:r>
              <a:rPr lang="en-US" sz="6200" dirty="0" err="1"/>
              <a:t>hàng</a:t>
            </a:r>
            <a:endParaRPr lang="en-US" sz="6200" dirty="0"/>
          </a:p>
          <a:p>
            <a:pPr lvl="1"/>
            <a:r>
              <a:rPr lang="en-US" sz="6200" dirty="0" err="1"/>
              <a:t>thanhTien</a:t>
            </a:r>
            <a:r>
              <a:rPr lang="en-US" sz="6200" dirty="0"/>
              <a:t>(self): </a:t>
            </a:r>
            <a:r>
              <a:rPr lang="en-US" sz="6200" dirty="0" err="1"/>
              <a:t>trả</a:t>
            </a:r>
            <a:r>
              <a:rPr lang="en-US" sz="6200" dirty="0"/>
              <a:t> </a:t>
            </a:r>
            <a:r>
              <a:rPr lang="en-US" sz="6200" dirty="0" err="1"/>
              <a:t>về</a:t>
            </a:r>
            <a:r>
              <a:rPr lang="en-US" sz="6200" dirty="0"/>
              <a:t> </a:t>
            </a:r>
            <a:r>
              <a:rPr lang="en-US" sz="6200" dirty="0" err="1"/>
              <a:t>thành</a:t>
            </a:r>
            <a:r>
              <a:rPr lang="en-US" sz="6200" dirty="0"/>
              <a:t> </a:t>
            </a:r>
            <a:r>
              <a:rPr lang="en-US" sz="6200" dirty="0" err="1"/>
              <a:t>tiền</a:t>
            </a:r>
            <a:r>
              <a:rPr lang="en-US" sz="6200" dirty="0"/>
              <a:t> </a:t>
            </a:r>
            <a:r>
              <a:rPr lang="en-US" sz="6200" dirty="0" err="1"/>
              <a:t>của</a:t>
            </a:r>
            <a:r>
              <a:rPr lang="en-US" sz="6200" dirty="0"/>
              <a:t> </a:t>
            </a:r>
            <a:r>
              <a:rPr lang="en-US" sz="6200" dirty="0" err="1"/>
              <a:t>đơn</a:t>
            </a:r>
            <a:r>
              <a:rPr lang="en-US" sz="6200" dirty="0"/>
              <a:t> hang</a:t>
            </a:r>
          </a:p>
          <a:p>
            <a:pPr lvl="1"/>
            <a:r>
              <a:rPr lang="en-US" sz="6200" dirty="0" err="1"/>
              <a:t>inDon</a:t>
            </a:r>
            <a:r>
              <a:rPr lang="en-US" sz="6200" dirty="0"/>
              <a:t>(self): in </a:t>
            </a:r>
            <a:r>
              <a:rPr lang="en-US" sz="6200" dirty="0" err="1"/>
              <a:t>ra</a:t>
            </a:r>
            <a:r>
              <a:rPr lang="en-US" sz="6200" dirty="0"/>
              <a:t> </a:t>
            </a:r>
            <a:r>
              <a:rPr lang="en-US" sz="6200" dirty="0" err="1"/>
              <a:t>màn</a:t>
            </a:r>
            <a:r>
              <a:rPr lang="en-US" sz="6200" dirty="0"/>
              <a:t> </a:t>
            </a:r>
            <a:r>
              <a:rPr lang="en-US" sz="6200" dirty="0" err="1"/>
              <a:t>hình</a:t>
            </a:r>
            <a:r>
              <a:rPr lang="en-US" sz="6200" dirty="0"/>
              <a:t> </a:t>
            </a:r>
            <a:r>
              <a:rPr lang="en-US" sz="6200" err="1"/>
              <a:t>đơn</a:t>
            </a:r>
            <a:r>
              <a:rPr lang="en-US" sz="6200"/>
              <a:t> hàng bao gồm cả thành tiền.</a:t>
            </a:r>
          </a:p>
          <a:p>
            <a:r>
              <a:rPr lang="en-US" sz="6200"/>
              <a:t>Viết chương trình chính tạo một danh sách các MatHang, các đơn hàng và in đơn hàng đó ra hình</a:t>
            </a:r>
            <a:endParaRPr lang="en-US" sz="6200" dirty="0"/>
          </a:p>
          <a:p>
            <a:r>
              <a:rPr lang="en-US" sz="6200" dirty="0" err="1"/>
              <a:t>Ví</a:t>
            </a:r>
            <a:r>
              <a:rPr lang="en-US" sz="6200" dirty="0"/>
              <a:t> </a:t>
            </a:r>
            <a:r>
              <a:rPr lang="en-US" sz="6200" err="1"/>
              <a:t>dụ</a:t>
            </a:r>
            <a:r>
              <a:rPr lang="en-US" sz="6200"/>
              <a:t> </a:t>
            </a:r>
            <a:endParaRPr lang="en-US" sz="6200" dirty="0"/>
          </a:p>
          <a:p>
            <a:pPr marL="0" indent="0">
              <a:lnSpc>
                <a:spcPct val="100000"/>
              </a:lnSpc>
              <a:buNone/>
            </a:pPr>
            <a:r>
              <a:rPr lang="en-US" sz="6200" dirty="0">
                <a:latin typeface="Courier New" panose="02070309020205020404" pitchFamily="49" charset="0"/>
                <a:cs typeface="Courier New" panose="02070309020205020404" pitchFamily="49" charset="0"/>
              </a:rPr>
              <a:t>hang=[]</a:t>
            </a:r>
          </a:p>
          <a:p>
            <a:pPr marL="0" indent="0">
              <a:lnSpc>
                <a:spcPct val="100000"/>
              </a:lnSpc>
              <a:buNone/>
            </a:pPr>
            <a:r>
              <a:rPr lang="en-US" sz="6200" err="1">
                <a:latin typeface="Courier New" panose="02070309020205020404" pitchFamily="49" charset="0"/>
                <a:cs typeface="Courier New" panose="02070309020205020404" pitchFamily="49" charset="0"/>
              </a:rPr>
              <a:t>hang</a:t>
            </a:r>
            <a:r>
              <a:rPr lang="en-US" sz="6200">
                <a:latin typeface="Courier New" panose="02070309020205020404" pitchFamily="49" charset="0"/>
                <a:cs typeface="Courier New" panose="02070309020205020404" pitchFamily="49" charset="0"/>
              </a:rPr>
              <a:t>.append(</a:t>
            </a:r>
            <a:r>
              <a:rPr lang="en-US" sz="6200" dirty="0" err="1">
                <a:latin typeface="Courier New" panose="02070309020205020404" pitchFamily="49" charset="0"/>
                <a:cs typeface="Courier New" panose="02070309020205020404" pitchFamily="49" charset="0"/>
              </a:rPr>
              <a:t>MatHang</a:t>
            </a:r>
            <a:r>
              <a:rPr lang="en-US" sz="6200" dirty="0">
                <a:latin typeface="Courier New" panose="02070309020205020404" pitchFamily="49" charset="0"/>
                <a:cs typeface="Courier New" panose="02070309020205020404" pitchFamily="49" charset="0"/>
              </a:rPr>
              <a:t>("Ban </a:t>
            </a:r>
            <a:r>
              <a:rPr lang="en-US" sz="6200" dirty="0" err="1">
                <a:latin typeface="Courier New" panose="02070309020205020404" pitchFamily="49" charset="0"/>
                <a:cs typeface="Courier New" panose="02070309020205020404" pitchFamily="49" charset="0"/>
              </a:rPr>
              <a:t>phim</a:t>
            </a:r>
            <a:r>
              <a:rPr lang="en-US" sz="6200" dirty="0">
                <a:latin typeface="Courier New" panose="02070309020205020404" pitchFamily="49" charset="0"/>
                <a:cs typeface="Courier New" panose="02070309020205020404" pitchFamily="49" charset="0"/>
              </a:rPr>
              <a:t>", 500)</a:t>
            </a:r>
          </a:p>
          <a:p>
            <a:pPr marL="0" indent="0">
              <a:lnSpc>
                <a:spcPct val="100000"/>
              </a:lnSpc>
              <a:buNone/>
            </a:pPr>
            <a:r>
              <a:rPr lang="en-US" sz="6200" err="1">
                <a:latin typeface="Courier New" panose="02070309020205020404" pitchFamily="49" charset="0"/>
                <a:cs typeface="Courier New" panose="02070309020205020404" pitchFamily="49" charset="0"/>
              </a:rPr>
              <a:t>hang</a:t>
            </a:r>
            <a:r>
              <a:rPr lang="en-US" sz="6200">
                <a:latin typeface="Courier New" panose="02070309020205020404" pitchFamily="49" charset="0"/>
                <a:cs typeface="Courier New" panose="02070309020205020404" pitchFamily="49" charset="0"/>
              </a:rPr>
              <a:t>.append(MatHang</a:t>
            </a:r>
            <a:r>
              <a:rPr lang="en-US" sz="6200" dirty="0">
                <a:latin typeface="Courier New" panose="02070309020205020404" pitchFamily="49" charset="0"/>
                <a:cs typeface="Courier New" panose="02070309020205020404" pitchFamily="49" charset="0"/>
              </a:rPr>
              <a:t>("Man hinh",1500)</a:t>
            </a:r>
          </a:p>
          <a:p>
            <a:pPr marL="0" indent="0">
              <a:lnSpc>
                <a:spcPct val="100000"/>
              </a:lnSpc>
              <a:buNone/>
            </a:pPr>
            <a:r>
              <a:rPr lang="en-US" sz="6200" err="1">
                <a:latin typeface="Courier New" panose="02070309020205020404" pitchFamily="49" charset="0"/>
                <a:cs typeface="Courier New" panose="02070309020205020404" pitchFamily="49" charset="0"/>
              </a:rPr>
              <a:t>hang</a:t>
            </a:r>
            <a:r>
              <a:rPr lang="en-US" sz="6200">
                <a:latin typeface="Courier New" panose="02070309020205020404" pitchFamily="49" charset="0"/>
                <a:cs typeface="Courier New" panose="02070309020205020404" pitchFamily="49" charset="0"/>
              </a:rPr>
              <a:t>.append(</a:t>
            </a:r>
            <a:r>
              <a:rPr lang="en-US" sz="6200" dirty="0" err="1">
                <a:latin typeface="Courier New" panose="02070309020205020404" pitchFamily="49" charset="0"/>
                <a:cs typeface="Courier New" panose="02070309020205020404" pitchFamily="49" charset="0"/>
              </a:rPr>
              <a:t>MatHang</a:t>
            </a:r>
            <a:r>
              <a:rPr lang="en-US" sz="6200" dirty="0">
                <a:latin typeface="Courier New" panose="02070309020205020404" pitchFamily="49" charset="0"/>
                <a:cs typeface="Courier New" panose="02070309020205020404" pitchFamily="49" charset="0"/>
              </a:rPr>
              <a:t>("Con </a:t>
            </a:r>
            <a:r>
              <a:rPr lang="en-US" sz="6200" dirty="0" err="1">
                <a:latin typeface="Courier New" panose="02070309020205020404" pitchFamily="49" charset="0"/>
                <a:cs typeface="Courier New" panose="02070309020205020404" pitchFamily="49" charset="0"/>
              </a:rPr>
              <a:t>chuot</a:t>
            </a:r>
            <a:r>
              <a:rPr lang="en-US" sz="6200" dirty="0">
                <a:latin typeface="Courier New" panose="02070309020205020404" pitchFamily="49" charset="0"/>
                <a:cs typeface="Courier New" panose="02070309020205020404" pitchFamily="49" charset="0"/>
              </a:rPr>
              <a:t>", 300)</a:t>
            </a:r>
          </a:p>
          <a:p>
            <a:pPr marL="0" indent="0">
              <a:lnSpc>
                <a:spcPct val="100000"/>
              </a:lnSpc>
              <a:buNone/>
            </a:pPr>
            <a:r>
              <a:rPr lang="en-US" sz="6200" dirty="0">
                <a:latin typeface="Courier New" panose="02070309020205020404" pitchFamily="49" charset="0"/>
                <a:cs typeface="Courier New" panose="02070309020205020404" pitchFamily="49" charset="0"/>
              </a:rPr>
              <a:t>don1=</a:t>
            </a:r>
            <a:r>
              <a:rPr lang="en-US" sz="6200" dirty="0" err="1">
                <a:latin typeface="Courier New" panose="02070309020205020404" pitchFamily="49" charset="0"/>
                <a:cs typeface="Courier New" panose="02070309020205020404" pitchFamily="49" charset="0"/>
              </a:rPr>
              <a:t>DonHang</a:t>
            </a:r>
            <a:r>
              <a:rPr lang="en-US" sz="6200" dirty="0">
                <a:latin typeface="Courier New" panose="02070309020205020404" pitchFamily="49" charset="0"/>
                <a:cs typeface="Courier New" panose="02070309020205020404" pitchFamily="49" charset="0"/>
              </a:rPr>
              <a:t>()</a:t>
            </a:r>
          </a:p>
          <a:p>
            <a:pPr marL="0" indent="0">
              <a:lnSpc>
                <a:spcPct val="100000"/>
              </a:lnSpc>
              <a:buNone/>
            </a:pPr>
            <a:r>
              <a:rPr lang="en-US" sz="6200" dirty="0">
                <a:latin typeface="Courier New" panose="02070309020205020404" pitchFamily="49" charset="0"/>
                <a:cs typeface="Courier New" panose="02070309020205020404" pitchFamily="49" charset="0"/>
              </a:rPr>
              <a:t>don1.themHang(hang[0], 5)</a:t>
            </a:r>
          </a:p>
          <a:p>
            <a:pPr marL="0" indent="0">
              <a:lnSpc>
                <a:spcPct val="100000"/>
              </a:lnSpc>
              <a:buNone/>
            </a:pPr>
            <a:r>
              <a:rPr lang="en-US" sz="6200" dirty="0">
                <a:latin typeface="Courier New" panose="02070309020205020404" pitchFamily="49" charset="0"/>
                <a:cs typeface="Courier New" panose="02070309020205020404" pitchFamily="49" charset="0"/>
              </a:rPr>
              <a:t>don1.themHang(hang[2], 7)</a:t>
            </a:r>
          </a:p>
          <a:p>
            <a:pPr marL="0" indent="0">
              <a:lnSpc>
                <a:spcPct val="100000"/>
              </a:lnSpc>
              <a:buNone/>
            </a:pPr>
            <a:r>
              <a:rPr lang="en-US" sz="6200" dirty="0">
                <a:latin typeface="Courier New" panose="02070309020205020404" pitchFamily="49" charset="0"/>
                <a:cs typeface="Courier New" panose="02070309020205020404" pitchFamily="49" charset="0"/>
              </a:rPr>
              <a:t>don1.inDon()</a:t>
            </a:r>
          </a:p>
          <a:p>
            <a:endParaRPr lang="en-US"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30</a:t>
            </a:fld>
            <a:endParaRPr lang="en-US"/>
          </a:p>
        </p:txBody>
      </p:sp>
    </p:spTree>
    <p:extLst>
      <p:ext uri="{BB962C8B-B14F-4D97-AF65-F5344CB8AC3E}">
        <p14:creationId xmlns:p14="http://schemas.microsoft.com/office/powerpoint/2010/main" val="12375207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50AB3-8AA1-DC76-C616-9B4BF48DE1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05A737-13D4-E265-0DDC-773D5007D0E0}"/>
              </a:ext>
            </a:extLst>
          </p:cNvPr>
          <p:cNvSpPr>
            <a:spLocks noGrp="1"/>
          </p:cNvSpPr>
          <p:nvPr>
            <p:ph type="title"/>
          </p:nvPr>
        </p:nvSpPr>
        <p:spPr>
          <a:xfrm>
            <a:off x="628650" y="20637"/>
            <a:ext cx="7886700" cy="786605"/>
          </a:xfrm>
        </p:spPr>
        <p:txBody>
          <a:bodyPr/>
          <a:lstStyle/>
          <a:p>
            <a:r>
              <a:rPr lang="en-US"/>
              <a:t>Bài tập</a:t>
            </a:r>
          </a:p>
        </p:txBody>
      </p:sp>
      <p:sp>
        <p:nvSpPr>
          <p:cNvPr id="3" name="Content Placeholder 2">
            <a:extLst>
              <a:ext uri="{FF2B5EF4-FFF2-40B4-BE49-F238E27FC236}">
                <a16:creationId xmlns:a16="http://schemas.microsoft.com/office/drawing/2014/main" id="{CB456680-08AA-13E9-DB09-3906A7447C87}"/>
              </a:ext>
            </a:extLst>
          </p:cNvPr>
          <p:cNvSpPr>
            <a:spLocks noGrp="1"/>
          </p:cNvSpPr>
          <p:nvPr>
            <p:ph idx="1"/>
          </p:nvPr>
        </p:nvSpPr>
        <p:spPr>
          <a:xfrm>
            <a:off x="628650" y="648493"/>
            <a:ext cx="8515350" cy="4830763"/>
          </a:xfrm>
        </p:spPr>
        <p:txBody>
          <a:bodyPr>
            <a:normAutofit fontScale="25000" lnSpcReduction="20000"/>
          </a:bodyPr>
          <a:lstStyle/>
          <a:p>
            <a:pPr marL="0" indent="0">
              <a:lnSpc>
                <a:spcPct val="110000"/>
              </a:lnSpc>
              <a:buNone/>
            </a:pPr>
            <a:r>
              <a:rPr lang="en-US" sz="6400">
                <a:latin typeface="Times New Roman" panose="02020603050405020304" pitchFamily="18" charset="0"/>
                <a:cs typeface="Times New Roman" panose="02020603050405020304" pitchFamily="18" charset="0"/>
              </a:rPr>
              <a:t> </a:t>
            </a:r>
            <a:r>
              <a:rPr lang="en-US" sz="6400" b="1">
                <a:solidFill>
                  <a:srgbClr val="000000"/>
                </a:solidFill>
                <a:latin typeface="Times New Roman" panose="02020603050405020304" pitchFamily="18" charset="0"/>
                <a:cs typeface="Times New Roman" panose="02020603050405020304" pitchFamily="18" charset="0"/>
              </a:rPr>
              <a:t>4</a:t>
            </a:r>
            <a:r>
              <a:rPr lang="en-US" sz="6400" b="1" i="0">
                <a:solidFill>
                  <a:srgbClr val="000000"/>
                </a:solidFill>
                <a:effectLst/>
                <a:latin typeface="Times New Roman" panose="02020603050405020304" pitchFamily="18" charset="0"/>
                <a:cs typeface="Times New Roman" panose="02020603050405020304" pitchFamily="18" charset="0"/>
              </a:rPr>
              <a:t>. </a:t>
            </a:r>
            <a:r>
              <a:rPr lang="vi-VN" sz="6400" i="0">
                <a:solidFill>
                  <a:srgbClr val="000000"/>
                </a:solidFill>
                <a:effectLst/>
                <a:latin typeface="Times New Roman" panose="02020603050405020304" pitchFamily="18" charset="0"/>
                <a:cs typeface="Times New Roman" panose="02020603050405020304" pitchFamily="18" charset="0"/>
              </a:rPr>
              <a:t>Loài hoa Iris có 3 kiểu hoa: Iris-setosa, Iris-versicolour và Irisvirginica. Để phân biệt các kiểu hoa này người ta thường dựa vào chiều dài, chiều</a:t>
            </a:r>
          </a:p>
          <a:p>
            <a:pPr marL="0" indent="0">
              <a:lnSpc>
                <a:spcPct val="110000"/>
              </a:lnSpc>
              <a:buNone/>
            </a:pPr>
            <a:r>
              <a:rPr lang="vi-VN" sz="6400" i="0">
                <a:solidFill>
                  <a:srgbClr val="000000"/>
                </a:solidFill>
                <a:effectLst/>
                <a:latin typeface="Times New Roman" panose="02020603050405020304" pitchFamily="18" charset="0"/>
                <a:cs typeface="Times New Roman" panose="02020603050405020304" pitchFamily="18" charset="0"/>
              </a:rPr>
              <a:t>rộng của đài hoa và cánh hoa. Bạn hãy xây dựng lớp Iris bao gồm các thuộc tính:</a:t>
            </a:r>
          </a:p>
          <a:p>
            <a:pPr marL="457200" lvl="1" indent="0">
              <a:lnSpc>
                <a:spcPct val="110000"/>
              </a:lnSpc>
              <a:buNone/>
            </a:pPr>
            <a:r>
              <a:rPr lang="vi-VN" sz="6000" i="0">
                <a:solidFill>
                  <a:srgbClr val="000000"/>
                </a:solidFill>
                <a:effectLst/>
                <a:latin typeface="Times New Roman" panose="02020603050405020304" pitchFamily="18" charset="0"/>
                <a:cs typeface="Times New Roman" panose="02020603050405020304" pitchFamily="18" charset="0"/>
              </a:rPr>
              <a:t>• Chiều dài đài hoa tính theo cm (x1)</a:t>
            </a:r>
          </a:p>
          <a:p>
            <a:pPr marL="457200" lvl="1" indent="0">
              <a:lnSpc>
                <a:spcPct val="110000"/>
              </a:lnSpc>
              <a:buNone/>
            </a:pPr>
            <a:r>
              <a:rPr lang="vi-VN" sz="6000" i="0">
                <a:solidFill>
                  <a:srgbClr val="000000"/>
                </a:solidFill>
                <a:effectLst/>
                <a:latin typeface="Times New Roman" panose="02020603050405020304" pitchFamily="18" charset="0"/>
                <a:cs typeface="Times New Roman" panose="02020603050405020304" pitchFamily="18" charset="0"/>
              </a:rPr>
              <a:t>• Chiều rộng đài hoa tính theo cm (x2)</a:t>
            </a:r>
          </a:p>
          <a:p>
            <a:pPr marL="457200" lvl="1" indent="0">
              <a:lnSpc>
                <a:spcPct val="110000"/>
              </a:lnSpc>
              <a:buNone/>
            </a:pPr>
            <a:r>
              <a:rPr lang="vi-VN" sz="6000" i="0">
                <a:solidFill>
                  <a:srgbClr val="000000"/>
                </a:solidFill>
                <a:effectLst/>
                <a:latin typeface="Times New Roman" panose="02020603050405020304" pitchFamily="18" charset="0"/>
                <a:cs typeface="Times New Roman" panose="02020603050405020304" pitchFamily="18" charset="0"/>
              </a:rPr>
              <a:t>• Chiều dài cánh hoa tính theo cm (x3)</a:t>
            </a:r>
          </a:p>
          <a:p>
            <a:pPr marL="457200" lvl="1" indent="0">
              <a:lnSpc>
                <a:spcPct val="110000"/>
              </a:lnSpc>
              <a:buNone/>
            </a:pPr>
            <a:r>
              <a:rPr lang="vi-VN" sz="6000" i="0">
                <a:solidFill>
                  <a:srgbClr val="000000"/>
                </a:solidFill>
                <a:effectLst/>
                <a:latin typeface="Times New Roman" panose="02020603050405020304" pitchFamily="18" charset="0"/>
                <a:cs typeface="Times New Roman" panose="02020603050405020304" pitchFamily="18" charset="0"/>
              </a:rPr>
              <a:t>• Chiều rộng của cánh hoa tính theo cm (x4)</a:t>
            </a:r>
            <a:endParaRPr lang="en-US" sz="6000" i="0">
              <a:solidFill>
                <a:srgbClr val="000000"/>
              </a:solidFill>
              <a:effectLst/>
              <a:latin typeface="Times New Roman" panose="02020603050405020304" pitchFamily="18" charset="0"/>
              <a:cs typeface="Times New Roman" panose="02020603050405020304" pitchFamily="18" charset="0"/>
            </a:endParaRPr>
          </a:p>
          <a:p>
            <a:pPr marL="457200" lvl="1" indent="0">
              <a:lnSpc>
                <a:spcPct val="110000"/>
              </a:lnSpc>
              <a:buNone/>
            </a:pPr>
            <a:r>
              <a:rPr lang="vi-VN" sz="6400" i="0">
                <a:solidFill>
                  <a:srgbClr val="000000"/>
                </a:solidFill>
                <a:effectLst/>
                <a:latin typeface="Times New Roman" panose="02020603050405020304" pitchFamily="18" charset="0"/>
                <a:cs typeface="Times New Roman" panose="02020603050405020304" pitchFamily="18" charset="0"/>
              </a:rPr>
              <a:t>• Kiểu hoa (C)</a:t>
            </a:r>
          </a:p>
          <a:p>
            <a:pPr marL="0" indent="0">
              <a:lnSpc>
                <a:spcPct val="110000"/>
              </a:lnSpc>
              <a:buNone/>
            </a:pPr>
            <a:r>
              <a:rPr lang="vi-VN" sz="6400" i="0">
                <a:solidFill>
                  <a:srgbClr val="000000"/>
                </a:solidFill>
                <a:effectLst/>
                <a:latin typeface="Times New Roman" panose="02020603050405020304" pitchFamily="18" charset="0"/>
                <a:cs typeface="Times New Roman" panose="02020603050405020304" pitchFamily="18" charset="0"/>
              </a:rPr>
              <a:t>Và các phương thức:</a:t>
            </a:r>
          </a:p>
          <a:p>
            <a:pPr marL="0" indent="0">
              <a:lnSpc>
                <a:spcPct val="110000"/>
              </a:lnSpc>
              <a:buNone/>
            </a:pPr>
            <a:r>
              <a:rPr lang="en-US" sz="6400" i="0">
                <a:solidFill>
                  <a:srgbClr val="000000"/>
                </a:solidFill>
                <a:effectLst/>
                <a:latin typeface="Times New Roman" panose="02020603050405020304" pitchFamily="18" charset="0"/>
                <a:cs typeface="Times New Roman" panose="02020603050405020304" pitchFamily="18" charset="0"/>
              </a:rPr>
              <a:t>         </a:t>
            </a:r>
            <a:r>
              <a:rPr lang="vi-VN" sz="6400" i="0">
                <a:solidFill>
                  <a:srgbClr val="000000"/>
                </a:solidFill>
                <a:effectLst/>
                <a:latin typeface="Times New Roman" panose="02020603050405020304" pitchFamily="18" charset="0"/>
                <a:cs typeface="Times New Roman" panose="02020603050405020304" pitchFamily="18" charset="0"/>
              </a:rPr>
              <a:t>• Phương thức khởi tạo, trường hợp chưa biết kiểu hoa thì gán giá trị mặc định</a:t>
            </a:r>
            <a:r>
              <a:rPr lang="en-US" sz="6400" i="0">
                <a:solidFill>
                  <a:srgbClr val="000000"/>
                </a:solidFill>
                <a:effectLst/>
                <a:latin typeface="Times New Roman" panose="02020603050405020304" pitchFamily="18" charset="0"/>
                <a:cs typeface="Times New Roman" panose="02020603050405020304" pitchFamily="18" charset="0"/>
              </a:rPr>
              <a:t> </a:t>
            </a:r>
            <a:r>
              <a:rPr lang="vi-VN" sz="6400" i="0">
                <a:solidFill>
                  <a:srgbClr val="000000"/>
                </a:solidFill>
                <a:effectLst/>
                <a:latin typeface="Times New Roman" panose="02020603050405020304" pitchFamily="18" charset="0"/>
                <a:cs typeface="Times New Roman" panose="02020603050405020304" pitchFamily="18" charset="0"/>
              </a:rPr>
              <a:t>là None.</a:t>
            </a:r>
            <a:endParaRPr lang="en-US" sz="6400" i="0">
              <a:solidFill>
                <a:srgbClr val="000000"/>
              </a:solidFill>
              <a:effectLst/>
              <a:latin typeface="Times New Roman" panose="02020603050405020304" pitchFamily="18" charset="0"/>
              <a:cs typeface="Times New Roman" panose="02020603050405020304" pitchFamily="18" charset="0"/>
            </a:endParaRPr>
          </a:p>
          <a:p>
            <a:pPr marL="0" indent="0">
              <a:lnSpc>
                <a:spcPct val="110000"/>
              </a:lnSpc>
              <a:buNone/>
            </a:pPr>
            <a:r>
              <a:rPr lang="en-US" sz="6400" i="0">
                <a:solidFill>
                  <a:srgbClr val="000000"/>
                </a:solidFill>
                <a:effectLst/>
                <a:latin typeface="Times New Roman" panose="02020603050405020304" pitchFamily="18" charset="0"/>
                <a:cs typeface="Times New Roman" panose="02020603050405020304" pitchFamily="18" charset="0"/>
              </a:rPr>
              <a:t>         </a:t>
            </a:r>
            <a:r>
              <a:rPr lang="vi-VN" sz="6400" i="0">
                <a:solidFill>
                  <a:srgbClr val="000000"/>
                </a:solidFill>
                <a:effectLst/>
                <a:latin typeface="Times New Roman" panose="02020603050405020304" pitchFamily="18" charset="0"/>
                <a:cs typeface="Times New Roman" panose="02020603050405020304" pitchFamily="18" charset="0"/>
              </a:rPr>
              <a:t>• Phương thức setKieuhoa() để gán giá trị mới cho thuộc tính kiểu hoa.</a:t>
            </a:r>
          </a:p>
          <a:p>
            <a:pPr marL="0" indent="0">
              <a:lnSpc>
                <a:spcPct val="110000"/>
              </a:lnSpc>
              <a:buNone/>
            </a:pPr>
            <a:r>
              <a:rPr lang="en-US" sz="6400" i="0">
                <a:solidFill>
                  <a:srgbClr val="000000"/>
                </a:solidFill>
                <a:effectLst/>
                <a:latin typeface="Times New Roman" panose="02020603050405020304" pitchFamily="18" charset="0"/>
                <a:cs typeface="Times New Roman" panose="02020603050405020304" pitchFamily="18" charset="0"/>
              </a:rPr>
              <a:t>         </a:t>
            </a:r>
            <a:r>
              <a:rPr lang="vi-VN" sz="6400" i="0">
                <a:solidFill>
                  <a:srgbClr val="000000"/>
                </a:solidFill>
                <a:effectLst/>
                <a:latin typeface="Times New Roman" panose="02020603050405020304" pitchFamily="18" charset="0"/>
                <a:cs typeface="Times New Roman" panose="02020603050405020304" pitchFamily="18" charset="0"/>
              </a:rPr>
              <a:t>• Phương thức tính khoảng cách với bông hoa khác dựa vào công thức phía</a:t>
            </a:r>
            <a:r>
              <a:rPr lang="en-US" sz="6400" i="0">
                <a:solidFill>
                  <a:srgbClr val="000000"/>
                </a:solidFill>
                <a:effectLst/>
                <a:latin typeface="Times New Roman" panose="02020603050405020304" pitchFamily="18" charset="0"/>
                <a:cs typeface="Times New Roman" panose="02020603050405020304" pitchFamily="18" charset="0"/>
              </a:rPr>
              <a:t> </a:t>
            </a:r>
            <a:r>
              <a:rPr lang="vi-VN" sz="6400" i="0">
                <a:solidFill>
                  <a:srgbClr val="000000"/>
                </a:solidFill>
                <a:effectLst/>
                <a:latin typeface="Times New Roman" panose="02020603050405020304" pitchFamily="18" charset="0"/>
                <a:cs typeface="Times New Roman" panose="02020603050405020304" pitchFamily="18" charset="0"/>
              </a:rPr>
              <a:t>dưới. Lưu ý giá trị trả về cần làm tròn 2 số sau dấu chấm thập phân.</a:t>
            </a:r>
            <a:br>
              <a:rPr lang="vi-VN" sz="6400">
                <a:latin typeface="Times New Roman" panose="02020603050405020304" pitchFamily="18" charset="0"/>
                <a:cs typeface="Times New Roman" panose="02020603050405020304" pitchFamily="18" charset="0"/>
              </a:rPr>
            </a:br>
            <a:endParaRPr lang="en-US" sz="6400">
              <a:latin typeface="Times New Roman" panose="02020603050405020304" pitchFamily="18" charset="0"/>
              <a:cs typeface="Times New Roman" panose="02020603050405020304" pitchFamily="18" charset="0"/>
            </a:endParaRPr>
          </a:p>
          <a:p>
            <a:pPr marL="0" indent="0">
              <a:lnSpc>
                <a:spcPct val="110000"/>
              </a:lnSpc>
              <a:buNone/>
            </a:pPr>
            <a:endParaRPr lang="en-US" sz="6400">
              <a:latin typeface="Times New Roman" panose="02020603050405020304" pitchFamily="18" charset="0"/>
              <a:cs typeface="Times New Roman" panose="02020603050405020304" pitchFamily="18" charset="0"/>
            </a:endParaRPr>
          </a:p>
          <a:p>
            <a:pPr marL="0" indent="0">
              <a:lnSpc>
                <a:spcPct val="110000"/>
              </a:lnSpc>
              <a:buNone/>
            </a:pPr>
            <a:endParaRPr lang="en-US" sz="6400">
              <a:latin typeface="Times New Roman" panose="02020603050405020304" pitchFamily="18" charset="0"/>
              <a:cs typeface="Times New Roman" panose="02020603050405020304" pitchFamily="18" charset="0"/>
            </a:endParaRPr>
          </a:p>
          <a:p>
            <a:pPr marL="0" indent="0">
              <a:lnSpc>
                <a:spcPct val="110000"/>
              </a:lnSpc>
              <a:buNone/>
            </a:pPr>
            <a:r>
              <a:rPr lang="vi-VN" sz="6400">
                <a:latin typeface="Times New Roman" panose="02020603050405020304" pitchFamily="18" charset="0"/>
                <a:cs typeface="Times New Roman" panose="02020603050405020304" pitchFamily="18" charset="0"/>
              </a:rPr>
              <a:t>trong đó H(xi) và K(xi) là giá trị thuộc tính xi của hai bông hoa H và K</a:t>
            </a:r>
            <a:endParaRPr lang="en-US" sz="6400">
              <a:latin typeface="Times New Roman" panose="02020603050405020304" pitchFamily="18" charset="0"/>
              <a:cs typeface="Times New Roman" panose="02020603050405020304" pitchFamily="18" charset="0"/>
            </a:endParaRPr>
          </a:p>
          <a:p>
            <a:pPr marL="0" indent="0">
              <a:lnSpc>
                <a:spcPct val="110000"/>
              </a:lnSpc>
              <a:buNone/>
            </a:pPr>
            <a:r>
              <a:rPr lang="en-US" sz="6400">
                <a:latin typeface="Times New Roman" panose="02020603050405020304" pitchFamily="18" charset="0"/>
                <a:cs typeface="Times New Roman" panose="02020603050405020304" pitchFamily="18" charset="0"/>
              </a:rPr>
              <a:t>Viết chương trình chính tạo 2 đối tượng thuộc lớp Iris và in ra khoảng cách giữa 2 bông hoa đó.</a:t>
            </a:r>
            <a:endParaRPr lang="en-US" sz="500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95141B81-2DD8-D92A-F45A-23662F4B2123}"/>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A1EE02F1-05D0-A867-D396-9A8A1147B521}"/>
              </a:ext>
            </a:extLst>
          </p:cNvPr>
          <p:cNvSpPr>
            <a:spLocks noGrp="1"/>
          </p:cNvSpPr>
          <p:nvPr>
            <p:ph type="sldNum" sz="quarter" idx="12"/>
          </p:nvPr>
        </p:nvSpPr>
        <p:spPr/>
        <p:txBody>
          <a:bodyPr/>
          <a:lstStyle/>
          <a:p>
            <a:fld id="{ADD32889-1A4F-4FED-AEC4-AD6BC7117F25}" type="slidenum">
              <a:rPr lang="en-US" smtClean="0"/>
              <a:t>31</a:t>
            </a:fld>
            <a:endParaRPr lang="en-US"/>
          </a:p>
        </p:txBody>
      </p:sp>
      <p:pic>
        <p:nvPicPr>
          <p:cNvPr id="6" name="Picture 5">
            <a:extLst>
              <a:ext uri="{FF2B5EF4-FFF2-40B4-BE49-F238E27FC236}">
                <a16:creationId xmlns:a16="http://schemas.microsoft.com/office/drawing/2014/main" id="{BC7F111F-C1BC-BC5C-5BA2-13D591A1E87E}"/>
              </a:ext>
            </a:extLst>
          </p:cNvPr>
          <p:cNvPicPr>
            <a:picLocks noChangeAspect="1"/>
          </p:cNvPicPr>
          <p:nvPr/>
        </p:nvPicPr>
        <p:blipFill>
          <a:blip r:embed="rId2"/>
          <a:stretch>
            <a:fillRect/>
          </a:stretch>
        </p:blipFill>
        <p:spPr>
          <a:xfrm>
            <a:off x="2006600" y="4415632"/>
            <a:ext cx="3714750" cy="847725"/>
          </a:xfrm>
          <a:prstGeom prst="rect">
            <a:avLst/>
          </a:prstGeom>
        </p:spPr>
      </p:pic>
    </p:spTree>
    <p:extLst>
      <p:ext uri="{BB962C8B-B14F-4D97-AF65-F5344CB8AC3E}">
        <p14:creationId xmlns:p14="http://schemas.microsoft.com/office/powerpoint/2010/main" val="39153650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A16EA-79A8-21E1-46D1-D279565579DE}"/>
              </a:ext>
            </a:extLst>
          </p:cNvPr>
          <p:cNvSpPr>
            <a:spLocks noGrp="1"/>
          </p:cNvSpPr>
          <p:nvPr>
            <p:ph type="title"/>
          </p:nvPr>
        </p:nvSpPr>
        <p:spPr>
          <a:xfrm>
            <a:off x="628650" y="20637"/>
            <a:ext cx="7886700" cy="1325563"/>
          </a:xfrm>
        </p:spPr>
        <p:txBody>
          <a:bodyPr/>
          <a:lstStyle/>
          <a:p>
            <a:r>
              <a:rPr lang="en-US"/>
              <a:t>Bài tập</a:t>
            </a:r>
          </a:p>
        </p:txBody>
      </p:sp>
      <p:sp>
        <p:nvSpPr>
          <p:cNvPr id="3" name="Content Placeholder 2">
            <a:extLst>
              <a:ext uri="{FF2B5EF4-FFF2-40B4-BE49-F238E27FC236}">
                <a16:creationId xmlns:a16="http://schemas.microsoft.com/office/drawing/2014/main" id="{04178901-90F7-3007-C42F-3B29F72A26A7}"/>
              </a:ext>
            </a:extLst>
          </p:cNvPr>
          <p:cNvSpPr>
            <a:spLocks noGrp="1"/>
          </p:cNvSpPr>
          <p:nvPr>
            <p:ph idx="1"/>
          </p:nvPr>
        </p:nvSpPr>
        <p:spPr>
          <a:xfrm>
            <a:off x="628650" y="1346200"/>
            <a:ext cx="8515350" cy="4830763"/>
          </a:xfrm>
        </p:spPr>
        <p:txBody>
          <a:bodyPr>
            <a:normAutofit fontScale="25000" lnSpcReduction="20000"/>
          </a:bodyPr>
          <a:lstStyle/>
          <a:p>
            <a:pPr marL="0" indent="0">
              <a:lnSpc>
                <a:spcPct val="110000"/>
              </a:lnSpc>
              <a:buNone/>
            </a:pPr>
            <a:r>
              <a:rPr lang="en-US" sz="6400" b="1" i="0">
                <a:solidFill>
                  <a:srgbClr val="000000"/>
                </a:solidFill>
                <a:effectLst/>
                <a:latin typeface="Times New Roman" panose="02020603050405020304" pitchFamily="18" charset="0"/>
                <a:cs typeface="Times New Roman" panose="02020603050405020304" pitchFamily="18" charset="0"/>
              </a:rPr>
              <a:t>5</a:t>
            </a:r>
            <a:r>
              <a:rPr lang="vi-VN" sz="6400" b="1" i="0">
                <a:solidFill>
                  <a:srgbClr val="000000"/>
                </a:solidFill>
                <a:effectLst/>
                <a:latin typeface="Times New Roman" panose="02020603050405020304" pitchFamily="18" charset="0"/>
                <a:cs typeface="Times New Roman" panose="02020603050405020304" pitchFamily="18" charset="0"/>
              </a:rPr>
              <a:t>. </a:t>
            </a:r>
            <a:r>
              <a:rPr lang="vi-VN" sz="6400" b="0" i="0">
                <a:solidFill>
                  <a:srgbClr val="000000"/>
                </a:solidFill>
                <a:effectLst/>
                <a:latin typeface="Times New Roman" panose="02020603050405020304" pitchFamily="18" charset="0"/>
                <a:cs typeface="Times New Roman" panose="02020603050405020304" pitchFamily="18" charset="0"/>
              </a:rPr>
              <a:t>Cho mô tả của hai lớp </a:t>
            </a:r>
            <a:r>
              <a:rPr lang="vi-VN" sz="6400" b="1" i="0">
                <a:solidFill>
                  <a:srgbClr val="000000"/>
                </a:solidFill>
                <a:effectLst/>
                <a:latin typeface="Times New Roman" panose="02020603050405020304" pitchFamily="18" charset="0"/>
                <a:cs typeface="Times New Roman" panose="02020603050405020304" pitchFamily="18" charset="0"/>
              </a:rPr>
              <a:t>TacGia </a:t>
            </a:r>
            <a:r>
              <a:rPr lang="vi-VN" sz="6400" b="0" i="0">
                <a:solidFill>
                  <a:srgbClr val="000000"/>
                </a:solidFill>
                <a:effectLst/>
                <a:latin typeface="Times New Roman" panose="02020603050405020304" pitchFamily="18" charset="0"/>
                <a:cs typeface="Times New Roman" panose="02020603050405020304" pitchFamily="18" charset="0"/>
              </a:rPr>
              <a:t>và </a:t>
            </a:r>
            <a:r>
              <a:rPr lang="vi-VN" sz="6400" b="1" i="0">
                <a:solidFill>
                  <a:srgbClr val="000000"/>
                </a:solidFill>
                <a:effectLst/>
                <a:latin typeface="Times New Roman" panose="02020603050405020304" pitchFamily="18" charset="0"/>
                <a:cs typeface="Times New Roman" panose="02020603050405020304" pitchFamily="18" charset="0"/>
              </a:rPr>
              <a:t>Sach</a:t>
            </a:r>
            <a:r>
              <a:rPr lang="vi-VN" sz="6400" b="0" i="0">
                <a:solidFill>
                  <a:srgbClr val="000000"/>
                </a:solidFill>
                <a:effectLst/>
                <a:latin typeface="Times New Roman" panose="02020603050405020304" pitchFamily="18" charset="0"/>
                <a:cs typeface="Times New Roman" panose="02020603050405020304" pitchFamily="18" charset="0"/>
              </a:rPr>
              <a:t>, như sau:</a:t>
            </a:r>
          </a:p>
          <a:p>
            <a:pPr marL="0" indent="0">
              <a:lnSpc>
                <a:spcPct val="110000"/>
              </a:lnSpc>
              <a:buNone/>
            </a:pPr>
            <a:r>
              <a:rPr lang="vi-VN" sz="6400" b="0" i="0">
                <a:solidFill>
                  <a:srgbClr val="000000"/>
                </a:solidFill>
                <a:effectLst/>
                <a:latin typeface="Times New Roman" panose="02020603050405020304" pitchFamily="18" charset="0"/>
                <a:cs typeface="Times New Roman" panose="02020603050405020304" pitchFamily="18" charset="0"/>
              </a:rPr>
              <a:t>• Lớp </a:t>
            </a:r>
            <a:r>
              <a:rPr lang="vi-VN" sz="6400" b="1" i="0">
                <a:solidFill>
                  <a:srgbClr val="000000"/>
                </a:solidFill>
                <a:effectLst/>
                <a:latin typeface="Times New Roman" panose="02020603050405020304" pitchFamily="18" charset="0"/>
                <a:cs typeface="Times New Roman" panose="02020603050405020304" pitchFamily="18" charset="0"/>
              </a:rPr>
              <a:t>TacGia </a:t>
            </a:r>
            <a:r>
              <a:rPr lang="vi-VN" sz="6400" b="0" i="0">
                <a:solidFill>
                  <a:srgbClr val="000000"/>
                </a:solidFill>
                <a:effectLst/>
                <a:latin typeface="Times New Roman" panose="02020603050405020304" pitchFamily="18" charset="0"/>
                <a:cs typeface="Times New Roman" panose="02020603050405020304" pitchFamily="18" charset="0"/>
              </a:rPr>
              <a:t>gồm các thuộc tính: </a:t>
            </a:r>
            <a:r>
              <a:rPr lang="vi-VN" sz="6400" b="0" i="1">
                <a:solidFill>
                  <a:srgbClr val="000000"/>
                </a:solidFill>
                <a:effectLst/>
                <a:latin typeface="Times New Roman" panose="02020603050405020304" pitchFamily="18" charset="0"/>
                <a:cs typeface="Times New Roman" panose="02020603050405020304" pitchFamily="18" charset="0"/>
              </a:rPr>
              <a:t>Ten </a:t>
            </a:r>
            <a:r>
              <a:rPr lang="vi-VN" sz="6400" b="0" i="0">
                <a:solidFill>
                  <a:srgbClr val="000000"/>
                </a:solidFill>
                <a:effectLst/>
                <a:latin typeface="Times New Roman" panose="02020603050405020304" pitchFamily="18" charset="0"/>
                <a:cs typeface="Times New Roman" panose="02020603050405020304" pitchFamily="18" charset="0"/>
              </a:rPr>
              <a:t>(tên), </a:t>
            </a:r>
            <a:r>
              <a:rPr lang="vi-VN" sz="6400" b="0" i="1">
                <a:solidFill>
                  <a:srgbClr val="000000"/>
                </a:solidFill>
                <a:effectLst/>
                <a:latin typeface="Times New Roman" panose="02020603050405020304" pitchFamily="18" charset="0"/>
                <a:cs typeface="Times New Roman" panose="02020603050405020304" pitchFamily="18" charset="0"/>
              </a:rPr>
              <a:t>Email</a:t>
            </a:r>
            <a:r>
              <a:rPr lang="vi-VN" sz="6400" b="0" i="0">
                <a:solidFill>
                  <a:srgbClr val="000000"/>
                </a:solidFill>
                <a:effectLst/>
                <a:latin typeface="Times New Roman" panose="02020603050405020304" pitchFamily="18" charset="0"/>
                <a:cs typeface="Times New Roman" panose="02020603050405020304" pitchFamily="18" charset="0"/>
              </a:rPr>
              <a:t>, </a:t>
            </a:r>
            <a:r>
              <a:rPr lang="vi-VN" sz="6400" b="0" i="1">
                <a:solidFill>
                  <a:srgbClr val="000000"/>
                </a:solidFill>
                <a:effectLst/>
                <a:latin typeface="Times New Roman" panose="02020603050405020304" pitchFamily="18" charset="0"/>
                <a:cs typeface="Times New Roman" panose="02020603050405020304" pitchFamily="18" charset="0"/>
              </a:rPr>
              <a:t>GioiTinh </a:t>
            </a:r>
            <a:r>
              <a:rPr lang="vi-VN" sz="6400" b="0" i="0">
                <a:solidFill>
                  <a:srgbClr val="000000"/>
                </a:solidFill>
                <a:effectLst/>
                <a:latin typeface="Times New Roman" panose="02020603050405020304" pitchFamily="18" charset="0"/>
                <a:cs typeface="Times New Roman" panose="02020603050405020304" pitchFamily="18" charset="0"/>
              </a:rPr>
              <a:t>(giới tính)</a:t>
            </a:r>
          </a:p>
          <a:p>
            <a:pPr marL="0" indent="0">
              <a:lnSpc>
                <a:spcPct val="110000"/>
              </a:lnSpc>
              <a:buNone/>
            </a:pPr>
            <a:r>
              <a:rPr lang="vi-VN" sz="6400" b="0" i="0">
                <a:solidFill>
                  <a:srgbClr val="000000"/>
                </a:solidFill>
                <a:effectLst/>
                <a:latin typeface="Times New Roman" panose="02020603050405020304" pitchFamily="18" charset="0"/>
                <a:cs typeface="Times New Roman" panose="02020603050405020304" pitchFamily="18" charset="0"/>
              </a:rPr>
              <a:t>• Lớp </a:t>
            </a:r>
            <a:r>
              <a:rPr lang="vi-VN" sz="6400" b="1" i="0">
                <a:solidFill>
                  <a:srgbClr val="000000"/>
                </a:solidFill>
                <a:effectLst/>
                <a:latin typeface="Times New Roman" panose="02020603050405020304" pitchFamily="18" charset="0"/>
                <a:cs typeface="Times New Roman" panose="02020603050405020304" pitchFamily="18" charset="0"/>
              </a:rPr>
              <a:t>Sach </a:t>
            </a:r>
            <a:r>
              <a:rPr lang="vi-VN" sz="6400" b="0" i="0">
                <a:solidFill>
                  <a:srgbClr val="000000"/>
                </a:solidFill>
                <a:effectLst/>
                <a:latin typeface="Times New Roman" panose="02020603050405020304" pitchFamily="18" charset="0"/>
                <a:cs typeface="Times New Roman" panose="02020603050405020304" pitchFamily="18" charset="0"/>
              </a:rPr>
              <a:t>gồm các thuộc tính: </a:t>
            </a:r>
            <a:r>
              <a:rPr lang="vi-VN" sz="6400" b="0" i="1">
                <a:solidFill>
                  <a:srgbClr val="000000"/>
                </a:solidFill>
                <a:effectLst/>
                <a:latin typeface="Times New Roman" panose="02020603050405020304" pitchFamily="18" charset="0"/>
                <a:cs typeface="Times New Roman" panose="02020603050405020304" pitchFamily="18" charset="0"/>
              </a:rPr>
              <a:t>TieuDe </a:t>
            </a:r>
            <a:r>
              <a:rPr lang="vi-VN" sz="6400" b="0" i="0">
                <a:solidFill>
                  <a:srgbClr val="000000"/>
                </a:solidFill>
                <a:effectLst/>
                <a:latin typeface="Times New Roman" panose="02020603050405020304" pitchFamily="18" charset="0"/>
                <a:cs typeface="Times New Roman" panose="02020603050405020304" pitchFamily="18" charset="0"/>
              </a:rPr>
              <a:t>(Tiêu đề), </a:t>
            </a:r>
            <a:r>
              <a:rPr lang="vi-VN" sz="6400" b="0" i="1">
                <a:solidFill>
                  <a:srgbClr val="000000"/>
                </a:solidFill>
                <a:effectLst/>
                <a:latin typeface="Times New Roman" panose="02020603050405020304" pitchFamily="18" charset="0"/>
                <a:cs typeface="Times New Roman" panose="02020603050405020304" pitchFamily="18" charset="0"/>
              </a:rPr>
              <a:t>DSTacGia </a:t>
            </a:r>
            <a:r>
              <a:rPr lang="vi-VN" sz="6400" b="0" i="0">
                <a:solidFill>
                  <a:srgbClr val="000000"/>
                </a:solidFill>
                <a:effectLst/>
                <a:latin typeface="Times New Roman" panose="02020603050405020304" pitchFamily="18" charset="0"/>
                <a:cs typeface="Times New Roman" panose="02020603050405020304" pitchFamily="18" charset="0"/>
              </a:rPr>
              <a:t>(danh sách tác</a:t>
            </a:r>
            <a:r>
              <a:rPr lang="en-US" sz="6400" b="0" i="0">
                <a:solidFill>
                  <a:srgbClr val="000000"/>
                </a:solidFill>
                <a:effectLst/>
                <a:latin typeface="Times New Roman" panose="02020603050405020304" pitchFamily="18" charset="0"/>
                <a:cs typeface="Times New Roman" panose="02020603050405020304" pitchFamily="18" charset="0"/>
              </a:rPr>
              <a:t> </a:t>
            </a:r>
            <a:r>
              <a:rPr lang="vi-VN" sz="6400" b="0" i="0">
                <a:solidFill>
                  <a:srgbClr val="000000"/>
                </a:solidFill>
                <a:effectLst/>
                <a:latin typeface="Times New Roman" panose="02020603050405020304" pitchFamily="18" charset="0"/>
                <a:cs typeface="Times New Roman" panose="02020603050405020304" pitchFamily="18" charset="0"/>
              </a:rPr>
              <a:t>giả), </a:t>
            </a:r>
            <a:r>
              <a:rPr lang="vi-VN" sz="6400" b="0" i="1">
                <a:solidFill>
                  <a:srgbClr val="000000"/>
                </a:solidFill>
                <a:effectLst/>
                <a:latin typeface="Times New Roman" panose="02020603050405020304" pitchFamily="18" charset="0"/>
                <a:cs typeface="Times New Roman" panose="02020603050405020304" pitchFamily="18" charset="0"/>
              </a:rPr>
              <a:t>NXB </a:t>
            </a:r>
            <a:r>
              <a:rPr lang="vi-VN" sz="6400" b="0" i="0">
                <a:solidFill>
                  <a:srgbClr val="000000"/>
                </a:solidFill>
                <a:effectLst/>
                <a:latin typeface="Times New Roman" panose="02020603050405020304" pitchFamily="18" charset="0"/>
                <a:cs typeface="Times New Roman" panose="02020603050405020304" pitchFamily="18" charset="0"/>
              </a:rPr>
              <a:t>(nhà xuất bản), </a:t>
            </a:r>
            <a:r>
              <a:rPr lang="vi-VN" sz="6400" b="0" i="1">
                <a:solidFill>
                  <a:srgbClr val="000000"/>
                </a:solidFill>
                <a:effectLst/>
                <a:latin typeface="Times New Roman" panose="02020603050405020304" pitchFamily="18" charset="0"/>
                <a:cs typeface="Times New Roman" panose="02020603050405020304" pitchFamily="18" charset="0"/>
              </a:rPr>
              <a:t>GiaBan </a:t>
            </a:r>
            <a:r>
              <a:rPr lang="vi-VN" sz="6400" b="0" i="0">
                <a:solidFill>
                  <a:srgbClr val="000000"/>
                </a:solidFill>
                <a:effectLst/>
                <a:latin typeface="Times New Roman" panose="02020603050405020304" pitchFamily="18" charset="0"/>
                <a:cs typeface="Times New Roman" panose="02020603050405020304" pitchFamily="18" charset="0"/>
              </a:rPr>
              <a:t>(giá bán).</a:t>
            </a:r>
          </a:p>
          <a:p>
            <a:pPr marL="0" indent="0">
              <a:lnSpc>
                <a:spcPct val="110000"/>
              </a:lnSpc>
              <a:buNone/>
            </a:pPr>
            <a:r>
              <a:rPr lang="vi-VN" sz="6400" b="1" i="0">
                <a:solidFill>
                  <a:srgbClr val="000000"/>
                </a:solidFill>
                <a:effectLst/>
                <a:latin typeface="Times New Roman" panose="02020603050405020304" pitchFamily="18" charset="0"/>
                <a:cs typeface="Times New Roman" panose="02020603050405020304" pitchFamily="18" charset="0"/>
              </a:rPr>
              <a:t>Yêu cầu</a:t>
            </a:r>
            <a:r>
              <a:rPr lang="vi-VN" sz="6400" b="0" i="0">
                <a:solidFill>
                  <a:srgbClr val="000000"/>
                </a:solidFill>
                <a:effectLst/>
                <a:latin typeface="Times New Roman" panose="02020603050405020304" pitchFamily="18" charset="0"/>
                <a:cs typeface="Times New Roman" panose="02020603050405020304" pitchFamily="18" charset="0"/>
              </a:rPr>
              <a:t>:</a:t>
            </a:r>
            <a:endParaRPr lang="en-US" sz="6400" b="0" i="0">
              <a:solidFill>
                <a:srgbClr val="000000"/>
              </a:solidFill>
              <a:effectLst/>
              <a:latin typeface="Times New Roman" panose="02020603050405020304" pitchFamily="18" charset="0"/>
              <a:cs typeface="Times New Roman" panose="02020603050405020304" pitchFamily="18" charset="0"/>
            </a:endParaRPr>
          </a:p>
          <a:p>
            <a:pPr marL="0" indent="0">
              <a:lnSpc>
                <a:spcPct val="110000"/>
              </a:lnSpc>
              <a:buNone/>
            </a:pPr>
            <a:r>
              <a:rPr lang="vi-VN" sz="6400" b="0" i="0">
                <a:solidFill>
                  <a:srgbClr val="000000"/>
                </a:solidFill>
                <a:effectLst/>
                <a:latin typeface="Times New Roman" panose="02020603050405020304" pitchFamily="18" charset="0"/>
                <a:cs typeface="Times New Roman" panose="02020603050405020304" pitchFamily="18" charset="0"/>
              </a:rPr>
              <a:t>• </a:t>
            </a:r>
            <a:r>
              <a:rPr lang="en-US" sz="6400" b="0" i="0">
                <a:solidFill>
                  <a:srgbClr val="000000"/>
                </a:solidFill>
                <a:effectLst/>
                <a:latin typeface="Times New Roman" panose="02020603050405020304" pitchFamily="18" charset="0"/>
                <a:cs typeface="Times New Roman" panose="02020603050405020304" pitchFamily="18" charset="0"/>
              </a:rPr>
              <a:t> </a:t>
            </a:r>
            <a:r>
              <a:rPr lang="vi-VN" sz="6400" b="0" i="0">
                <a:solidFill>
                  <a:srgbClr val="000000"/>
                </a:solidFill>
                <a:effectLst/>
                <a:latin typeface="Times New Roman" panose="02020603050405020304" pitchFamily="18" charset="0"/>
                <a:cs typeface="Times New Roman" panose="02020603050405020304" pitchFamily="18" charset="0"/>
              </a:rPr>
              <a:t>Viết mã cho hai lớp </a:t>
            </a:r>
            <a:r>
              <a:rPr lang="vi-VN" sz="6400" b="1" i="1">
                <a:solidFill>
                  <a:srgbClr val="000000"/>
                </a:solidFill>
                <a:effectLst/>
                <a:latin typeface="Times New Roman" panose="02020603050405020304" pitchFamily="18" charset="0"/>
                <a:cs typeface="Times New Roman" panose="02020603050405020304" pitchFamily="18" charset="0"/>
              </a:rPr>
              <a:t>TacGia </a:t>
            </a:r>
            <a:r>
              <a:rPr lang="vi-VN" sz="6400" b="0" i="0">
                <a:solidFill>
                  <a:srgbClr val="000000"/>
                </a:solidFill>
                <a:effectLst/>
                <a:latin typeface="Times New Roman" panose="02020603050405020304" pitchFamily="18" charset="0"/>
                <a:cs typeface="Times New Roman" panose="02020603050405020304" pitchFamily="18" charset="0"/>
              </a:rPr>
              <a:t>và </a:t>
            </a:r>
            <a:r>
              <a:rPr lang="vi-VN" sz="6400" b="1" i="1">
                <a:solidFill>
                  <a:srgbClr val="000000"/>
                </a:solidFill>
                <a:effectLst/>
                <a:latin typeface="Times New Roman" panose="02020603050405020304" pitchFamily="18" charset="0"/>
                <a:cs typeface="Times New Roman" panose="02020603050405020304" pitchFamily="18" charset="0"/>
              </a:rPr>
              <a:t>Sach </a:t>
            </a:r>
            <a:r>
              <a:rPr lang="vi-VN" sz="6400" b="0" i="0">
                <a:solidFill>
                  <a:srgbClr val="000000"/>
                </a:solidFill>
                <a:effectLst/>
                <a:latin typeface="Times New Roman" panose="02020603050405020304" pitchFamily="18" charset="0"/>
                <a:cs typeface="Times New Roman" panose="02020603050405020304" pitchFamily="18" charset="0"/>
              </a:rPr>
              <a:t>như được mô tả, với các phương thức</a:t>
            </a:r>
            <a:r>
              <a:rPr lang="en-US" sz="6400" b="0" i="0">
                <a:solidFill>
                  <a:srgbClr val="000000"/>
                </a:solidFill>
                <a:effectLst/>
                <a:latin typeface="Times New Roman" panose="02020603050405020304" pitchFamily="18" charset="0"/>
                <a:cs typeface="Times New Roman" panose="02020603050405020304" pitchFamily="18" charset="0"/>
              </a:rPr>
              <a:t> </a:t>
            </a:r>
            <a:r>
              <a:rPr lang="vi-VN" sz="6400" b="0" i="0">
                <a:solidFill>
                  <a:srgbClr val="000000"/>
                </a:solidFill>
                <a:effectLst/>
                <a:latin typeface="Times New Roman" panose="02020603050405020304" pitchFamily="18" charset="0"/>
                <a:cs typeface="Times New Roman" panose="02020603050405020304" pitchFamily="18" charset="0"/>
              </a:rPr>
              <a:t>cơ bản gồm: __</a:t>
            </a:r>
            <a:r>
              <a:rPr lang="vi-VN" sz="6400" b="0" i="1">
                <a:solidFill>
                  <a:srgbClr val="000000"/>
                </a:solidFill>
                <a:effectLst/>
                <a:latin typeface="Times New Roman" panose="02020603050405020304" pitchFamily="18" charset="0"/>
                <a:cs typeface="Times New Roman" panose="02020603050405020304" pitchFamily="18" charset="0"/>
              </a:rPr>
              <a:t>init</a:t>
            </a:r>
            <a:r>
              <a:rPr lang="vi-VN" sz="6400" b="0" i="0">
                <a:solidFill>
                  <a:srgbClr val="000000"/>
                </a:solidFill>
                <a:effectLst/>
                <a:latin typeface="Times New Roman" panose="02020603050405020304" pitchFamily="18" charset="0"/>
                <a:cs typeface="Times New Roman" panose="02020603050405020304" pitchFamily="18" charset="0"/>
              </a:rPr>
              <a:t>__(), __</a:t>
            </a:r>
            <a:r>
              <a:rPr lang="vi-VN" sz="6400" b="0" i="1">
                <a:solidFill>
                  <a:srgbClr val="000000"/>
                </a:solidFill>
                <a:effectLst/>
                <a:latin typeface="Times New Roman" panose="02020603050405020304" pitchFamily="18" charset="0"/>
                <a:cs typeface="Times New Roman" panose="02020603050405020304" pitchFamily="18" charset="0"/>
              </a:rPr>
              <a:t>str</a:t>
            </a:r>
            <a:r>
              <a:rPr lang="vi-VN" sz="6400" b="0" i="0">
                <a:solidFill>
                  <a:srgbClr val="000000"/>
                </a:solidFill>
                <a:effectLst/>
                <a:latin typeface="Times New Roman" panose="02020603050405020304" pitchFamily="18" charset="0"/>
                <a:cs typeface="Times New Roman" panose="02020603050405020304" pitchFamily="18" charset="0"/>
              </a:rPr>
              <a:t>__(). Lưu ý, thuộc tính </a:t>
            </a:r>
            <a:r>
              <a:rPr lang="vi-VN" sz="6400" b="0" i="1">
                <a:solidFill>
                  <a:srgbClr val="000000"/>
                </a:solidFill>
                <a:effectLst/>
                <a:latin typeface="Times New Roman" panose="02020603050405020304" pitchFamily="18" charset="0"/>
                <a:cs typeface="Times New Roman" panose="02020603050405020304" pitchFamily="18" charset="0"/>
              </a:rPr>
              <a:t>DSTacGia </a:t>
            </a:r>
            <a:r>
              <a:rPr lang="vi-VN" sz="6400" b="0" i="0">
                <a:solidFill>
                  <a:srgbClr val="000000"/>
                </a:solidFill>
                <a:effectLst/>
                <a:latin typeface="Times New Roman" panose="02020603050405020304" pitchFamily="18" charset="0"/>
                <a:cs typeface="Times New Roman" panose="02020603050405020304" pitchFamily="18" charset="0"/>
              </a:rPr>
              <a:t>trong</a:t>
            </a:r>
            <a:r>
              <a:rPr lang="en-US" sz="6400" b="0" i="0">
                <a:solidFill>
                  <a:srgbClr val="000000"/>
                </a:solidFill>
                <a:effectLst/>
                <a:latin typeface="Times New Roman" panose="02020603050405020304" pitchFamily="18" charset="0"/>
                <a:cs typeface="Times New Roman" panose="02020603050405020304" pitchFamily="18" charset="0"/>
              </a:rPr>
              <a:t> </a:t>
            </a:r>
            <a:r>
              <a:rPr lang="vi-VN" sz="6400" b="0" i="0">
                <a:solidFill>
                  <a:srgbClr val="000000"/>
                </a:solidFill>
                <a:effectLst/>
                <a:latin typeface="Times New Roman" panose="02020603050405020304" pitchFamily="18" charset="0"/>
                <a:cs typeface="Times New Roman" panose="02020603050405020304" pitchFamily="18" charset="0"/>
              </a:rPr>
              <a:t>lớp </a:t>
            </a:r>
            <a:r>
              <a:rPr lang="vi-VN" sz="6400" b="1" i="1">
                <a:solidFill>
                  <a:srgbClr val="000000"/>
                </a:solidFill>
                <a:effectLst/>
                <a:latin typeface="Times New Roman" panose="02020603050405020304" pitchFamily="18" charset="0"/>
                <a:cs typeface="Times New Roman" panose="02020603050405020304" pitchFamily="18" charset="0"/>
              </a:rPr>
              <a:t>Sach </a:t>
            </a:r>
            <a:r>
              <a:rPr lang="vi-VN" sz="6400" b="0" i="0">
                <a:solidFill>
                  <a:srgbClr val="000000"/>
                </a:solidFill>
                <a:effectLst/>
                <a:latin typeface="Times New Roman" panose="02020603050405020304" pitchFamily="18" charset="0"/>
                <a:cs typeface="Times New Roman" panose="02020603050405020304" pitchFamily="18" charset="0"/>
              </a:rPr>
              <a:t>là một danh sách có kiểu </a:t>
            </a:r>
            <a:r>
              <a:rPr lang="vi-VN" sz="6400" b="1" i="1">
                <a:solidFill>
                  <a:srgbClr val="000000"/>
                </a:solidFill>
                <a:effectLst/>
                <a:latin typeface="Times New Roman" panose="02020603050405020304" pitchFamily="18" charset="0"/>
                <a:cs typeface="Times New Roman" panose="02020603050405020304" pitchFamily="18" charset="0"/>
              </a:rPr>
              <a:t>TacGia</a:t>
            </a:r>
            <a:r>
              <a:rPr lang="vi-VN" sz="6400" b="0" i="0">
                <a:solidFill>
                  <a:srgbClr val="000000"/>
                </a:solidFill>
                <a:effectLst/>
                <a:latin typeface="Times New Roman" panose="02020603050405020304" pitchFamily="18" charset="0"/>
                <a:cs typeface="Times New Roman" panose="02020603050405020304" pitchFamily="18" charset="0"/>
              </a:rPr>
              <a:t>.</a:t>
            </a:r>
          </a:p>
          <a:p>
            <a:pPr>
              <a:lnSpc>
                <a:spcPct val="110000"/>
              </a:lnSpc>
            </a:pPr>
            <a:r>
              <a:rPr lang="en-US" sz="6400" b="0" i="0">
                <a:solidFill>
                  <a:srgbClr val="000000"/>
                </a:solidFill>
                <a:effectLst/>
                <a:latin typeface="Times New Roman" panose="02020603050405020304" pitchFamily="18" charset="0"/>
                <a:cs typeface="Times New Roman" panose="02020603050405020304" pitchFamily="18" charset="0"/>
              </a:rPr>
              <a:t>Viết chương trình chính n</a:t>
            </a:r>
            <a:r>
              <a:rPr lang="vi-VN" sz="6400" b="0" i="0">
                <a:solidFill>
                  <a:srgbClr val="000000"/>
                </a:solidFill>
                <a:effectLst/>
                <a:latin typeface="Times New Roman" panose="02020603050405020304" pitchFamily="18" charset="0"/>
                <a:cs typeface="Times New Roman" panose="02020603050405020304" pitchFamily="18" charset="0"/>
              </a:rPr>
              <a:t>hập vào một danh sách các cuốn sách </a:t>
            </a:r>
          </a:p>
          <a:p>
            <a:pPr marL="0" indent="0">
              <a:lnSpc>
                <a:spcPct val="110000"/>
              </a:lnSpc>
              <a:buNone/>
            </a:pPr>
            <a:r>
              <a:rPr lang="en-US" sz="6400">
                <a:solidFill>
                  <a:srgbClr val="000000"/>
                </a:solidFill>
                <a:latin typeface="Times New Roman" panose="02020603050405020304" pitchFamily="18" charset="0"/>
                <a:cs typeface="Times New Roman" panose="02020603050405020304" pitchFamily="18" charset="0"/>
              </a:rPr>
              <a:t>     </a:t>
            </a:r>
            <a:r>
              <a:rPr lang="en-US" sz="6400" b="0" i="0">
                <a:solidFill>
                  <a:srgbClr val="000000"/>
                </a:solidFill>
                <a:effectLst/>
                <a:latin typeface="Times New Roman" panose="02020603050405020304" pitchFamily="18" charset="0"/>
                <a:cs typeface="Times New Roman" panose="02020603050405020304" pitchFamily="18" charset="0"/>
              </a:rPr>
              <a:t>Ví dụ:</a:t>
            </a:r>
          </a:p>
          <a:p>
            <a:pPr marL="457200" lvl="1" indent="0">
              <a:lnSpc>
                <a:spcPct val="110000"/>
              </a:lnSpc>
              <a:buNone/>
            </a:pPr>
            <a:r>
              <a:rPr lang="vi-VN" sz="6400" b="0" i="0">
                <a:solidFill>
                  <a:srgbClr val="000000"/>
                </a:solidFill>
                <a:effectLst/>
                <a:latin typeface="Times New Roman" panose="02020603050405020304" pitchFamily="18" charset="0"/>
                <a:cs typeface="Times New Roman" panose="02020603050405020304" pitchFamily="18" charset="0"/>
              </a:rPr>
              <a:t>1. Tiêu đề: “Python cơ bản”; tác giả: Bùi Việt Hà; NXB Đại Học Quốc Gia</a:t>
            </a:r>
            <a:r>
              <a:rPr lang="en-US" sz="6400" b="0" i="0">
                <a:solidFill>
                  <a:srgbClr val="000000"/>
                </a:solidFill>
                <a:effectLst/>
                <a:latin typeface="Times New Roman" panose="02020603050405020304" pitchFamily="18" charset="0"/>
                <a:cs typeface="Times New Roman" panose="02020603050405020304" pitchFamily="18" charset="0"/>
              </a:rPr>
              <a:t> </a:t>
            </a:r>
            <a:r>
              <a:rPr lang="vi-VN" sz="6400" b="0" i="0">
                <a:solidFill>
                  <a:srgbClr val="000000"/>
                </a:solidFill>
                <a:effectLst/>
                <a:latin typeface="Times New Roman" panose="02020603050405020304" pitchFamily="18" charset="0"/>
                <a:cs typeface="Times New Roman" panose="02020603050405020304" pitchFamily="18" charset="0"/>
              </a:rPr>
              <a:t>Hà Nội; Giá bán: 125.000vnđ.</a:t>
            </a:r>
          </a:p>
          <a:p>
            <a:pPr marL="457200" lvl="1" indent="0">
              <a:lnSpc>
                <a:spcPct val="110000"/>
              </a:lnSpc>
              <a:buNone/>
            </a:pPr>
            <a:r>
              <a:rPr lang="vi-VN" sz="6400" b="0" i="0">
                <a:solidFill>
                  <a:srgbClr val="000000"/>
                </a:solidFill>
                <a:effectLst/>
                <a:latin typeface="Times New Roman" panose="02020603050405020304" pitchFamily="18" charset="0"/>
                <a:cs typeface="Times New Roman" panose="02020603050405020304" pitchFamily="18" charset="0"/>
              </a:rPr>
              <a:t>2. Tiêu đề: “Python - Từ Cơ Bản Đến Giải Đề”; tác giả: Nguyễn Hoàng</a:t>
            </a:r>
            <a:r>
              <a:rPr lang="en-US" sz="6400" b="0" i="0">
                <a:solidFill>
                  <a:srgbClr val="000000"/>
                </a:solidFill>
                <a:effectLst/>
                <a:latin typeface="Times New Roman" panose="02020603050405020304" pitchFamily="18" charset="0"/>
                <a:cs typeface="Times New Roman" panose="02020603050405020304" pitchFamily="18" charset="0"/>
              </a:rPr>
              <a:t> </a:t>
            </a:r>
            <a:r>
              <a:rPr lang="vi-VN" sz="6400" b="0" i="0">
                <a:solidFill>
                  <a:srgbClr val="000000"/>
                </a:solidFill>
                <a:effectLst/>
                <a:latin typeface="Times New Roman" panose="02020603050405020304" pitchFamily="18" charset="0"/>
                <a:cs typeface="Times New Roman" panose="02020603050405020304" pitchFamily="18" charset="0"/>
              </a:rPr>
              <a:t>Trọng Lộc, Chung Long Hồ, Nguyễn Thanh Hùng; NXB Đại Học Sư</a:t>
            </a:r>
            <a:r>
              <a:rPr lang="en-US" sz="6400" b="0" i="0">
                <a:solidFill>
                  <a:srgbClr val="000000"/>
                </a:solidFill>
                <a:effectLst/>
                <a:latin typeface="Times New Roman" panose="02020603050405020304" pitchFamily="18" charset="0"/>
                <a:cs typeface="Times New Roman" panose="02020603050405020304" pitchFamily="18" charset="0"/>
              </a:rPr>
              <a:t> </a:t>
            </a:r>
            <a:r>
              <a:rPr lang="vi-VN" sz="6400" b="0" i="0">
                <a:solidFill>
                  <a:srgbClr val="000000"/>
                </a:solidFill>
                <a:effectLst/>
                <a:latin typeface="Times New Roman" panose="02020603050405020304" pitchFamily="18" charset="0"/>
                <a:cs typeface="Times New Roman" panose="02020603050405020304" pitchFamily="18" charset="0"/>
              </a:rPr>
              <a:t>Phạm Thành Phố Hồ Chí Minh; Giá bán: 92.000vnđ.</a:t>
            </a:r>
          </a:p>
          <a:p>
            <a:pPr marL="457200" lvl="1" indent="0">
              <a:lnSpc>
                <a:spcPct val="110000"/>
              </a:lnSpc>
              <a:buNone/>
            </a:pPr>
            <a:r>
              <a:rPr lang="vi-VN" sz="6400" b="0" i="0">
                <a:solidFill>
                  <a:srgbClr val="000000"/>
                </a:solidFill>
                <a:effectLst/>
                <a:latin typeface="Times New Roman" panose="02020603050405020304" pitchFamily="18" charset="0"/>
                <a:cs typeface="Times New Roman" panose="02020603050405020304" pitchFamily="18" charset="0"/>
              </a:rPr>
              <a:t>3. Tiêu đề: “Bài Tập Tin Học Dành Cho THCS”; tác giả: Phạm Thế Long,</a:t>
            </a:r>
            <a:r>
              <a:rPr lang="en-US" sz="6400" b="0" i="0">
                <a:solidFill>
                  <a:srgbClr val="000000"/>
                </a:solidFill>
                <a:effectLst/>
                <a:latin typeface="Times New Roman" panose="02020603050405020304" pitchFamily="18" charset="0"/>
                <a:cs typeface="Times New Roman" panose="02020603050405020304" pitchFamily="18" charset="0"/>
              </a:rPr>
              <a:t> </a:t>
            </a:r>
            <a:r>
              <a:rPr lang="vi-VN" sz="6400" b="0" i="0">
                <a:solidFill>
                  <a:srgbClr val="000000"/>
                </a:solidFill>
                <a:effectLst/>
                <a:latin typeface="Times New Roman" panose="02020603050405020304" pitchFamily="18" charset="0"/>
                <a:cs typeface="Times New Roman" panose="02020603050405020304" pitchFamily="18" charset="0"/>
              </a:rPr>
              <a:t>Bùi Việt Hà, Bùi Văn Thanh, Ngô Ánh Tuyết, Nguyễn Chí Trung; NXB</a:t>
            </a:r>
            <a:r>
              <a:rPr lang="en-US" sz="6400" b="0" i="0">
                <a:solidFill>
                  <a:srgbClr val="000000"/>
                </a:solidFill>
                <a:effectLst/>
                <a:latin typeface="Times New Roman" panose="02020603050405020304" pitchFamily="18" charset="0"/>
                <a:cs typeface="Times New Roman" panose="02020603050405020304" pitchFamily="18" charset="0"/>
              </a:rPr>
              <a:t> </a:t>
            </a:r>
            <a:r>
              <a:rPr lang="vi-VN" sz="6400" b="0" i="0">
                <a:solidFill>
                  <a:srgbClr val="000000"/>
                </a:solidFill>
                <a:effectLst/>
                <a:latin typeface="Times New Roman" panose="02020603050405020304" pitchFamily="18" charset="0"/>
                <a:cs typeface="Times New Roman" panose="02020603050405020304" pitchFamily="18" charset="0"/>
              </a:rPr>
              <a:t>Giáo dục Việt Nam; Giá bán: 21.000vnđ.</a:t>
            </a:r>
            <a:endParaRPr lang="en-US" sz="6400" b="0" i="0">
              <a:solidFill>
                <a:srgbClr val="000000"/>
              </a:solidFill>
              <a:effectLst/>
              <a:latin typeface="Times New Roman" panose="02020603050405020304" pitchFamily="18" charset="0"/>
              <a:cs typeface="Times New Roman" panose="02020603050405020304" pitchFamily="18" charset="0"/>
            </a:endParaRPr>
          </a:p>
          <a:p>
            <a:pPr marL="0" indent="0">
              <a:lnSpc>
                <a:spcPct val="110000"/>
              </a:lnSpc>
              <a:buNone/>
            </a:pPr>
            <a:r>
              <a:rPr lang="vi-VN" sz="6400" b="0" i="0">
                <a:solidFill>
                  <a:srgbClr val="000000"/>
                </a:solidFill>
                <a:effectLst/>
                <a:latin typeface="Times New Roman" panose="02020603050405020304" pitchFamily="18" charset="0"/>
                <a:cs typeface="Times New Roman" panose="02020603050405020304" pitchFamily="18" charset="0"/>
              </a:rPr>
              <a:t>• </a:t>
            </a:r>
            <a:r>
              <a:rPr lang="en-US" sz="6400" b="0" i="0">
                <a:solidFill>
                  <a:srgbClr val="000000"/>
                </a:solidFill>
                <a:effectLst/>
                <a:latin typeface="Times New Roman" panose="02020603050405020304" pitchFamily="18" charset="0"/>
                <a:cs typeface="Times New Roman" panose="02020603050405020304" pitchFamily="18" charset="0"/>
              </a:rPr>
              <a:t> </a:t>
            </a:r>
            <a:r>
              <a:rPr lang="vi-VN" sz="6400" b="0" i="0">
                <a:solidFill>
                  <a:srgbClr val="000000"/>
                </a:solidFill>
                <a:effectLst/>
                <a:latin typeface="Times New Roman" panose="02020603050405020304" pitchFamily="18" charset="0"/>
                <a:cs typeface="Times New Roman" panose="02020603050405020304" pitchFamily="18" charset="0"/>
              </a:rPr>
              <a:t>Nhập vào tên của một tác giả và in ra tất cả các cuốn sách mà người đó có</a:t>
            </a:r>
            <a:r>
              <a:rPr lang="en-US" sz="6400" b="0" i="0">
                <a:solidFill>
                  <a:srgbClr val="000000"/>
                </a:solidFill>
                <a:effectLst/>
                <a:latin typeface="Times New Roman" panose="02020603050405020304" pitchFamily="18" charset="0"/>
                <a:cs typeface="Times New Roman" panose="02020603050405020304" pitchFamily="18" charset="0"/>
              </a:rPr>
              <a:t> </a:t>
            </a:r>
            <a:r>
              <a:rPr lang="vi-VN" sz="6400" b="0" i="0">
                <a:solidFill>
                  <a:srgbClr val="000000"/>
                </a:solidFill>
                <a:effectLst/>
                <a:latin typeface="Times New Roman" panose="02020603050405020304" pitchFamily="18" charset="0"/>
                <a:cs typeface="Times New Roman" panose="02020603050405020304" pitchFamily="18" charset="0"/>
              </a:rPr>
              <a:t>trong danh sách tác giả.</a:t>
            </a:r>
            <a:r>
              <a:rPr lang="vi-VN" sz="6400">
                <a:latin typeface="Times New Roman" panose="02020603050405020304" pitchFamily="18" charset="0"/>
                <a:cs typeface="Times New Roman" panose="02020603050405020304" pitchFamily="18" charset="0"/>
              </a:rPr>
              <a:t> </a:t>
            </a:r>
            <a:br>
              <a:rPr lang="vi-VN" sz="6400">
                <a:latin typeface="Times New Roman" panose="02020603050405020304" pitchFamily="18" charset="0"/>
                <a:cs typeface="Times New Roman" panose="02020603050405020304" pitchFamily="18" charset="0"/>
              </a:rPr>
            </a:br>
            <a:endParaRPr lang="en-US" sz="500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0008733F-8330-1267-BE6E-8AE1F0CC6F66}"/>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BBED1082-6EE7-81A4-D389-D81FE132B98F}"/>
              </a:ext>
            </a:extLst>
          </p:cNvPr>
          <p:cNvSpPr>
            <a:spLocks noGrp="1"/>
          </p:cNvSpPr>
          <p:nvPr>
            <p:ph type="sldNum" sz="quarter" idx="12"/>
          </p:nvPr>
        </p:nvSpPr>
        <p:spPr/>
        <p:txBody>
          <a:bodyPr/>
          <a:lstStyle/>
          <a:p>
            <a:fld id="{ADD32889-1A4F-4FED-AEC4-AD6BC7117F25}" type="slidenum">
              <a:rPr lang="en-US" smtClean="0"/>
              <a:t>32</a:t>
            </a:fld>
            <a:endParaRPr lang="en-US"/>
          </a:p>
        </p:txBody>
      </p:sp>
    </p:spTree>
    <p:extLst>
      <p:ext uri="{BB962C8B-B14F-4D97-AF65-F5344CB8AC3E}">
        <p14:creationId xmlns:p14="http://schemas.microsoft.com/office/powerpoint/2010/main" val="126366452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12878</TotalTime>
  <Words>2609</Words>
  <Application>Microsoft Office PowerPoint</Application>
  <PresentationFormat>On-screen Show (4:3)</PresentationFormat>
  <Paragraphs>258</Paragraphs>
  <Slides>32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Arial</vt:lpstr>
      <vt:lpstr>Calibri</vt:lpstr>
      <vt:lpstr>Calibri Light</vt:lpstr>
      <vt:lpstr>Courier New</vt:lpstr>
      <vt:lpstr>Times New Roman</vt:lpstr>
      <vt:lpstr>Wingdings</vt:lpstr>
      <vt:lpstr>Office Theme</vt:lpstr>
      <vt:lpstr>Lập trình OOP với Python</vt:lpstr>
      <vt:lpstr>Lập trình hướng đối tượng?</vt:lpstr>
      <vt:lpstr>Lớp (Class) và đối tượng (Object)</vt:lpstr>
      <vt:lpstr>Lớp (Class) và đối tượng (Object)</vt:lpstr>
      <vt:lpstr>PowerPoint Presentation</vt:lpstr>
      <vt:lpstr>PowerPoint Presentation</vt:lpstr>
      <vt:lpstr>Lớp (Class) và đối tượng (Object)</vt:lpstr>
      <vt:lpstr>Lớp (Class) và đối tượng (Object)</vt:lpstr>
      <vt:lpstr>Tính đóng gói (Encapsulation)</vt:lpstr>
      <vt:lpstr>Tính đóng gói (Encapsulation)</vt:lpstr>
      <vt:lpstr>Tính đóng gói (Encapsulation)</vt:lpstr>
      <vt:lpstr>Tính đóng gói (Encapsulation)</vt:lpstr>
      <vt:lpstr>Tính đóng gói (Encapsulation)</vt:lpstr>
      <vt:lpstr>Getter và Setter: Cổng giao tiếp an toàn</vt:lpstr>
      <vt:lpstr>Getter và Setter: Cổng giao tiếp an toàn</vt:lpstr>
      <vt:lpstr>Thừa kế (Inheritance)</vt:lpstr>
      <vt:lpstr>Thừa kế đơn</vt:lpstr>
      <vt:lpstr>Thừa kế đa</vt:lpstr>
      <vt:lpstr>Thừa kế đa</vt:lpstr>
      <vt:lpstr>PowerPoint Presentation</vt:lpstr>
      <vt:lpstr>PowerPoint Presentation</vt:lpstr>
      <vt:lpstr>Đa hình(Polymorphism)</vt:lpstr>
      <vt:lpstr>Đa hình(Polymorphism)</vt:lpstr>
      <vt:lpstr>PowerPoint Presentation</vt:lpstr>
      <vt:lpstr>PowerPoint Presentation</vt:lpstr>
      <vt:lpstr>Nạp chồng toán tử (Operator Overloading)</vt:lpstr>
      <vt:lpstr>PowerPoint Presentation</vt:lpstr>
      <vt:lpstr>Một số toán tử</vt:lpstr>
      <vt:lpstr>Bài tập</vt:lpstr>
      <vt:lpstr>Bài tập</vt:lpstr>
      <vt:lpstr>Bài tập</vt:lpstr>
      <vt:lpstr>Bài tập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căn bản</dc:title>
  <dc:creator>Van Khang nguyen</dc:creator>
  <cp:lastModifiedBy>Người nhận xét</cp:lastModifiedBy>
  <cp:revision>531</cp:revision>
  <dcterms:created xsi:type="dcterms:W3CDTF">2020-11-01T15:46:10Z</dcterms:created>
  <dcterms:modified xsi:type="dcterms:W3CDTF">2026-05-19T02:56:07Z</dcterms:modified>
</cp:coreProperties>
</file>